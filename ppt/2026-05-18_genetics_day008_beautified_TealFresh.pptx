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2926080"/>
            <a:ext cx="5486400" cy="54864"/>
          </a:xfrm>
          <a:prstGeom prst="roundRect">
            <a:avLst>
              <a:gd name="adj" fmla="val 33333"/>
            </a:avLst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孟德尔的豌豆实验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分离定律的发现 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第二部分：孟德尔时代 · 第2天/共10天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DD4B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目录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45720"/>
          </a:xfrm>
          <a:prstGeom prst="round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8872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161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1430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两对性状的杂交实验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83480" y="118872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2161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4960" y="11430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# 实验设计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196596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9933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19202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# 实验步骤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178308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196596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19933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94960" y="19202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F1代的结果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56032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274320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77063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26974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# 预期 vs 实际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256032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83480" y="274320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277063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26974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# F1代的基因型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352044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5478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3474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F2代的结果：9:3:3:1的比例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333756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83480" y="352044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35478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3474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# 实验数据（孟德尔原始数据）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411480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" y="429768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43251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05840" y="42519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# 数学之美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846320" y="411480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83480" y="429768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2" name="Text 40"/>
          <p:cNvSpPr/>
          <p:nvPr/>
        </p:nvSpPr>
        <p:spPr>
          <a:xfrm>
            <a:off x="4983480" y="43251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94960" y="42519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自由组合定律的提出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历史背景与科学氛围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371600" cy="45720"/>
          </a:xfrm>
          <a:prstGeom prst="round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68680"/>
            <a:ext cx="8229600" cy="4023360"/>
          </a:xfrm>
          <a:prstGeom prst="roundRect">
            <a:avLst>
              <a:gd name="adj" fmla="val 3409"/>
            </a:avLst>
          </a:prstGeom>
          <a:solidFill>
            <a:srgbClr val="99F6E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8229600" cy="402336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19世纪的遗传学困境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508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混合遗传理论盛行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508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高+矮=中等高度（错误观念）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103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孟德尔需要突破性发现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7863840" cy="54864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976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💡 19世纪科学家相信遗传像颜料混合——这是错误的！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为什么选择豌豆？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371600" cy="45720"/>
          </a:xfrm>
          <a:prstGeom prst="round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4023360" cy="3977640"/>
          </a:xfrm>
          <a:prstGeom prst="roundRect">
            <a:avLst>
              <a:gd name="adj" fmla="val 3448"/>
            </a:avLst>
          </a:prstGeom>
          <a:solidFill>
            <a:srgbClr val="99F6E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40233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4023360" cy="457200"/>
          </a:xfrm>
          <a:prstGeom prst="rect">
            <a:avLst>
              <a:gd name="adj" fmla="val 30000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87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豌豆的优势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618488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508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容易观察：性状差异明显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167128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057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容易计数：大量种子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715768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606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自花授粉：性状稳定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264408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154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7对明显不同的性状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4023360" cy="3977640"/>
          </a:xfrm>
          <a:prstGeom prst="roundRect">
            <a:avLst>
              <a:gd name="adj" fmla="val 3448"/>
            </a:avLst>
          </a:prstGeom>
          <a:solidFill>
            <a:srgbClr val="99F6E4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914400"/>
            <a:ext cx="40233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914400"/>
            <a:ext cx="4023360" cy="457200"/>
          </a:xfrm>
          <a:prstGeom prst="rect">
            <a:avLst>
              <a:gd name="adj" fmla="val 30000"/>
            </a:avLst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987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孟德尔的研究方法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46320" y="1618488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1508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定量分析：统计学方法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167128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2057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大样本：数千次实验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715768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606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单一变量：一对性状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3264408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3154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重复实验：多次验证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实验设计与方法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371600" cy="45720"/>
          </a:xfrm>
          <a:prstGeom prst="round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68680"/>
            <a:ext cx="8229600" cy="4023360"/>
          </a:xfrm>
          <a:prstGeom prst="roundRect">
            <a:avLst>
              <a:gd name="adj" fmla="val 3409"/>
            </a:avLst>
          </a:prstGeom>
          <a:solidFill>
            <a:srgbClr val="99F6E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8229600" cy="402336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一对性状的杂交实验设计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508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选择纯种圆形(RR)作为母本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508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选择纯种皱缩(rr)作为父本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103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去雄：去除母本雄蕊防止自交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2103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人工授粉：将父本花粉传到母本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7863840" cy="54864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976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💡 孟德尔做了正反交实验，结果一致，排除了母本效应的影响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杂交实验流程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371600" cy="45720"/>
          </a:xfrm>
          <a:prstGeom prst="round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2560320" cy="2011680"/>
          </a:xfrm>
          <a:prstGeom prst="roundRect">
            <a:avLst>
              <a:gd name="adj" fmla="val 6818"/>
            </a:avLst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亲本 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RR (圆形)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纯种显性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63240" y="1645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</a:rPr>
              <a:t>×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063240" y="2194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9488"/>
                </a:solidFill>
              </a:rPr>
              <a:t>↓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560320" cy="2011680"/>
          </a:xfrm>
          <a:prstGeom prst="roundRect">
            <a:avLst>
              <a:gd name="adj" fmla="val 6818"/>
            </a:avLst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051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亲本 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417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rr (皱缩)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0040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纯种隐性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06440" y="1645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</a:rPr>
              <a:t>×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806440" y="2194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9488"/>
                </a:solidFill>
              </a:rPr>
              <a:t>↓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943600" y="914400"/>
            <a:ext cx="2560320" cy="2011680"/>
          </a:xfrm>
          <a:prstGeom prst="roundRect">
            <a:avLst>
              <a:gd name="adj" fmla="val 6818"/>
            </a:avLst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051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F1 代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0" y="14173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Rr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943600" y="2011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全部圆形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8229600" cy="1737360"/>
          </a:xfrm>
          <a:prstGeom prst="roundRect">
            <a:avLst>
              <a:gd name="adj" fmla="val 7895"/>
            </a:avLst>
          </a:prstGeom>
          <a:solidFill>
            <a:srgbClr val="99F6E4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108960"/>
            <a:ext cx="8229600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46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🔑 关键发现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3703320"/>
            <a:ext cx="164592" cy="16459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365760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F1代全部表现为显性性状（圆形）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3977640"/>
            <a:ext cx="164592" cy="16459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93192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隐性性状（皱缩）被'掩盖'但没有消失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251960"/>
            <a:ext cx="164592" cy="16459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20624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这是遗传学史上的重大突破——显性现象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F1代的结果：显性现象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371600" cy="45720"/>
          </a:xfrm>
          <a:prstGeom prst="round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68680"/>
            <a:ext cx="3931920" cy="4023360"/>
          </a:xfrm>
          <a:prstGeom prst="roundRect">
            <a:avLst>
              <a:gd name="adj" fmla="val 3488"/>
            </a:avLst>
          </a:prstGeom>
          <a:solidFill>
            <a:srgbClr val="99F6E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3931920" cy="402336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F1代的结果：显性现象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618488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5087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圆形性状在F1代中表现出来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212848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103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皱缩性状在F1代中被掩盖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07208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697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显性基因(R)掩盖隐性基因(r)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401568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291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F1基因型为Rr（杂合子）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显性 vs 隐性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371600" cy="45720"/>
          </a:xfrm>
          <a:prstGeom prst="round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4023360" cy="3977640"/>
          </a:xfrm>
          <a:prstGeom prst="roundRect">
            <a:avLst>
              <a:gd name="adj" fmla="val 3448"/>
            </a:avLst>
          </a:prstGeom>
          <a:solidFill>
            <a:srgbClr val="99F6E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40233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4023360" cy="457200"/>
          </a:xfrm>
          <a:prstGeom prst="rect">
            <a:avLst>
              <a:gd name="adj" fmla="val 30000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87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✅ 显性性状 (Dominant)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618488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508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在杂合状态下表现出来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167128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057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用大写字母表示：R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715768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606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只要有显性基因就表现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264408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154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圆形是显性性状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4023360" cy="3977640"/>
          </a:xfrm>
          <a:prstGeom prst="roundRect">
            <a:avLst>
              <a:gd name="adj" fmla="val 3448"/>
            </a:avLst>
          </a:prstGeom>
          <a:solidFill>
            <a:srgbClr val="99F6E4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914400"/>
            <a:ext cx="40233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914400"/>
            <a:ext cx="4023360" cy="457200"/>
          </a:xfrm>
          <a:prstGeom prst="rect">
            <a:avLst>
              <a:gd name="adj" fmla="val 30000"/>
            </a:avLst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987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❌ 隐性性状 (Recessive)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46320" y="1618488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1508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在杂合状态下被掩盖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167128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2057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用小写字母表示：r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715768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606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只有纯合时才表现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3264408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3154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皱缩是隐性性状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F2代的结果：3:1 比例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371600" cy="45720"/>
          </a:xfrm>
          <a:prstGeom prst="round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68680"/>
            <a:ext cx="3474720" cy="4023360"/>
          </a:xfrm>
          <a:prstGeom prst="roundRect">
            <a:avLst>
              <a:gd name="adj" fmla="val 3947"/>
            </a:avLst>
          </a:prstGeom>
          <a:solidFill>
            <a:srgbClr val="99F6E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3474720" cy="4023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📊 F2代实验数据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554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333"/>
                </a:solidFill>
              </a:rPr>
              <a:t>5,474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8016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圆形种子 (74.7%)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468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333"/>
                </a:solidFill>
              </a:rPr>
              <a:t>1,850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280160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皱缩种子 (25.3%)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383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333"/>
                </a:solidFill>
              </a:rPr>
              <a:t>7,324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28016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总计种子数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3108960" cy="1005840"/>
          </a:xfrm>
          <a:prstGeom prst="roundRect">
            <a:avLst>
              <a:gd name="adj" fmla="val 9091"/>
            </a:avLst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947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: 1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4114800" y="868680"/>
            <a:ext cx="4572000" cy="402336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1005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📈 数据解读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97680" y="1463040"/>
            <a:ext cx="4206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圆形种子占74.7%，接近3/4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皱缩种子占25.3%，接近1/4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比例不是精确的3:1，但非常接近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这是统计学规律，需要大样本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孟德尔共统计了7,324粒种子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孟德尔7个性状的实验结果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371600" cy="45720"/>
          </a:xfrm>
          <a:prstGeom prst="round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68680"/>
            <a:ext cx="8229600" cy="4023360"/>
          </a:xfrm>
          <a:prstGeom prst="roundRect">
            <a:avLst>
              <a:gd name="adj" fmla="val 3409"/>
            </a:avLst>
          </a:prstGeom>
          <a:solidFill>
            <a:srgbClr val="99F6E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8229600" cy="402336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7个性状的F2代实验数据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508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种子形状：圆形 vs 皱缩 → 2.96:1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508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种子颜色：黄色 vs 绿色 → 3.01:1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103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花色：紫色 vs 白色 → 3.15:1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2103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豆荚形状：饱满 vs 皱缩 → 2.95:1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7863840" cy="54864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976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💡 平均比例 ≈ 3:1 —— 这是遗传学史上第一个数学规律！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分离定律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D4BF"/>
                </a:solidFill>
              </a:rPr>
              <a:t>Law of Segregation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188720"/>
          </a:xfrm>
          <a:prstGeom prst="roundRect">
            <a:avLst>
              <a:gd name="adj" fmla="val 11538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⚡ 一对遗传因子在形成配子时彼此分离，分别进入不同的配子。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651760" cy="2011680"/>
          </a:xfrm>
          <a:prstGeom prst="roundRect">
            <a:avLst>
              <a:gd name="adj" fmla="val 6818"/>
            </a:avLst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成对存在：每个性状由一对因子控制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2743200"/>
            <a:ext cx="2651760" cy="2011680"/>
          </a:xfrm>
          <a:prstGeom prst="roundRect">
            <a:avLst>
              <a:gd name="adj" fmla="val 6818"/>
            </a:avLst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66160" y="34747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显性法则：显性掩盖隐性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743200"/>
            <a:ext cx="2651760" cy="2011680"/>
          </a:xfrm>
          <a:prstGeom prst="roundRect">
            <a:avLst>
              <a:gd name="adj" fmla="val 6818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92240" y="34747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分离法则：配子形成时因子分离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遗传图解与Punnett方格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371600" cy="45720"/>
          </a:xfrm>
          <a:prstGeom prst="round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68680"/>
            <a:ext cx="8229600" cy="4023360"/>
          </a:xfrm>
          <a:prstGeom prst="roundRect">
            <a:avLst>
              <a:gd name="adj" fmla="val 3409"/>
            </a:avLst>
          </a:prstGeom>
          <a:solidFill>
            <a:srgbClr val="99F6E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8229600" cy="402336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遗传因子分离的图解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508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P代：RR (圆形) × rr (皱缩)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508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F1代：全部 Rr (圆形)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103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F2代：1 RR : 2 Rr : 1 rr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2103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表型：3 圆形 : 1 皱缩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7863840" cy="54864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976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💡 基因型比例 1:2:1，表型比例 3:1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回交实验验证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371600" cy="45720"/>
          </a:xfrm>
          <a:prstGeom prst="round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4023360" cy="3977640"/>
          </a:xfrm>
          <a:prstGeom prst="roundRect">
            <a:avLst>
              <a:gd name="adj" fmla="val 3448"/>
            </a:avLst>
          </a:prstGeom>
          <a:solidFill>
            <a:srgbClr val="99F6E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40233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4023360" cy="457200"/>
          </a:xfrm>
          <a:prstGeom prst="rect">
            <a:avLst>
              <a:gd name="adj" fmla="val 30000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87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测交实验设计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618488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508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F1代(Rr)与隐性纯种(rr)杂交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167128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057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称为测交或回交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715768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606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用于验证F1的基因型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264408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154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如果F1是Rr → 1:1比例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4023360" cy="3977640"/>
          </a:xfrm>
          <a:prstGeom prst="roundRect">
            <a:avLst>
              <a:gd name="adj" fmla="val 3448"/>
            </a:avLst>
          </a:prstGeom>
          <a:solidFill>
            <a:srgbClr val="99F6E4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914400"/>
            <a:ext cx="40233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914400"/>
            <a:ext cx="4023360" cy="457200"/>
          </a:xfrm>
          <a:prstGeom prst="rect">
            <a:avLst>
              <a:gd name="adj" fmla="val 30000"/>
            </a:avLst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987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实验结果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46320" y="1618488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1508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实际结果 ≈ 1:1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167128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2057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证明F1是杂合子(Rr)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715768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606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证明因子确实分离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3264408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3154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验证了分离定律的正确性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分离定律的现代解释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371600" cy="45720"/>
          </a:xfrm>
          <a:prstGeom prst="round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68680"/>
            <a:ext cx="8229600" cy="4023360"/>
          </a:xfrm>
          <a:prstGeom prst="roundRect">
            <a:avLst>
              <a:gd name="adj" fmla="val 3409"/>
            </a:avLst>
          </a:prstGeom>
          <a:solidFill>
            <a:srgbClr val="99F6E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8229600" cy="402336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分离定律的细胞学基础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508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基因位于染色体上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508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减数分裂时同源染色体分离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103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配子中只含有一个等位基因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7863840" cy="54864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976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💡 孟德尔的遗传因子就是现代遗传学中的基因！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孟德尔定律的科学意义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371600" cy="45720"/>
          </a:xfrm>
          <a:prstGeom prst="round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68680"/>
            <a:ext cx="8229600" cy="4023360"/>
          </a:xfrm>
          <a:prstGeom prst="roundRect">
            <a:avLst>
              <a:gd name="adj" fmla="val 3409"/>
            </a:avLst>
          </a:prstGeom>
          <a:solidFill>
            <a:srgbClr val="99F6E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8229600" cy="402336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孟德尔定律的历史意义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508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首次用数学方法研究遗传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508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奠定了遗传学的基础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103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被誉为遗传学之父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7863840" cy="54864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976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💡 孟德尔的工作是生物学史上最重要的发现之一！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本讲小结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1371600" cy="45720"/>
          </a:xfrm>
          <a:prstGeom prst="roundRect">
            <a:avLst>
              <a:gd name="adj" fmla="val 40000"/>
            </a:avLst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68680"/>
            <a:ext cx="8229600" cy="4023360"/>
          </a:xfrm>
          <a:prstGeom prst="roundRect">
            <a:avLst>
              <a:gd name="adj" fmla="val 3409"/>
            </a:avLst>
          </a:prstGeom>
          <a:solidFill>
            <a:srgbClr val="99F6E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8229600" cy="402336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本讲小结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508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F1代全部表现显性性状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508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F2代出现3:1的稳定比例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103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分离定律：因子在配子形成时分离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194560"/>
            <a:ext cx="228600" cy="2286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2103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孟德尔被誉为遗传学之父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7863840" cy="54864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976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💡 下一讲：自由组合定律 —— 两对性状的遗传 9:3:3:1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1887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🧬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0" y="20116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感谢观看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2926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DD4BF"/>
                </a:solidFill>
              </a:rPr>
              <a:t>Thank You!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0" y="3749040"/>
            <a:ext cx="3657600" cy="54864"/>
          </a:xfrm>
          <a:prstGeom prst="roundRect">
            <a:avLst>
              <a:gd name="adj" fmla="val 33333"/>
            </a:avLst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023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100天遗传学系统学习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📚 Day 8: 自由组合定律——两对性状的遗传</dc:title>
  <dc:subject>PptxGenJS Presentation</dc:subject>
  <dc:creator>遗传学100天</dc:creator>
  <cp:lastModifiedBy>遗传学100天</cp:lastModifiedBy>
  <cp:revision>1</cp:revision>
  <dcterms:created xsi:type="dcterms:W3CDTF">2026-05-18T03:59:24Z</dcterms:created>
  <dcterms:modified xsi:type="dcterms:W3CDTF">2026-05-18T03:59:24Z</dcterms:modified>
</cp:coreProperties>
</file>