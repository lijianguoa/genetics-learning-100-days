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节课是遗传学100天学习计划的第12天，我们将探讨孟德尔在科学史上的另一面——他的失败与被埋没。孟德尔并非一帆风顺，他的研究经历了重大挫折，他的伟大发现在当时也未被认可。理解这段历史有助于我们更全面地认识科学发展的复杂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天的课程分为七个部分。我们将从19世纪的历史背景入手，了解当时的学术氛围如何影响了孟德尔的工作；然后深入探讨他研究山柳菊的失败，这是孟德尔科学生涯中的重要挫折；接着讲述孟德尔晚年的生活故事；分析他的论文为何被埋没；最后探讨一些有趣的历史问题，如达尔文是否读过孟德尔的论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世纪的生物学界与今天大不相同。当时的科学家更像自然观察者，他们收集标本、描述物种、建立分类系统。孟德尔采用的定量实验方法在当时是非常前卫的。他的豌豆实验涉及数学统计和概率计算，这在当时的生物学家看来可能过于[物理化]了。理解这一点有助于我们理解为什么孟德尔的工作在当时没有引起轰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融合遗传是当时的主流观点，它看似合理地解释了为什么孩子往往具有父母双方的特征。但这个理论有一个致命缺陷：如果性状不断融合稀释，那么经过几代之后，遗传变异就会消失，这与达尔文进化论中自然选择需要遗传变异作为原材料的观点相矛盾。孟德尔的颗粒遗传理论完美解决了这个问题，但由于与主流观点冲突，当时没有人认识到这一点的重要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达尔文和孟德尔是同时代的人，他们的工作本可以相互补充。达尔文的进化论解释了物种如何变化，孟德尔的遗传学解释了遗传的机制。可惜的是，达尔文从未了解孟德尔的工作。有学者猜测达尔文可能看过孟德尔的论文，但没有认识到其价值。我们将在后面的[趣闻]部分详细讨论这个问题。达尔文提出的泛生论后来被证明是错误的，如果他能接触到孟德尔的理论，历史可能会改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孟德尔的数学方法在当时是非常前卫的。他在维也纳大学接受了物理学训练，师从著名的多普勒（多普勒效应的发现者）。这种背景使他能够将精确的定量方法引入生物学。但在当时，生物学界普遍认为数学与生命现象无关。孟德尔的3:1比例和复杂的遗传比例计算，可能让当时的读者感到困惑。这种跨学科的方法往往需要很长时间才能被接受，孟德尔的案例成为科学史上[超前于时代]的经典例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孟德尔的豌豆实验取得了巨大成功，但他并没有止步于此。作为严谨的科学家，他希望验证自己的发现是否具有普遍性。于是他选择了山柳菊——一种在植物学家中很有名但很难研究的植物。孟德尔期待在山柳菊中看到与豌豆相同的3:1分离比例，但实际结果让他困惑不已：杂交后代几乎完全与母本相同，没有表现出预期的分离现象。这对孟德尔是一个巨大的打击，因为他无法解释这一现象。他不知道的是，山柳菊主要通过无融合生殖繁殖，这是一种无性繁殖方式，他的遗传定律在这种情况下根本不适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无融合生殖是一种特殊的繁殖方式，它看起来像是种子繁殖（有花、传粉、结籽），但实际上是无性繁殖。在山柳菊中，胚珠中的细胞不经过减数分裂，直接发育成胚，因此后代与母本基因型完全相同。当孟德尔进行山柳菊杂交时，他以为自己在进行有性杂交，但实际上大多数后代是通过无融合生殖产生的克隆。这就是为什么他没有看到3:1的分离比例——因为根本没有发生真正的遗传重组！无融合生殖在当时还没有被科学界充分认识和理解，孟德尔不可能知道这一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实验材料的选择在科学研究中至关重要。孟德尔的豌豆实验之所以成功，部分原因是他选择了理想的实验材料：豌豆是自花授粉植物，易于控制杂交；性状明显，易于观察；繁殖周期适中；最重要的是，豌豆没有无融合生殖。相比之下，山柳菊几乎集齐了所有[不适合做遗传实验]的特点：无融合生殖占主导（95-99%），真正的有性后代极少；多倍体现象普遍，染色体数目复杂。孟德尔的不幸在于，他在试图验证自己的理论时，选择了一个[错误]的实验材料。这提醒我们：验证理论时，选择合适的实验材料至关重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山柳菊实验的失败对孟德尔产生了深远的影响。作为一个严谨的科学家，他无法解释为什么豌豆的规律不适用于山柳菊。这种困惑可能导致他怀疑自己的理论是否具有普遍性，进而停止了进一步的遗传学研究。1870年代后，孟德尔的科学产出明显减少，他开始将更多精力投入到修道院的管理工作中。科学史学者普遍认为，山柳菊的失败是孟德尔科学生涯的转折点。这是一个令人唏嘘的[如果]：如果孟德尔继续研究其他植物，他可能会发现问题所在；如果他知道无融合生殖的存在，他可能会理解山柳菊的特殊性。但历史没有如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1868年，孟德尔当选为布尔诺圣托马斯修道院院长，这是他人生中的一个重要转折点。院长职位带来了繁重的行政和宗教职责，他需要管理修道院的财务、地产，处理与政府和教会的关系。科学研究的时间被大大压缩。尽管如此，孟德尔仍然保持着对科学的热情，他继续关注气象学（他是奥地利气象学会的成员，坚持记录气象数据）、养蜂学和园艺学。但由于行政事务和健康原因，他再也没有进行像豌豆实验那样系统的遗传学研究。晚年的孟德尔生活相对平静，但健康状况逐渐恶化，最终于1884年去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作为修道院院长，孟德尔面临着繁重的行政工作。修道院拥有大量地产，他需要管理租金收取、税务缴纳等事务。更重要的是，他与政府就修道院的免税权问题发生了长期争议，这场争议从1870年代持续到1880年代，成为他晚年生活中的主要压力来源之一。这些行政工作与他作为科学家的理想形成了明显的冲突。然而，孟德尔以高度的责任感履行院长职责，深受修士们的尊敬。他的这种双重身份——科学家和宗教领袖——使他的生活充满了复杂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纳普主教（Cyril Napp）是孟德尔科学生涯中的关键人物。作为布尔诺圣托马斯修道院的院长，纳普是一位开明的宗教人士，热爱科学，尤其关注植物育种。他认识到孟德尔的科学才能，鼓励并支持他进行豌豆实验，还资助他去维也纳大学深造。可以说，没有纳普的支持，孟德尔可能永远不会进行遗传学研究。1867年纳普去世，孟德尔继承了他的院长职位，但也失去了最重要的科学导师和支持者。纳普的去世对孟德尔是一个重大损失，可能也影响了他后来的研究方向和信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1884年1月6日，孟德尔在布尔诺去世，享年61岁。他晚年患有肾脏疾病和心脏病，健康状况在1883年急剧恶化。他的葬礼在圣托马斯修道院举行，当地报纸发表了简短的讣告，称他为[一位受人尊敬的修道院院长和教师]，但没有提到他的科学贡献。这是历史的讽刺：孟德尔去世时，他的伟大发现就静静地躺在图书馆的书架上，等待着被重新发现。他永远不会知道，自己将被尊为[遗传学之父]，他的定律将成为现代生物学的基石。16年后，1900年，他的工作才被三位科学家独立重新发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孟德尔的论文《植物杂交实验》于1866年发表在《布尔诺自然历史学会会刊》上。这是一份地方性的科学期刊，虽然有一定的学术声誉，但影响力有限。论文全文约44页，详细描述了豌豆实验的设计、方法和结果。孟德尔非常重视这篇论文，印刷了约130份，其中约40份寄给了当时著名的植物学家，包括瑞士植物学家内格里（Carl Nägeli）。但论文发表后几乎没有引起任何反响，这在科学史上是一个令人费解的谜团。我们将在下一页探讨论文被忽视的原因。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1866年至1900年间，孟德尔的论文被引用的次数极少，大约只有10-15次，而且大多数引用者并没有理解论文的核心贡献。瑞士植物学家内格里（Carl Nägeli）与孟德尔通信多年，讨论山柳菊实验，但他完全没有认识到孟德尔豌豆实验的价值。德国植物学家费克（Focke）在1881年出版的《植物杂交》综述中提到了孟德尔，但只是简单提及，没有深入讨论。科学界对这篇论文几乎完全忽视，原因包括：发表期刊影响力有限、数学方法难以理解、理论过于超前、缺乏后续研究和推广。1900年前，孟德尔的名字在科学界几乎无人知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1900年春，三位科学家独立重新发现了孟德尔定律，这是科学史上的重要事件。荷兰植物学家雨果·德弗里斯（Hugo de Vries）研究月见草和玉米的遗传，于1900年3月发表论文并引用了孟德尔。德国植物学家卡尔·科伦斯（Carl Correns）研究玉米和豌豆的遗传，于1900年4月发表论文，明确承认孟德尔的优先权。奥地利植物学家埃里克·切尔马克（Erich Tschermak）研究豌豆的遗传，于1900年6月发表论文。三位科学家的独立发现证明了孟德尔定律的普遍性，也标志着遗传学作为一门独立学科的诞生。这一事件被称为[孟德尔的重新发现]。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山柳菊实验是孟德尔科学生涯中最大的挫折。实验从1866年持续到1872年左右，涉及多个山柳菊物种。孟德尔的实验设计是正确的：人工杂交、控制授粉、观察后代性状。他期待看到与豌豆实验相似的3:1分离比例，但实际结果却让他困惑不已：大多数杂交后代与母本完全相同，没有出现预期的性状分离。极少数后代表现出父本性状，但比例也不符合预期。孟德尔不知道的是，他观察到的[母本遗传]正是无融合生殖的特征。他的实验设计是正确的，但实验材料是错误的。这是一个悲剧性的科学错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达尔文是否读过孟德尔的论文，是科学史上一个长期争论的话题。有证据表明达尔文可能接触过孟德尔的论文：他的藏书中有一本植物学文献，其中可能包含孟德尔论文的引用，但书页没有被裁开，说明达尔文可能没有阅读。即使达尔文读过，他可能也没有认识到其价值。融合遗传的观念可能阻碍了他理解孟德尔的颗粒遗传理论。这是科学史上最大的[擦肩而过]之一。如果达尔文理解了孟德尔的工作，进化论和遗传学可能会提前几十年结合，生物学的发展可能会走上不同的道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1900年的重新发现过程充满了戏剧性。德弗里斯最初发表论文时没有引用孟德尔，声称自己是独立发现。科伦斯在查阅文献时发现了孟德尔的论文，并告知了德弗里斯。德弗里斯随后修改论文，添加了孟德尔的引用。三位科学家之间有过激烈的优先权争议。最终，科学界承认孟德尔的优先权，三位科学家共享[重新发现者]的荣誉。这一事件展示了科学发现的复杂性和科学竞争的激烈，也提醒我们科学史往往比科学本身更加戏剧化。1900年后，孟德尔的名字迅速传遍科学界，遗传学作为一门独立学科正式诞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总结了本节课的关键术语。融合遗传是19世纪的主流观点，与孟德尔的颗粒遗传相对立。无融合生殖是理解孟德尔山柳菊实验失败的关键概念。博物学代表了当时的生物学传统，而孟德尔的工作实际上超越了这一传统。泛生论是达尔文的错误遗传理论。重新发现指的是1900年的重要历史事件。理解这些术语有助于我们全面把握孟德尔的历史地位和科学贡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些思考题旨在帮助学习者深入理解孟德尔的历史地位和科学探索的复杂性。第一个问题要求多角度分析论文被忽视的原因。第二个问题引导学习者思考失败对科学家的影响。第三个问题探讨科学发现被接受的条件。第四个问题反思科学研究的本质。第五个问题要求学习者站在历史的角度评价孟德尔的工作。建议学习者在复习时认真思考这些问题，可以与同学讨论，也可以写下自己的答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下节课我们将进入遗传学历史上最激动人心的时期——1900年孟德尔定律的重新发现。我们将详细讲述德弗里斯、科伦斯、切尔马克三位科学家的故事，了解孟德尔定律如何迅速传遍科学界，以及遗传学作为一门独立学科是如何诞生的。我们还将追溯从孟德尔到摩尔根的遗传学早期发展历程。这节课将为理解现代遗传学的建立奠定基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感谢学习本节课的内容。今天我们深入了解了孟德尔的失败与被埋没，这是一段令人唏嘘但又充满启示的科学史。孟德尔的故事告诉我们：科学探索从来不是一帆风顺的，伟大的发现也可能被长期忽视，但真理终将发光。希望这节课能够帮助你更全面地理解科学发展的复杂性，以及孟德尔作为[遗传学之父]的真实历史地位。请复习本节课的内容，完成思考题，我们下节课再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1371600"/>
            <a:ext cx="8229600" cy="914400"/>
          </a:xfrm>
          <a:prstGeom prst="rect">
            <a:avLst/>
          </a:prstGeom>
          <a:noFill/>
          <a:ln/>
        </p:spPr>
        <p:txBody>
          <a:bodyPr wrap="square" rtlCol="0" anchor="ctr"/>
          <a:lstStyle/>
          <a:p>
            <a:pPr algn="ctr" indent="0" marL="0">
              <a:buNone/>
            </a:pPr>
            <a:r>
              <a:rPr lang="en-US" sz="4000" b="1" dirty="0">
                <a:solidFill>
                  <a:srgbClr val="2C5F2D"/>
                </a:solidFill>
                <a:latin typeface="Georgia" pitchFamily="34" charset="0"/>
                <a:ea typeface="Georgia" pitchFamily="34" charset="-122"/>
                <a:cs typeface="Georgia" pitchFamily="34" charset="-120"/>
              </a:rPr>
              <a:t>孟德尔的失败与被埋没</a:t>
            </a:r>
            <a:endParaRPr lang="en-US" sz="4000" dirty="0"/>
          </a:p>
        </p:txBody>
      </p:sp>
      <p:sp>
        <p:nvSpPr>
          <p:cNvPr id="3" name="Text 1"/>
          <p:cNvSpPr/>
          <p:nvPr/>
        </p:nvSpPr>
        <p:spPr>
          <a:xfrm>
            <a:off x="457200" y="2286000"/>
            <a:ext cx="8229600" cy="548640"/>
          </a:xfrm>
          <a:prstGeom prst="rect">
            <a:avLst/>
          </a:prstGeom>
          <a:noFill/>
          <a:ln/>
        </p:spPr>
        <p:txBody>
          <a:bodyPr wrap="square" rtlCol="0" anchor="ctr"/>
          <a:lstStyle/>
          <a:p>
            <a:pPr algn="ctr" indent="0" marL="0">
              <a:buNone/>
            </a:pPr>
            <a:r>
              <a:rPr lang="en-US" sz="2200" i="1" dirty="0">
                <a:solidFill>
                  <a:srgbClr val="97BC62"/>
                </a:solidFill>
                <a:latin typeface="Georgia" pitchFamily="34" charset="0"/>
                <a:ea typeface="Georgia" pitchFamily="34" charset="-122"/>
                <a:cs typeface="Georgia" pitchFamily="34" charset="-120"/>
              </a:rPr>
              <a:t>Mendel's Failures and Neglect</a:t>
            </a:r>
            <a:endParaRPr lang="en-US" sz="2200" dirty="0"/>
          </a:p>
        </p:txBody>
      </p:sp>
      <p:sp>
        <p:nvSpPr>
          <p:cNvPr id="4" name="Shape 2"/>
          <p:cNvSpPr/>
          <p:nvPr/>
        </p:nvSpPr>
        <p:spPr>
          <a:xfrm>
            <a:off x="3200400" y="3017520"/>
            <a:ext cx="1828800" cy="45720"/>
          </a:xfrm>
          <a:prstGeom prst="rect">
            <a:avLst/>
          </a:prstGeom>
          <a:solidFill>
            <a:srgbClr val="D4A843"/>
          </a:solidFill>
          <a:ln/>
        </p:spPr>
      </p:sp>
      <p:sp>
        <p:nvSpPr>
          <p:cNvPr id="5" name="Text 3"/>
          <p:cNvSpPr/>
          <p:nvPr/>
        </p:nvSpPr>
        <p:spPr>
          <a:xfrm>
            <a:off x="457200" y="3291840"/>
            <a:ext cx="8229600" cy="457200"/>
          </a:xfrm>
          <a:prstGeom prst="rect">
            <a:avLst/>
          </a:prstGeom>
          <a:noFill/>
          <a:ln/>
        </p:spPr>
        <p:txBody>
          <a:bodyPr wrap="square" rtlCol="0" anchor="ctr"/>
          <a:lstStyle/>
          <a:p>
            <a:pPr algn="ctr" indent="0" marL="0">
              <a:buNone/>
            </a:pPr>
            <a:r>
              <a:rPr lang="en-US" sz="1600" dirty="0">
                <a:solidFill>
                  <a:srgbClr val="333333"/>
                </a:solidFill>
                <a:latin typeface="Calibri" pitchFamily="34" charset="0"/>
                <a:ea typeface="Calibri" pitchFamily="34" charset="-122"/>
                <a:cs typeface="Calibri" pitchFamily="34" charset="-120"/>
              </a:rPr>
              <a:t>遗传学100天学习计划 · Day 012</a:t>
            </a:r>
            <a:endParaRPr lang="en-US" sz="1600" dirty="0"/>
          </a:p>
        </p:txBody>
      </p:sp>
      <p:sp>
        <p:nvSpPr>
          <p:cNvPr id="6" name="Text 4"/>
          <p:cNvSpPr/>
          <p:nvPr/>
        </p:nvSpPr>
        <p:spPr>
          <a:xfrm>
            <a:off x="457200" y="3840480"/>
            <a:ext cx="8229600" cy="365760"/>
          </a:xfrm>
          <a:prstGeom prst="rect">
            <a:avLst/>
          </a:prstGeom>
          <a:noFill/>
          <a:ln/>
        </p:spPr>
        <p:txBody>
          <a:bodyPr wrap="square" rtlCol="0" anchor="ctr"/>
          <a:lstStyle/>
          <a:p>
            <a:pPr algn="ctr" indent="0" marL="0">
              <a:buNone/>
            </a:pPr>
            <a:r>
              <a:rPr lang="en-US" sz="1400" dirty="0">
                <a:solidFill>
                  <a:srgbClr val="666666"/>
                </a:solidFill>
                <a:latin typeface="Calibri" pitchFamily="34" charset="0"/>
                <a:ea typeface="Calibri" pitchFamily="34" charset="-122"/>
                <a:cs typeface="Calibri" pitchFamily="34" charset="-120"/>
              </a:rPr>
              <a:t>2026-05-27</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今日学习内容 | Learning Objectives</a:t>
            </a:r>
            <a:endParaRPr lang="en-US" sz="2800" dirty="0"/>
          </a:p>
        </p:txBody>
      </p:sp>
      <p:sp>
        <p:nvSpPr>
          <p:cNvPr id="3" name="Text 1"/>
          <p:cNvSpPr/>
          <p:nvPr/>
        </p:nvSpPr>
        <p:spPr>
          <a:xfrm>
            <a:off x="4114800" y="4754880"/>
            <a:ext cx="914400" cy="274320"/>
          </a:xfrm>
          <a:prstGeom prst="rect">
            <a:avLst/>
          </a:prstGeom>
          <a:noFill/>
          <a:ln/>
        </p:spPr>
        <p:txBody>
          <a:bodyPr wrap="square" rtlCol="0" anchor="ctr"/>
          <a:lstStyle/>
          <a:p>
            <a:pPr algn="ctr" indent="0" marL="0">
              <a:buNone/>
            </a:pPr>
            <a:r>
              <a:rPr lang="en-US" sz="1000" dirty="0">
                <a:solidFill>
                  <a:srgbClr val="666666"/>
                </a:solidFill>
                <a:latin typeface="Calibri" pitchFamily="34" charset="0"/>
                <a:ea typeface="Calibri" pitchFamily="34" charset="-122"/>
                <a:cs typeface="Calibri" pitchFamily="34" charset="-120"/>
              </a:rPr>
              <a:t>2 / 24</a:t>
            </a:r>
            <a:endParaRPr lang="en-US" sz="1000" dirty="0"/>
          </a:p>
        </p:txBody>
      </p:sp>
      <p:sp>
        <p:nvSpPr>
          <p:cNvPr id="4" name="Text 2"/>
          <p:cNvSpPr/>
          <p:nvPr/>
        </p:nvSpPr>
        <p:spPr>
          <a:xfrm>
            <a:off x="731520" y="1188720"/>
            <a:ext cx="7680960" cy="3657600"/>
          </a:xfrm>
          <a:prstGeom prst="rect">
            <a:avLst/>
          </a:prstGeom>
          <a:noFill/>
          <a:ln/>
        </p:spPr>
        <p:txBody>
          <a:bodyPr wrap="square" rtlCol="0" anchor="ctr"/>
          <a:lstStyle/>
          <a:p>
            <a:pPr marL="342900" indent="-342900">
              <a:lnSpc>
                <a:spcPts val="3200"/>
              </a:lnSpc>
              <a:buSzPct val="100000"/>
              <a:buChar char="•"/>
            </a:pPr>
            <a:r>
              <a:rPr lang="en-US" sz="1600" dirty="0">
                <a:solidFill>
                  <a:srgbClr val="333333"/>
                </a:solidFill>
                <a:latin typeface="Calibri" pitchFamily="34" charset="0"/>
                <a:ea typeface="Calibri" pitchFamily="34" charset="-122"/>
                <a:cs typeface="Calibri" pitchFamily="34" charset="-120"/>
              </a:rPr>
              <a:t>一、历史背景：19世纪生物学界的学术氛围</a:t>
            </a:r>
            <a:endParaRPr lang="en-US" sz="1600" dirty="0"/>
          </a:p>
          <a:p>
            <a:pPr indent="0" marL="0">
              <a:lnSpc>
                <a:spcPts val="3200"/>
              </a:lnSpc>
              <a:buNone/>
            </a:pPr>
            <a:r>
              <a:rPr lang="en-US" sz="1600" dirty="0">
                <a:solidFill>
                  <a:srgbClr val="333333"/>
                </a:solidFill>
                <a:latin typeface="Calibri" pitchFamily="34" charset="0"/>
                <a:ea typeface="Calibri" pitchFamily="34" charset="-122"/>
                <a:cs typeface="Calibri" pitchFamily="34" charset="-120"/>
              </a:rPr>
              <a:t>二、核心概念：孟德尔研究山柳菊的失败</a:t>
            </a:r>
            <a:endParaRPr lang="en-US" sz="1600" dirty="0"/>
          </a:p>
          <a:p>
            <a:pPr indent="0" marL="0">
              <a:lnSpc>
                <a:spcPts val="3200"/>
              </a:lnSpc>
              <a:buNone/>
            </a:pPr>
            <a:r>
              <a:rPr lang="en-US" sz="1600" dirty="0">
                <a:solidFill>
                  <a:srgbClr val="333333"/>
                </a:solidFill>
                <a:latin typeface="Calibri" pitchFamily="34" charset="0"/>
                <a:ea typeface="Calibri" pitchFamily="34" charset="-122"/>
                <a:cs typeface="Calibri" pitchFamily="34" charset="-120"/>
              </a:rPr>
              <a:t>三、科学家故事：孟德尔晚年的生活与困境</a:t>
            </a:r>
            <a:endParaRPr lang="en-US" sz="1600" dirty="0"/>
          </a:p>
          <a:p>
            <a:pPr indent="0" marL="0">
              <a:lnSpc>
                <a:spcPts val="3200"/>
              </a:lnSpc>
              <a:buNone/>
            </a:pPr>
            <a:r>
              <a:rPr lang="en-US" sz="1600" dirty="0">
                <a:solidFill>
                  <a:srgbClr val="333333"/>
                </a:solidFill>
                <a:latin typeface="Calibri" pitchFamily="34" charset="0"/>
                <a:ea typeface="Calibri" pitchFamily="34" charset="-122"/>
                <a:cs typeface="Calibri" pitchFamily="34" charset="-120"/>
              </a:rPr>
              <a:t>四、文献分析：1866年论文的沉寂与被遗忘</a:t>
            </a:r>
            <a:endParaRPr lang="en-US" sz="1600" dirty="0"/>
          </a:p>
          <a:p>
            <a:pPr indent="0" marL="0">
              <a:lnSpc>
                <a:spcPts val="3200"/>
              </a:lnSpc>
              <a:buNone/>
            </a:pPr>
            <a:r>
              <a:rPr lang="en-US" sz="1600" dirty="0">
                <a:solidFill>
                  <a:srgbClr val="333333"/>
                </a:solidFill>
                <a:latin typeface="Calibri" pitchFamily="34" charset="0"/>
                <a:ea typeface="Calibri" pitchFamily="34" charset="-122"/>
                <a:cs typeface="Calibri" pitchFamily="34" charset="-120"/>
              </a:rPr>
              <a:t>五、实验详解：山柳菊实验的设计与结果</a:t>
            </a:r>
            <a:endParaRPr lang="en-US" sz="1600" dirty="0"/>
          </a:p>
          <a:p>
            <a:pPr indent="0" marL="0">
              <a:lnSpc>
                <a:spcPts val="3200"/>
              </a:lnSpc>
              <a:buNone/>
            </a:pPr>
            <a:r>
              <a:rPr lang="en-US" sz="1600" dirty="0">
                <a:solidFill>
                  <a:srgbClr val="333333"/>
                </a:solidFill>
                <a:latin typeface="Calibri" pitchFamily="34" charset="0"/>
                <a:ea typeface="Calibri" pitchFamily="34" charset="-122"/>
                <a:cs typeface="Calibri" pitchFamily="34" charset="-120"/>
              </a:rPr>
              <a:t>六、历史趣闻：达尔文与孟德尔的擦肩而过</a:t>
            </a:r>
            <a:endParaRPr lang="en-US" sz="1600" dirty="0"/>
          </a:p>
          <a:p>
            <a:pPr indent="0" marL="0">
              <a:lnSpc>
                <a:spcPts val="3200"/>
              </a:lnSpc>
              <a:buNone/>
            </a:pPr>
            <a:r>
              <a:rPr lang="en-US" sz="1600" dirty="0">
                <a:solidFill>
                  <a:srgbClr val="333333"/>
                </a:solidFill>
                <a:latin typeface="Calibri" pitchFamily="34" charset="0"/>
                <a:ea typeface="Calibri" pitchFamily="34" charset="-122"/>
                <a:cs typeface="Calibri" pitchFamily="34" charset="-120"/>
              </a:rPr>
              <a:t>七、关键术语表与思考题</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历史背景（一）：19世纪生物学界的氛围</a:t>
            </a:r>
            <a:endParaRPr lang="en-US" sz="2800" dirty="0"/>
          </a:p>
        </p:txBody>
      </p:sp>
      <p:sp>
        <p:nvSpPr>
          <p:cNvPr id="3" name="Text 1"/>
          <p:cNvSpPr/>
          <p:nvPr/>
        </p:nvSpPr>
        <p:spPr>
          <a:xfrm>
            <a:off x="4114800" y="4754880"/>
            <a:ext cx="914400" cy="274320"/>
          </a:xfrm>
          <a:prstGeom prst="rect">
            <a:avLst/>
          </a:prstGeom>
          <a:noFill/>
          <a:ln/>
        </p:spPr>
        <p:txBody>
          <a:bodyPr wrap="square" rtlCol="0" anchor="ctr"/>
          <a:lstStyle/>
          <a:p>
            <a:pPr algn="ctr" indent="0" marL="0">
              <a:buNone/>
            </a:pPr>
            <a:r>
              <a:rPr lang="en-US" sz="1000" dirty="0">
                <a:solidFill>
                  <a:srgbClr val="666666"/>
                </a:solidFill>
                <a:latin typeface="Calibri" pitchFamily="34" charset="0"/>
                <a:ea typeface="Calibri" pitchFamily="34" charset="-122"/>
                <a:cs typeface="Calibri" pitchFamily="34" charset="-120"/>
              </a:rPr>
              <a:t>3 / 24</a:t>
            </a:r>
            <a:endParaRPr lang="en-US" sz="1000" dirty="0"/>
          </a:p>
        </p:txBody>
      </p:sp>
      <p:sp>
        <p:nvSpPr>
          <p:cNvPr id="4" name="Text 2"/>
          <p:cNvSpPr/>
          <p:nvPr/>
        </p:nvSpPr>
        <p:spPr>
          <a:xfrm>
            <a:off x="457200" y="1097280"/>
            <a:ext cx="8229600" cy="3657600"/>
          </a:xfrm>
          <a:prstGeom prst="rect">
            <a:avLst/>
          </a:prstGeom>
          <a:noFill/>
          <a:ln/>
        </p:spPr>
        <p:txBody>
          <a:bodyPr wrap="square" rtlCol="0" anchor="t"/>
          <a:lstStyle/>
          <a:p>
            <a:pPr algn="l" indent="0" marL="0">
              <a:lnSpc>
                <a:spcPts val="2400"/>
              </a:lnSpc>
              <a:buNone/>
            </a:pPr>
            <a:r>
              <a:rPr lang="en-US" sz="1800" b="1" dirty="0">
                <a:solidFill>
                  <a:srgbClr val="D4A843"/>
                </a:solidFill>
                <a:latin typeface="Calibri" pitchFamily="34" charset="0"/>
                <a:ea typeface="Calibri" pitchFamily="34" charset="-122"/>
                <a:cs typeface="Calibri" pitchFamily="34" charset="-120"/>
              </a:rPr>
              <a:t>博物学传统的主导地位</a:t>
            </a:r>
            <a:endParaRPr lang="en-US" sz="1800" dirty="0"/>
          </a:p>
        </p:txBody>
      </p:sp>
      <p:sp>
        <p:nvSpPr>
          <p:cNvPr id="5" name="Text 3"/>
          <p:cNvSpPr/>
          <p:nvPr/>
        </p:nvSpPr>
        <p:spPr>
          <a:xfrm>
            <a:off x="457200" y="1645920"/>
            <a:ext cx="8229600" cy="3200400"/>
          </a:xfrm>
          <a:prstGeom prst="rect">
            <a:avLst/>
          </a:prstGeom>
          <a:noFill/>
          <a:ln/>
        </p:spPr>
        <p:txBody>
          <a:bodyPr wrap="square" rtlCol="0" anchor="t"/>
          <a:lstStyle/>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19世纪中叶，生物学界主要由博物学（Natural History）传统主导</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科学家关注的是描述、分类和观察自然界的多样性</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研究方法以定性描述为主，强调对生物形态的细致观察和记录</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实验生物学尚未成为主流，控制实验的方法论还未被广泛接受</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植物学和动物学的研究主要服务于分类学和形态学</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欧洲大陆的科学界尤其重视哲学思辨和理论建构</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经验主义和实证精神虽然在兴起，但在生物学领域进展缓慢</a:t>
            </a:r>
            <a:endParaRPr lang="en-US" sz="1400" dirty="0"/>
          </a:p>
        </p:txBody>
      </p:sp>
      <p:sp>
        <p:nvSpPr>
          <p:cNvPr id="6" name="Text 4"/>
          <p:cNvSpPr/>
          <p:nvPr/>
        </p:nvSpPr>
        <p:spPr>
          <a:xfrm>
            <a:off x="457200" y="4389120"/>
            <a:ext cx="8229600" cy="1097280"/>
          </a:xfrm>
          <a:prstGeom prst="rect">
            <a:avLst/>
          </a:prstGeom>
          <a:noFill/>
          <a:ln/>
        </p:spPr>
        <p:txBody>
          <a:bodyPr wrap="square" rtlCol="0" anchor="t"/>
          <a:lstStyle/>
          <a:p>
            <a:pPr algn="l" indent="0" marL="0">
              <a:lnSpc>
                <a:spcPts val="2400"/>
              </a:lnSpc>
              <a:buNone/>
            </a:pPr>
            <a:r>
              <a:rPr lang="en-US" sz="1200" i="1" dirty="0">
                <a:solidFill>
                  <a:srgbClr val="666666"/>
                </a:solidFill>
                <a:latin typeface="Calibri" pitchFamily="34" charset="0"/>
                <a:ea typeface="Calibri" pitchFamily="34" charset="-122"/>
                <a:cs typeface="Calibri" pitchFamily="34" charset="-120"/>
              </a:rPr>
              <a:t>关键概念：博物学 vs 实验生物学</a:t>
            </a:r>
            <a:endParaRPr lang="en-US" sz="1200" dirty="0"/>
          </a:p>
          <a:p>
            <a:pPr algn="l" indent="0" marL="0">
              <a:lnSpc>
                <a:spcPts val="2400"/>
              </a:lnSpc>
              <a:buNone/>
            </a:pPr>
            <a:r>
              <a:rPr lang="en-US" sz="1200" i="1" dirty="0">
                <a:solidFill>
                  <a:srgbClr val="666666"/>
                </a:solidFill>
                <a:latin typeface="Calibri" pitchFamily="34" charset="0"/>
                <a:ea typeface="Calibri" pitchFamily="34" charset="-122"/>
                <a:cs typeface="Calibri" pitchFamily="34" charset="-120"/>
              </a:rPr>
              <a:t>博物学强调观察和描述，回答[是什么]；实验生物学强调控制和验证，回答[为什么]。孟德尔的工作实际上已经超越了当时的时代，属于实验生物学的先驱。</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历史背景（二）：融合遗传理论的主导地位</a:t>
            </a:r>
            <a:endParaRPr lang="en-US" sz="2800" dirty="0"/>
          </a:p>
        </p:txBody>
      </p:sp>
      <p:sp>
        <p:nvSpPr>
          <p:cNvPr id="3" name="Text 1"/>
          <p:cNvSpPr/>
          <p:nvPr/>
        </p:nvSpPr>
        <p:spPr>
          <a:xfrm>
            <a:off x="4114800" y="4754880"/>
            <a:ext cx="914400" cy="274320"/>
          </a:xfrm>
          <a:prstGeom prst="rect">
            <a:avLst/>
          </a:prstGeom>
          <a:noFill/>
          <a:ln/>
        </p:spPr>
        <p:txBody>
          <a:bodyPr wrap="square" rtlCol="0" anchor="ctr"/>
          <a:lstStyle/>
          <a:p>
            <a:pPr algn="ctr" indent="0" marL="0">
              <a:buNone/>
            </a:pPr>
            <a:r>
              <a:rPr lang="en-US" sz="1000" dirty="0">
                <a:solidFill>
                  <a:srgbClr val="666666"/>
                </a:solidFill>
                <a:latin typeface="Calibri" pitchFamily="34" charset="0"/>
                <a:ea typeface="Calibri" pitchFamily="34" charset="-122"/>
                <a:cs typeface="Calibri" pitchFamily="34" charset="-120"/>
              </a:rPr>
              <a:t>4 / 24</a:t>
            </a:r>
            <a:endParaRPr lang="en-US" sz="1000" dirty="0"/>
          </a:p>
        </p:txBody>
      </p:sp>
      <p:sp>
        <p:nvSpPr>
          <p:cNvPr id="4" name="Text 2"/>
          <p:cNvSpPr/>
          <p:nvPr/>
        </p:nvSpPr>
        <p:spPr>
          <a:xfrm>
            <a:off x="457200" y="1097280"/>
            <a:ext cx="8229600" cy="3657600"/>
          </a:xfrm>
          <a:prstGeom prst="rect">
            <a:avLst/>
          </a:prstGeom>
          <a:noFill/>
          <a:ln/>
        </p:spPr>
        <p:txBody>
          <a:bodyPr wrap="square" rtlCol="0" anchor="t"/>
          <a:lstStyle/>
          <a:p>
            <a:pPr algn="l" indent="0" marL="0">
              <a:lnSpc>
                <a:spcPts val="2400"/>
              </a:lnSpc>
              <a:buNone/>
            </a:pPr>
            <a:r>
              <a:rPr lang="en-US" sz="1800" b="1" dirty="0">
                <a:solidFill>
                  <a:srgbClr val="D4A843"/>
                </a:solidFill>
                <a:latin typeface="Calibri" pitchFamily="34" charset="0"/>
                <a:ea typeface="Calibri" pitchFamily="34" charset="-122"/>
                <a:cs typeface="Calibri" pitchFamily="34" charset="-120"/>
              </a:rPr>
              <a:t>融合遗传（Blending Inheritance）</a:t>
            </a:r>
            <a:endParaRPr lang="en-US" sz="1800" dirty="0"/>
          </a:p>
        </p:txBody>
      </p:sp>
      <p:sp>
        <p:nvSpPr>
          <p:cNvPr id="5" name="Text 3"/>
          <p:cNvSpPr/>
          <p:nvPr/>
        </p:nvSpPr>
        <p:spPr>
          <a:xfrm>
            <a:off x="457200" y="1645920"/>
            <a:ext cx="8229600" cy="3200400"/>
          </a:xfrm>
          <a:prstGeom prst="rect">
            <a:avLst/>
          </a:prstGeom>
          <a:noFill/>
          <a:ln/>
        </p:spPr>
        <p:txBody>
          <a:bodyPr wrap="square" rtlCol="0" anchor="t"/>
          <a:lstStyle/>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融合遗传理论认为：父母的性状会像液体一样混合，后代呈现中间状态</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例如：高植株与矮植株杂交，后代应该是中等高度</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这一理论看似符合日常观察，被广泛接受</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融合遗传的问题：如果性状不断融合稀释，变异如何保存？</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达尔文也深受融合遗传观念的影响，这成为他进化论的一个难题</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孟德尔的颗粒遗传理论（遗传因子不融合）与主流观点直接冲突</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科学革命往往需要打破根深蒂固的范式，孟德尔走在了时代前面</a:t>
            </a:r>
            <a:endParaRPr lang="en-US" sz="1400" dirty="0"/>
          </a:p>
        </p:txBody>
      </p:sp>
      <p:sp>
        <p:nvSpPr>
          <p:cNvPr id="6" name="Shape 4"/>
          <p:cNvSpPr/>
          <p:nvPr/>
        </p:nvSpPr>
        <p:spPr>
          <a:xfrm>
            <a:off x="457200" y="4114800"/>
            <a:ext cx="8229600" cy="731520"/>
          </a:xfrm>
          <a:prstGeom prst="rect">
            <a:avLst/>
          </a:prstGeom>
          <a:solidFill>
            <a:srgbClr val="E8F5E9"/>
          </a:solidFill>
          <a:ln/>
        </p:spPr>
      </p:sp>
      <p:sp>
        <p:nvSpPr>
          <p:cNvPr id="7" name="Text 5"/>
          <p:cNvSpPr/>
          <p:nvPr/>
        </p:nvSpPr>
        <p:spPr>
          <a:xfrm>
            <a:off x="640080" y="4206240"/>
            <a:ext cx="7863840" cy="548640"/>
          </a:xfrm>
          <a:prstGeom prst="rect">
            <a:avLst/>
          </a:prstGeom>
          <a:noFill/>
          <a:ln/>
        </p:spPr>
        <p:txBody>
          <a:bodyPr wrap="square" rtlCol="0" anchor="t"/>
          <a:lstStyle/>
          <a:p>
            <a:pPr algn="l" indent="0" marL="0">
              <a:lnSpc>
                <a:spcPts val="2400"/>
              </a:lnSpc>
              <a:buNone/>
            </a:pPr>
            <a:r>
              <a:rPr lang="en-US" sz="1200" i="1" dirty="0">
                <a:solidFill>
                  <a:srgbClr val="2C5F2D"/>
                </a:solidFill>
                <a:latin typeface="Calibri" pitchFamily="34" charset="0"/>
                <a:ea typeface="Calibri" pitchFamily="34" charset="-122"/>
                <a:cs typeface="Calibri" pitchFamily="34" charset="-120"/>
              </a:rPr>
              <a:t>思考：为什么融合遗传理论如此顽固？因为它符合直觉。孟德尔的颗粒遗传需要更抽象的思维方式，接受[看不见]的遗传因子。</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历史背景（三）：达尔文《物种起源》的影响</a:t>
            </a:r>
            <a:endParaRPr lang="en-US" sz="2800" dirty="0"/>
          </a:p>
        </p:txBody>
      </p:sp>
      <p:sp>
        <p:nvSpPr>
          <p:cNvPr id="3" name="Text 1"/>
          <p:cNvSpPr/>
          <p:nvPr/>
        </p:nvSpPr>
        <p:spPr>
          <a:xfrm>
            <a:off x="4114800" y="4754880"/>
            <a:ext cx="914400" cy="274320"/>
          </a:xfrm>
          <a:prstGeom prst="rect">
            <a:avLst/>
          </a:prstGeom>
          <a:noFill/>
          <a:ln/>
        </p:spPr>
        <p:txBody>
          <a:bodyPr wrap="square" rtlCol="0" anchor="ctr"/>
          <a:lstStyle/>
          <a:p>
            <a:pPr algn="ctr" indent="0" marL="0">
              <a:buNone/>
            </a:pPr>
            <a:r>
              <a:rPr lang="en-US" sz="1000" dirty="0">
                <a:solidFill>
                  <a:srgbClr val="666666"/>
                </a:solidFill>
                <a:latin typeface="Calibri" pitchFamily="34" charset="0"/>
                <a:ea typeface="Calibri" pitchFamily="34" charset="-122"/>
                <a:cs typeface="Calibri" pitchFamily="34" charset="-120"/>
              </a:rPr>
              <a:t>5 / 24</a:t>
            </a:r>
            <a:endParaRPr lang="en-US" sz="1000" dirty="0"/>
          </a:p>
        </p:txBody>
      </p:sp>
      <p:sp>
        <p:nvSpPr>
          <p:cNvPr id="4" name="Text 2"/>
          <p:cNvSpPr/>
          <p:nvPr/>
        </p:nvSpPr>
        <p:spPr>
          <a:xfrm>
            <a:off x="457200" y="1097280"/>
            <a:ext cx="8229600" cy="3657600"/>
          </a:xfrm>
          <a:prstGeom prst="rect">
            <a:avLst/>
          </a:prstGeom>
          <a:noFill/>
          <a:ln/>
        </p:spPr>
        <p:txBody>
          <a:bodyPr wrap="square" rtlCol="0" anchor="t"/>
          <a:lstStyle/>
          <a:p>
            <a:pPr algn="l" indent="0" marL="0">
              <a:lnSpc>
                <a:spcPts val="2400"/>
              </a:lnSpc>
              <a:buNone/>
            </a:pPr>
            <a:r>
              <a:rPr lang="en-US" sz="1800" b="1" dirty="0">
                <a:solidFill>
                  <a:srgbClr val="D4A843"/>
                </a:solidFill>
                <a:latin typeface="Calibri" pitchFamily="34" charset="0"/>
                <a:ea typeface="Calibri" pitchFamily="34" charset="-122"/>
                <a:cs typeface="Calibri" pitchFamily="34" charset="-120"/>
              </a:rPr>
              <a:t>1859年：进化论震撼世界</a:t>
            </a:r>
            <a:endParaRPr lang="en-US" sz="1800" dirty="0"/>
          </a:p>
        </p:txBody>
      </p:sp>
      <p:sp>
        <p:nvSpPr>
          <p:cNvPr id="5" name="Text 3"/>
          <p:cNvSpPr/>
          <p:nvPr/>
        </p:nvSpPr>
        <p:spPr>
          <a:xfrm>
            <a:off x="457200" y="1645920"/>
            <a:ext cx="8229600" cy="2926080"/>
          </a:xfrm>
          <a:prstGeom prst="rect">
            <a:avLst/>
          </a:prstGeom>
          <a:noFill/>
          <a:ln/>
        </p:spPr>
        <p:txBody>
          <a:bodyPr wrap="square" rtlCol="0" anchor="t"/>
          <a:lstStyle/>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1859年，达尔文发表《物种起源》，提出自然选择学说</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这本书引起了巨大轰动，成为19世纪最重要的科学著作之一</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达尔文需要解释：遗传变异从何而来？如何传递给后代？</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由于缺乏正确的遗传理论，达尔文的泛生论（Pangenesis）是错误的</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泛生论认为：身体各部分产生[微芽]，汇集到生殖细胞</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如果孟德尔的发现当时被认可，达尔文的理论会更加完善</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历史没有如果，但两位巨人的[擦肩而过]令人唏嘘</a:t>
            </a:r>
            <a:endParaRPr lang="en-US" sz="1400" dirty="0"/>
          </a:p>
        </p:txBody>
      </p:sp>
      <p:sp>
        <p:nvSpPr>
          <p:cNvPr id="6" name="Text 4"/>
          <p:cNvSpPr/>
          <p:nvPr/>
        </p:nvSpPr>
        <p:spPr>
          <a:xfrm>
            <a:off x="457200" y="3931920"/>
            <a:ext cx="8229600" cy="1371600"/>
          </a:xfrm>
          <a:prstGeom prst="rect">
            <a:avLst/>
          </a:prstGeom>
          <a:noFill/>
          <a:ln/>
        </p:spPr>
        <p:txBody>
          <a:bodyPr wrap="square" rtlCol="0" anchor="t"/>
          <a:lstStyle/>
          <a:p>
            <a:pPr algn="l" indent="0" marL="0">
              <a:lnSpc>
                <a:spcPts val="2400"/>
              </a:lnSpc>
              <a:buNone/>
            </a:pPr>
            <a:r>
              <a:rPr lang="en-US" sz="1200" dirty="0">
                <a:solidFill>
                  <a:srgbClr val="666666"/>
                </a:solidFill>
                <a:latin typeface="Calibri" pitchFamily="34" charset="0"/>
                <a:ea typeface="Calibri" pitchFamily="34" charset="-122"/>
                <a:cs typeface="Calibri" pitchFamily="34" charset="-120"/>
              </a:rPr>
              <a:t>时间线对比：</a:t>
            </a:r>
            <a:endParaRPr lang="en-US" sz="1200" dirty="0"/>
          </a:p>
          <a:p>
            <a:pPr algn="l" indent="0" marL="0">
              <a:lnSpc>
                <a:spcPts val="2400"/>
              </a:lnSpc>
              <a:buNone/>
            </a:pPr>
            <a:r>
              <a:rPr lang="en-US" sz="1200" dirty="0">
                <a:solidFill>
                  <a:srgbClr val="666666"/>
                </a:solidFill>
                <a:latin typeface="Calibri" pitchFamily="34" charset="0"/>
                <a:ea typeface="Calibri" pitchFamily="34" charset="-122"/>
                <a:cs typeface="Calibri" pitchFamily="34" charset="-120"/>
              </a:rPr>
              <a:t>• 1859年：达尔文《物种起源》出版</a:t>
            </a:r>
            <a:endParaRPr lang="en-US" sz="1200" dirty="0"/>
          </a:p>
          <a:p>
            <a:pPr algn="l" indent="0" marL="0">
              <a:lnSpc>
                <a:spcPts val="2400"/>
              </a:lnSpc>
              <a:buNone/>
            </a:pPr>
            <a:r>
              <a:rPr lang="en-US" sz="1200" dirty="0">
                <a:solidFill>
                  <a:srgbClr val="666666"/>
                </a:solidFill>
                <a:latin typeface="Calibri" pitchFamily="34" charset="0"/>
                <a:ea typeface="Calibri" pitchFamily="34" charset="-122"/>
                <a:cs typeface="Calibri" pitchFamily="34" charset="-120"/>
              </a:rPr>
              <a:t>• 1866年：孟德尔论文发表</a:t>
            </a:r>
            <a:endParaRPr lang="en-US" sz="1200" dirty="0"/>
          </a:p>
          <a:p>
            <a:pPr algn="l" indent="0" marL="0">
              <a:lnSpc>
                <a:spcPts val="2400"/>
              </a:lnSpc>
              <a:buNone/>
            </a:pPr>
            <a:r>
              <a:rPr lang="en-US" sz="1200" dirty="0">
                <a:solidFill>
                  <a:srgbClr val="666666"/>
                </a:solidFill>
                <a:latin typeface="Calibri" pitchFamily="34" charset="0"/>
                <a:ea typeface="Calibri" pitchFamily="34" charset="-122"/>
                <a:cs typeface="Calibri" pitchFamily="34" charset="-120"/>
              </a:rPr>
              <a:t>• 1868年：达尔文《动物和植物在家养下的变异》（提出泛生论）</a:t>
            </a:r>
            <a:endParaRPr lang="en-US" sz="1200" dirty="0"/>
          </a:p>
          <a:p>
            <a:pPr algn="l" indent="0" marL="0">
              <a:lnSpc>
                <a:spcPts val="2400"/>
              </a:lnSpc>
              <a:buNone/>
            </a:pPr>
            <a:r>
              <a:rPr lang="en-US" sz="1200" dirty="0">
                <a:solidFill>
                  <a:srgbClr val="666666"/>
                </a:solidFill>
                <a:latin typeface="Calibri" pitchFamily="34" charset="0"/>
                <a:ea typeface="Calibri" pitchFamily="34" charset="-122"/>
                <a:cs typeface="Calibri" pitchFamily="34" charset="-120"/>
              </a:rPr>
              <a:t>• 1882年：达尔文去世，从未了解孟德尔的工作</a:t>
            </a:r>
            <a:endParaRPr lang="en-US" sz="1200" dirty="0"/>
          </a:p>
          <a:p>
            <a:pPr algn="l" indent="0" marL="0">
              <a:lnSpc>
                <a:spcPts val="2400"/>
              </a:lnSpc>
              <a:buNone/>
            </a:pPr>
            <a:r>
              <a:rPr lang="en-US" sz="1200" dirty="0">
                <a:solidFill>
                  <a:srgbClr val="666666"/>
                </a:solidFill>
                <a:latin typeface="Calibri" pitchFamily="34" charset="0"/>
                <a:ea typeface="Calibri" pitchFamily="34" charset="-122"/>
                <a:cs typeface="Calibri" pitchFamily="34" charset="-120"/>
              </a:rPr>
              <a:t>• 1884年：孟德尔去世，他的工作仍被遗忘</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历史背景（四）：为什么数学方法不被接受</a:t>
            </a:r>
            <a:endParaRPr lang="en-US" sz="2800" dirty="0"/>
          </a:p>
        </p:txBody>
      </p:sp>
      <p:sp>
        <p:nvSpPr>
          <p:cNvPr id="3" name="Text 1"/>
          <p:cNvSpPr/>
          <p:nvPr/>
        </p:nvSpPr>
        <p:spPr>
          <a:xfrm>
            <a:off x="4114800" y="4754880"/>
            <a:ext cx="914400" cy="274320"/>
          </a:xfrm>
          <a:prstGeom prst="rect">
            <a:avLst/>
          </a:prstGeom>
          <a:noFill/>
          <a:ln/>
        </p:spPr>
        <p:txBody>
          <a:bodyPr wrap="square" rtlCol="0" anchor="ctr"/>
          <a:lstStyle/>
          <a:p>
            <a:pPr algn="ctr" indent="0" marL="0">
              <a:buNone/>
            </a:pPr>
            <a:r>
              <a:rPr lang="en-US" sz="1000" dirty="0">
                <a:solidFill>
                  <a:srgbClr val="666666"/>
                </a:solidFill>
                <a:latin typeface="Calibri" pitchFamily="34" charset="0"/>
                <a:ea typeface="Calibri" pitchFamily="34" charset="-122"/>
                <a:cs typeface="Calibri" pitchFamily="34" charset="-120"/>
              </a:rPr>
              <a:t>6 / 24</a:t>
            </a:r>
            <a:endParaRPr lang="en-US" sz="1000" dirty="0"/>
          </a:p>
        </p:txBody>
      </p:sp>
      <p:sp>
        <p:nvSpPr>
          <p:cNvPr id="4" name="Text 2"/>
          <p:cNvSpPr/>
          <p:nvPr/>
        </p:nvSpPr>
        <p:spPr>
          <a:xfrm>
            <a:off x="457200" y="1097280"/>
            <a:ext cx="8229600" cy="3657600"/>
          </a:xfrm>
          <a:prstGeom prst="rect">
            <a:avLst/>
          </a:prstGeom>
          <a:noFill/>
          <a:ln/>
        </p:spPr>
        <p:txBody>
          <a:bodyPr wrap="square" rtlCol="0" anchor="t"/>
          <a:lstStyle/>
          <a:p>
            <a:pPr algn="l" indent="0" marL="0">
              <a:lnSpc>
                <a:spcPts val="2400"/>
              </a:lnSpc>
              <a:buNone/>
            </a:pPr>
            <a:r>
              <a:rPr lang="en-US" sz="1800" b="1" dirty="0">
                <a:solidFill>
                  <a:srgbClr val="D4A843"/>
                </a:solidFill>
                <a:latin typeface="Calibri" pitchFamily="34" charset="0"/>
                <a:ea typeface="Calibri" pitchFamily="34" charset="-122"/>
                <a:cs typeface="Calibri" pitchFamily="34" charset="-120"/>
              </a:rPr>
              <a:t>定量生物学的前卫性</a:t>
            </a:r>
            <a:endParaRPr lang="en-US" sz="1800" dirty="0"/>
          </a:p>
        </p:txBody>
      </p:sp>
      <p:sp>
        <p:nvSpPr>
          <p:cNvPr id="5" name="Text 3"/>
          <p:cNvSpPr/>
          <p:nvPr/>
        </p:nvSpPr>
        <p:spPr>
          <a:xfrm>
            <a:off x="457200" y="1645920"/>
            <a:ext cx="8229600" cy="3200400"/>
          </a:xfrm>
          <a:prstGeom prst="rect">
            <a:avLst/>
          </a:prstGeom>
          <a:noFill/>
          <a:ln/>
        </p:spPr>
        <p:txBody>
          <a:bodyPr wrap="square" rtlCol="0" anchor="t"/>
          <a:lstStyle/>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孟德尔在论文中使用了比例（3:1, 1:2:1）和概率计算</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当时的生物学家不熟悉数学方法，甚至对数学有抵触情绪</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生物学被认为是描述性科学，数学属于物理学和天文学</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孟德尔的统计方法来自物理学训练（维也纳大学）</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他的数学表述可能让当时的读者感到困惑或怀疑</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科学史表明，跨学科方法往往需要很长时间才能被接受</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孟德尔的案例成为[定量革命]在生物学中的早期尝试</a:t>
            </a:r>
            <a:endParaRPr lang="en-US" sz="1400" dirty="0"/>
          </a:p>
        </p:txBody>
      </p:sp>
      <p:sp>
        <p:nvSpPr>
          <p:cNvPr id="6" name="Shape 4"/>
          <p:cNvSpPr/>
          <p:nvPr/>
        </p:nvSpPr>
        <p:spPr>
          <a:xfrm>
            <a:off x="457200" y="4114800"/>
            <a:ext cx="8229600" cy="731520"/>
          </a:xfrm>
          <a:prstGeom prst="rect">
            <a:avLst/>
          </a:prstGeom>
          <a:solidFill>
            <a:srgbClr val="FFF8E1"/>
          </a:solidFill>
          <a:ln/>
        </p:spPr>
      </p:sp>
      <p:sp>
        <p:nvSpPr>
          <p:cNvPr id="7" name="Text 5"/>
          <p:cNvSpPr/>
          <p:nvPr/>
        </p:nvSpPr>
        <p:spPr>
          <a:xfrm>
            <a:off x="640080" y="4206240"/>
            <a:ext cx="7863840" cy="548640"/>
          </a:xfrm>
          <a:prstGeom prst="rect">
            <a:avLst/>
          </a:prstGeom>
          <a:noFill/>
          <a:ln/>
        </p:spPr>
        <p:txBody>
          <a:bodyPr wrap="square" rtlCol="0" anchor="t"/>
          <a:lstStyle/>
          <a:p>
            <a:pPr algn="l" indent="0" marL="0">
              <a:lnSpc>
                <a:spcPts val="2400"/>
              </a:lnSpc>
              <a:buNone/>
            </a:pPr>
            <a:r>
              <a:rPr lang="en-US" sz="1200" i="1" dirty="0">
                <a:solidFill>
                  <a:srgbClr val="D4A843"/>
                </a:solidFill>
                <a:latin typeface="Calibri" pitchFamily="34" charset="0"/>
                <a:ea typeface="Calibri" pitchFamily="34" charset="-122"/>
                <a:cs typeface="Calibri" pitchFamily="34" charset="-120"/>
              </a:rPr>
              <a:t>学术背景：孟德尔在维也纳大学学习时，师从物理学家多普勒（Doppler）和数学家埃廷豪森（Ettingshausen）。这种物理学背景使他将精确的定量方法引入生物学研究。</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核心概念（一）：孟德尔研究山柳菊的失败</a:t>
            </a:r>
            <a:endParaRPr lang="en-US" sz="2800" dirty="0"/>
          </a:p>
        </p:txBody>
      </p:sp>
      <p:sp>
        <p:nvSpPr>
          <p:cNvPr id="3" name="Text 1"/>
          <p:cNvSpPr/>
          <p:nvPr/>
        </p:nvSpPr>
        <p:spPr>
          <a:xfrm>
            <a:off x="4114800" y="4754880"/>
            <a:ext cx="914400" cy="274320"/>
          </a:xfrm>
          <a:prstGeom prst="rect">
            <a:avLst/>
          </a:prstGeom>
          <a:noFill/>
          <a:ln/>
        </p:spPr>
        <p:txBody>
          <a:bodyPr wrap="square" rtlCol="0" anchor="ctr"/>
          <a:lstStyle/>
          <a:p>
            <a:pPr algn="ctr" indent="0" marL="0">
              <a:buNone/>
            </a:pPr>
            <a:r>
              <a:rPr lang="en-US" sz="1000" dirty="0">
                <a:solidFill>
                  <a:srgbClr val="666666"/>
                </a:solidFill>
                <a:latin typeface="Calibri" pitchFamily="34" charset="0"/>
                <a:ea typeface="Calibri" pitchFamily="34" charset="-122"/>
                <a:cs typeface="Calibri" pitchFamily="34" charset="-120"/>
              </a:rPr>
              <a:t>7 / 24</a:t>
            </a:r>
            <a:endParaRPr lang="en-US" sz="1000" dirty="0"/>
          </a:p>
        </p:txBody>
      </p:sp>
      <p:sp>
        <p:nvSpPr>
          <p:cNvPr id="4" name="Text 2"/>
          <p:cNvSpPr/>
          <p:nvPr/>
        </p:nvSpPr>
        <p:spPr>
          <a:xfrm>
            <a:off x="457200" y="1097280"/>
            <a:ext cx="8229600" cy="3657600"/>
          </a:xfrm>
          <a:prstGeom prst="rect">
            <a:avLst/>
          </a:prstGeom>
          <a:noFill/>
          <a:ln/>
        </p:spPr>
        <p:txBody>
          <a:bodyPr wrap="square" rtlCol="0" anchor="t"/>
          <a:lstStyle/>
          <a:p>
            <a:pPr algn="l" indent="0" marL="0">
              <a:lnSpc>
                <a:spcPts val="2400"/>
              </a:lnSpc>
              <a:buNone/>
            </a:pPr>
            <a:r>
              <a:rPr lang="en-US" sz="1800" b="1" dirty="0">
                <a:solidFill>
                  <a:srgbClr val="D4A843"/>
                </a:solidFill>
                <a:latin typeface="Calibri" pitchFamily="34" charset="0"/>
                <a:ea typeface="Calibri" pitchFamily="34" charset="-122"/>
                <a:cs typeface="Calibri" pitchFamily="34" charset="-120"/>
              </a:rPr>
              <a:t>从豌豆到山柳菊：一次重大转折</a:t>
            </a:r>
            <a:endParaRPr lang="en-US" sz="1800" dirty="0"/>
          </a:p>
        </p:txBody>
      </p:sp>
      <p:sp>
        <p:nvSpPr>
          <p:cNvPr id="5" name="Text 3"/>
          <p:cNvSpPr/>
          <p:nvPr/>
        </p:nvSpPr>
        <p:spPr>
          <a:xfrm>
            <a:off x="457200" y="1645920"/>
            <a:ext cx="8229600" cy="3200400"/>
          </a:xfrm>
          <a:prstGeom prst="rect">
            <a:avLst/>
          </a:prstGeom>
          <a:noFill/>
          <a:ln/>
        </p:spPr>
        <p:txBody>
          <a:bodyPr wrap="square" rtlCol="0" anchor="t"/>
          <a:lstStyle/>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1865-1870年代，孟德尔开始研究山柳菊（Hieracium，鹰爪草属）</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山柳菊是植物学家公认的[困难]材料，具有复杂的遗传行为</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孟德尔希望验证豌豆实验的结果是否适用于其他植物</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他期待在山柳菊中看到3:1的分离比例</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实际结果：杂交后代几乎完全与母本相同，没有分离现象</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这对孟德尔是巨大打击，他无法解释这一现象</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山柳菊研究的失败深刻影响了孟德尔的科学信心</a:t>
            </a:r>
            <a:endParaRPr lang="en-US" sz="1400" dirty="0"/>
          </a:p>
        </p:txBody>
      </p:sp>
      <p:sp>
        <p:nvSpPr>
          <p:cNvPr id="6" name="Shape 4"/>
          <p:cNvSpPr/>
          <p:nvPr/>
        </p:nvSpPr>
        <p:spPr>
          <a:xfrm>
            <a:off x="457200" y="4114800"/>
            <a:ext cx="8229600" cy="731520"/>
          </a:xfrm>
          <a:prstGeom prst="ellipse">
            <a:avLst/>
          </a:prstGeom>
          <a:solidFill>
            <a:srgbClr val="FFEBEE"/>
          </a:solidFill>
          <a:ln/>
        </p:spPr>
      </p:sp>
      <p:sp>
        <p:nvSpPr>
          <p:cNvPr id="7" name="Text 5"/>
          <p:cNvSpPr/>
          <p:nvPr/>
        </p:nvSpPr>
        <p:spPr>
          <a:xfrm>
            <a:off x="640080" y="4206240"/>
            <a:ext cx="7863840" cy="548640"/>
          </a:xfrm>
          <a:prstGeom prst="rect">
            <a:avLst/>
          </a:prstGeom>
          <a:noFill/>
          <a:ln/>
        </p:spPr>
        <p:txBody>
          <a:bodyPr wrap="square" rtlCol="0" anchor="t"/>
          <a:lstStyle/>
          <a:p>
            <a:pPr algn="l" indent="0" marL="0">
              <a:lnSpc>
                <a:spcPts val="2400"/>
              </a:lnSpc>
              <a:buNone/>
            </a:pPr>
            <a:r>
              <a:rPr lang="en-US" sz="1200" b="1" dirty="0">
                <a:solidFill>
                  <a:srgbClr val="C62828"/>
                </a:solidFill>
                <a:latin typeface="Calibri" pitchFamily="34" charset="0"/>
                <a:ea typeface="Calibri" pitchFamily="34" charset="-122"/>
                <a:cs typeface="Calibri" pitchFamily="34" charset="-120"/>
              </a:rPr>
              <a:t>关键点：孟德尔不知道的是，山柳菊主要通过无融合生殖（apomixis）繁殖，这是一种无性繁殖方式。他的遗传定律在这种情况下不适用！</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核心概念（二）：山柳菊的特殊繁殖方式</a:t>
            </a:r>
            <a:endParaRPr lang="en-US" sz="2800" dirty="0"/>
          </a:p>
        </p:txBody>
      </p:sp>
      <p:sp>
        <p:nvSpPr>
          <p:cNvPr id="3" name="Text 1"/>
          <p:cNvSpPr/>
          <p:nvPr/>
        </p:nvSpPr>
        <p:spPr>
          <a:xfrm>
            <a:off x="4114800" y="4754880"/>
            <a:ext cx="914400" cy="274320"/>
          </a:xfrm>
          <a:prstGeom prst="rect">
            <a:avLst/>
          </a:prstGeom>
          <a:noFill/>
          <a:ln/>
        </p:spPr>
        <p:txBody>
          <a:bodyPr wrap="square" rtlCol="0" anchor="ctr"/>
          <a:lstStyle/>
          <a:p>
            <a:pPr algn="ctr" indent="0" marL="0">
              <a:buNone/>
            </a:pPr>
            <a:r>
              <a:rPr lang="en-US" sz="1000" dirty="0">
                <a:solidFill>
                  <a:srgbClr val="666666"/>
                </a:solidFill>
                <a:latin typeface="Calibri" pitchFamily="34" charset="0"/>
                <a:ea typeface="Calibri" pitchFamily="34" charset="-122"/>
                <a:cs typeface="Calibri" pitchFamily="34" charset="-120"/>
              </a:rPr>
              <a:t>8 / 24</a:t>
            </a:r>
            <a:endParaRPr lang="en-US" sz="1000" dirty="0"/>
          </a:p>
        </p:txBody>
      </p:sp>
      <p:sp>
        <p:nvSpPr>
          <p:cNvPr id="4" name="Text 2"/>
          <p:cNvSpPr/>
          <p:nvPr/>
        </p:nvSpPr>
        <p:spPr>
          <a:xfrm>
            <a:off x="457200" y="1097280"/>
            <a:ext cx="8229600" cy="3657600"/>
          </a:xfrm>
          <a:prstGeom prst="rect">
            <a:avLst/>
          </a:prstGeom>
          <a:noFill/>
          <a:ln/>
        </p:spPr>
        <p:txBody>
          <a:bodyPr wrap="square" rtlCol="0" anchor="t"/>
          <a:lstStyle/>
          <a:p>
            <a:pPr algn="l" indent="0" marL="0">
              <a:lnSpc>
                <a:spcPts val="2400"/>
              </a:lnSpc>
              <a:buNone/>
            </a:pPr>
            <a:r>
              <a:rPr lang="en-US" sz="1800" b="1" dirty="0">
                <a:solidFill>
                  <a:srgbClr val="D4A843"/>
                </a:solidFill>
                <a:latin typeface="Calibri" pitchFamily="34" charset="0"/>
                <a:ea typeface="Calibri" pitchFamily="34" charset="-122"/>
                <a:cs typeface="Calibri" pitchFamily="34" charset="-120"/>
              </a:rPr>
              <a:t>无融合生殖（Apomixis）</a:t>
            </a:r>
            <a:endParaRPr lang="en-US" sz="1800" dirty="0"/>
          </a:p>
        </p:txBody>
      </p:sp>
      <p:sp>
        <p:nvSpPr>
          <p:cNvPr id="5" name="Text 3"/>
          <p:cNvSpPr/>
          <p:nvPr/>
        </p:nvSpPr>
        <p:spPr>
          <a:xfrm>
            <a:off x="457200" y="1645920"/>
            <a:ext cx="8229600" cy="3200400"/>
          </a:xfrm>
          <a:prstGeom prst="rect">
            <a:avLst/>
          </a:prstGeom>
          <a:noFill/>
          <a:ln/>
        </p:spPr>
        <p:txBody>
          <a:bodyPr wrap="square" rtlCol="0" anchor="t"/>
          <a:lstStyle/>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无融合生殖：不经过受精作用产生种子的繁殖方式</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山柳菊的无融合生殖属于[配子体无融合生殖]</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过程：胚珠中的大孢子母细胞不经过减数分裂，直接形成胚囊</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胚囊中的细胞（通常是卵细胞）不经过受精直接发育成胚</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结果：后代与母本基因型完全相同（克隆）</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虽然进行了[杂交]，但花粉的作用被忽略，母本基因占主导</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这是一种[有性外观的无性繁殖]</a:t>
            </a:r>
            <a:endParaRPr lang="en-US" sz="1400" dirty="0"/>
          </a:p>
        </p:txBody>
      </p:sp>
      <p:sp>
        <p:nvSpPr>
          <p:cNvPr id="6" name="Text 4"/>
          <p:cNvSpPr/>
          <p:nvPr/>
        </p:nvSpPr>
        <p:spPr>
          <a:xfrm>
            <a:off x="457200" y="4114800"/>
            <a:ext cx="8229600" cy="1097280"/>
          </a:xfrm>
          <a:prstGeom prst="rect">
            <a:avLst/>
          </a:prstGeom>
          <a:noFill/>
          <a:ln/>
        </p:spPr>
        <p:txBody>
          <a:bodyPr wrap="square" rtlCol="0" anchor="t"/>
          <a:lstStyle/>
          <a:p>
            <a:pPr algn="l" indent="0" marL="0">
              <a:lnSpc>
                <a:spcPts val="2400"/>
              </a:lnSpc>
              <a:buNone/>
            </a:pPr>
            <a:r>
              <a:rPr lang="en-US" sz="1200" dirty="0">
                <a:solidFill>
                  <a:srgbClr val="666666"/>
                </a:solidFill>
                <a:latin typeface="Calibri" pitchFamily="34" charset="0"/>
                <a:ea typeface="Calibri" pitchFamily="34" charset="-122"/>
                <a:cs typeface="Calibri" pitchFamily="34" charset="-120"/>
              </a:rPr>
              <a:t>对比：正常有性生殖 vs 无融合生殖</a:t>
            </a:r>
            <a:endParaRPr lang="en-US" sz="1200" dirty="0"/>
          </a:p>
          <a:p>
            <a:pPr algn="l" indent="0" marL="0">
              <a:lnSpc>
                <a:spcPts val="2400"/>
              </a:lnSpc>
              <a:buNone/>
            </a:pPr>
            <a:r>
              <a:rPr lang="en-US" sz="1200" dirty="0">
                <a:solidFill>
                  <a:srgbClr val="666666"/>
                </a:solidFill>
                <a:latin typeface="Calibri" pitchFamily="34" charset="0"/>
                <a:ea typeface="Calibri" pitchFamily="34" charset="-122"/>
                <a:cs typeface="Calibri" pitchFamily="34" charset="-120"/>
              </a:rPr>
              <a:t>正常有性生殖：减数分裂 → 配子形成 → 受精 → 遗传重组 → 变异</a:t>
            </a:r>
            <a:endParaRPr lang="en-US" sz="1200" dirty="0"/>
          </a:p>
          <a:p>
            <a:pPr algn="l" indent="0" marL="0">
              <a:lnSpc>
                <a:spcPts val="2400"/>
              </a:lnSpc>
              <a:buNone/>
            </a:pPr>
            <a:r>
              <a:rPr lang="en-US" sz="1200" dirty="0">
                <a:solidFill>
                  <a:srgbClr val="666666"/>
                </a:solidFill>
                <a:latin typeface="Calibri" pitchFamily="34" charset="0"/>
                <a:ea typeface="Calibri" pitchFamily="34" charset="-122"/>
                <a:cs typeface="Calibri" pitchFamily="34" charset="-120"/>
              </a:rPr>
              <a:t>无融合生殖：无减数分裂 → 无配子融合 → 无遗传重组 → 克隆</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核心概念（三）：为什么山柳菊不适合做遗传实验</a:t>
            </a:r>
            <a:endParaRPr lang="en-US" sz="2800" dirty="0"/>
          </a:p>
        </p:txBody>
      </p:sp>
      <p:sp>
        <p:nvSpPr>
          <p:cNvPr id="3" name="Text 1"/>
          <p:cNvSpPr/>
          <p:nvPr/>
        </p:nvSpPr>
        <p:spPr>
          <a:xfrm>
            <a:off x="4114800" y="4754880"/>
            <a:ext cx="914400" cy="274320"/>
          </a:xfrm>
          <a:prstGeom prst="rect">
            <a:avLst/>
          </a:prstGeom>
          <a:noFill/>
          <a:ln/>
        </p:spPr>
        <p:txBody>
          <a:bodyPr wrap="square" rtlCol="0" anchor="ctr"/>
          <a:lstStyle/>
          <a:p>
            <a:pPr algn="ctr" indent="0" marL="0">
              <a:buNone/>
            </a:pPr>
            <a:r>
              <a:rPr lang="en-US" sz="1000" dirty="0">
                <a:solidFill>
                  <a:srgbClr val="666666"/>
                </a:solidFill>
                <a:latin typeface="Calibri" pitchFamily="34" charset="0"/>
                <a:ea typeface="Calibri" pitchFamily="34" charset="-122"/>
                <a:cs typeface="Calibri" pitchFamily="34" charset="-120"/>
              </a:rPr>
              <a:t>9 / 24</a:t>
            </a:r>
            <a:endParaRPr lang="en-US" sz="1000" dirty="0"/>
          </a:p>
        </p:txBody>
      </p:sp>
      <p:sp>
        <p:nvSpPr>
          <p:cNvPr id="4" name="Text 2"/>
          <p:cNvSpPr/>
          <p:nvPr/>
        </p:nvSpPr>
        <p:spPr>
          <a:xfrm>
            <a:off x="457200" y="1097280"/>
            <a:ext cx="8229600" cy="3657600"/>
          </a:xfrm>
          <a:prstGeom prst="rect">
            <a:avLst/>
          </a:prstGeom>
          <a:noFill/>
          <a:ln/>
        </p:spPr>
        <p:txBody>
          <a:bodyPr wrap="square" rtlCol="0" anchor="t"/>
          <a:lstStyle/>
          <a:p>
            <a:pPr algn="l" indent="0" marL="0">
              <a:lnSpc>
                <a:spcPts val="2400"/>
              </a:lnSpc>
              <a:buNone/>
            </a:pPr>
            <a:r>
              <a:rPr lang="en-US" sz="1800" b="1" dirty="0">
                <a:solidFill>
                  <a:srgbClr val="D4A843"/>
                </a:solidFill>
                <a:latin typeface="Calibri" pitchFamily="34" charset="0"/>
                <a:ea typeface="Calibri" pitchFamily="34" charset="-122"/>
                <a:cs typeface="Calibri" pitchFamily="34" charset="-120"/>
              </a:rPr>
              <a:t>实验材料选择的重要性</a:t>
            </a:r>
            <a:endParaRPr lang="en-US" sz="1800" dirty="0"/>
          </a:p>
        </p:txBody>
      </p:sp>
      <p:sp>
        <p:nvSpPr>
          <p:cNvPr id="5" name="Text 3"/>
          <p:cNvSpPr/>
          <p:nvPr/>
        </p:nvSpPr>
        <p:spPr>
          <a:xfrm>
            <a:off x="457200" y="1645920"/>
            <a:ext cx="8229600" cy="3474720"/>
          </a:xfrm>
          <a:prstGeom prst="rect">
            <a:avLst/>
          </a:prstGeom>
          <a:noFill/>
          <a:ln/>
        </p:spPr>
        <p:txBody>
          <a:bodyPr wrap="square" rtlCol="0" anchor="t"/>
          <a:lstStyle/>
          <a:p>
            <a:pPr algn="l" indent="0" marL="0">
              <a:lnSpc>
                <a:spcPts val="2200"/>
              </a:lnSpc>
              <a:buNone/>
            </a:pPr>
            <a:r>
              <a:rPr lang="en-US" sz="1400" dirty="0">
                <a:solidFill>
                  <a:srgbClr val="333333"/>
                </a:solidFill>
                <a:latin typeface="Calibri" pitchFamily="34" charset="0"/>
                <a:ea typeface="Calibri" pitchFamily="34" charset="-122"/>
                <a:cs typeface="Calibri" pitchFamily="34" charset="-120"/>
              </a:rPr>
              <a:t>• 豌豆的优势：</a:t>
            </a:r>
            <a:endParaRPr lang="en-US" sz="1400" dirty="0"/>
          </a:p>
          <a:p>
            <a:pPr algn="l" indent="0" marL="0">
              <a:lnSpc>
                <a:spcPts val="2200"/>
              </a:lnSpc>
              <a:buNone/>
            </a:pPr>
            <a:r>
              <a:rPr lang="en-US" sz="1400" dirty="0">
                <a:solidFill>
                  <a:srgbClr val="333333"/>
                </a:solidFill>
                <a:latin typeface="Calibri" pitchFamily="34" charset="0"/>
                <a:ea typeface="Calibri" pitchFamily="34" charset="-122"/>
                <a:cs typeface="Calibri" pitchFamily="34" charset="-120"/>
              </a:rPr>
              <a:t>  - 自花授粉，易于控制杂交</a:t>
            </a:r>
            <a:endParaRPr lang="en-US" sz="1400" dirty="0"/>
          </a:p>
          <a:p>
            <a:pPr algn="l" indent="0" marL="0">
              <a:lnSpc>
                <a:spcPts val="2200"/>
              </a:lnSpc>
              <a:buNone/>
            </a:pPr>
            <a:r>
              <a:rPr lang="en-US" sz="1400" dirty="0">
                <a:solidFill>
                  <a:srgbClr val="333333"/>
                </a:solidFill>
                <a:latin typeface="Calibri" pitchFamily="34" charset="0"/>
                <a:ea typeface="Calibri" pitchFamily="34" charset="-122"/>
                <a:cs typeface="Calibri" pitchFamily="34" charset="-120"/>
              </a:rPr>
              <a:t>  - 性状明显，易于观察</a:t>
            </a:r>
            <a:endParaRPr lang="en-US" sz="1400" dirty="0"/>
          </a:p>
          <a:p>
            <a:pPr algn="l" indent="0" marL="0">
              <a:lnSpc>
                <a:spcPts val="2200"/>
              </a:lnSpc>
              <a:buNone/>
            </a:pPr>
            <a:r>
              <a:rPr lang="en-US" sz="1400" dirty="0">
                <a:solidFill>
                  <a:srgbClr val="333333"/>
                </a:solidFill>
                <a:latin typeface="Calibri" pitchFamily="34" charset="0"/>
                <a:ea typeface="Calibri" pitchFamily="34" charset="-122"/>
                <a:cs typeface="Calibri" pitchFamily="34" charset="-120"/>
              </a:rPr>
              <a:t>  - 繁殖周期适中</a:t>
            </a:r>
            <a:endParaRPr lang="en-US" sz="1400" dirty="0"/>
          </a:p>
          <a:p>
            <a:pPr algn="l" indent="0" marL="0">
              <a:lnSpc>
                <a:spcPts val="2200"/>
              </a:lnSpc>
              <a:buNone/>
            </a:pPr>
            <a:r>
              <a:rPr lang="en-US" sz="1400" dirty="0">
                <a:solidFill>
                  <a:srgbClr val="333333"/>
                </a:solidFill>
                <a:latin typeface="Calibri" pitchFamily="34" charset="0"/>
                <a:ea typeface="Calibri" pitchFamily="34" charset="-122"/>
                <a:cs typeface="Calibri" pitchFamily="34" charset="-120"/>
              </a:rPr>
              <a:t>  - 没有无融合生殖</a:t>
            </a:r>
            <a:endParaRPr lang="en-US" sz="1400" dirty="0"/>
          </a:p>
          <a:p>
            <a:pPr algn="l" indent="0" marL="0">
              <a:lnSpc>
                <a:spcPts val="2200"/>
              </a:lnSpc>
              <a:buNone/>
            </a:pPr>
            <a:endParaRPr lang="en-US" sz="1400" dirty="0"/>
          </a:p>
          <a:p>
            <a:pPr algn="l" indent="0" marL="0">
              <a:lnSpc>
                <a:spcPts val="2200"/>
              </a:lnSpc>
              <a:buNone/>
            </a:pPr>
            <a:r>
              <a:rPr lang="en-US" sz="1400" dirty="0">
                <a:solidFill>
                  <a:srgbClr val="333333"/>
                </a:solidFill>
                <a:latin typeface="Calibri" pitchFamily="34" charset="0"/>
                <a:ea typeface="Calibri" pitchFamily="34" charset="-122"/>
                <a:cs typeface="Calibri" pitchFamily="34" charset="-120"/>
              </a:rPr>
              <a:t>• 山柳菊的劣势：</a:t>
            </a:r>
            <a:endParaRPr lang="en-US" sz="1400" dirty="0"/>
          </a:p>
          <a:p>
            <a:pPr algn="l" indent="0" marL="0">
              <a:lnSpc>
                <a:spcPts val="2200"/>
              </a:lnSpc>
              <a:buNone/>
            </a:pPr>
            <a:r>
              <a:rPr lang="en-US" sz="1400" dirty="0">
                <a:solidFill>
                  <a:srgbClr val="333333"/>
                </a:solidFill>
                <a:latin typeface="Calibri" pitchFamily="34" charset="0"/>
                <a:ea typeface="Calibri" pitchFamily="34" charset="-122"/>
                <a:cs typeface="Calibri" pitchFamily="34" charset="-120"/>
              </a:rPr>
              <a:t>  - 无融合生殖占主导（约95-99%）</a:t>
            </a:r>
            <a:endParaRPr lang="en-US" sz="1400" dirty="0"/>
          </a:p>
          <a:p>
            <a:pPr algn="l" indent="0" marL="0">
              <a:lnSpc>
                <a:spcPts val="2200"/>
              </a:lnSpc>
              <a:buNone/>
            </a:pPr>
            <a:r>
              <a:rPr lang="en-US" sz="1400" dirty="0">
                <a:solidFill>
                  <a:srgbClr val="333333"/>
                </a:solidFill>
                <a:latin typeface="Calibri" pitchFamily="34" charset="0"/>
                <a:ea typeface="Calibri" pitchFamily="34" charset="-122"/>
                <a:cs typeface="Calibri" pitchFamily="34" charset="-120"/>
              </a:rPr>
              <a:t>  - 真正的有性后代极少</a:t>
            </a:r>
            <a:endParaRPr lang="en-US" sz="1400" dirty="0"/>
          </a:p>
          <a:p>
            <a:pPr algn="l" indent="0" marL="0">
              <a:lnSpc>
                <a:spcPts val="2200"/>
              </a:lnSpc>
              <a:buNone/>
            </a:pPr>
            <a:r>
              <a:rPr lang="en-US" sz="1400" dirty="0">
                <a:solidFill>
                  <a:srgbClr val="333333"/>
                </a:solidFill>
                <a:latin typeface="Calibri" pitchFamily="34" charset="0"/>
                <a:ea typeface="Calibri" pitchFamily="34" charset="-122"/>
                <a:cs typeface="Calibri" pitchFamily="34" charset="-120"/>
              </a:rPr>
              <a:t>  - 即使发生受精，遗传行为也复杂</a:t>
            </a:r>
            <a:endParaRPr lang="en-US" sz="1400" dirty="0"/>
          </a:p>
          <a:p>
            <a:pPr algn="l" indent="0" marL="0">
              <a:lnSpc>
                <a:spcPts val="2200"/>
              </a:lnSpc>
              <a:buNone/>
            </a:pPr>
            <a:r>
              <a:rPr lang="en-US" sz="1400" dirty="0">
                <a:solidFill>
                  <a:srgbClr val="333333"/>
                </a:solidFill>
                <a:latin typeface="Calibri" pitchFamily="34" charset="0"/>
                <a:ea typeface="Calibri" pitchFamily="34" charset="-122"/>
                <a:cs typeface="Calibri" pitchFamily="34" charset="-120"/>
              </a:rPr>
              <a:t>  - 多倍体现象普遍，染色体数目复杂</a:t>
            </a:r>
            <a:endParaRPr lang="en-US" sz="1400" dirty="0"/>
          </a:p>
          <a:p>
            <a:pPr algn="l" indent="0" marL="0">
              <a:lnSpc>
                <a:spcPts val="2200"/>
              </a:lnSpc>
              <a:buNone/>
            </a:pPr>
            <a:endParaRPr lang="en-US" sz="1400" dirty="0"/>
          </a:p>
          <a:p>
            <a:pPr algn="l" indent="0" marL="0">
              <a:lnSpc>
                <a:spcPts val="2200"/>
              </a:lnSpc>
              <a:buNone/>
            </a:pPr>
            <a:r>
              <a:rPr lang="en-US" sz="1400" dirty="0">
                <a:solidFill>
                  <a:srgbClr val="333333"/>
                </a:solidFill>
                <a:latin typeface="Calibri" pitchFamily="34" charset="0"/>
                <a:ea typeface="Calibri" pitchFamily="34" charset="-122"/>
                <a:cs typeface="Calibri" pitchFamily="34" charset="-120"/>
              </a:rPr>
              <a:t>• 孟德尔的不幸：他选择了一个[错误]的实验材料来验证自己的理论</a:t>
            </a:r>
            <a:endParaRPr lang="en-US" sz="1400" dirty="0"/>
          </a:p>
        </p:txBody>
      </p:sp>
      <p:sp>
        <p:nvSpPr>
          <p:cNvPr id="6" name="Shape 4"/>
          <p:cNvSpPr/>
          <p:nvPr/>
        </p:nvSpPr>
        <p:spPr>
          <a:xfrm>
            <a:off x="457200" y="4114800"/>
            <a:ext cx="8229600" cy="731520"/>
          </a:xfrm>
          <a:prstGeom prst="rect">
            <a:avLst/>
          </a:prstGeom>
          <a:solidFill>
            <a:srgbClr val="E3F2FD"/>
          </a:solidFill>
          <a:ln/>
        </p:spPr>
      </p:sp>
      <p:sp>
        <p:nvSpPr>
          <p:cNvPr id="7" name="Text 5"/>
          <p:cNvSpPr/>
          <p:nvPr/>
        </p:nvSpPr>
        <p:spPr>
          <a:xfrm>
            <a:off x="640080" y="4206240"/>
            <a:ext cx="7863840" cy="548640"/>
          </a:xfrm>
          <a:prstGeom prst="rect">
            <a:avLst/>
          </a:prstGeom>
          <a:noFill/>
          <a:ln/>
        </p:spPr>
        <p:txBody>
          <a:bodyPr wrap="square" rtlCol="0" anchor="t"/>
          <a:lstStyle/>
          <a:p>
            <a:pPr algn="l" indent="0" marL="0">
              <a:lnSpc>
                <a:spcPts val="2400"/>
              </a:lnSpc>
              <a:buNone/>
            </a:pPr>
            <a:r>
              <a:rPr lang="en-US" sz="1200" i="1" dirty="0">
                <a:solidFill>
                  <a:srgbClr val="1565C0"/>
                </a:solidFill>
                <a:latin typeface="Calibri" pitchFamily="34" charset="0"/>
                <a:ea typeface="Calibri" pitchFamily="34" charset="-122"/>
                <a:cs typeface="Calibri" pitchFamily="34" charset="-120"/>
              </a:rPr>
              <a:t>科学方法论教训：验证理论时，选择合适的实验材料至关重要。一个好的实验材料应该能够清晰地展示预期的现象。</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核心概念（四）：这一失败对孟德尔的影响</a:t>
            </a:r>
            <a:endParaRPr lang="en-US" sz="2800" dirty="0"/>
          </a:p>
        </p:txBody>
      </p:sp>
      <p:sp>
        <p:nvSpPr>
          <p:cNvPr id="3" name="Text 1"/>
          <p:cNvSpPr/>
          <p:nvPr/>
        </p:nvSpPr>
        <p:spPr>
          <a:xfrm>
            <a:off x="4114800" y="4754880"/>
            <a:ext cx="914400" cy="274320"/>
          </a:xfrm>
          <a:prstGeom prst="rect">
            <a:avLst/>
          </a:prstGeom>
          <a:noFill/>
          <a:ln/>
        </p:spPr>
        <p:txBody>
          <a:bodyPr wrap="square" rtlCol="0" anchor="ctr"/>
          <a:lstStyle/>
          <a:p>
            <a:pPr algn="ctr" indent="0" marL="0">
              <a:buNone/>
            </a:pPr>
            <a:r>
              <a:rPr lang="en-US" sz="1000" dirty="0">
                <a:solidFill>
                  <a:srgbClr val="666666"/>
                </a:solidFill>
                <a:latin typeface="Calibri" pitchFamily="34" charset="0"/>
                <a:ea typeface="Calibri" pitchFamily="34" charset="-122"/>
                <a:cs typeface="Calibri" pitchFamily="34" charset="-120"/>
              </a:rPr>
              <a:t>10 / 24</a:t>
            </a:r>
            <a:endParaRPr lang="en-US" sz="1000" dirty="0"/>
          </a:p>
        </p:txBody>
      </p:sp>
      <p:sp>
        <p:nvSpPr>
          <p:cNvPr id="4" name="Text 2"/>
          <p:cNvSpPr/>
          <p:nvPr/>
        </p:nvSpPr>
        <p:spPr>
          <a:xfrm>
            <a:off x="457200" y="1097280"/>
            <a:ext cx="8229600" cy="3657600"/>
          </a:xfrm>
          <a:prstGeom prst="rect">
            <a:avLst/>
          </a:prstGeom>
          <a:noFill/>
          <a:ln/>
        </p:spPr>
        <p:txBody>
          <a:bodyPr wrap="square" rtlCol="0" anchor="t"/>
          <a:lstStyle/>
          <a:p>
            <a:pPr algn="l" indent="0" marL="0">
              <a:lnSpc>
                <a:spcPts val="2400"/>
              </a:lnSpc>
              <a:buNone/>
            </a:pPr>
            <a:r>
              <a:rPr lang="en-US" sz="1800" b="1" dirty="0">
                <a:solidFill>
                  <a:srgbClr val="D4A843"/>
                </a:solidFill>
                <a:latin typeface="Calibri" pitchFamily="34" charset="0"/>
                <a:ea typeface="Calibri" pitchFamily="34" charset="-122"/>
                <a:cs typeface="Calibri" pitchFamily="34" charset="-120"/>
              </a:rPr>
              <a:t>科学信心的动摇</a:t>
            </a:r>
            <a:endParaRPr lang="en-US" sz="1800" dirty="0"/>
          </a:p>
        </p:txBody>
      </p:sp>
      <p:sp>
        <p:nvSpPr>
          <p:cNvPr id="5" name="Text 3"/>
          <p:cNvSpPr/>
          <p:nvPr/>
        </p:nvSpPr>
        <p:spPr>
          <a:xfrm>
            <a:off x="457200" y="1645920"/>
            <a:ext cx="8229600" cy="3200400"/>
          </a:xfrm>
          <a:prstGeom prst="rect">
            <a:avLst/>
          </a:prstGeom>
          <a:noFill/>
          <a:ln/>
        </p:spPr>
        <p:txBody>
          <a:bodyPr wrap="square" rtlCol="0" anchor="t"/>
          <a:lstStyle/>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山柳菊实验的失败使孟德尔开始怀疑自己的遗传理论</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他无法解释为什么豌豆的规律不适用于山柳菊</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这种困惑可能导致他停止了进一步的遗传学研究</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1870年代后，孟德尔的科学产出明显减少</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他开始将更多精力投入到修道院的管理工作中</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科学史学者认为，山柳菊的失败是孟德尔科学生涯的转折点</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如果孟德尔继续研究其他植物，可能会发现问题的所在</a:t>
            </a:r>
            <a:endParaRPr lang="en-US" sz="1400" dirty="0"/>
          </a:p>
        </p:txBody>
      </p:sp>
      <p:sp>
        <p:nvSpPr>
          <p:cNvPr id="6" name="Shape 4"/>
          <p:cNvSpPr/>
          <p:nvPr/>
        </p:nvSpPr>
        <p:spPr>
          <a:xfrm>
            <a:off x="457200" y="4114800"/>
            <a:ext cx="8229600" cy="731520"/>
          </a:xfrm>
          <a:prstGeom prst="rect">
            <a:avLst/>
          </a:prstGeom>
          <a:solidFill>
            <a:srgbClr val="F3E5F5"/>
          </a:solidFill>
          <a:ln/>
        </p:spPr>
      </p:sp>
      <p:sp>
        <p:nvSpPr>
          <p:cNvPr id="7" name="Text 5"/>
          <p:cNvSpPr/>
          <p:nvPr/>
        </p:nvSpPr>
        <p:spPr>
          <a:xfrm>
            <a:off x="640080" y="4206240"/>
            <a:ext cx="7863840" cy="548640"/>
          </a:xfrm>
          <a:prstGeom prst="rect">
            <a:avLst/>
          </a:prstGeom>
          <a:noFill/>
          <a:ln/>
        </p:spPr>
        <p:txBody>
          <a:bodyPr wrap="square" rtlCol="0" anchor="t"/>
          <a:lstStyle/>
          <a:p>
            <a:pPr algn="l" indent="0" marL="0">
              <a:lnSpc>
                <a:spcPts val="2400"/>
              </a:lnSpc>
              <a:buNone/>
            </a:pPr>
            <a:r>
              <a:rPr lang="en-US" sz="1200" i="1" dirty="0">
                <a:solidFill>
                  <a:srgbClr val="6A1B9A"/>
                </a:solidFill>
                <a:latin typeface="Calibri" pitchFamily="34" charset="0"/>
                <a:ea typeface="Calibri" pitchFamily="34" charset="-122"/>
                <a:cs typeface="Calibri" pitchFamily="34" charset="-120"/>
              </a:rPr>
              <a:t>反思：即使是伟大的科学家也会遭遇失败。孟德尔的案例告诉我们，科学的道路从来不是一帆风顺的，挫折和困惑是科学探索的常态。</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科学家故事（一）：孟德尔晚年的生活</a:t>
            </a:r>
            <a:endParaRPr lang="en-US" sz="2800" dirty="0"/>
          </a:p>
        </p:txBody>
      </p:sp>
      <p:sp>
        <p:nvSpPr>
          <p:cNvPr id="3" name="Text 1"/>
          <p:cNvSpPr/>
          <p:nvPr/>
        </p:nvSpPr>
        <p:spPr>
          <a:xfrm>
            <a:off x="4114800" y="4754880"/>
            <a:ext cx="914400" cy="274320"/>
          </a:xfrm>
          <a:prstGeom prst="rect">
            <a:avLst/>
          </a:prstGeom>
          <a:noFill/>
          <a:ln/>
        </p:spPr>
        <p:txBody>
          <a:bodyPr wrap="square" rtlCol="0" anchor="ctr"/>
          <a:lstStyle/>
          <a:p>
            <a:pPr algn="ctr" indent="0" marL="0">
              <a:buNone/>
            </a:pPr>
            <a:r>
              <a:rPr lang="en-US" sz="1000" dirty="0">
                <a:solidFill>
                  <a:srgbClr val="666666"/>
                </a:solidFill>
                <a:latin typeface="Calibri" pitchFamily="34" charset="0"/>
                <a:ea typeface="Calibri" pitchFamily="34" charset="-122"/>
                <a:cs typeface="Calibri" pitchFamily="34" charset="-120"/>
              </a:rPr>
              <a:t>11 / 24</a:t>
            </a:r>
            <a:endParaRPr lang="en-US" sz="1000" dirty="0"/>
          </a:p>
        </p:txBody>
      </p:sp>
      <p:sp>
        <p:nvSpPr>
          <p:cNvPr id="4" name="Text 2"/>
          <p:cNvSpPr/>
          <p:nvPr/>
        </p:nvSpPr>
        <p:spPr>
          <a:xfrm>
            <a:off x="457200" y="1097280"/>
            <a:ext cx="8229600" cy="3657600"/>
          </a:xfrm>
          <a:prstGeom prst="rect">
            <a:avLst/>
          </a:prstGeom>
          <a:noFill/>
          <a:ln/>
        </p:spPr>
        <p:txBody>
          <a:bodyPr wrap="square" rtlCol="0" anchor="t"/>
          <a:lstStyle/>
          <a:p>
            <a:pPr algn="l" indent="0" marL="0">
              <a:lnSpc>
                <a:spcPts val="2400"/>
              </a:lnSpc>
              <a:buNone/>
            </a:pPr>
            <a:r>
              <a:rPr lang="en-US" sz="1800" b="1" dirty="0">
                <a:solidFill>
                  <a:srgbClr val="D4A843"/>
                </a:solidFill>
                <a:latin typeface="Calibri" pitchFamily="34" charset="0"/>
                <a:ea typeface="Calibri" pitchFamily="34" charset="-122"/>
                <a:cs typeface="Calibri" pitchFamily="34" charset="-120"/>
              </a:rPr>
              <a:t>1870s-1880s：从科学家到修道院院长</a:t>
            </a:r>
            <a:endParaRPr lang="en-US" sz="1800" dirty="0"/>
          </a:p>
        </p:txBody>
      </p:sp>
      <p:sp>
        <p:nvSpPr>
          <p:cNvPr id="5" name="Text 3"/>
          <p:cNvSpPr/>
          <p:nvPr/>
        </p:nvSpPr>
        <p:spPr>
          <a:xfrm>
            <a:off x="457200" y="1645920"/>
            <a:ext cx="8229600" cy="3200400"/>
          </a:xfrm>
          <a:prstGeom prst="rect">
            <a:avLst/>
          </a:prstGeom>
          <a:noFill/>
          <a:ln/>
        </p:spPr>
        <p:txBody>
          <a:bodyPr wrap="square" rtlCol="0" anchor="t"/>
          <a:lstStyle/>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1868年，孟德尔当选为布尔诺圣托马斯修道院院长（Abbot）</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这一职位带来了繁重的行政和宗教职责</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孟德尔需要管理修道院的财务、地产和宗教事务</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他还要处理与政府和教会的关系</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科学研究的时间被大大压缩</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尽管如此，他仍然关注气象学和养蜂学</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晚年生活相对平静，但健康状况逐渐恶化</a:t>
            </a:r>
            <a:endParaRPr lang="en-US" sz="1400" dirty="0"/>
          </a:p>
        </p:txBody>
      </p:sp>
      <p:sp>
        <p:nvSpPr>
          <p:cNvPr id="6" name="Text 4"/>
          <p:cNvSpPr/>
          <p:nvPr/>
        </p:nvSpPr>
        <p:spPr>
          <a:xfrm>
            <a:off x="457200" y="4114800"/>
            <a:ext cx="8229600" cy="1097280"/>
          </a:xfrm>
          <a:prstGeom prst="rect">
            <a:avLst/>
          </a:prstGeom>
          <a:noFill/>
          <a:ln/>
        </p:spPr>
        <p:txBody>
          <a:bodyPr wrap="square" rtlCol="0" anchor="t"/>
          <a:lstStyle/>
          <a:p>
            <a:pPr algn="l" indent="0" marL="0">
              <a:lnSpc>
                <a:spcPts val="2400"/>
              </a:lnSpc>
              <a:buNone/>
            </a:pPr>
            <a:r>
              <a:rPr lang="en-US" sz="1200" dirty="0">
                <a:solidFill>
                  <a:srgbClr val="666666"/>
                </a:solidFill>
                <a:latin typeface="Calibri" pitchFamily="34" charset="0"/>
                <a:ea typeface="Calibri" pitchFamily="34" charset="-122"/>
                <a:cs typeface="Calibri" pitchFamily="34" charset="-120"/>
              </a:rPr>
              <a:t>晚年研究兴趣：</a:t>
            </a:r>
            <a:endParaRPr lang="en-US" sz="1200" dirty="0"/>
          </a:p>
          <a:p>
            <a:pPr algn="l" indent="0" marL="0">
              <a:lnSpc>
                <a:spcPts val="2400"/>
              </a:lnSpc>
              <a:buNone/>
            </a:pPr>
            <a:r>
              <a:rPr lang="en-US" sz="1200" dirty="0">
                <a:solidFill>
                  <a:srgbClr val="666666"/>
                </a:solidFill>
                <a:latin typeface="Calibri" pitchFamily="34" charset="0"/>
                <a:ea typeface="Calibri" pitchFamily="34" charset="-122"/>
                <a:cs typeface="Calibri" pitchFamily="34" charset="-120"/>
              </a:rPr>
              <a:t>• 气象学：孟德尔是奥地利气象学会的成员，坚持记录气象数据</a:t>
            </a:r>
            <a:endParaRPr lang="en-US" sz="1200" dirty="0"/>
          </a:p>
          <a:p>
            <a:pPr algn="l" indent="0" marL="0">
              <a:lnSpc>
                <a:spcPts val="2400"/>
              </a:lnSpc>
              <a:buNone/>
            </a:pPr>
            <a:r>
              <a:rPr lang="en-US" sz="1200" dirty="0">
                <a:solidFill>
                  <a:srgbClr val="666666"/>
                </a:solidFill>
                <a:latin typeface="Calibri" pitchFamily="34" charset="0"/>
                <a:ea typeface="Calibri" pitchFamily="34" charset="-122"/>
                <a:cs typeface="Calibri" pitchFamily="34" charset="-120"/>
              </a:rPr>
              <a:t>• 养蜂学：他饲养蜜蜂，研究蜜蜂的遗传行为</a:t>
            </a:r>
            <a:endParaRPr lang="en-US" sz="1200" dirty="0"/>
          </a:p>
          <a:p>
            <a:pPr algn="l" indent="0" marL="0">
              <a:lnSpc>
                <a:spcPts val="2400"/>
              </a:lnSpc>
              <a:buNone/>
            </a:pPr>
            <a:r>
              <a:rPr lang="en-US" sz="1200" dirty="0">
                <a:solidFill>
                  <a:srgbClr val="666666"/>
                </a:solidFill>
                <a:latin typeface="Calibri" pitchFamily="34" charset="0"/>
                <a:ea typeface="Calibri" pitchFamily="34" charset="-122"/>
                <a:cs typeface="Calibri" pitchFamily="34" charset="-120"/>
              </a:rPr>
              <a:t>• 园艺学：继续种植豌豆和其他植物，但不再系统研究</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科学家故事（二）：担任修道院院长的行政事务</a:t>
            </a:r>
            <a:endParaRPr lang="en-US" sz="2800" dirty="0"/>
          </a:p>
        </p:txBody>
      </p:sp>
      <p:sp>
        <p:nvSpPr>
          <p:cNvPr id="3" name="Text 1"/>
          <p:cNvSpPr/>
          <p:nvPr/>
        </p:nvSpPr>
        <p:spPr>
          <a:xfrm>
            <a:off x="4114800" y="4754880"/>
            <a:ext cx="914400" cy="274320"/>
          </a:xfrm>
          <a:prstGeom prst="rect">
            <a:avLst/>
          </a:prstGeom>
          <a:noFill/>
          <a:ln/>
        </p:spPr>
        <p:txBody>
          <a:bodyPr wrap="square" rtlCol="0" anchor="ctr"/>
          <a:lstStyle/>
          <a:p>
            <a:pPr algn="ctr" indent="0" marL="0">
              <a:buNone/>
            </a:pPr>
            <a:r>
              <a:rPr lang="en-US" sz="1000" dirty="0">
                <a:solidFill>
                  <a:srgbClr val="666666"/>
                </a:solidFill>
                <a:latin typeface="Calibri" pitchFamily="34" charset="0"/>
                <a:ea typeface="Calibri" pitchFamily="34" charset="-122"/>
                <a:cs typeface="Calibri" pitchFamily="34" charset="-120"/>
              </a:rPr>
              <a:t>12 / 24</a:t>
            </a:r>
            <a:endParaRPr lang="en-US" sz="1000" dirty="0"/>
          </a:p>
        </p:txBody>
      </p:sp>
      <p:sp>
        <p:nvSpPr>
          <p:cNvPr id="4" name="Text 2"/>
          <p:cNvSpPr/>
          <p:nvPr/>
        </p:nvSpPr>
        <p:spPr>
          <a:xfrm>
            <a:off x="457200" y="1097280"/>
            <a:ext cx="8229600" cy="3657600"/>
          </a:xfrm>
          <a:prstGeom prst="rect">
            <a:avLst/>
          </a:prstGeom>
          <a:noFill/>
          <a:ln/>
        </p:spPr>
        <p:txBody>
          <a:bodyPr wrap="square" rtlCol="0" anchor="t"/>
          <a:lstStyle/>
          <a:p>
            <a:pPr algn="l" indent="0" marL="0">
              <a:lnSpc>
                <a:spcPts val="2400"/>
              </a:lnSpc>
              <a:buNone/>
            </a:pPr>
            <a:r>
              <a:rPr lang="en-US" sz="1800" b="1" dirty="0">
                <a:solidFill>
                  <a:srgbClr val="D4A843"/>
                </a:solidFill>
                <a:latin typeface="Calibri" pitchFamily="34" charset="0"/>
                <a:ea typeface="Calibri" pitchFamily="34" charset="-122"/>
                <a:cs typeface="Calibri" pitchFamily="34" charset="-120"/>
              </a:rPr>
              <a:t>行政重担与科学理想的冲突</a:t>
            </a:r>
            <a:endParaRPr lang="en-US" sz="1800" dirty="0"/>
          </a:p>
        </p:txBody>
      </p:sp>
      <p:sp>
        <p:nvSpPr>
          <p:cNvPr id="5" name="Text 3"/>
          <p:cNvSpPr/>
          <p:nvPr/>
        </p:nvSpPr>
        <p:spPr>
          <a:xfrm>
            <a:off x="457200" y="1645920"/>
            <a:ext cx="8229600" cy="3200400"/>
          </a:xfrm>
          <a:prstGeom prst="rect">
            <a:avLst/>
          </a:prstGeom>
          <a:noFill/>
          <a:ln/>
        </p:spPr>
        <p:txBody>
          <a:bodyPr wrap="square" rtlCol="0" anchor="t"/>
          <a:lstStyle/>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修道院拥有大量地产，孟德尔需要管理租金和税务</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他与政府就修道院的免税问题发生争议</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这场税务争议持续多年，消耗了他大量精力</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修道院的日常管理、修士的宗教生活都需要他操心</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孟德尔还要代表修道院参与社区事务</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这些行政工作与他作为科学家的理想形成冲突</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但他以高度的责任感履行院长职责，深受修士们尊敬</a:t>
            </a:r>
            <a:endParaRPr lang="en-US" sz="1400" dirty="0"/>
          </a:p>
        </p:txBody>
      </p:sp>
      <p:sp>
        <p:nvSpPr>
          <p:cNvPr id="6" name="Shape 4"/>
          <p:cNvSpPr/>
          <p:nvPr/>
        </p:nvSpPr>
        <p:spPr>
          <a:xfrm>
            <a:off x="457200" y="4114800"/>
            <a:ext cx="8229600" cy="731520"/>
          </a:xfrm>
          <a:prstGeom prst="rect">
            <a:avLst/>
          </a:prstGeom>
          <a:solidFill>
            <a:srgbClr val="E8F5E9"/>
          </a:solidFill>
          <a:ln/>
        </p:spPr>
      </p:sp>
      <p:sp>
        <p:nvSpPr>
          <p:cNvPr id="7" name="Text 5"/>
          <p:cNvSpPr/>
          <p:nvPr/>
        </p:nvSpPr>
        <p:spPr>
          <a:xfrm>
            <a:off x="640080" y="4206240"/>
            <a:ext cx="7863840" cy="548640"/>
          </a:xfrm>
          <a:prstGeom prst="rect">
            <a:avLst/>
          </a:prstGeom>
          <a:noFill/>
          <a:ln/>
        </p:spPr>
        <p:txBody>
          <a:bodyPr wrap="square" rtlCol="0" anchor="t"/>
          <a:lstStyle/>
          <a:p>
            <a:pPr algn="l" indent="0" marL="0">
              <a:lnSpc>
                <a:spcPts val="2400"/>
              </a:lnSpc>
              <a:buNone/>
            </a:pPr>
            <a:r>
              <a:rPr lang="en-US" sz="1200" i="1" dirty="0">
                <a:solidFill>
                  <a:srgbClr val="2C5F2D"/>
                </a:solidFill>
                <a:latin typeface="Calibri" pitchFamily="34" charset="0"/>
                <a:ea typeface="Calibri" pitchFamily="34" charset="-122"/>
                <a:cs typeface="Calibri" pitchFamily="34" charset="-120"/>
              </a:rPr>
              <a:t>历史细节：孟德尔与政府的税务争议涉及修道院地产的免税权。这场争议从1870年代持续到1880年代，成为他晚年生活中的主要压力来源之一。</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科学家故事（三）：与纳普主教的关系</a:t>
            </a:r>
            <a:endParaRPr lang="en-US" sz="2800" dirty="0"/>
          </a:p>
        </p:txBody>
      </p:sp>
      <p:sp>
        <p:nvSpPr>
          <p:cNvPr id="3" name="Text 1"/>
          <p:cNvSpPr/>
          <p:nvPr/>
        </p:nvSpPr>
        <p:spPr>
          <a:xfrm>
            <a:off x="4114800" y="4754880"/>
            <a:ext cx="914400" cy="274320"/>
          </a:xfrm>
          <a:prstGeom prst="rect">
            <a:avLst/>
          </a:prstGeom>
          <a:noFill/>
          <a:ln/>
        </p:spPr>
        <p:txBody>
          <a:bodyPr wrap="square" rtlCol="0" anchor="ctr"/>
          <a:lstStyle/>
          <a:p>
            <a:pPr algn="ctr" indent="0" marL="0">
              <a:buNone/>
            </a:pPr>
            <a:r>
              <a:rPr lang="en-US" sz="1000" dirty="0">
                <a:solidFill>
                  <a:srgbClr val="666666"/>
                </a:solidFill>
                <a:latin typeface="Calibri" pitchFamily="34" charset="0"/>
                <a:ea typeface="Calibri" pitchFamily="34" charset="-122"/>
                <a:cs typeface="Calibri" pitchFamily="34" charset="-120"/>
              </a:rPr>
              <a:t>13 / 24</a:t>
            </a:r>
            <a:endParaRPr lang="en-US" sz="1000" dirty="0"/>
          </a:p>
        </p:txBody>
      </p:sp>
      <p:sp>
        <p:nvSpPr>
          <p:cNvPr id="4" name="Text 2"/>
          <p:cNvSpPr/>
          <p:nvPr/>
        </p:nvSpPr>
        <p:spPr>
          <a:xfrm>
            <a:off x="457200" y="1097280"/>
            <a:ext cx="8229600" cy="3657600"/>
          </a:xfrm>
          <a:prstGeom prst="rect">
            <a:avLst/>
          </a:prstGeom>
          <a:noFill/>
          <a:ln/>
        </p:spPr>
        <p:txBody>
          <a:bodyPr wrap="square" rtlCol="0" anchor="t"/>
          <a:lstStyle/>
          <a:p>
            <a:pPr algn="l" indent="0" marL="0">
              <a:lnSpc>
                <a:spcPts val="2400"/>
              </a:lnSpc>
              <a:buNone/>
            </a:pPr>
            <a:r>
              <a:rPr lang="en-US" sz="1800" b="1" dirty="0">
                <a:solidFill>
                  <a:srgbClr val="D4A843"/>
                </a:solidFill>
                <a:latin typeface="Calibri" pitchFamily="34" charset="0"/>
                <a:ea typeface="Calibri" pitchFamily="34" charset="-122"/>
                <a:cs typeface="Calibri" pitchFamily="34" charset="-120"/>
              </a:rPr>
              <a:t>纳普（Cyril Napp）：孟德尔的导师与支持者</a:t>
            </a:r>
            <a:endParaRPr lang="en-US" sz="1800" dirty="0"/>
          </a:p>
        </p:txBody>
      </p:sp>
      <p:sp>
        <p:nvSpPr>
          <p:cNvPr id="5" name="Text 3"/>
          <p:cNvSpPr/>
          <p:nvPr/>
        </p:nvSpPr>
        <p:spPr>
          <a:xfrm>
            <a:off x="457200" y="1645920"/>
            <a:ext cx="8229600" cy="3200400"/>
          </a:xfrm>
          <a:prstGeom prst="rect">
            <a:avLst/>
          </a:prstGeom>
          <a:noFill/>
          <a:ln/>
        </p:spPr>
        <p:txBody>
          <a:bodyPr wrap="square" rtlCol="0" anchor="t"/>
          <a:lstStyle/>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纳普（1792-1867）是布尔诺圣托马斯修道院的院长</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他是一位开明的宗教人士，热爱科学，尤其关注植物育种</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纳普鼓励孟德尔进行豌豆实验，提供了研究条件</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他认识到孟德尔的科学才能，支持他去维也纳大学深造</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1867年纳普去世，孟德尔继承了他的职位和事业</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纳普的去世对孟德尔是重大损失</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如果没有纳普的支持，孟德尔可能永远不会进行遗传学研究</a:t>
            </a:r>
            <a:endParaRPr lang="en-US" sz="1400" dirty="0"/>
          </a:p>
        </p:txBody>
      </p:sp>
      <p:sp>
        <p:nvSpPr>
          <p:cNvPr id="6" name="Text 4"/>
          <p:cNvSpPr/>
          <p:nvPr/>
        </p:nvSpPr>
        <p:spPr>
          <a:xfrm>
            <a:off x="457200" y="4114800"/>
            <a:ext cx="8229600" cy="1097280"/>
          </a:xfrm>
          <a:prstGeom prst="rect">
            <a:avLst/>
          </a:prstGeom>
          <a:noFill/>
          <a:ln/>
        </p:spPr>
        <p:txBody>
          <a:bodyPr wrap="square" rtlCol="0" anchor="t"/>
          <a:lstStyle/>
          <a:p>
            <a:pPr algn="l" indent="0" marL="0">
              <a:lnSpc>
                <a:spcPts val="2400"/>
              </a:lnSpc>
              <a:buNone/>
            </a:pPr>
            <a:r>
              <a:rPr lang="en-US" sz="1200" i="1" dirty="0">
                <a:solidFill>
                  <a:srgbClr val="666666"/>
                </a:solidFill>
                <a:latin typeface="Calibri" pitchFamily="34" charset="0"/>
                <a:ea typeface="Calibri" pitchFamily="34" charset="-122"/>
                <a:cs typeface="Calibri" pitchFamily="34" charset="-120"/>
              </a:rPr>
              <a:t>纳普的科学兴趣：</a:t>
            </a:r>
            <a:endParaRPr lang="en-US" sz="1200" dirty="0"/>
          </a:p>
          <a:p>
            <a:pPr algn="l" indent="0" marL="0">
              <a:lnSpc>
                <a:spcPts val="2400"/>
              </a:lnSpc>
              <a:buNone/>
            </a:pPr>
            <a:r>
              <a:rPr lang="en-US" sz="1200" i="1" dirty="0">
                <a:solidFill>
                  <a:srgbClr val="666666"/>
                </a:solidFill>
                <a:latin typeface="Calibri" pitchFamily="34" charset="0"/>
                <a:ea typeface="Calibri" pitchFamily="34" charset="-122"/>
                <a:cs typeface="Calibri" pitchFamily="34" charset="-120"/>
              </a:rPr>
              <a:t>纳普本人也是一位植物育种爱好者，他在修道院建立了实验花园。他曾说：[我们修道院的使命不仅是祈祷，还包括探索上帝创造的自然奥秘。]这种开明的科学态度影响了整个修道院的氛围。</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科学家故事（四）：去世前的岁月</a:t>
            </a:r>
            <a:endParaRPr lang="en-US" sz="2800" dirty="0"/>
          </a:p>
        </p:txBody>
      </p:sp>
      <p:sp>
        <p:nvSpPr>
          <p:cNvPr id="3" name="Text 1"/>
          <p:cNvSpPr/>
          <p:nvPr/>
        </p:nvSpPr>
        <p:spPr>
          <a:xfrm>
            <a:off x="4114800" y="4754880"/>
            <a:ext cx="914400" cy="274320"/>
          </a:xfrm>
          <a:prstGeom prst="rect">
            <a:avLst/>
          </a:prstGeom>
          <a:noFill/>
          <a:ln/>
        </p:spPr>
        <p:txBody>
          <a:bodyPr wrap="square" rtlCol="0" anchor="ctr"/>
          <a:lstStyle/>
          <a:p>
            <a:pPr algn="ctr" indent="0" marL="0">
              <a:buNone/>
            </a:pPr>
            <a:r>
              <a:rPr lang="en-US" sz="1000" dirty="0">
                <a:solidFill>
                  <a:srgbClr val="666666"/>
                </a:solidFill>
                <a:latin typeface="Calibri" pitchFamily="34" charset="0"/>
                <a:ea typeface="Calibri" pitchFamily="34" charset="-122"/>
                <a:cs typeface="Calibri" pitchFamily="34" charset="-120"/>
              </a:rPr>
              <a:t>14 / 24</a:t>
            </a:r>
            <a:endParaRPr lang="en-US" sz="1000" dirty="0"/>
          </a:p>
        </p:txBody>
      </p:sp>
      <p:sp>
        <p:nvSpPr>
          <p:cNvPr id="4" name="Text 2"/>
          <p:cNvSpPr/>
          <p:nvPr/>
        </p:nvSpPr>
        <p:spPr>
          <a:xfrm>
            <a:off x="457200" y="1097280"/>
            <a:ext cx="8229600" cy="3657600"/>
          </a:xfrm>
          <a:prstGeom prst="rect">
            <a:avLst/>
          </a:prstGeom>
          <a:noFill/>
          <a:ln/>
        </p:spPr>
        <p:txBody>
          <a:bodyPr wrap="square" rtlCol="0" anchor="t"/>
          <a:lstStyle/>
          <a:p>
            <a:pPr algn="l" indent="0" marL="0">
              <a:lnSpc>
                <a:spcPts val="2400"/>
              </a:lnSpc>
              <a:buNone/>
            </a:pPr>
            <a:r>
              <a:rPr lang="en-US" sz="1800" b="1" dirty="0">
                <a:solidFill>
                  <a:srgbClr val="D4A843"/>
                </a:solidFill>
                <a:latin typeface="Calibri" pitchFamily="34" charset="0"/>
                <a:ea typeface="Calibri" pitchFamily="34" charset="-122"/>
                <a:cs typeface="Calibri" pitchFamily="34" charset="-120"/>
              </a:rPr>
              <a:t>1884年1月6日：孟德尔离世</a:t>
            </a:r>
            <a:endParaRPr lang="en-US" sz="1800" dirty="0"/>
          </a:p>
        </p:txBody>
      </p:sp>
      <p:sp>
        <p:nvSpPr>
          <p:cNvPr id="5" name="Text 3"/>
          <p:cNvSpPr/>
          <p:nvPr/>
        </p:nvSpPr>
        <p:spPr>
          <a:xfrm>
            <a:off x="457200" y="1645920"/>
            <a:ext cx="8229600" cy="3200400"/>
          </a:xfrm>
          <a:prstGeom prst="rect">
            <a:avLst/>
          </a:prstGeom>
          <a:noFill/>
          <a:ln/>
        </p:spPr>
        <p:txBody>
          <a:bodyPr wrap="square" rtlCol="0" anchor="t"/>
          <a:lstStyle/>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孟德尔晚年患有肾脏疾病和心脏病</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1883年，他的健康状况急剧恶化</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1884年1月6日，孟德尔在布尔诺去世，享年61岁</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他的葬礼在圣托马斯修道院举行，当地报纸发表了简短讣告</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讣告中提到他是[一位受人尊敬的修道院院长和教师]</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但没有提到他的科学贡献，他的论文仍然默默无闻</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16年后（1900年），他的工作才被重新发现</a:t>
            </a:r>
            <a:endParaRPr lang="en-US" sz="1400" dirty="0"/>
          </a:p>
        </p:txBody>
      </p:sp>
      <p:sp>
        <p:nvSpPr>
          <p:cNvPr id="6" name="Shape 4"/>
          <p:cNvSpPr/>
          <p:nvPr/>
        </p:nvSpPr>
        <p:spPr>
          <a:xfrm>
            <a:off x="457200" y="4114800"/>
            <a:ext cx="8229600" cy="731520"/>
          </a:xfrm>
          <a:prstGeom prst="rect">
            <a:avLst/>
          </a:prstGeom>
          <a:solidFill>
            <a:srgbClr val="FFF3E0"/>
          </a:solidFill>
          <a:ln/>
        </p:spPr>
      </p:sp>
      <p:sp>
        <p:nvSpPr>
          <p:cNvPr id="7" name="Text 5"/>
          <p:cNvSpPr/>
          <p:nvPr/>
        </p:nvSpPr>
        <p:spPr>
          <a:xfrm>
            <a:off x="640080" y="4206240"/>
            <a:ext cx="7863840" cy="548640"/>
          </a:xfrm>
          <a:prstGeom prst="rect">
            <a:avLst/>
          </a:prstGeom>
          <a:noFill/>
          <a:ln/>
        </p:spPr>
        <p:txBody>
          <a:bodyPr wrap="square" rtlCol="0" anchor="t"/>
          <a:lstStyle/>
          <a:p>
            <a:pPr algn="l" indent="0" marL="0">
              <a:lnSpc>
                <a:spcPts val="2400"/>
              </a:lnSpc>
              <a:buNone/>
            </a:pPr>
            <a:r>
              <a:rPr lang="en-US" sz="1200" i="1" dirty="0">
                <a:solidFill>
                  <a:srgbClr val="E65100"/>
                </a:solidFill>
                <a:latin typeface="Calibri" pitchFamily="34" charset="0"/>
                <a:ea typeface="Calibri" pitchFamily="34" charset="-122"/>
                <a:cs typeface="Calibri" pitchFamily="34" charset="-120"/>
              </a:rPr>
              <a:t>历史的讽刺：孟德尔去世时，他的伟大发现就静静地躺在图书馆的书架上，等待着被重新发现。他永远不会知道，自己将被尊为[遗传学之父]。</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文献分析（一）：孟德尔1866年论文的发表情况</a:t>
            </a:r>
            <a:endParaRPr lang="en-US" sz="2800" dirty="0"/>
          </a:p>
        </p:txBody>
      </p:sp>
      <p:sp>
        <p:nvSpPr>
          <p:cNvPr id="3" name="Text 1"/>
          <p:cNvSpPr/>
          <p:nvPr/>
        </p:nvSpPr>
        <p:spPr>
          <a:xfrm>
            <a:off x="4114800" y="4754880"/>
            <a:ext cx="914400" cy="274320"/>
          </a:xfrm>
          <a:prstGeom prst="rect">
            <a:avLst/>
          </a:prstGeom>
          <a:noFill/>
          <a:ln/>
        </p:spPr>
        <p:txBody>
          <a:bodyPr wrap="square" rtlCol="0" anchor="ctr"/>
          <a:lstStyle/>
          <a:p>
            <a:pPr algn="ctr" indent="0" marL="0">
              <a:buNone/>
            </a:pPr>
            <a:r>
              <a:rPr lang="en-US" sz="1000" dirty="0">
                <a:solidFill>
                  <a:srgbClr val="666666"/>
                </a:solidFill>
                <a:latin typeface="Calibri" pitchFamily="34" charset="0"/>
                <a:ea typeface="Calibri" pitchFamily="34" charset="-122"/>
                <a:cs typeface="Calibri" pitchFamily="34" charset="-120"/>
              </a:rPr>
              <a:t>15 / 24</a:t>
            </a:r>
            <a:endParaRPr lang="en-US" sz="1000" dirty="0"/>
          </a:p>
        </p:txBody>
      </p:sp>
      <p:sp>
        <p:nvSpPr>
          <p:cNvPr id="4" name="Text 2"/>
          <p:cNvSpPr/>
          <p:nvPr/>
        </p:nvSpPr>
        <p:spPr>
          <a:xfrm>
            <a:off x="457200" y="1097280"/>
            <a:ext cx="8229600" cy="3657600"/>
          </a:xfrm>
          <a:prstGeom prst="rect">
            <a:avLst/>
          </a:prstGeom>
          <a:noFill/>
          <a:ln/>
        </p:spPr>
        <p:txBody>
          <a:bodyPr wrap="square" rtlCol="0" anchor="t"/>
          <a:lstStyle/>
          <a:p>
            <a:pPr algn="l" indent="0" marL="0">
              <a:lnSpc>
                <a:spcPts val="2400"/>
              </a:lnSpc>
              <a:buNone/>
            </a:pPr>
            <a:r>
              <a:rPr lang="en-US" sz="1800" b="1" dirty="0">
                <a:solidFill>
                  <a:srgbClr val="D4A843"/>
                </a:solidFill>
                <a:latin typeface="Calibri" pitchFamily="34" charset="0"/>
                <a:ea typeface="Calibri" pitchFamily="34" charset="-122"/>
                <a:cs typeface="Calibri" pitchFamily="34" charset="-120"/>
              </a:rPr>
              <a:t>《植物杂交实验》：遗传学的奠基之作</a:t>
            </a:r>
            <a:endParaRPr lang="en-US" sz="1800" dirty="0"/>
          </a:p>
        </p:txBody>
      </p:sp>
      <p:sp>
        <p:nvSpPr>
          <p:cNvPr id="5" name="Text 3"/>
          <p:cNvSpPr/>
          <p:nvPr/>
        </p:nvSpPr>
        <p:spPr>
          <a:xfrm>
            <a:off x="457200" y="1645920"/>
            <a:ext cx="8229600" cy="3200400"/>
          </a:xfrm>
          <a:prstGeom prst="rect">
            <a:avLst/>
          </a:prstGeom>
          <a:noFill/>
          <a:ln/>
        </p:spPr>
        <p:txBody>
          <a:bodyPr wrap="square" rtlCol="0" anchor="t"/>
          <a:lstStyle/>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1865年，孟德尔在布尔诺自然历史学会两次宣读论文</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1866年，论文发表在《布尔诺自然历史学会会刊》上</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论文标题：[Versuche über Pflanzen-Hybriden]（植物杂交实验）</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全文约44页，详细描述了豌豆实验的设计、方法和结果</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论文印刷了约130份，其中约40份寄给了其他科学家</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寄送对象包括当时著名的植物学家，如内格里（Carl Nägeli）</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但论文发表后几乎没有引起任何反响</a:t>
            </a:r>
            <a:endParaRPr lang="en-US" sz="1400" dirty="0"/>
          </a:p>
        </p:txBody>
      </p:sp>
      <p:sp>
        <p:nvSpPr>
          <p:cNvPr id="6" name="Text 4"/>
          <p:cNvSpPr/>
          <p:nvPr/>
        </p:nvSpPr>
        <p:spPr>
          <a:xfrm>
            <a:off x="457200" y="4114800"/>
            <a:ext cx="8229600" cy="1097280"/>
          </a:xfrm>
          <a:prstGeom prst="rect">
            <a:avLst/>
          </a:prstGeom>
          <a:noFill/>
          <a:ln/>
        </p:spPr>
        <p:txBody>
          <a:bodyPr wrap="square" rtlCol="0" anchor="t"/>
          <a:lstStyle/>
          <a:p>
            <a:pPr algn="l" indent="0" marL="0">
              <a:lnSpc>
                <a:spcPts val="2400"/>
              </a:lnSpc>
              <a:buNone/>
            </a:pPr>
            <a:r>
              <a:rPr lang="en-US" sz="1200" dirty="0">
                <a:solidFill>
                  <a:srgbClr val="666666"/>
                </a:solidFill>
                <a:latin typeface="Calibri" pitchFamily="34" charset="0"/>
                <a:ea typeface="Calibri" pitchFamily="34" charset="-122"/>
                <a:cs typeface="Calibri" pitchFamily="34" charset="-120"/>
              </a:rPr>
              <a:t>论文结构：</a:t>
            </a:r>
            <a:endParaRPr lang="en-US" sz="1200" dirty="0"/>
          </a:p>
          <a:p>
            <a:pPr algn="l" indent="0" marL="0">
              <a:lnSpc>
                <a:spcPts val="2400"/>
              </a:lnSpc>
              <a:buNone/>
            </a:pPr>
            <a:r>
              <a:rPr lang="en-US" sz="1200" dirty="0">
                <a:solidFill>
                  <a:srgbClr val="666666"/>
                </a:solidFill>
                <a:latin typeface="Calibri" pitchFamily="34" charset="0"/>
                <a:ea typeface="Calibri" pitchFamily="34" charset="-122"/>
                <a:cs typeface="Calibri" pitchFamily="34" charset="-120"/>
              </a:rPr>
              <a:t>1. 引言：研究目的和背景</a:t>
            </a:r>
            <a:endParaRPr lang="en-US" sz="1200" dirty="0"/>
          </a:p>
          <a:p>
            <a:pPr algn="l" indent="0" marL="0">
              <a:lnSpc>
                <a:spcPts val="2400"/>
              </a:lnSpc>
              <a:buNone/>
            </a:pPr>
            <a:r>
              <a:rPr lang="en-US" sz="1200" dirty="0">
                <a:solidFill>
                  <a:srgbClr val="666666"/>
                </a:solidFill>
                <a:latin typeface="Calibri" pitchFamily="34" charset="0"/>
                <a:ea typeface="Calibri" pitchFamily="34" charset="-122"/>
                <a:cs typeface="Calibri" pitchFamily="34" charset="-120"/>
              </a:rPr>
              <a:t>2. 实验材料和方法：豌豆的选择和培育</a:t>
            </a:r>
            <a:endParaRPr lang="en-US" sz="1200" dirty="0"/>
          </a:p>
          <a:p>
            <a:pPr algn="l" indent="0" marL="0">
              <a:lnSpc>
                <a:spcPts val="2400"/>
              </a:lnSpc>
              <a:buNone/>
            </a:pPr>
            <a:r>
              <a:rPr lang="en-US" sz="1200" dirty="0">
                <a:solidFill>
                  <a:srgbClr val="666666"/>
                </a:solidFill>
                <a:latin typeface="Calibri" pitchFamily="34" charset="0"/>
                <a:ea typeface="Calibri" pitchFamily="34" charset="-122"/>
                <a:cs typeface="Calibri" pitchFamily="34" charset="-120"/>
              </a:rPr>
              <a:t>3. 单因子杂交实验及结果</a:t>
            </a:r>
            <a:endParaRPr lang="en-US" sz="1200" dirty="0"/>
          </a:p>
          <a:p>
            <a:pPr algn="l" indent="0" marL="0">
              <a:lnSpc>
                <a:spcPts val="2400"/>
              </a:lnSpc>
              <a:buNone/>
            </a:pPr>
            <a:r>
              <a:rPr lang="en-US" sz="1200" dirty="0">
                <a:solidFill>
                  <a:srgbClr val="666666"/>
                </a:solidFill>
                <a:latin typeface="Calibri" pitchFamily="34" charset="0"/>
                <a:ea typeface="Calibri" pitchFamily="34" charset="-122"/>
                <a:cs typeface="Calibri" pitchFamily="34" charset="-120"/>
              </a:rPr>
              <a:t>4. 双因子杂交实验及结果</a:t>
            </a:r>
            <a:endParaRPr lang="en-US" sz="1200" dirty="0"/>
          </a:p>
          <a:p>
            <a:pPr algn="l" indent="0" marL="0">
              <a:lnSpc>
                <a:spcPts val="2400"/>
              </a:lnSpc>
              <a:buNone/>
            </a:pPr>
            <a:r>
              <a:rPr lang="en-US" sz="1200" dirty="0">
                <a:solidFill>
                  <a:srgbClr val="666666"/>
                </a:solidFill>
                <a:latin typeface="Calibri" pitchFamily="34" charset="0"/>
                <a:ea typeface="Calibri" pitchFamily="34" charset="-122"/>
                <a:cs typeface="Calibri" pitchFamily="34" charset="-120"/>
              </a:rPr>
              <a:t>5. 对其他植物的验证实验（包括山柳菊）</a:t>
            </a:r>
            <a:endParaRPr lang="en-US" sz="1200" dirty="0"/>
          </a:p>
          <a:p>
            <a:pPr algn="l" indent="0" marL="0">
              <a:lnSpc>
                <a:spcPts val="2400"/>
              </a:lnSpc>
              <a:buNone/>
            </a:pPr>
            <a:r>
              <a:rPr lang="en-US" sz="1200" dirty="0">
                <a:solidFill>
                  <a:srgbClr val="666666"/>
                </a:solidFill>
                <a:latin typeface="Calibri" pitchFamily="34" charset="0"/>
                <a:ea typeface="Calibri" pitchFamily="34" charset="-122"/>
                <a:cs typeface="Calibri" pitchFamily="34" charset="-120"/>
              </a:rPr>
              <a:t>6. 讨论和结论</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文献分析（二）：论文被引用的情况</a:t>
            </a:r>
            <a:endParaRPr lang="en-US" sz="2800" dirty="0"/>
          </a:p>
        </p:txBody>
      </p:sp>
      <p:sp>
        <p:nvSpPr>
          <p:cNvPr id="3" name="Text 1"/>
          <p:cNvSpPr/>
          <p:nvPr/>
        </p:nvSpPr>
        <p:spPr>
          <a:xfrm>
            <a:off x="4114800" y="4754880"/>
            <a:ext cx="914400" cy="274320"/>
          </a:xfrm>
          <a:prstGeom prst="rect">
            <a:avLst/>
          </a:prstGeom>
          <a:noFill/>
          <a:ln/>
        </p:spPr>
        <p:txBody>
          <a:bodyPr wrap="square" rtlCol="0" anchor="ctr"/>
          <a:lstStyle/>
          <a:p>
            <a:pPr algn="ctr" indent="0" marL="0">
              <a:buNone/>
            </a:pPr>
            <a:r>
              <a:rPr lang="en-US" sz="1000" dirty="0">
                <a:solidFill>
                  <a:srgbClr val="666666"/>
                </a:solidFill>
                <a:latin typeface="Calibri" pitchFamily="34" charset="0"/>
                <a:ea typeface="Calibri" pitchFamily="34" charset="-122"/>
                <a:cs typeface="Calibri" pitchFamily="34" charset="-120"/>
              </a:rPr>
              <a:t>16 / 24</a:t>
            </a:r>
            <a:endParaRPr lang="en-US" sz="1000" dirty="0"/>
          </a:p>
        </p:txBody>
      </p:sp>
      <p:sp>
        <p:nvSpPr>
          <p:cNvPr id="4" name="Text 2"/>
          <p:cNvSpPr/>
          <p:nvPr/>
        </p:nvSpPr>
        <p:spPr>
          <a:xfrm>
            <a:off x="457200" y="1097280"/>
            <a:ext cx="8229600" cy="3657600"/>
          </a:xfrm>
          <a:prstGeom prst="rect">
            <a:avLst/>
          </a:prstGeom>
          <a:noFill/>
          <a:ln/>
        </p:spPr>
        <p:txBody>
          <a:bodyPr wrap="square" rtlCol="0" anchor="t"/>
          <a:lstStyle/>
          <a:p>
            <a:pPr algn="l" indent="0" marL="0">
              <a:lnSpc>
                <a:spcPts val="2400"/>
              </a:lnSpc>
              <a:buNone/>
            </a:pPr>
            <a:r>
              <a:rPr lang="en-US" sz="1800" b="1" dirty="0">
                <a:solidFill>
                  <a:srgbClr val="D4A843"/>
                </a:solidFill>
                <a:latin typeface="Calibri" pitchFamily="34" charset="0"/>
                <a:ea typeface="Calibri" pitchFamily="34" charset="-122"/>
                <a:cs typeface="Calibri" pitchFamily="34" charset="-120"/>
              </a:rPr>
              <a:t>几乎为零的引用：被遗忘的35年</a:t>
            </a:r>
            <a:endParaRPr lang="en-US" sz="1800" dirty="0"/>
          </a:p>
        </p:txBody>
      </p:sp>
      <p:sp>
        <p:nvSpPr>
          <p:cNvPr id="5" name="Text 3"/>
          <p:cNvSpPr/>
          <p:nvPr/>
        </p:nvSpPr>
        <p:spPr>
          <a:xfrm>
            <a:off x="457200" y="1645920"/>
            <a:ext cx="8229600" cy="3474720"/>
          </a:xfrm>
          <a:prstGeom prst="rect">
            <a:avLst/>
          </a:prstGeom>
          <a:noFill/>
          <a:ln/>
        </p:spPr>
        <p:txBody>
          <a:bodyPr wrap="square" rtlCol="0" anchor="t"/>
          <a:lstStyle/>
          <a:p>
            <a:pPr algn="l" indent="0" marL="0">
              <a:lnSpc>
                <a:spcPts val="2200"/>
              </a:lnSpc>
              <a:buNone/>
            </a:pPr>
            <a:r>
              <a:rPr lang="en-US" sz="1400" dirty="0">
                <a:solidFill>
                  <a:srgbClr val="333333"/>
                </a:solidFill>
                <a:latin typeface="Calibri" pitchFamily="34" charset="0"/>
                <a:ea typeface="Calibri" pitchFamily="34" charset="-122"/>
                <a:cs typeface="Calibri" pitchFamily="34" charset="-120"/>
              </a:rPr>
              <a:t>• 1866-1900年间，孟德尔的论文被引用的次数极少（约10-15次）</a:t>
            </a:r>
            <a:endParaRPr lang="en-US" sz="1400" dirty="0"/>
          </a:p>
          <a:p>
            <a:pPr algn="l" indent="0" marL="0">
              <a:lnSpc>
                <a:spcPts val="2200"/>
              </a:lnSpc>
              <a:buNone/>
            </a:pPr>
            <a:r>
              <a:rPr lang="en-US" sz="1400" dirty="0">
                <a:solidFill>
                  <a:srgbClr val="333333"/>
                </a:solidFill>
                <a:latin typeface="Calibri" pitchFamily="34" charset="0"/>
                <a:ea typeface="Calibri" pitchFamily="34" charset="-122"/>
                <a:cs typeface="Calibri" pitchFamily="34" charset="-120"/>
              </a:rPr>
              <a:t>• 大多数引用没有理解论文的核心贡献</a:t>
            </a:r>
            <a:endParaRPr lang="en-US" sz="1400" dirty="0"/>
          </a:p>
          <a:p>
            <a:pPr algn="l" indent="0" marL="0">
              <a:lnSpc>
                <a:spcPts val="2200"/>
              </a:lnSpc>
              <a:buNone/>
            </a:pPr>
            <a:r>
              <a:rPr lang="en-US" sz="1400" dirty="0">
                <a:solidFill>
                  <a:srgbClr val="333333"/>
                </a:solidFill>
                <a:latin typeface="Calibri" pitchFamily="34" charset="0"/>
                <a:ea typeface="Calibri" pitchFamily="34" charset="-122"/>
                <a:cs typeface="Calibri" pitchFamily="34" charset="-120"/>
              </a:rPr>
              <a:t>• 内格里（Nägeli）与孟德尔通信多年，但没有认识到其价值</a:t>
            </a:r>
            <a:endParaRPr lang="en-US" sz="1400" dirty="0"/>
          </a:p>
          <a:p>
            <a:pPr algn="l" indent="0" marL="0">
              <a:lnSpc>
                <a:spcPts val="2200"/>
              </a:lnSpc>
              <a:buNone/>
            </a:pPr>
            <a:r>
              <a:rPr lang="en-US" sz="1400" dirty="0">
                <a:solidFill>
                  <a:srgbClr val="333333"/>
                </a:solidFill>
                <a:latin typeface="Calibri" pitchFamily="34" charset="0"/>
                <a:ea typeface="Calibri" pitchFamily="34" charset="-122"/>
                <a:cs typeface="Calibri" pitchFamily="34" charset="-120"/>
              </a:rPr>
              <a:t>• 费克（Focke）在1881年的杂交综述中提到了孟德尔，但只是简单提及</a:t>
            </a:r>
            <a:endParaRPr lang="en-US" sz="1400" dirty="0"/>
          </a:p>
          <a:p>
            <a:pPr algn="l" indent="0" marL="0">
              <a:lnSpc>
                <a:spcPts val="2200"/>
              </a:lnSpc>
              <a:buNone/>
            </a:pPr>
            <a:r>
              <a:rPr lang="en-US" sz="1400" dirty="0">
                <a:solidFill>
                  <a:srgbClr val="333333"/>
                </a:solidFill>
                <a:latin typeface="Calibri" pitchFamily="34" charset="0"/>
                <a:ea typeface="Calibri" pitchFamily="34" charset="-122"/>
                <a:cs typeface="Calibri" pitchFamily="34" charset="-120"/>
              </a:rPr>
              <a:t>• 科学界对这篇论文几乎完全忽视</a:t>
            </a:r>
            <a:endParaRPr lang="en-US" sz="1400" dirty="0"/>
          </a:p>
          <a:p>
            <a:pPr algn="l" indent="0" marL="0">
              <a:lnSpc>
                <a:spcPts val="2200"/>
              </a:lnSpc>
              <a:buNone/>
            </a:pPr>
            <a:r>
              <a:rPr lang="en-US" sz="1400" dirty="0">
                <a:solidFill>
                  <a:srgbClr val="333333"/>
                </a:solidFill>
                <a:latin typeface="Calibri" pitchFamily="34" charset="0"/>
                <a:ea typeface="Calibri" pitchFamily="34" charset="-122"/>
                <a:cs typeface="Calibri" pitchFamily="34" charset="-120"/>
              </a:rPr>
              <a:t>• 原因分析：</a:t>
            </a:r>
            <a:endParaRPr lang="en-US" sz="1400" dirty="0"/>
          </a:p>
          <a:p>
            <a:pPr algn="l" indent="0" marL="0">
              <a:lnSpc>
                <a:spcPts val="2200"/>
              </a:lnSpc>
              <a:buNone/>
            </a:pPr>
            <a:r>
              <a:rPr lang="en-US" sz="1400" dirty="0">
                <a:solidFill>
                  <a:srgbClr val="333333"/>
                </a:solidFill>
                <a:latin typeface="Calibri" pitchFamily="34" charset="0"/>
                <a:ea typeface="Calibri" pitchFamily="34" charset="-122"/>
                <a:cs typeface="Calibri" pitchFamily="34" charset="-120"/>
              </a:rPr>
              <a:t>  - 发表期刊影响力有限</a:t>
            </a:r>
            <a:endParaRPr lang="en-US" sz="1400" dirty="0"/>
          </a:p>
          <a:p>
            <a:pPr algn="l" indent="0" marL="0">
              <a:lnSpc>
                <a:spcPts val="2200"/>
              </a:lnSpc>
              <a:buNone/>
            </a:pPr>
            <a:r>
              <a:rPr lang="en-US" sz="1400" dirty="0">
                <a:solidFill>
                  <a:srgbClr val="333333"/>
                </a:solidFill>
                <a:latin typeface="Calibri" pitchFamily="34" charset="0"/>
                <a:ea typeface="Calibri" pitchFamily="34" charset="-122"/>
                <a:cs typeface="Calibri" pitchFamily="34" charset="-120"/>
              </a:rPr>
              <a:t>  - 数学方法难以理解</a:t>
            </a:r>
            <a:endParaRPr lang="en-US" sz="1400" dirty="0"/>
          </a:p>
          <a:p>
            <a:pPr algn="l" indent="0" marL="0">
              <a:lnSpc>
                <a:spcPts val="2200"/>
              </a:lnSpc>
              <a:buNone/>
            </a:pPr>
            <a:r>
              <a:rPr lang="en-US" sz="1400" dirty="0">
                <a:solidFill>
                  <a:srgbClr val="333333"/>
                </a:solidFill>
                <a:latin typeface="Calibri" pitchFamily="34" charset="0"/>
                <a:ea typeface="Calibri" pitchFamily="34" charset="-122"/>
                <a:cs typeface="Calibri" pitchFamily="34" charset="-120"/>
              </a:rPr>
              <a:t>  - 理论过于超前</a:t>
            </a:r>
            <a:endParaRPr lang="en-US" sz="1400" dirty="0"/>
          </a:p>
          <a:p>
            <a:pPr algn="l" indent="0" marL="0">
              <a:lnSpc>
                <a:spcPts val="2200"/>
              </a:lnSpc>
              <a:buNone/>
            </a:pPr>
            <a:r>
              <a:rPr lang="en-US" sz="1400" dirty="0">
                <a:solidFill>
                  <a:srgbClr val="333333"/>
                </a:solidFill>
                <a:latin typeface="Calibri" pitchFamily="34" charset="0"/>
                <a:ea typeface="Calibri" pitchFamily="34" charset="-122"/>
                <a:cs typeface="Calibri" pitchFamily="34" charset="-120"/>
              </a:rPr>
              <a:t>  - 缺乏后续研究和推广</a:t>
            </a:r>
            <a:endParaRPr lang="en-US" sz="1400" dirty="0"/>
          </a:p>
          <a:p>
            <a:pPr algn="l" indent="0" marL="0">
              <a:lnSpc>
                <a:spcPts val="2200"/>
              </a:lnSpc>
              <a:buNone/>
            </a:pPr>
            <a:r>
              <a:rPr lang="en-US" sz="1400" dirty="0">
                <a:solidFill>
                  <a:srgbClr val="333333"/>
                </a:solidFill>
                <a:latin typeface="Calibri" pitchFamily="34" charset="0"/>
                <a:ea typeface="Calibri" pitchFamily="34" charset="-122"/>
                <a:cs typeface="Calibri" pitchFamily="34" charset="-120"/>
              </a:rPr>
              <a:t>• 1900年前，孟德尔的名字在科学界几乎无人知晓</a:t>
            </a:r>
            <a:endParaRPr lang="en-US" sz="1400" dirty="0"/>
          </a:p>
        </p:txBody>
      </p:sp>
      <p:sp>
        <p:nvSpPr>
          <p:cNvPr id="6" name="Shape 4"/>
          <p:cNvSpPr/>
          <p:nvPr/>
        </p:nvSpPr>
        <p:spPr>
          <a:xfrm>
            <a:off x="457200" y="4114800"/>
            <a:ext cx="8229600" cy="731520"/>
          </a:xfrm>
          <a:prstGeom prst="rect">
            <a:avLst/>
          </a:prstGeom>
          <a:solidFill>
            <a:srgbClr val="ECEFF1"/>
          </a:solidFill>
          <a:ln/>
        </p:spPr>
      </p:sp>
      <p:sp>
        <p:nvSpPr>
          <p:cNvPr id="7" name="Text 5"/>
          <p:cNvSpPr/>
          <p:nvPr/>
        </p:nvSpPr>
        <p:spPr>
          <a:xfrm>
            <a:off x="640080" y="4206240"/>
            <a:ext cx="7863840" cy="548640"/>
          </a:xfrm>
          <a:prstGeom prst="rect">
            <a:avLst/>
          </a:prstGeom>
          <a:noFill/>
          <a:ln/>
        </p:spPr>
        <p:txBody>
          <a:bodyPr wrap="square" rtlCol="0" anchor="t"/>
          <a:lstStyle/>
          <a:p>
            <a:pPr algn="l" indent="0" marL="0">
              <a:lnSpc>
                <a:spcPts val="2400"/>
              </a:lnSpc>
              <a:buNone/>
            </a:pPr>
            <a:r>
              <a:rPr lang="en-US" sz="1200" i="1" dirty="0">
                <a:solidFill>
                  <a:srgbClr val="37474F"/>
                </a:solidFill>
                <a:latin typeface="Calibri" pitchFamily="34" charset="0"/>
                <a:ea typeface="Calibri" pitchFamily="34" charset="-122"/>
                <a:cs typeface="Calibri" pitchFamily="34" charset="-120"/>
              </a:rPr>
              <a:t>学术传播教训：即使是伟大的发现，如果没有适当的传播和推广，也可能被长期埋没。科学发现的价值需要被[看见]和[理解]。</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文献分析（三）：1900年重新发现的三位科学家</a:t>
            </a:r>
            <a:endParaRPr lang="en-US" sz="2800" dirty="0"/>
          </a:p>
        </p:txBody>
      </p:sp>
      <p:sp>
        <p:nvSpPr>
          <p:cNvPr id="3" name="Text 1"/>
          <p:cNvSpPr/>
          <p:nvPr/>
        </p:nvSpPr>
        <p:spPr>
          <a:xfrm>
            <a:off x="4114800" y="4754880"/>
            <a:ext cx="914400" cy="274320"/>
          </a:xfrm>
          <a:prstGeom prst="rect">
            <a:avLst/>
          </a:prstGeom>
          <a:noFill/>
          <a:ln/>
        </p:spPr>
        <p:txBody>
          <a:bodyPr wrap="square" rtlCol="0" anchor="ctr"/>
          <a:lstStyle/>
          <a:p>
            <a:pPr algn="ctr" indent="0" marL="0">
              <a:buNone/>
            </a:pPr>
            <a:r>
              <a:rPr lang="en-US" sz="1000" dirty="0">
                <a:solidFill>
                  <a:srgbClr val="666666"/>
                </a:solidFill>
                <a:latin typeface="Calibri" pitchFamily="34" charset="0"/>
                <a:ea typeface="Calibri" pitchFamily="34" charset="-122"/>
                <a:cs typeface="Calibri" pitchFamily="34" charset="-120"/>
              </a:rPr>
              <a:t>17 / 24</a:t>
            </a:r>
            <a:endParaRPr lang="en-US" sz="1000" dirty="0"/>
          </a:p>
        </p:txBody>
      </p:sp>
      <p:sp>
        <p:nvSpPr>
          <p:cNvPr id="4" name="Text 2"/>
          <p:cNvSpPr/>
          <p:nvPr/>
        </p:nvSpPr>
        <p:spPr>
          <a:xfrm>
            <a:off x="457200" y="1097280"/>
            <a:ext cx="8229600" cy="3657600"/>
          </a:xfrm>
          <a:prstGeom prst="rect">
            <a:avLst/>
          </a:prstGeom>
          <a:noFill/>
          <a:ln/>
        </p:spPr>
        <p:txBody>
          <a:bodyPr wrap="square" rtlCol="0" anchor="t"/>
          <a:lstStyle/>
          <a:p>
            <a:pPr algn="l" indent="0" marL="0">
              <a:lnSpc>
                <a:spcPts val="2400"/>
              </a:lnSpc>
              <a:buNone/>
            </a:pPr>
            <a:r>
              <a:rPr lang="en-US" sz="1800" b="1" dirty="0">
                <a:solidFill>
                  <a:srgbClr val="D4A843"/>
                </a:solidFill>
                <a:latin typeface="Calibri" pitchFamily="34" charset="0"/>
                <a:ea typeface="Calibri" pitchFamily="34" charset="-122"/>
                <a:cs typeface="Calibri" pitchFamily="34" charset="-120"/>
              </a:rPr>
              <a:t>独立发现：德弗里斯、科伦斯、切尔马克</a:t>
            </a:r>
            <a:endParaRPr lang="en-US" sz="1800" dirty="0"/>
          </a:p>
        </p:txBody>
      </p:sp>
      <p:sp>
        <p:nvSpPr>
          <p:cNvPr id="5" name="Text 3"/>
          <p:cNvSpPr/>
          <p:nvPr/>
        </p:nvSpPr>
        <p:spPr>
          <a:xfrm>
            <a:off x="457200" y="1645920"/>
            <a:ext cx="8229600" cy="3474720"/>
          </a:xfrm>
          <a:prstGeom prst="rect">
            <a:avLst/>
          </a:prstGeom>
          <a:noFill/>
          <a:ln/>
        </p:spPr>
        <p:txBody>
          <a:bodyPr wrap="square" rtlCol="0" anchor="t"/>
          <a:lstStyle/>
          <a:p>
            <a:pPr algn="l" indent="0" marL="0">
              <a:lnSpc>
                <a:spcPts val="2000"/>
              </a:lnSpc>
              <a:buNone/>
            </a:pPr>
            <a:r>
              <a:rPr lang="en-US" sz="1400" dirty="0">
                <a:solidFill>
                  <a:srgbClr val="333333"/>
                </a:solidFill>
                <a:latin typeface="Calibri" pitchFamily="34" charset="0"/>
                <a:ea typeface="Calibri" pitchFamily="34" charset="-122"/>
                <a:cs typeface="Calibri" pitchFamily="34" charset="-120"/>
              </a:rPr>
              <a:t>• 1900年春，三位科学家独立重新发现了孟德尔定律</a:t>
            </a:r>
            <a:endParaRPr lang="en-US" sz="1400" dirty="0"/>
          </a:p>
          <a:p>
            <a:pPr algn="l" indent="0" marL="0">
              <a:lnSpc>
                <a:spcPts val="2000"/>
              </a:lnSpc>
              <a:buNone/>
            </a:pPr>
            <a:endParaRPr lang="en-US" sz="1400" dirty="0"/>
          </a:p>
          <a:p>
            <a:pPr algn="l" indent="0" marL="0">
              <a:lnSpc>
                <a:spcPts val="2000"/>
              </a:lnSpc>
              <a:buNone/>
            </a:pPr>
            <a:r>
              <a:rPr lang="en-US" sz="1400" dirty="0">
                <a:solidFill>
                  <a:srgbClr val="333333"/>
                </a:solidFill>
                <a:latin typeface="Calibri" pitchFamily="34" charset="0"/>
                <a:ea typeface="Calibri" pitchFamily="34" charset="-122"/>
                <a:cs typeface="Calibri" pitchFamily="34" charset="-120"/>
              </a:rPr>
              <a:t>1. 雨果·德弗里斯（Hugo de Vries，荷兰）</a:t>
            </a:r>
            <a:endParaRPr lang="en-US" sz="1400" dirty="0"/>
          </a:p>
          <a:p>
            <a:pPr algn="l" indent="0" marL="0">
              <a:lnSpc>
                <a:spcPts val="2000"/>
              </a:lnSpc>
              <a:buNone/>
            </a:pPr>
            <a:r>
              <a:rPr lang="en-US" sz="1400" dirty="0">
                <a:solidFill>
                  <a:srgbClr val="333333"/>
                </a:solidFill>
                <a:latin typeface="Calibri" pitchFamily="34" charset="0"/>
                <a:ea typeface="Calibri" pitchFamily="34" charset="-122"/>
                <a:cs typeface="Calibri" pitchFamily="34" charset="-120"/>
              </a:rPr>
              <a:t>   - 研究月见草和玉米的遗传</a:t>
            </a:r>
            <a:endParaRPr lang="en-US" sz="1400" dirty="0"/>
          </a:p>
          <a:p>
            <a:pPr algn="l" indent="0" marL="0">
              <a:lnSpc>
                <a:spcPts val="2000"/>
              </a:lnSpc>
              <a:buNone/>
            </a:pPr>
            <a:r>
              <a:rPr lang="en-US" sz="1400" dirty="0">
                <a:solidFill>
                  <a:srgbClr val="333333"/>
                </a:solidFill>
                <a:latin typeface="Calibri" pitchFamily="34" charset="0"/>
                <a:ea typeface="Calibri" pitchFamily="34" charset="-122"/>
                <a:cs typeface="Calibri" pitchFamily="34" charset="-120"/>
              </a:rPr>
              <a:t>   - 1900年3月发表论文，引用孟德尔</a:t>
            </a:r>
            <a:endParaRPr lang="en-US" sz="1400" dirty="0"/>
          </a:p>
          <a:p>
            <a:pPr algn="l" indent="0" marL="0">
              <a:lnSpc>
                <a:spcPts val="2000"/>
              </a:lnSpc>
              <a:buNone/>
            </a:pPr>
            <a:endParaRPr lang="en-US" sz="1400" dirty="0"/>
          </a:p>
          <a:p>
            <a:pPr algn="l" indent="0" marL="0">
              <a:lnSpc>
                <a:spcPts val="2000"/>
              </a:lnSpc>
              <a:buNone/>
            </a:pPr>
            <a:r>
              <a:rPr lang="en-US" sz="1400" dirty="0">
                <a:solidFill>
                  <a:srgbClr val="333333"/>
                </a:solidFill>
                <a:latin typeface="Calibri" pitchFamily="34" charset="0"/>
                <a:ea typeface="Calibri" pitchFamily="34" charset="-122"/>
                <a:cs typeface="Calibri" pitchFamily="34" charset="-120"/>
              </a:rPr>
              <a:t>2. 卡尔·科伦斯（Carl Correns，德国）</a:t>
            </a:r>
            <a:endParaRPr lang="en-US" sz="1400" dirty="0"/>
          </a:p>
          <a:p>
            <a:pPr algn="l" indent="0" marL="0">
              <a:lnSpc>
                <a:spcPts val="2000"/>
              </a:lnSpc>
              <a:buNone/>
            </a:pPr>
            <a:r>
              <a:rPr lang="en-US" sz="1400" dirty="0">
                <a:solidFill>
                  <a:srgbClr val="333333"/>
                </a:solidFill>
                <a:latin typeface="Calibri" pitchFamily="34" charset="0"/>
                <a:ea typeface="Calibri" pitchFamily="34" charset="-122"/>
                <a:cs typeface="Calibri" pitchFamily="34" charset="-120"/>
              </a:rPr>
              <a:t>   - 研究玉米和豌豆的遗传</a:t>
            </a:r>
            <a:endParaRPr lang="en-US" sz="1400" dirty="0"/>
          </a:p>
          <a:p>
            <a:pPr algn="l" indent="0" marL="0">
              <a:lnSpc>
                <a:spcPts val="2000"/>
              </a:lnSpc>
              <a:buNone/>
            </a:pPr>
            <a:r>
              <a:rPr lang="en-US" sz="1400" dirty="0">
                <a:solidFill>
                  <a:srgbClr val="333333"/>
                </a:solidFill>
                <a:latin typeface="Calibri" pitchFamily="34" charset="0"/>
                <a:ea typeface="Calibri" pitchFamily="34" charset="-122"/>
                <a:cs typeface="Calibri" pitchFamily="34" charset="-120"/>
              </a:rPr>
              <a:t>   - 1900年4月发表论文，承认孟德尔的优先权</a:t>
            </a:r>
            <a:endParaRPr lang="en-US" sz="1400" dirty="0"/>
          </a:p>
          <a:p>
            <a:pPr algn="l" indent="0" marL="0">
              <a:lnSpc>
                <a:spcPts val="2000"/>
              </a:lnSpc>
              <a:buNone/>
            </a:pPr>
            <a:endParaRPr lang="en-US" sz="1400" dirty="0"/>
          </a:p>
          <a:p>
            <a:pPr algn="l" indent="0" marL="0">
              <a:lnSpc>
                <a:spcPts val="2000"/>
              </a:lnSpc>
              <a:buNone/>
            </a:pPr>
            <a:r>
              <a:rPr lang="en-US" sz="1400" dirty="0">
                <a:solidFill>
                  <a:srgbClr val="333333"/>
                </a:solidFill>
                <a:latin typeface="Calibri" pitchFamily="34" charset="0"/>
                <a:ea typeface="Calibri" pitchFamily="34" charset="-122"/>
                <a:cs typeface="Calibri" pitchFamily="34" charset="-120"/>
              </a:rPr>
              <a:t>3. 埃里克·切尔马克（Erich Tschermak，奥地利）</a:t>
            </a:r>
            <a:endParaRPr lang="en-US" sz="1400" dirty="0"/>
          </a:p>
          <a:p>
            <a:pPr algn="l" indent="0" marL="0">
              <a:lnSpc>
                <a:spcPts val="2000"/>
              </a:lnSpc>
              <a:buNone/>
            </a:pPr>
            <a:r>
              <a:rPr lang="en-US" sz="1400" dirty="0">
                <a:solidFill>
                  <a:srgbClr val="333333"/>
                </a:solidFill>
                <a:latin typeface="Calibri" pitchFamily="34" charset="0"/>
                <a:ea typeface="Calibri" pitchFamily="34" charset="-122"/>
                <a:cs typeface="Calibri" pitchFamily="34" charset="-120"/>
              </a:rPr>
              <a:t>   - 研究豌豆的遗传</a:t>
            </a:r>
            <a:endParaRPr lang="en-US" sz="1400" dirty="0"/>
          </a:p>
          <a:p>
            <a:pPr algn="l" indent="0" marL="0">
              <a:lnSpc>
                <a:spcPts val="2000"/>
              </a:lnSpc>
              <a:buNone/>
            </a:pPr>
            <a:r>
              <a:rPr lang="en-US" sz="1400" dirty="0">
                <a:solidFill>
                  <a:srgbClr val="333333"/>
                </a:solidFill>
                <a:latin typeface="Calibri" pitchFamily="34" charset="0"/>
                <a:ea typeface="Calibri" pitchFamily="34" charset="-122"/>
                <a:cs typeface="Calibri" pitchFamily="34" charset="-120"/>
              </a:rPr>
              <a:t>   - 1900年6月发表论文</a:t>
            </a:r>
            <a:endParaRPr lang="en-US" sz="1400" dirty="0"/>
          </a:p>
        </p:txBody>
      </p:sp>
      <p:sp>
        <p:nvSpPr>
          <p:cNvPr id="6" name="Shape 4"/>
          <p:cNvSpPr/>
          <p:nvPr/>
        </p:nvSpPr>
        <p:spPr>
          <a:xfrm>
            <a:off x="457200" y="4114800"/>
            <a:ext cx="8229600" cy="731520"/>
          </a:xfrm>
          <a:prstGeom prst="rect">
            <a:avLst/>
          </a:prstGeom>
          <a:solidFill>
            <a:srgbClr val="E8F5E9"/>
          </a:solidFill>
          <a:ln/>
        </p:spPr>
      </p:sp>
      <p:sp>
        <p:nvSpPr>
          <p:cNvPr id="7" name="Text 5"/>
          <p:cNvSpPr/>
          <p:nvPr/>
        </p:nvSpPr>
        <p:spPr>
          <a:xfrm>
            <a:off x="640080" y="4206240"/>
            <a:ext cx="7863840" cy="548640"/>
          </a:xfrm>
          <a:prstGeom prst="rect">
            <a:avLst/>
          </a:prstGeom>
          <a:noFill/>
          <a:ln/>
        </p:spPr>
        <p:txBody>
          <a:bodyPr wrap="square" rtlCol="0" anchor="t"/>
          <a:lstStyle/>
          <a:p>
            <a:pPr algn="l" indent="0" marL="0">
              <a:lnSpc>
                <a:spcPts val="2400"/>
              </a:lnSpc>
              <a:buNone/>
            </a:pPr>
            <a:r>
              <a:rPr lang="en-US" sz="1200" i="1" dirty="0">
                <a:solidFill>
                  <a:srgbClr val="2C5F2D"/>
                </a:solidFill>
                <a:latin typeface="Calibri" pitchFamily="34" charset="0"/>
                <a:ea typeface="Calibri" pitchFamily="34" charset="-122"/>
                <a:cs typeface="Calibri" pitchFamily="34" charset="-120"/>
              </a:rPr>
              <a:t>历史意义：三位科学家的独立发现证明了孟德尔定律的普遍性，也标志着遗传学作为一门独立学科的诞生。</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实验详解：山柳菊实验的设计与结果</a:t>
            </a:r>
            <a:endParaRPr lang="en-US" sz="2800" dirty="0"/>
          </a:p>
        </p:txBody>
      </p:sp>
      <p:sp>
        <p:nvSpPr>
          <p:cNvPr id="3" name="Text 1"/>
          <p:cNvSpPr/>
          <p:nvPr/>
        </p:nvSpPr>
        <p:spPr>
          <a:xfrm>
            <a:off x="4114800" y="4754880"/>
            <a:ext cx="914400" cy="274320"/>
          </a:xfrm>
          <a:prstGeom prst="rect">
            <a:avLst/>
          </a:prstGeom>
          <a:noFill/>
          <a:ln/>
        </p:spPr>
        <p:txBody>
          <a:bodyPr wrap="square" rtlCol="0" anchor="ctr"/>
          <a:lstStyle/>
          <a:p>
            <a:pPr algn="ctr" indent="0" marL="0">
              <a:buNone/>
            </a:pPr>
            <a:r>
              <a:rPr lang="en-US" sz="1000" dirty="0">
                <a:solidFill>
                  <a:srgbClr val="666666"/>
                </a:solidFill>
                <a:latin typeface="Calibri" pitchFamily="34" charset="0"/>
                <a:ea typeface="Calibri" pitchFamily="34" charset="-122"/>
                <a:cs typeface="Calibri" pitchFamily="34" charset="-120"/>
              </a:rPr>
              <a:t>18 / 24</a:t>
            </a:r>
            <a:endParaRPr lang="en-US" sz="1000" dirty="0"/>
          </a:p>
        </p:txBody>
      </p:sp>
      <p:sp>
        <p:nvSpPr>
          <p:cNvPr id="4" name="Text 2"/>
          <p:cNvSpPr/>
          <p:nvPr/>
        </p:nvSpPr>
        <p:spPr>
          <a:xfrm>
            <a:off x="457200" y="1097280"/>
            <a:ext cx="8229600" cy="3657600"/>
          </a:xfrm>
          <a:prstGeom prst="rect">
            <a:avLst/>
          </a:prstGeom>
          <a:noFill/>
          <a:ln/>
        </p:spPr>
        <p:txBody>
          <a:bodyPr wrap="square" rtlCol="0" anchor="t"/>
          <a:lstStyle/>
          <a:p>
            <a:pPr algn="l" indent="0" marL="0">
              <a:lnSpc>
                <a:spcPts val="2400"/>
              </a:lnSpc>
              <a:buNone/>
            </a:pPr>
            <a:r>
              <a:rPr lang="en-US" sz="1800" b="1" dirty="0">
                <a:solidFill>
                  <a:srgbClr val="D4A843"/>
                </a:solidFill>
                <a:latin typeface="Calibri" pitchFamily="34" charset="0"/>
                <a:ea typeface="Calibri" pitchFamily="34" charset="-122"/>
                <a:cs typeface="Calibri" pitchFamily="34" charset="-120"/>
              </a:rPr>
              <a:t>实验设计</a:t>
            </a:r>
            <a:endParaRPr lang="en-US" sz="1800" dirty="0"/>
          </a:p>
        </p:txBody>
      </p:sp>
      <p:sp>
        <p:nvSpPr>
          <p:cNvPr id="5" name="Text 3"/>
          <p:cNvSpPr/>
          <p:nvPr/>
        </p:nvSpPr>
        <p:spPr>
          <a:xfrm>
            <a:off x="457200" y="1645920"/>
            <a:ext cx="8229600" cy="3474720"/>
          </a:xfrm>
          <a:prstGeom prst="rect">
            <a:avLst/>
          </a:prstGeom>
          <a:noFill/>
          <a:ln/>
        </p:spPr>
        <p:txBody>
          <a:bodyPr wrap="square" rtlCol="0" anchor="t"/>
          <a:lstStyle/>
          <a:p>
            <a:pPr algn="l" indent="0" marL="0">
              <a:lnSpc>
                <a:spcPts val="2200"/>
              </a:lnSpc>
              <a:buNone/>
            </a:pPr>
            <a:r>
              <a:rPr lang="en-US" sz="1400" dirty="0">
                <a:solidFill>
                  <a:srgbClr val="333333"/>
                </a:solidFill>
                <a:latin typeface="Calibri" pitchFamily="34" charset="0"/>
                <a:ea typeface="Calibri" pitchFamily="34" charset="-122"/>
                <a:cs typeface="Calibri" pitchFamily="34" charset="-120"/>
              </a:rPr>
              <a:t>• 实验时间：约1866-1872年</a:t>
            </a:r>
            <a:endParaRPr lang="en-US" sz="1400" dirty="0"/>
          </a:p>
          <a:p>
            <a:pPr algn="l" indent="0" marL="0">
              <a:lnSpc>
                <a:spcPts val="2200"/>
              </a:lnSpc>
              <a:buNone/>
            </a:pPr>
            <a:r>
              <a:rPr lang="en-US" sz="1400" dirty="0">
                <a:solidFill>
                  <a:srgbClr val="333333"/>
                </a:solidFill>
                <a:latin typeface="Calibri" pitchFamily="34" charset="0"/>
                <a:ea typeface="Calibri" pitchFamily="34" charset="-122"/>
                <a:cs typeface="Calibri" pitchFamily="34" charset="-120"/>
              </a:rPr>
              <a:t>• 实验材料：多个山柳菊物种（Hieracium spp.）</a:t>
            </a:r>
            <a:endParaRPr lang="en-US" sz="1400" dirty="0"/>
          </a:p>
          <a:p>
            <a:pPr algn="l" indent="0" marL="0">
              <a:lnSpc>
                <a:spcPts val="2200"/>
              </a:lnSpc>
              <a:buNone/>
            </a:pPr>
            <a:r>
              <a:rPr lang="en-US" sz="1400" dirty="0">
                <a:solidFill>
                  <a:srgbClr val="333333"/>
                </a:solidFill>
                <a:latin typeface="Calibri" pitchFamily="34" charset="0"/>
                <a:ea typeface="Calibri" pitchFamily="34" charset="-122"/>
                <a:cs typeface="Calibri" pitchFamily="34" charset="-120"/>
              </a:rPr>
              <a:t>• 实验目的：验证豌豆实验的结果是否适用于其他植物</a:t>
            </a:r>
            <a:endParaRPr lang="en-US" sz="1400" dirty="0"/>
          </a:p>
          <a:p>
            <a:pPr algn="l" indent="0" marL="0">
              <a:lnSpc>
                <a:spcPts val="2200"/>
              </a:lnSpc>
              <a:buNone/>
            </a:pPr>
            <a:r>
              <a:rPr lang="en-US" sz="1400" dirty="0">
                <a:solidFill>
                  <a:srgbClr val="333333"/>
                </a:solidFill>
                <a:latin typeface="Calibri" pitchFamily="34" charset="0"/>
                <a:ea typeface="Calibri" pitchFamily="34" charset="-122"/>
                <a:cs typeface="Calibri" pitchFamily="34" charset="-120"/>
              </a:rPr>
              <a:t>• 实验方法：人工杂交，控制授粉</a:t>
            </a:r>
            <a:endParaRPr lang="en-US" sz="1400" dirty="0"/>
          </a:p>
          <a:p>
            <a:pPr algn="l" indent="0" marL="0">
              <a:lnSpc>
                <a:spcPts val="2200"/>
              </a:lnSpc>
              <a:buNone/>
            </a:pPr>
            <a:r>
              <a:rPr lang="en-US" sz="1400" dirty="0">
                <a:solidFill>
                  <a:srgbClr val="333333"/>
                </a:solidFill>
                <a:latin typeface="Calibri" pitchFamily="34" charset="0"/>
                <a:ea typeface="Calibri" pitchFamily="34" charset="-122"/>
                <a:cs typeface="Calibri" pitchFamily="34" charset="-120"/>
              </a:rPr>
              <a:t>• 预期结果：看到3:1或类似的分离比例</a:t>
            </a:r>
            <a:endParaRPr lang="en-US" sz="1400" dirty="0"/>
          </a:p>
          <a:p>
            <a:pPr algn="l" indent="0" marL="0">
              <a:lnSpc>
                <a:spcPts val="2200"/>
              </a:lnSpc>
              <a:buNone/>
            </a:pPr>
            <a:r>
              <a:rPr lang="en-US" sz="1400" dirty="0">
                <a:solidFill>
                  <a:srgbClr val="333333"/>
                </a:solidFill>
                <a:latin typeface="Calibri" pitchFamily="34" charset="0"/>
                <a:ea typeface="Calibri" pitchFamily="34" charset="-122"/>
                <a:cs typeface="Calibri" pitchFamily="34" charset="-120"/>
              </a:rPr>
              <a:t>• 实际结果：</a:t>
            </a:r>
            <a:endParaRPr lang="en-US" sz="1400" dirty="0"/>
          </a:p>
          <a:p>
            <a:pPr algn="l" indent="0" marL="0">
              <a:lnSpc>
                <a:spcPts val="2200"/>
              </a:lnSpc>
              <a:buNone/>
            </a:pPr>
            <a:r>
              <a:rPr lang="en-US" sz="1400" dirty="0">
                <a:solidFill>
                  <a:srgbClr val="333333"/>
                </a:solidFill>
                <a:latin typeface="Calibri" pitchFamily="34" charset="0"/>
                <a:ea typeface="Calibri" pitchFamily="34" charset="-122"/>
                <a:cs typeface="Calibri" pitchFamily="34" charset="-120"/>
              </a:rPr>
              <a:t>  - 大多数杂交后代与母本完全相同</a:t>
            </a:r>
            <a:endParaRPr lang="en-US" sz="1400" dirty="0"/>
          </a:p>
          <a:p>
            <a:pPr algn="l" indent="0" marL="0">
              <a:lnSpc>
                <a:spcPts val="2200"/>
              </a:lnSpc>
              <a:buNone/>
            </a:pPr>
            <a:r>
              <a:rPr lang="en-US" sz="1400" dirty="0">
                <a:solidFill>
                  <a:srgbClr val="333333"/>
                </a:solidFill>
                <a:latin typeface="Calibri" pitchFamily="34" charset="0"/>
                <a:ea typeface="Calibri" pitchFamily="34" charset="-122"/>
                <a:cs typeface="Calibri" pitchFamily="34" charset="-120"/>
              </a:rPr>
              <a:t>  - 没有出现预期的性状分离</a:t>
            </a:r>
            <a:endParaRPr lang="en-US" sz="1400" dirty="0"/>
          </a:p>
          <a:p>
            <a:pPr algn="l" indent="0" marL="0">
              <a:lnSpc>
                <a:spcPts val="2200"/>
              </a:lnSpc>
              <a:buNone/>
            </a:pPr>
            <a:r>
              <a:rPr lang="en-US" sz="1400" dirty="0">
                <a:solidFill>
                  <a:srgbClr val="333333"/>
                </a:solidFill>
                <a:latin typeface="Calibri" pitchFamily="34" charset="0"/>
                <a:ea typeface="Calibri" pitchFamily="34" charset="-122"/>
                <a:cs typeface="Calibri" pitchFamily="34" charset="-120"/>
              </a:rPr>
              <a:t>  - 极少数后代表现出父本性状，但比例不符合预期</a:t>
            </a:r>
            <a:endParaRPr lang="en-US" sz="1400" dirty="0"/>
          </a:p>
        </p:txBody>
      </p:sp>
      <p:sp>
        <p:nvSpPr>
          <p:cNvPr id="6" name="Shape 4"/>
          <p:cNvSpPr/>
          <p:nvPr/>
        </p:nvSpPr>
        <p:spPr>
          <a:xfrm>
            <a:off x="457200" y="4114800"/>
            <a:ext cx="8229600" cy="731520"/>
          </a:xfrm>
          <a:prstGeom prst="rect">
            <a:avLst/>
          </a:prstGeom>
          <a:solidFill>
            <a:srgbClr val="FFEBEE"/>
          </a:solidFill>
          <a:ln/>
        </p:spPr>
      </p:sp>
      <p:sp>
        <p:nvSpPr>
          <p:cNvPr id="7" name="Text 5"/>
          <p:cNvSpPr/>
          <p:nvPr/>
        </p:nvSpPr>
        <p:spPr>
          <a:xfrm>
            <a:off x="640080" y="4206240"/>
            <a:ext cx="7863840" cy="548640"/>
          </a:xfrm>
          <a:prstGeom prst="rect">
            <a:avLst/>
          </a:prstGeom>
          <a:noFill/>
          <a:ln/>
        </p:spPr>
        <p:txBody>
          <a:bodyPr wrap="square" rtlCol="0" anchor="t"/>
          <a:lstStyle/>
          <a:p>
            <a:pPr algn="l" indent="0" marL="0">
              <a:lnSpc>
                <a:spcPts val="2400"/>
              </a:lnSpc>
              <a:buNone/>
            </a:pPr>
            <a:r>
              <a:rPr lang="en-US" sz="1200" i="1" dirty="0">
                <a:solidFill>
                  <a:srgbClr val="C62828"/>
                </a:solidFill>
                <a:latin typeface="Calibri" pitchFamily="34" charset="0"/>
                <a:ea typeface="Calibri" pitchFamily="34" charset="-122"/>
                <a:cs typeface="Calibri" pitchFamily="34" charset="-120"/>
              </a:rPr>
              <a:t>悲剧性结果：孟德尔不知道的是，他观察到的[母本遗传]正是无融合生殖的特征。他的实验设计是正确的，但实验材料是错误的。</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历史趣闻（一）：达尔文是否读过孟德尔？</a:t>
            </a:r>
            <a:endParaRPr lang="en-US" sz="2800" dirty="0"/>
          </a:p>
        </p:txBody>
      </p:sp>
      <p:sp>
        <p:nvSpPr>
          <p:cNvPr id="3" name="Text 1"/>
          <p:cNvSpPr/>
          <p:nvPr/>
        </p:nvSpPr>
        <p:spPr>
          <a:xfrm>
            <a:off x="4114800" y="4754880"/>
            <a:ext cx="914400" cy="274320"/>
          </a:xfrm>
          <a:prstGeom prst="rect">
            <a:avLst/>
          </a:prstGeom>
          <a:noFill/>
          <a:ln/>
        </p:spPr>
        <p:txBody>
          <a:bodyPr wrap="square" rtlCol="0" anchor="ctr"/>
          <a:lstStyle/>
          <a:p>
            <a:pPr algn="ctr" indent="0" marL="0">
              <a:buNone/>
            </a:pPr>
            <a:r>
              <a:rPr lang="en-US" sz="1000" dirty="0">
                <a:solidFill>
                  <a:srgbClr val="666666"/>
                </a:solidFill>
                <a:latin typeface="Calibri" pitchFamily="34" charset="0"/>
                <a:ea typeface="Calibri" pitchFamily="34" charset="-122"/>
                <a:cs typeface="Calibri" pitchFamily="34" charset="-120"/>
              </a:rPr>
              <a:t>19 / 24</a:t>
            </a:r>
            <a:endParaRPr lang="en-US" sz="1000" dirty="0"/>
          </a:p>
        </p:txBody>
      </p:sp>
      <p:sp>
        <p:nvSpPr>
          <p:cNvPr id="4" name="Text 2"/>
          <p:cNvSpPr/>
          <p:nvPr/>
        </p:nvSpPr>
        <p:spPr>
          <a:xfrm>
            <a:off x="457200" y="1097280"/>
            <a:ext cx="8229600" cy="3657600"/>
          </a:xfrm>
          <a:prstGeom prst="rect">
            <a:avLst/>
          </a:prstGeom>
          <a:noFill/>
          <a:ln/>
        </p:spPr>
        <p:txBody>
          <a:bodyPr wrap="square" rtlCol="0" anchor="t"/>
          <a:lstStyle/>
          <a:p>
            <a:pPr algn="l" indent="0" marL="0">
              <a:lnSpc>
                <a:spcPts val="2400"/>
              </a:lnSpc>
              <a:buNone/>
            </a:pPr>
            <a:r>
              <a:rPr lang="en-US" sz="1800" b="1" dirty="0">
                <a:solidFill>
                  <a:srgbClr val="D4A843"/>
                </a:solidFill>
                <a:latin typeface="Calibri" pitchFamily="34" charset="0"/>
                <a:ea typeface="Calibri" pitchFamily="34" charset="-122"/>
                <a:cs typeface="Calibri" pitchFamily="34" charset="-120"/>
              </a:rPr>
              <a:t>科学史上的最大[如果]</a:t>
            </a:r>
            <a:endParaRPr lang="en-US" sz="1800" dirty="0"/>
          </a:p>
        </p:txBody>
      </p:sp>
      <p:sp>
        <p:nvSpPr>
          <p:cNvPr id="5" name="Text 3"/>
          <p:cNvSpPr/>
          <p:nvPr/>
        </p:nvSpPr>
        <p:spPr>
          <a:xfrm>
            <a:off x="457200" y="1645920"/>
            <a:ext cx="8229600" cy="3200400"/>
          </a:xfrm>
          <a:prstGeom prst="rect">
            <a:avLst/>
          </a:prstGeom>
          <a:noFill/>
          <a:ln/>
        </p:spPr>
        <p:txBody>
          <a:bodyPr wrap="square" rtlCol="0" anchor="t"/>
          <a:lstStyle/>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达尔文和孟德尔是同时代人（达尔文1809-1882，孟德尔1822-1884）</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有证据表明达尔文可能接触过孟德尔的论文</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达尔文的藏书中有一本植物学文献，其中可能包含孟德尔论文的引用</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但书页没有被裁开，说明达尔文可能没有阅读</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即使达尔文读过，他可能也没有认识到其价值</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融合遗传的观念可能阻碍了他理解孟德尔的颗粒遗传</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这是科学史上最大的[擦肩而过]之一</a:t>
            </a:r>
            <a:endParaRPr lang="en-US" sz="1400" dirty="0"/>
          </a:p>
        </p:txBody>
      </p:sp>
      <p:sp>
        <p:nvSpPr>
          <p:cNvPr id="6" name="Shape 4"/>
          <p:cNvSpPr/>
          <p:nvPr/>
        </p:nvSpPr>
        <p:spPr>
          <a:xfrm>
            <a:off x="457200" y="4114800"/>
            <a:ext cx="8229600" cy="731520"/>
          </a:xfrm>
          <a:prstGeom prst="rect">
            <a:avLst/>
          </a:prstGeom>
          <a:solidFill>
            <a:srgbClr val="E3F2FD"/>
          </a:solidFill>
          <a:ln/>
        </p:spPr>
      </p:sp>
      <p:sp>
        <p:nvSpPr>
          <p:cNvPr id="7" name="Text 5"/>
          <p:cNvSpPr/>
          <p:nvPr/>
        </p:nvSpPr>
        <p:spPr>
          <a:xfrm>
            <a:off x="640080" y="4206240"/>
            <a:ext cx="7863840" cy="548640"/>
          </a:xfrm>
          <a:prstGeom prst="rect">
            <a:avLst/>
          </a:prstGeom>
          <a:noFill/>
          <a:ln/>
        </p:spPr>
        <p:txBody>
          <a:bodyPr wrap="square" rtlCol="0" anchor="t"/>
          <a:lstStyle/>
          <a:p>
            <a:pPr algn="l" indent="0" marL="0">
              <a:lnSpc>
                <a:spcPts val="2400"/>
              </a:lnSpc>
              <a:buNone/>
            </a:pPr>
            <a:r>
              <a:rPr lang="en-US" sz="1200" i="1" dirty="0">
                <a:solidFill>
                  <a:srgbClr val="1565C0"/>
                </a:solidFill>
                <a:latin typeface="Calibri" pitchFamily="34" charset="0"/>
                <a:ea typeface="Calibri" pitchFamily="34" charset="-122"/>
                <a:cs typeface="Calibri" pitchFamily="34" charset="-120"/>
              </a:rPr>
              <a:t>学术争议：关于达尔文是否读过孟德尔，学术界存在争议。一些学者认为即使他读过，由于理论框架的差异，他也可能无法理解孟德尔的意义。</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历史趣闻（二）：1900年重新发现的戏剧性故事</a:t>
            </a:r>
            <a:endParaRPr lang="en-US" sz="2800" dirty="0"/>
          </a:p>
        </p:txBody>
      </p:sp>
      <p:sp>
        <p:nvSpPr>
          <p:cNvPr id="3" name="Text 1"/>
          <p:cNvSpPr/>
          <p:nvPr/>
        </p:nvSpPr>
        <p:spPr>
          <a:xfrm>
            <a:off x="4114800" y="4754880"/>
            <a:ext cx="914400" cy="274320"/>
          </a:xfrm>
          <a:prstGeom prst="rect">
            <a:avLst/>
          </a:prstGeom>
          <a:noFill/>
          <a:ln/>
        </p:spPr>
        <p:txBody>
          <a:bodyPr wrap="square" rtlCol="0" anchor="ctr"/>
          <a:lstStyle/>
          <a:p>
            <a:pPr algn="ctr" indent="0" marL="0">
              <a:buNone/>
            </a:pPr>
            <a:r>
              <a:rPr lang="en-US" sz="1000" dirty="0">
                <a:solidFill>
                  <a:srgbClr val="666666"/>
                </a:solidFill>
                <a:latin typeface="Calibri" pitchFamily="34" charset="0"/>
                <a:ea typeface="Calibri" pitchFamily="34" charset="-122"/>
                <a:cs typeface="Calibri" pitchFamily="34" charset="-120"/>
              </a:rPr>
              <a:t>20 / 24</a:t>
            </a:r>
            <a:endParaRPr lang="en-US" sz="1000" dirty="0"/>
          </a:p>
        </p:txBody>
      </p:sp>
      <p:sp>
        <p:nvSpPr>
          <p:cNvPr id="4" name="Text 2"/>
          <p:cNvSpPr/>
          <p:nvPr/>
        </p:nvSpPr>
        <p:spPr>
          <a:xfrm>
            <a:off x="457200" y="1097280"/>
            <a:ext cx="8229600" cy="3657600"/>
          </a:xfrm>
          <a:prstGeom prst="rect">
            <a:avLst/>
          </a:prstGeom>
          <a:noFill/>
          <a:ln/>
        </p:spPr>
        <p:txBody>
          <a:bodyPr wrap="square" rtlCol="0" anchor="t"/>
          <a:lstStyle/>
          <a:p>
            <a:pPr algn="l" indent="0" marL="0">
              <a:lnSpc>
                <a:spcPts val="2400"/>
              </a:lnSpc>
              <a:buNone/>
            </a:pPr>
            <a:r>
              <a:rPr lang="en-US" sz="1800" b="1" dirty="0">
                <a:solidFill>
                  <a:srgbClr val="D4A843"/>
                </a:solidFill>
                <a:latin typeface="Calibri" pitchFamily="34" charset="0"/>
                <a:ea typeface="Calibri" pitchFamily="34" charset="-122"/>
                <a:cs typeface="Calibri" pitchFamily="34" charset="-120"/>
              </a:rPr>
              <a:t>谁先发现了孟德尔？</a:t>
            </a:r>
            <a:endParaRPr lang="en-US" sz="1800" dirty="0"/>
          </a:p>
        </p:txBody>
      </p:sp>
      <p:sp>
        <p:nvSpPr>
          <p:cNvPr id="5" name="Text 3"/>
          <p:cNvSpPr/>
          <p:nvPr/>
        </p:nvSpPr>
        <p:spPr>
          <a:xfrm>
            <a:off x="457200" y="1645920"/>
            <a:ext cx="8229600" cy="3200400"/>
          </a:xfrm>
          <a:prstGeom prst="rect">
            <a:avLst/>
          </a:prstGeom>
          <a:noFill/>
          <a:ln/>
        </p:spPr>
        <p:txBody>
          <a:bodyPr wrap="square" rtlCol="0" anchor="t"/>
          <a:lstStyle/>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德弗里斯最初没有引用孟德尔，声称自己独立发现</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科伦斯在查阅文献时发现了孟德尔，并告知德弗里斯</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德弗里斯随后修改论文，添加了孟德尔的引用</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三位科学家之间有过激烈的优先权争议</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最终，科学界承认孟德尔的优先权，三位科学家共享[重新发现者]的荣誉</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这一事件展示了科学发现的复杂性和科学竞争的激烈</a:t>
            </a:r>
            <a:endParaRPr lang="en-US" sz="1400" dirty="0"/>
          </a:p>
          <a:p>
            <a:pPr algn="l" indent="0" marL="0">
              <a:lnSpc>
                <a:spcPts val="2600"/>
              </a:lnSpc>
              <a:buNone/>
            </a:pPr>
            <a:r>
              <a:rPr lang="en-US" sz="1400" dirty="0">
                <a:solidFill>
                  <a:srgbClr val="333333"/>
                </a:solidFill>
                <a:latin typeface="Calibri" pitchFamily="34" charset="0"/>
                <a:ea typeface="Calibri" pitchFamily="34" charset="-122"/>
                <a:cs typeface="Calibri" pitchFamily="34" charset="-120"/>
              </a:rPr>
              <a:t>• 也提醒我们：科学史往往比科学本身更加戏剧化</a:t>
            </a:r>
            <a:endParaRPr lang="en-US" sz="1400" dirty="0"/>
          </a:p>
        </p:txBody>
      </p:sp>
      <p:sp>
        <p:nvSpPr>
          <p:cNvPr id="6" name="Text 4"/>
          <p:cNvSpPr/>
          <p:nvPr/>
        </p:nvSpPr>
        <p:spPr>
          <a:xfrm>
            <a:off x="457200" y="4114800"/>
            <a:ext cx="8229600" cy="1097280"/>
          </a:xfrm>
          <a:prstGeom prst="rect">
            <a:avLst/>
          </a:prstGeom>
          <a:noFill/>
          <a:ln/>
        </p:spPr>
        <p:txBody>
          <a:bodyPr wrap="square" rtlCol="0" anchor="t"/>
          <a:lstStyle/>
          <a:p>
            <a:pPr algn="l" indent="0" marL="0">
              <a:lnSpc>
                <a:spcPts val="2400"/>
              </a:lnSpc>
              <a:buNone/>
            </a:pPr>
            <a:r>
              <a:rPr lang="en-US" sz="1200" dirty="0">
                <a:solidFill>
                  <a:srgbClr val="666666"/>
                </a:solidFill>
                <a:latin typeface="Calibri" pitchFamily="34" charset="0"/>
                <a:ea typeface="Calibri" pitchFamily="34" charset="-122"/>
                <a:cs typeface="Calibri" pitchFamily="34" charset="-120"/>
              </a:rPr>
              <a:t>后续发展：</a:t>
            </a:r>
            <a:endParaRPr lang="en-US" sz="1200" dirty="0"/>
          </a:p>
          <a:p>
            <a:pPr algn="l" indent="0" marL="0">
              <a:lnSpc>
                <a:spcPts val="2400"/>
              </a:lnSpc>
              <a:buNone/>
            </a:pPr>
            <a:r>
              <a:rPr lang="en-US" sz="1200" dirty="0">
                <a:solidFill>
                  <a:srgbClr val="666666"/>
                </a:solidFill>
                <a:latin typeface="Calibri" pitchFamily="34" charset="0"/>
                <a:ea typeface="Calibri" pitchFamily="34" charset="-122"/>
                <a:cs typeface="Calibri" pitchFamily="34" charset="-120"/>
              </a:rPr>
              <a:t>• 1900年后，孟德尔的名字迅速传遍科学界</a:t>
            </a:r>
            <a:endParaRPr lang="en-US" sz="1200" dirty="0"/>
          </a:p>
          <a:p>
            <a:pPr algn="l" indent="0" marL="0">
              <a:lnSpc>
                <a:spcPts val="2400"/>
              </a:lnSpc>
              <a:buNone/>
            </a:pPr>
            <a:r>
              <a:rPr lang="en-US" sz="1200" dirty="0">
                <a:solidFill>
                  <a:srgbClr val="666666"/>
                </a:solidFill>
                <a:latin typeface="Calibri" pitchFamily="34" charset="0"/>
                <a:ea typeface="Calibri" pitchFamily="34" charset="-122"/>
                <a:cs typeface="Calibri" pitchFamily="34" charset="-120"/>
              </a:rPr>
              <a:t>• 1902年，萨顿（Sutton）提出染色体遗传理论</a:t>
            </a:r>
            <a:endParaRPr lang="en-US" sz="1200" dirty="0"/>
          </a:p>
          <a:p>
            <a:pPr algn="l" indent="0" marL="0">
              <a:lnSpc>
                <a:spcPts val="2400"/>
              </a:lnSpc>
              <a:buNone/>
            </a:pPr>
            <a:r>
              <a:rPr lang="en-US" sz="1200" dirty="0">
                <a:solidFill>
                  <a:srgbClr val="666666"/>
                </a:solidFill>
                <a:latin typeface="Calibri" pitchFamily="34" charset="0"/>
                <a:ea typeface="Calibri" pitchFamily="34" charset="-122"/>
                <a:cs typeface="Calibri" pitchFamily="34" charset="-120"/>
              </a:rPr>
              <a:t>• 1905年，[遗传学]（Genetics）一词被正式提出</a:t>
            </a:r>
            <a:endParaRPr lang="en-US" sz="1200" dirty="0"/>
          </a:p>
          <a:p>
            <a:pPr algn="l" indent="0" marL="0">
              <a:lnSpc>
                <a:spcPts val="2400"/>
              </a:lnSpc>
              <a:buNone/>
            </a:pPr>
            <a:r>
              <a:rPr lang="en-US" sz="1200" dirty="0">
                <a:solidFill>
                  <a:srgbClr val="666666"/>
                </a:solidFill>
                <a:latin typeface="Calibri" pitchFamily="34" charset="0"/>
                <a:ea typeface="Calibri" pitchFamily="34" charset="-122"/>
                <a:cs typeface="Calibri" pitchFamily="34" charset="-120"/>
              </a:rPr>
              <a:t>• 1910年起，摩尔根（Morgan）的果蝇实验将遗传学推向新高峰</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关键术语表 | Key Terms</a:t>
            </a:r>
            <a:endParaRPr lang="en-US" sz="2800" dirty="0"/>
          </a:p>
        </p:txBody>
      </p:sp>
      <p:sp>
        <p:nvSpPr>
          <p:cNvPr id="3" name="Text 1"/>
          <p:cNvSpPr/>
          <p:nvPr/>
        </p:nvSpPr>
        <p:spPr>
          <a:xfrm>
            <a:off x="4114800" y="4754880"/>
            <a:ext cx="914400" cy="274320"/>
          </a:xfrm>
          <a:prstGeom prst="rect">
            <a:avLst/>
          </a:prstGeom>
          <a:noFill/>
          <a:ln/>
        </p:spPr>
        <p:txBody>
          <a:bodyPr wrap="square" rtlCol="0" anchor="ctr"/>
          <a:lstStyle/>
          <a:p>
            <a:pPr algn="ctr" indent="0" marL="0">
              <a:buNone/>
            </a:pPr>
            <a:r>
              <a:rPr lang="en-US" sz="1000" dirty="0">
                <a:solidFill>
                  <a:srgbClr val="666666"/>
                </a:solidFill>
                <a:latin typeface="Calibri" pitchFamily="34" charset="0"/>
                <a:ea typeface="Calibri" pitchFamily="34" charset="-122"/>
                <a:cs typeface="Calibri" pitchFamily="34" charset="-120"/>
              </a:rPr>
              <a:t>21 / 24</a:t>
            </a:r>
            <a:endParaRPr lang="en-US" sz="1000" dirty="0"/>
          </a:p>
        </p:txBody>
      </p:sp>
      <p:sp>
        <p:nvSpPr>
          <p:cNvPr id="4" name="Text 2"/>
          <p:cNvSpPr/>
          <p:nvPr/>
        </p:nvSpPr>
        <p:spPr>
          <a:xfrm>
            <a:off x="457200" y="1097280"/>
            <a:ext cx="8229600" cy="4114800"/>
          </a:xfrm>
          <a:prstGeom prst="rect">
            <a:avLst/>
          </a:prstGeom>
          <a:noFill/>
          <a:ln/>
        </p:spPr>
        <p:txBody>
          <a:bodyPr wrap="square" rtlCol="0" anchor="t"/>
          <a:lstStyle/>
          <a:p>
            <a:pPr algn="l" indent="0" marL="0">
              <a:lnSpc>
                <a:spcPts val="2000"/>
              </a:lnSpc>
              <a:buNone/>
            </a:pPr>
            <a:r>
              <a:rPr lang="en-US" sz="1300" dirty="0">
                <a:solidFill>
                  <a:srgbClr val="333333"/>
                </a:solidFill>
                <a:latin typeface="Calibri" pitchFamily="34" charset="0"/>
                <a:ea typeface="Calibri" pitchFamily="34" charset="-122"/>
                <a:cs typeface="Calibri" pitchFamily="34" charset="-120"/>
              </a:rPr>
              <a:t>1. 融合遗传（Blending Inheritance）：认为父母性状会像液体一样混合的理论</a:t>
            </a:r>
            <a:endParaRPr lang="en-US" sz="1300" dirty="0"/>
          </a:p>
          <a:p>
            <a:pPr algn="l" indent="0" marL="0">
              <a:lnSpc>
                <a:spcPts val="2000"/>
              </a:lnSpc>
              <a:buNone/>
            </a:pPr>
            <a:endParaRPr lang="en-US" sz="1300" dirty="0"/>
          </a:p>
          <a:p>
            <a:pPr algn="l" indent="0" marL="0">
              <a:lnSpc>
                <a:spcPts val="2000"/>
              </a:lnSpc>
              <a:buNone/>
            </a:pPr>
            <a:r>
              <a:rPr lang="en-US" sz="1300" dirty="0">
                <a:solidFill>
                  <a:srgbClr val="333333"/>
                </a:solidFill>
                <a:latin typeface="Calibri" pitchFamily="34" charset="0"/>
                <a:ea typeface="Calibri" pitchFamily="34" charset="-122"/>
                <a:cs typeface="Calibri" pitchFamily="34" charset="-120"/>
              </a:rPr>
              <a:t>2. 颗粒遗传（Particulate Inheritance）：孟德尔提出的遗传因子不融合的理论</a:t>
            </a:r>
            <a:endParaRPr lang="en-US" sz="1300" dirty="0"/>
          </a:p>
          <a:p>
            <a:pPr algn="l" indent="0" marL="0">
              <a:lnSpc>
                <a:spcPts val="2000"/>
              </a:lnSpc>
              <a:buNone/>
            </a:pPr>
            <a:endParaRPr lang="en-US" sz="1300" dirty="0"/>
          </a:p>
          <a:p>
            <a:pPr algn="l" indent="0" marL="0">
              <a:lnSpc>
                <a:spcPts val="2000"/>
              </a:lnSpc>
              <a:buNone/>
            </a:pPr>
            <a:r>
              <a:rPr lang="en-US" sz="1300" dirty="0">
                <a:solidFill>
                  <a:srgbClr val="333333"/>
                </a:solidFill>
                <a:latin typeface="Calibri" pitchFamily="34" charset="0"/>
                <a:ea typeface="Calibri" pitchFamily="34" charset="-122"/>
                <a:cs typeface="Calibri" pitchFamily="34" charset="-120"/>
              </a:rPr>
              <a:t>3. 无融合生殖（Apomixis）：不经过受精作用产生种子的繁殖方式</a:t>
            </a:r>
            <a:endParaRPr lang="en-US" sz="1300" dirty="0"/>
          </a:p>
          <a:p>
            <a:pPr algn="l" indent="0" marL="0">
              <a:lnSpc>
                <a:spcPts val="2000"/>
              </a:lnSpc>
              <a:buNone/>
            </a:pPr>
            <a:endParaRPr lang="en-US" sz="1300" dirty="0"/>
          </a:p>
          <a:p>
            <a:pPr algn="l" indent="0" marL="0">
              <a:lnSpc>
                <a:spcPts val="2000"/>
              </a:lnSpc>
              <a:buNone/>
            </a:pPr>
            <a:r>
              <a:rPr lang="en-US" sz="1300" dirty="0">
                <a:solidFill>
                  <a:srgbClr val="333333"/>
                </a:solidFill>
                <a:latin typeface="Calibri" pitchFamily="34" charset="0"/>
                <a:ea typeface="Calibri" pitchFamily="34" charset="-122"/>
                <a:cs typeface="Calibri" pitchFamily="34" charset="-120"/>
              </a:rPr>
              <a:t>4. 博物学（Natural History）：以观察和描述为主的生物学传统</a:t>
            </a:r>
            <a:endParaRPr lang="en-US" sz="1300" dirty="0"/>
          </a:p>
          <a:p>
            <a:pPr algn="l" indent="0" marL="0">
              <a:lnSpc>
                <a:spcPts val="2000"/>
              </a:lnSpc>
              <a:buNone/>
            </a:pPr>
            <a:endParaRPr lang="en-US" sz="1300" dirty="0"/>
          </a:p>
          <a:p>
            <a:pPr algn="l" indent="0" marL="0">
              <a:lnSpc>
                <a:spcPts val="2000"/>
              </a:lnSpc>
              <a:buNone/>
            </a:pPr>
            <a:r>
              <a:rPr lang="en-US" sz="1300" dirty="0">
                <a:solidFill>
                  <a:srgbClr val="333333"/>
                </a:solidFill>
                <a:latin typeface="Calibri" pitchFamily="34" charset="0"/>
                <a:ea typeface="Calibri" pitchFamily="34" charset="-122"/>
                <a:cs typeface="Calibri" pitchFamily="34" charset="-120"/>
              </a:rPr>
              <a:t>5. 泛生论（Pangenesis）：达尔文提出的错误遗传理论</a:t>
            </a:r>
            <a:endParaRPr lang="en-US" sz="1300" dirty="0"/>
          </a:p>
          <a:p>
            <a:pPr algn="l" indent="0" marL="0">
              <a:lnSpc>
                <a:spcPts val="2000"/>
              </a:lnSpc>
              <a:buNone/>
            </a:pPr>
            <a:endParaRPr lang="en-US" sz="1300" dirty="0"/>
          </a:p>
          <a:p>
            <a:pPr algn="l" indent="0" marL="0">
              <a:lnSpc>
                <a:spcPts val="2000"/>
              </a:lnSpc>
              <a:buNone/>
            </a:pPr>
            <a:r>
              <a:rPr lang="en-US" sz="1300" dirty="0">
                <a:solidFill>
                  <a:srgbClr val="333333"/>
                </a:solidFill>
                <a:latin typeface="Calibri" pitchFamily="34" charset="0"/>
                <a:ea typeface="Calibri" pitchFamily="34" charset="-122"/>
                <a:cs typeface="Calibri" pitchFamily="34" charset="-120"/>
              </a:rPr>
              <a:t>6. 重新发现（Rediscovery）：1900年三位科学家独立发现孟德尔定律的事件</a:t>
            </a:r>
            <a:endParaRPr lang="en-US" sz="1300" dirty="0"/>
          </a:p>
          <a:p>
            <a:pPr algn="l" indent="0" marL="0">
              <a:lnSpc>
                <a:spcPts val="2000"/>
              </a:lnSpc>
              <a:buNone/>
            </a:pPr>
            <a:endParaRPr lang="en-US" sz="1300" dirty="0"/>
          </a:p>
          <a:p>
            <a:pPr algn="l" indent="0" marL="0">
              <a:lnSpc>
                <a:spcPts val="2000"/>
              </a:lnSpc>
              <a:buNone/>
            </a:pPr>
            <a:r>
              <a:rPr lang="en-US" sz="1300" dirty="0">
                <a:solidFill>
                  <a:srgbClr val="333333"/>
                </a:solidFill>
                <a:latin typeface="Calibri" pitchFamily="34" charset="0"/>
                <a:ea typeface="Calibri" pitchFamily="34" charset="-122"/>
                <a:cs typeface="Calibri" pitchFamily="34" charset="-120"/>
              </a:rPr>
              <a:t>7. 山柳菊（Hieracium）：孟德尔研究失败的植物材料</a:t>
            </a:r>
            <a:endParaRPr lang="en-US" sz="1300" dirty="0"/>
          </a:p>
          <a:p>
            <a:pPr algn="l" indent="0" marL="0">
              <a:lnSpc>
                <a:spcPts val="2000"/>
              </a:lnSpc>
              <a:buNone/>
            </a:pPr>
            <a:endParaRPr lang="en-US" sz="1300" dirty="0"/>
          </a:p>
          <a:p>
            <a:pPr algn="l" indent="0" marL="0">
              <a:lnSpc>
                <a:spcPts val="2000"/>
              </a:lnSpc>
              <a:buNone/>
            </a:pPr>
            <a:r>
              <a:rPr lang="en-US" sz="1300" dirty="0">
                <a:solidFill>
                  <a:srgbClr val="333333"/>
                </a:solidFill>
                <a:latin typeface="Calibri" pitchFamily="34" charset="0"/>
                <a:ea typeface="Calibri" pitchFamily="34" charset="-122"/>
                <a:cs typeface="Calibri" pitchFamily="34" charset="-120"/>
              </a:rPr>
              <a:t>8. 分离定律（Law of Segregation）：孟德尔第一定律</a:t>
            </a:r>
            <a:endParaRPr lang="en-US" sz="1300" dirty="0"/>
          </a:p>
          <a:p>
            <a:pPr algn="l" indent="0" marL="0">
              <a:lnSpc>
                <a:spcPts val="2000"/>
              </a:lnSpc>
              <a:buNone/>
            </a:pPr>
            <a:endParaRPr lang="en-US" sz="1300" dirty="0"/>
          </a:p>
          <a:p>
            <a:pPr algn="l" indent="0" marL="0">
              <a:lnSpc>
                <a:spcPts val="2000"/>
              </a:lnSpc>
              <a:buNone/>
            </a:pPr>
            <a:r>
              <a:rPr lang="en-US" sz="1300" dirty="0">
                <a:solidFill>
                  <a:srgbClr val="333333"/>
                </a:solidFill>
                <a:latin typeface="Calibri" pitchFamily="34" charset="0"/>
                <a:ea typeface="Calibri" pitchFamily="34" charset="-122"/>
                <a:cs typeface="Calibri" pitchFamily="34" charset="-120"/>
              </a:rPr>
              <a:t>9. 自由组合定律（Law of Independent Assortment）：孟德尔第二定律</a:t>
            </a:r>
            <a:endParaRPr lang="en-US" sz="1300" dirty="0"/>
          </a:p>
          <a:p>
            <a:pPr algn="l" indent="0" marL="0">
              <a:lnSpc>
                <a:spcPts val="2000"/>
              </a:lnSpc>
              <a:buNone/>
            </a:pPr>
            <a:endParaRPr lang="en-US" sz="1300" dirty="0"/>
          </a:p>
          <a:p>
            <a:pPr algn="l" indent="0" marL="0">
              <a:lnSpc>
                <a:spcPts val="2000"/>
              </a:lnSpc>
              <a:buNone/>
            </a:pPr>
            <a:r>
              <a:rPr lang="en-US" sz="1300" dirty="0">
                <a:solidFill>
                  <a:srgbClr val="333333"/>
                </a:solidFill>
                <a:latin typeface="Calibri" pitchFamily="34" charset="0"/>
                <a:ea typeface="Calibri" pitchFamily="34" charset="-122"/>
                <a:cs typeface="Calibri" pitchFamily="34" charset="-120"/>
              </a:rPr>
              <a:t>10. 布尔诺自然历史学会（Brno Natural History Society）：孟德尔发表论文的机构</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思考题 | Discussion Questions</a:t>
            </a:r>
            <a:endParaRPr lang="en-US" sz="2800" dirty="0"/>
          </a:p>
        </p:txBody>
      </p:sp>
      <p:sp>
        <p:nvSpPr>
          <p:cNvPr id="3" name="Text 1"/>
          <p:cNvSpPr/>
          <p:nvPr/>
        </p:nvSpPr>
        <p:spPr>
          <a:xfrm>
            <a:off x="4114800" y="4754880"/>
            <a:ext cx="914400" cy="274320"/>
          </a:xfrm>
          <a:prstGeom prst="rect">
            <a:avLst/>
          </a:prstGeom>
          <a:noFill/>
          <a:ln/>
        </p:spPr>
        <p:txBody>
          <a:bodyPr wrap="square" rtlCol="0" anchor="ctr"/>
          <a:lstStyle/>
          <a:p>
            <a:pPr algn="ctr" indent="0" marL="0">
              <a:buNone/>
            </a:pPr>
            <a:r>
              <a:rPr lang="en-US" sz="1000" dirty="0">
                <a:solidFill>
                  <a:srgbClr val="666666"/>
                </a:solidFill>
                <a:latin typeface="Calibri" pitchFamily="34" charset="0"/>
                <a:ea typeface="Calibri" pitchFamily="34" charset="-122"/>
                <a:cs typeface="Calibri" pitchFamily="34" charset="-120"/>
              </a:rPr>
              <a:t>22 / 24</a:t>
            </a:r>
            <a:endParaRPr lang="en-US" sz="1000" dirty="0"/>
          </a:p>
        </p:txBody>
      </p:sp>
      <p:sp>
        <p:nvSpPr>
          <p:cNvPr id="4" name="Text 2"/>
          <p:cNvSpPr/>
          <p:nvPr/>
        </p:nvSpPr>
        <p:spPr>
          <a:xfrm>
            <a:off x="457200" y="1097280"/>
            <a:ext cx="8229600" cy="4114800"/>
          </a:xfrm>
          <a:prstGeom prst="rect">
            <a:avLst/>
          </a:prstGeom>
          <a:noFill/>
          <a:ln/>
        </p:spPr>
        <p:txBody>
          <a:bodyPr wrap="square" rtlCol="0" anchor="t"/>
          <a:lstStyle/>
          <a:p>
            <a:pPr algn="l" indent="0" marL="0">
              <a:lnSpc>
                <a:spcPts val="2800"/>
              </a:lnSpc>
              <a:buNone/>
            </a:pPr>
            <a:r>
              <a:rPr lang="en-US" sz="1400" dirty="0">
                <a:solidFill>
                  <a:srgbClr val="333333"/>
                </a:solidFill>
                <a:latin typeface="Calibri" pitchFamily="34" charset="0"/>
                <a:ea typeface="Calibri" pitchFamily="34" charset="-122"/>
                <a:cs typeface="Calibri" pitchFamily="34" charset="-120"/>
              </a:rPr>
              <a:t>1. 为什么孟德尔的论文在当时被忽视？请从科学、社会、个人等多个角度分析。</a:t>
            </a:r>
            <a:endParaRPr lang="en-US" sz="1400" dirty="0"/>
          </a:p>
          <a:p>
            <a:pPr algn="l" indent="0" marL="0">
              <a:lnSpc>
                <a:spcPts val="2800"/>
              </a:lnSpc>
              <a:buNone/>
            </a:pPr>
            <a:endParaRPr lang="en-US" sz="1400" dirty="0"/>
          </a:p>
          <a:p>
            <a:pPr algn="l" indent="0" marL="0">
              <a:lnSpc>
                <a:spcPts val="2800"/>
              </a:lnSpc>
              <a:buNone/>
            </a:pPr>
            <a:r>
              <a:rPr lang="en-US" sz="1400" dirty="0">
                <a:solidFill>
                  <a:srgbClr val="333333"/>
                </a:solidFill>
                <a:latin typeface="Calibri" pitchFamily="34" charset="0"/>
                <a:ea typeface="Calibri" pitchFamily="34" charset="-122"/>
                <a:cs typeface="Calibri" pitchFamily="34" charset="-120"/>
              </a:rPr>
              <a:t>2. 山柳菊实验的失败对孟德尔产生了什么影响？如果你是孟德尔，你会如何面对这一失败？</a:t>
            </a:r>
            <a:endParaRPr lang="en-US" sz="1400" dirty="0"/>
          </a:p>
          <a:p>
            <a:pPr algn="l" indent="0" marL="0">
              <a:lnSpc>
                <a:spcPts val="2800"/>
              </a:lnSpc>
              <a:buNone/>
            </a:pPr>
            <a:endParaRPr lang="en-US" sz="1400" dirty="0"/>
          </a:p>
          <a:p>
            <a:pPr algn="l" indent="0" marL="0">
              <a:lnSpc>
                <a:spcPts val="2800"/>
              </a:lnSpc>
              <a:buNone/>
            </a:pPr>
            <a:r>
              <a:rPr lang="en-US" sz="1400" dirty="0">
                <a:solidFill>
                  <a:srgbClr val="333333"/>
                </a:solidFill>
                <a:latin typeface="Calibri" pitchFamily="34" charset="0"/>
                <a:ea typeface="Calibri" pitchFamily="34" charset="-122"/>
                <a:cs typeface="Calibri" pitchFamily="34" charset="-120"/>
              </a:rPr>
              <a:t>3. 达尔文和孟德尔的[擦肩而过]给我们什么启示？科学发现如何被[看见]和[理解]？</a:t>
            </a:r>
            <a:endParaRPr lang="en-US" sz="1400" dirty="0"/>
          </a:p>
          <a:p>
            <a:pPr algn="l" indent="0" marL="0">
              <a:lnSpc>
                <a:spcPts val="2800"/>
              </a:lnSpc>
              <a:buNone/>
            </a:pPr>
            <a:endParaRPr lang="en-US" sz="1400" dirty="0"/>
          </a:p>
          <a:p>
            <a:pPr algn="l" indent="0" marL="0">
              <a:lnSpc>
                <a:spcPts val="2800"/>
              </a:lnSpc>
              <a:buNone/>
            </a:pPr>
            <a:r>
              <a:rPr lang="en-US" sz="1400" dirty="0">
                <a:solidFill>
                  <a:srgbClr val="333333"/>
                </a:solidFill>
                <a:latin typeface="Calibri" pitchFamily="34" charset="0"/>
                <a:ea typeface="Calibri" pitchFamily="34" charset="-122"/>
                <a:cs typeface="Calibri" pitchFamily="34" charset="-120"/>
              </a:rPr>
              <a:t>4. 孟德尔的故事如何改变了你对科学研究的认识？科学探索的道路是否总是平坦的？</a:t>
            </a:r>
            <a:endParaRPr lang="en-US" sz="1400" dirty="0"/>
          </a:p>
          <a:p>
            <a:pPr algn="l" indent="0" marL="0">
              <a:lnSpc>
                <a:spcPts val="2800"/>
              </a:lnSpc>
              <a:buNone/>
            </a:pPr>
            <a:endParaRPr lang="en-US" sz="1400" dirty="0"/>
          </a:p>
          <a:p>
            <a:pPr algn="l" indent="0" marL="0">
              <a:lnSpc>
                <a:spcPts val="2800"/>
              </a:lnSpc>
              <a:buNone/>
            </a:pPr>
            <a:r>
              <a:rPr lang="en-US" sz="1400" dirty="0">
                <a:solidFill>
                  <a:srgbClr val="333333"/>
                </a:solidFill>
                <a:latin typeface="Calibri" pitchFamily="34" charset="0"/>
                <a:ea typeface="Calibri" pitchFamily="34" charset="-122"/>
                <a:cs typeface="Calibri" pitchFamily="34" charset="-120"/>
              </a:rPr>
              <a:t>5. 如果你是1900年的科学家，你会如何评价孟德尔的工作？他的发现为什么需要[重新发现]？</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algn="l" indent="0" marL="0">
              <a:buNone/>
            </a:pPr>
            <a:r>
              <a:rPr lang="en-US" sz="2800" b="1" dirty="0">
                <a:solidFill>
                  <a:srgbClr val="2C5F2D"/>
                </a:solidFill>
                <a:latin typeface="Georgia" pitchFamily="34" charset="0"/>
                <a:ea typeface="Georgia" pitchFamily="34" charset="-122"/>
                <a:cs typeface="Georgia" pitchFamily="34" charset="-120"/>
              </a:rPr>
              <a:t>下节预告 | Preview of Day 013</a:t>
            </a:r>
            <a:endParaRPr lang="en-US" sz="2800" dirty="0"/>
          </a:p>
        </p:txBody>
      </p:sp>
      <p:sp>
        <p:nvSpPr>
          <p:cNvPr id="3" name="Text 1"/>
          <p:cNvSpPr/>
          <p:nvPr/>
        </p:nvSpPr>
        <p:spPr>
          <a:xfrm>
            <a:off x="4114800" y="4754880"/>
            <a:ext cx="914400" cy="274320"/>
          </a:xfrm>
          <a:prstGeom prst="rect">
            <a:avLst/>
          </a:prstGeom>
          <a:noFill/>
          <a:ln/>
        </p:spPr>
        <p:txBody>
          <a:bodyPr wrap="square" rtlCol="0" anchor="ctr"/>
          <a:lstStyle/>
          <a:p>
            <a:pPr algn="ctr" indent="0" marL="0">
              <a:buNone/>
            </a:pPr>
            <a:r>
              <a:rPr lang="en-US" sz="1000" dirty="0">
                <a:solidFill>
                  <a:srgbClr val="666666"/>
                </a:solidFill>
                <a:latin typeface="Calibri" pitchFamily="34" charset="0"/>
                <a:ea typeface="Calibri" pitchFamily="34" charset="-122"/>
                <a:cs typeface="Calibri" pitchFamily="34" charset="-120"/>
              </a:rPr>
              <a:t>23 / 24</a:t>
            </a:r>
            <a:endParaRPr lang="en-US" sz="1000" dirty="0"/>
          </a:p>
        </p:txBody>
      </p:sp>
      <p:sp>
        <p:nvSpPr>
          <p:cNvPr id="4" name="Text 2"/>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2C5F2D"/>
                </a:solidFill>
                <a:latin typeface="Georgia" pitchFamily="34" charset="0"/>
                <a:ea typeface="Georgia" pitchFamily="34" charset="-122"/>
                <a:cs typeface="Georgia" pitchFamily="34" charset="-120"/>
              </a:rPr>
              <a:t>Day 013：孟德尔定律的重新发现</a:t>
            </a:r>
            <a:endParaRPr lang="en-US" sz="2800" dirty="0"/>
          </a:p>
        </p:txBody>
      </p:sp>
      <p:sp>
        <p:nvSpPr>
          <p:cNvPr id="5" name="Text 3"/>
          <p:cNvSpPr/>
          <p:nvPr/>
        </p:nvSpPr>
        <p:spPr>
          <a:xfrm>
            <a:off x="457200" y="2103120"/>
            <a:ext cx="8229600" cy="457200"/>
          </a:xfrm>
          <a:prstGeom prst="rect">
            <a:avLst/>
          </a:prstGeom>
          <a:noFill/>
          <a:ln/>
        </p:spPr>
        <p:txBody>
          <a:bodyPr wrap="square" rtlCol="0" anchor="ctr"/>
          <a:lstStyle/>
          <a:p>
            <a:pPr algn="ctr" indent="0" marL="0">
              <a:buNone/>
            </a:pPr>
            <a:r>
              <a:rPr lang="en-US" sz="1800" i="1" dirty="0">
                <a:solidFill>
                  <a:srgbClr val="97BC62"/>
                </a:solidFill>
                <a:latin typeface="Georgia" pitchFamily="34" charset="0"/>
                <a:ea typeface="Georgia" pitchFamily="34" charset="-122"/>
                <a:cs typeface="Georgia" pitchFamily="34" charset="-120"/>
              </a:rPr>
              <a:t>The Rediscovery of Mendel's Laws</a:t>
            </a:r>
            <a:endParaRPr lang="en-US" sz="1800" dirty="0"/>
          </a:p>
        </p:txBody>
      </p:sp>
      <p:sp>
        <p:nvSpPr>
          <p:cNvPr id="6" name="Shape 4"/>
          <p:cNvSpPr/>
          <p:nvPr/>
        </p:nvSpPr>
        <p:spPr>
          <a:xfrm>
            <a:off x="3200400" y="2743200"/>
            <a:ext cx="1828800" cy="45720"/>
          </a:xfrm>
          <a:prstGeom prst="rect">
            <a:avLst/>
          </a:prstGeom>
          <a:solidFill>
            <a:srgbClr val="D4A843"/>
          </a:solidFill>
          <a:ln/>
        </p:spPr>
      </p:sp>
      <p:sp>
        <p:nvSpPr>
          <p:cNvPr id="7" name="Text 5"/>
          <p:cNvSpPr/>
          <p:nvPr/>
        </p:nvSpPr>
        <p:spPr>
          <a:xfrm>
            <a:off x="1371600" y="3017520"/>
            <a:ext cx="6400800" cy="2286000"/>
          </a:xfrm>
          <a:prstGeom prst="rect">
            <a:avLst/>
          </a:prstGeom>
          <a:noFill/>
          <a:ln/>
        </p:spPr>
        <p:txBody>
          <a:bodyPr wrap="square" rtlCol="0" anchor="ctr"/>
          <a:lstStyle/>
          <a:p>
            <a:pPr algn="l" marL="342900" indent="-342900">
              <a:lnSpc>
                <a:spcPts val="3200"/>
              </a:lnSpc>
              <a:buSzPct val="100000"/>
              <a:buChar char="•"/>
            </a:pPr>
            <a:r>
              <a:rPr lang="en-US" sz="1600" dirty="0">
                <a:solidFill>
                  <a:srgbClr val="333333"/>
                </a:solidFill>
                <a:latin typeface="Calibri" pitchFamily="34" charset="0"/>
                <a:ea typeface="Calibri" pitchFamily="34" charset="-122"/>
                <a:cs typeface="Calibri" pitchFamily="34" charset="-120"/>
              </a:rPr>
              <a:t>• 1900年：遗传学元年的故事</a:t>
            </a:r>
            <a:endParaRPr lang="en-US" sz="1600" dirty="0"/>
          </a:p>
          <a:p>
            <a:pPr algn="l" marL="342900" indent="-342900">
              <a:lnSpc>
                <a:spcPts val="3200"/>
              </a:lnSpc>
              <a:buSzPct val="100000"/>
              <a:buChar char="•"/>
            </a:pPr>
            <a:r>
              <a:rPr lang="en-US" sz="1600" dirty="0">
                <a:solidFill>
                  <a:srgbClr val="333333"/>
                </a:solidFill>
                <a:latin typeface="Calibri" pitchFamily="34" charset="0"/>
                <a:ea typeface="Calibri" pitchFamily="34" charset="-122"/>
                <a:cs typeface="Calibri" pitchFamily="34" charset="-120"/>
              </a:rPr>
              <a:t>• 德弗里斯、科伦斯、切尔马克：三位重新发现者</a:t>
            </a:r>
            <a:endParaRPr lang="en-US" sz="1600" dirty="0"/>
          </a:p>
          <a:p>
            <a:pPr algn="l" marL="342900" indent="-342900">
              <a:lnSpc>
                <a:spcPts val="3200"/>
              </a:lnSpc>
              <a:buSzPct val="100000"/>
              <a:buChar char="•"/>
            </a:pPr>
            <a:r>
              <a:rPr lang="en-US" sz="1600" dirty="0">
                <a:solidFill>
                  <a:srgbClr val="333333"/>
                </a:solidFill>
                <a:latin typeface="Calibri" pitchFamily="34" charset="0"/>
                <a:ea typeface="Calibri" pitchFamily="34" charset="-122"/>
                <a:cs typeface="Calibri" pitchFamily="34" charset="-120"/>
              </a:rPr>
              <a:t>• 孟德尔定律如何迅速传遍科学界</a:t>
            </a:r>
            <a:endParaRPr lang="en-US" sz="1600" dirty="0"/>
          </a:p>
          <a:p>
            <a:pPr algn="l" marL="342900" indent="-342900">
              <a:lnSpc>
                <a:spcPts val="3200"/>
              </a:lnSpc>
              <a:buSzPct val="100000"/>
              <a:buChar char="•"/>
            </a:pPr>
            <a:r>
              <a:rPr lang="en-US" sz="1600" dirty="0">
                <a:solidFill>
                  <a:srgbClr val="333333"/>
                </a:solidFill>
                <a:latin typeface="Calibri" pitchFamily="34" charset="0"/>
                <a:ea typeface="Calibri" pitchFamily="34" charset="-122"/>
                <a:cs typeface="Calibri" pitchFamily="34" charset="-120"/>
              </a:rPr>
              <a:t>• 遗传学作为独立学科的诞生</a:t>
            </a:r>
            <a:endParaRPr lang="en-US" sz="1600" dirty="0"/>
          </a:p>
          <a:p>
            <a:pPr algn="l" marL="342900" indent="-342900">
              <a:lnSpc>
                <a:spcPts val="3200"/>
              </a:lnSpc>
              <a:buSzPct val="100000"/>
              <a:buChar char="•"/>
            </a:pPr>
            <a:r>
              <a:rPr lang="en-US" sz="1600" dirty="0">
                <a:solidFill>
                  <a:srgbClr val="333333"/>
                </a:solidFill>
                <a:latin typeface="Calibri" pitchFamily="34" charset="0"/>
                <a:ea typeface="Calibri" pitchFamily="34" charset="-122"/>
                <a:cs typeface="Calibri" pitchFamily="34" charset="-120"/>
              </a:rPr>
              <a:t>• 从孟德尔到摩尔根：遗传学的早期发展</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8F0"/>
        </a:solidFill>
      </p:bgPr>
    </p:bg>
    <p:spTree>
      <p:nvGrpSpPr>
        <p:cNvPr id="1" name=""/>
        <p:cNvGrpSpPr/>
        <p:nvPr/>
      </p:nvGrpSpPr>
      <p:grpSpPr>
        <a:xfrm>
          <a:off x="0" y="0"/>
          <a:ext cx="0" cy="0"/>
          <a:chOff x="0" y="0"/>
          <a:chExt cx="0" cy="0"/>
        </a:xfrm>
      </p:grpSpPr>
      <p:sp>
        <p:nvSpPr>
          <p:cNvPr id="2" name="Text 0"/>
          <p:cNvSpPr/>
          <p:nvPr/>
        </p:nvSpPr>
        <p:spPr>
          <a:xfrm>
            <a:off x="457200" y="1645920"/>
            <a:ext cx="8229600" cy="731520"/>
          </a:xfrm>
          <a:prstGeom prst="rect">
            <a:avLst/>
          </a:prstGeom>
          <a:noFill/>
          <a:ln/>
        </p:spPr>
        <p:txBody>
          <a:bodyPr wrap="square" rtlCol="0" anchor="ctr"/>
          <a:lstStyle/>
          <a:p>
            <a:pPr algn="ctr" indent="0" marL="0">
              <a:buNone/>
            </a:pPr>
            <a:r>
              <a:rPr lang="en-US" sz="4000" b="1" dirty="0">
                <a:solidFill>
                  <a:srgbClr val="2C5F2D"/>
                </a:solidFill>
                <a:latin typeface="Georgia" pitchFamily="34" charset="0"/>
                <a:ea typeface="Georgia" pitchFamily="34" charset="-122"/>
                <a:cs typeface="Georgia" pitchFamily="34" charset="-120"/>
              </a:rPr>
              <a:t>感谢学习</a:t>
            </a:r>
            <a:endParaRPr lang="en-US" sz="4000" dirty="0"/>
          </a:p>
        </p:txBody>
      </p:sp>
      <p:sp>
        <p:nvSpPr>
          <p:cNvPr id="3" name="Text 1"/>
          <p:cNvSpPr/>
          <p:nvPr/>
        </p:nvSpPr>
        <p:spPr>
          <a:xfrm>
            <a:off x="457200" y="2377440"/>
            <a:ext cx="8229600" cy="457200"/>
          </a:xfrm>
          <a:prstGeom prst="rect">
            <a:avLst/>
          </a:prstGeom>
          <a:noFill/>
          <a:ln/>
        </p:spPr>
        <p:txBody>
          <a:bodyPr wrap="square" rtlCol="0" anchor="ctr"/>
          <a:lstStyle/>
          <a:p>
            <a:pPr algn="ctr" indent="0" marL="0">
              <a:buNone/>
            </a:pPr>
            <a:r>
              <a:rPr lang="en-US" sz="2200" i="1" dirty="0">
                <a:solidFill>
                  <a:srgbClr val="97BC62"/>
                </a:solidFill>
                <a:latin typeface="Georgia" pitchFamily="34" charset="0"/>
                <a:ea typeface="Georgia" pitchFamily="34" charset="-122"/>
                <a:cs typeface="Georgia" pitchFamily="34" charset="-120"/>
              </a:rPr>
              <a:t>Thank You for Learning</a:t>
            </a:r>
            <a:endParaRPr lang="en-US" sz="2200" dirty="0"/>
          </a:p>
        </p:txBody>
      </p:sp>
      <p:sp>
        <p:nvSpPr>
          <p:cNvPr id="4" name="Shape 2"/>
          <p:cNvSpPr/>
          <p:nvPr/>
        </p:nvSpPr>
        <p:spPr>
          <a:xfrm>
            <a:off x="3200400" y="3017520"/>
            <a:ext cx="1828800" cy="45720"/>
          </a:xfrm>
          <a:prstGeom prst="rect">
            <a:avLst/>
          </a:prstGeom>
          <a:solidFill>
            <a:srgbClr val="D4A843"/>
          </a:solidFill>
          <a:ln/>
        </p:spPr>
      </p:sp>
      <p:sp>
        <p:nvSpPr>
          <p:cNvPr id="5" name="Text 3"/>
          <p:cNvSpPr/>
          <p:nvPr/>
        </p:nvSpPr>
        <p:spPr>
          <a:xfrm>
            <a:off x="457200" y="3291840"/>
            <a:ext cx="8229600" cy="365760"/>
          </a:xfrm>
          <a:prstGeom prst="rect">
            <a:avLst/>
          </a:prstGeom>
          <a:noFill/>
          <a:ln/>
        </p:spPr>
        <p:txBody>
          <a:bodyPr wrap="square" rtlCol="0" anchor="ctr"/>
          <a:lstStyle/>
          <a:p>
            <a:pPr algn="ctr" indent="0" marL="0">
              <a:buNone/>
            </a:pPr>
            <a:r>
              <a:rPr lang="en-US" sz="1600" dirty="0">
                <a:solidFill>
                  <a:srgbClr val="333333"/>
                </a:solidFill>
                <a:latin typeface="Calibri" pitchFamily="34" charset="0"/>
                <a:ea typeface="Calibri" pitchFamily="34" charset="-122"/>
                <a:cs typeface="Calibri" pitchFamily="34" charset="-120"/>
              </a:rPr>
              <a:t>遗传学100天学习计划 · Day 012</a:t>
            </a:r>
            <a:endParaRPr lang="en-US" sz="1600" dirty="0"/>
          </a:p>
        </p:txBody>
      </p:sp>
      <p:sp>
        <p:nvSpPr>
          <p:cNvPr id="6" name="Text 4"/>
          <p:cNvSpPr/>
          <p:nvPr/>
        </p:nvSpPr>
        <p:spPr>
          <a:xfrm>
            <a:off x="457200" y="3749040"/>
            <a:ext cx="8229600" cy="365760"/>
          </a:xfrm>
          <a:prstGeom prst="rect">
            <a:avLst/>
          </a:prstGeom>
          <a:noFill/>
          <a:ln/>
        </p:spPr>
        <p:txBody>
          <a:bodyPr wrap="square" rtlCol="0" anchor="ctr"/>
          <a:lstStyle/>
          <a:p>
            <a:pPr algn="ctr" indent="0" marL="0">
              <a:buNone/>
            </a:pPr>
            <a:r>
              <a:rPr lang="en-US" sz="1400" dirty="0">
                <a:solidFill>
                  <a:srgbClr val="666666"/>
                </a:solidFill>
                <a:latin typeface="Calibri" pitchFamily="34" charset="0"/>
                <a:ea typeface="Calibri" pitchFamily="34" charset="-122"/>
                <a:cs typeface="Calibri" pitchFamily="34" charset="-120"/>
              </a:rPr>
              <a:t>孟德尔的失败与被埋没</a:t>
            </a:r>
            <a:endParaRPr lang="en-US" sz="1400" dirty="0"/>
          </a:p>
        </p:txBody>
      </p:sp>
      <p:sp>
        <p:nvSpPr>
          <p:cNvPr id="7" name="Text 5"/>
          <p:cNvSpPr/>
          <p:nvPr/>
        </p:nvSpPr>
        <p:spPr>
          <a:xfrm>
            <a:off x="457200" y="4206240"/>
            <a:ext cx="8229600" cy="27432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2026-05-27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Genetics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孟德尔的失败与被埋没 - Day 012</dc:title>
  <dc:subject>遗传学100天学习计划</dc:subject>
  <dc:creator>Genetics Learning</dc:creator>
  <cp:lastModifiedBy>Genetics Learning</cp:lastModifiedBy>
  <cp:revision>1</cp:revision>
  <dcterms:created xsi:type="dcterms:W3CDTF">2026-05-26T03:20:49Z</dcterms:created>
  <dcterms:modified xsi:type="dcterms:W3CDTF">2026-05-26T03:20:49Z</dcterms:modified>
</cp:coreProperties>
</file>