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Microsoft YaHei"/>
              </a:defRPr>
            </a:pPr>
            <a:r>
              <a:t>孟德尔定律的重新发现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7BC62"/>
                </a:solidFill>
                <a:latin typeface="Microsoft YaHei"/>
              </a:defRPr>
            </a:pPr>
            <a:r>
              <a:t>The Rediscovery of Mendel's Laws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D4A843"/>
                </a:solidFill>
                <a:latin typeface="Microsoft YaHei"/>
              </a:defRPr>
            </a:pPr>
            <a:r>
              <a:t>Day 13 · 遗传学100天学习计划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C5F2D"/>
                </a:solidFill>
                <a:latin typeface="Microsoft YaHei"/>
              </a:defRPr>
            </a:pPr>
            <a:r>
              <a:t>📋 今日内容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2C3E50"/>
                </a:solidFill>
                <a:latin typeface="Microsoft YaHei"/>
              </a:defRPr>
            </a:pPr>
            <a:r>
              <a:t>• 历史背景：被遗忘的35年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40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2C3E50"/>
                </a:solidFill>
                <a:latin typeface="Microsoft YaHei"/>
              </a:defRPr>
            </a:pPr>
            <a:r>
              <a:t>• 1900年：遗传学元年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2C3E50"/>
                </a:solidFill>
                <a:latin typeface="Microsoft YaHei"/>
              </a:defRPr>
            </a:pPr>
            <a:r>
              <a:t>• 三位重新发现者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94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2C3E50"/>
                </a:solidFill>
                <a:latin typeface="Microsoft YaHei"/>
              </a:defRPr>
            </a:pPr>
            <a:r>
              <a:t>• 分离定律与自由组合定律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2C3E50"/>
                </a:solidFill>
                <a:latin typeface="Microsoft YaHei"/>
              </a:defRPr>
            </a:pPr>
            <a:r>
              <a:t>• 遗传学诞生的标志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49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2C3E50"/>
                </a:solidFill>
                <a:latin typeface="Microsoft YaHei"/>
              </a:defRPr>
            </a:pPr>
            <a:r>
              <a:t>• 思考题与回顾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📜 被遗忘的35年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D4A843"/>
                </a:solidFill>
                <a:latin typeface="Microsoft YaHei"/>
              </a:defRPr>
            </a:pPr>
            <a:r>
              <a:t>1866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1965960"/>
            <a:ext cx="914400" cy="9144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0" y="16459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孟德尔发表《植物杂交实验》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D4A843"/>
                </a:solidFill>
                <a:latin typeface="Microsoft YaHei"/>
              </a:defRPr>
            </a:pPr>
            <a:r>
              <a:t>1884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3429000"/>
            <a:ext cx="914400" cy="9144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31089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孟德尔去世，贡献未被认可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D4A843"/>
                </a:solidFill>
                <a:latin typeface="Microsoft YaHei"/>
              </a:defRPr>
            </a:pPr>
            <a:r>
              <a:t>1900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4892040"/>
            <a:ext cx="914400" cy="9144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45720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三位科学家重新发现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0" b="1">
                <a:solidFill>
                  <a:srgbClr val="D4A843"/>
                </a:solidFill>
                <a:latin typeface="Microsoft YaHei"/>
              </a:defRPr>
            </a:pPr>
            <a:r>
              <a:t>1900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遗传学元年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Microsoft YaHei"/>
              </a:defRPr>
            </a:pPr>
            <a:r>
              <a:t>三位欧洲植物学家在短短几个月内相继发表论文，报告与孟德尔实验类似的结果，"重新发现"了孟德尔定律。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C5F2D"/>
                </a:solidFill>
                <a:latin typeface="Microsoft YaHei"/>
              </a:defRPr>
            </a:pPr>
            <a:r>
              <a:t>👨‍🔬 三位重新发现者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474720" cy="45720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1645920"/>
            <a:ext cx="914400" cy="9144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178308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C5F2D"/>
                </a:solidFill>
                <a:latin typeface="Microsoft YaHei"/>
              </a:defRPr>
            </a:pPr>
            <a:r>
              <a:t>德弗里斯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7BC62"/>
                </a:solidFill>
                <a:latin typeface="Microsoft YaHei"/>
              </a:defRPr>
            </a:pPr>
            <a:r>
              <a:t>🇳🇱 荷兰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A843"/>
                </a:solidFill>
                <a:latin typeface="Microsoft YaHei"/>
              </a:defRPr>
            </a:pPr>
            <a:r>
              <a:t>1900年3月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371600"/>
            <a:ext cx="3474720" cy="45720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52160" y="1645920"/>
            <a:ext cx="914400" cy="9144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178308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834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C5F2D"/>
                </a:solidFill>
                <a:latin typeface="Microsoft YaHei"/>
              </a:defRPr>
            </a:pPr>
            <a:r>
              <a:t>科伦斯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4747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7BC62"/>
                </a:solidFill>
                <a:latin typeface="Microsoft YaHei"/>
              </a:defRPr>
            </a:pPr>
            <a:r>
              <a:t>🇩🇪 德国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4389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A843"/>
                </a:solidFill>
                <a:latin typeface="Microsoft YaHei"/>
              </a:defRPr>
            </a:pPr>
            <a:r>
              <a:t>1900年5月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1371600"/>
            <a:ext cx="3474720" cy="45720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92640" y="1645920"/>
            <a:ext cx="914400" cy="9144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178308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834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C5F2D"/>
                </a:solidFill>
                <a:latin typeface="Microsoft YaHei"/>
              </a:defRPr>
            </a:pPr>
            <a:r>
              <a:t>切尔马克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4747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7BC62"/>
                </a:solidFill>
                <a:latin typeface="Microsoft YaHei"/>
              </a:defRPr>
            </a:pPr>
            <a:r>
              <a:t>🇦🇹 奥地利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4389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A843"/>
                </a:solidFill>
                <a:latin typeface="Microsoft YaHei"/>
              </a:defRPr>
            </a:pPr>
            <a:r>
              <a:t>1900年6月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C5F2D"/>
                </a:solidFill>
                <a:latin typeface="Microsoft YaHei"/>
              </a:defRPr>
            </a:pPr>
            <a:r>
              <a:t>德弗里斯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4572000" cy="50292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Microsoft YaHei"/>
              </a:defRPr>
            </a:pPr>
            <a:r>
              <a:t>德弗里斯</a:t>
            </a:r>
            <a:br/>
            <a:r>
              <a:t>配图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16459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2C3E50"/>
                </a:solidFill>
                <a:latin typeface="Microsoft YaHei"/>
              </a:defRPr>
            </a:pPr>
            <a:r>
              <a:t>国籍：荷兰阿姆斯特丹大学教授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237744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2C3E50"/>
                </a:solidFill>
                <a:latin typeface="Microsoft YaHei"/>
              </a:defRPr>
            </a:pPr>
            <a:r>
              <a:t>提出泛基因理论，首次发表性状分离定律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C5F2D"/>
                </a:solidFill>
                <a:latin typeface="Microsoft YaHei"/>
              </a:defRPr>
            </a:pPr>
            <a:r>
              <a:t>科伦斯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2C3E50"/>
                </a:solidFill>
                <a:latin typeface="Microsoft YaHei"/>
              </a:defRPr>
            </a:pPr>
            <a:r>
              <a:t>国籍：德国图宾根大学教授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2C3E50"/>
                </a:solidFill>
                <a:latin typeface="Microsoft YaHei"/>
              </a:defRPr>
            </a:pPr>
            <a:r>
              <a:t>首次使用"孟德尔定律"术语，确立孟德尔优先权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1371600"/>
            <a:ext cx="4572000" cy="50292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Microsoft YaHei"/>
              </a:defRPr>
            </a:pPr>
            <a:r>
              <a:t>科伦斯</a:t>
            </a:r>
            <a:br/>
            <a:r>
              <a:t>配图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C5F2D"/>
                </a:solidFill>
                <a:latin typeface="Microsoft YaHei"/>
              </a:defRPr>
            </a:pPr>
            <a:r>
              <a:t>切尔马克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4572000" cy="50292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Microsoft YaHei"/>
              </a:defRPr>
            </a:pPr>
            <a:r>
              <a:t>切尔马克</a:t>
            </a:r>
            <a:br/>
            <a:r>
              <a:t>配图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16459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2C3E50"/>
                </a:solidFill>
                <a:latin typeface="Microsoft YaHei"/>
              </a:defRPr>
            </a:pPr>
            <a:r>
              <a:t>国籍：奥地利维也纳农业大学讲师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237744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2C3E50"/>
                </a:solidFill>
                <a:latin typeface="Microsoft YaHei"/>
              </a:defRPr>
            </a:pPr>
            <a:r>
              <a:t>验证3:1分离比例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🧬 分离定律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D4A843"/>
                </a:solidFill>
                <a:latin typeface="Microsoft YaHei"/>
              </a:defRPr>
            </a:pPr>
            <a:r>
              <a:t>(D+R)² = D² + 2DR + R²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Microsoft YaHei"/>
              </a:defRPr>
            </a:pPr>
            <a:r>
              <a:t>D=显性配子，R=隐性配子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48463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97BC6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50292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48463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97BC62"/>
                </a:solidFill>
                <a:latin typeface="Microsoft YaHe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C5F2D"/>
                </a:solidFill>
                <a:latin typeface="Microsoft YaHei"/>
              </a:defRPr>
            </a:pPr>
            <a:r>
              <a:t>🔄 自由组合定律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200400" cy="201168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2C5F2D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C3E50"/>
                </a:solidFill>
                <a:latin typeface="Microsoft YaHei"/>
              </a:defRPr>
            </a:pPr>
            <a:r>
              <a:t>双显性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371600"/>
            <a:ext cx="3200400" cy="201168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16459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2C5F2D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651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C3E50"/>
                </a:solidFill>
                <a:latin typeface="Microsoft YaHei"/>
              </a:defRPr>
            </a:pPr>
            <a:r>
              <a:t>显A隐B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931920"/>
            <a:ext cx="3200400" cy="201168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2C5F2D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1207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C3E50"/>
                </a:solidFill>
                <a:latin typeface="Microsoft YaHei"/>
              </a:defRPr>
            </a:pPr>
            <a:r>
              <a:t>隐A显B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3931920"/>
            <a:ext cx="3200400" cy="201168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42062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2C5F2D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521207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C3E50"/>
                </a:solidFill>
                <a:latin typeface="Microsoft YaHei"/>
              </a:defRPr>
            </a:pPr>
            <a:r>
              <a:t>双隐性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🎉 遗传学诞生标志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515600" cy="1280160"/>
          </a:xfrm>
          <a:prstGeom prst="rect">
            <a:avLst/>
          </a:prstGeom>
          <a:solidFill>
            <a:srgbClr val="305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843"/>
                </a:solidFill>
                <a:latin typeface="Microsoft YaHei"/>
              </a:defRPr>
            </a:pPr>
            <a:r>
              <a:t>1900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737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97BC62"/>
                </a:solidFill>
                <a:latin typeface="Microsoft YaHei"/>
              </a:defRPr>
            </a:pPr>
            <a:r>
              <a:t>三位科学家论文发表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240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《德国植物学会杂志》第18卷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200400"/>
            <a:ext cx="10515600" cy="1280160"/>
          </a:xfrm>
          <a:prstGeom prst="rect">
            <a:avLst/>
          </a:prstGeom>
          <a:solidFill>
            <a:srgbClr val="305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843"/>
                </a:solidFill>
                <a:latin typeface="Microsoft YaHei"/>
              </a:defRPr>
            </a:pPr>
            <a:r>
              <a:t>1906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3383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97BC62"/>
                </a:solidFill>
                <a:latin typeface="Microsoft YaHei"/>
              </a:defRPr>
            </a:pPr>
            <a:r>
              <a:t>遗传学正式命名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886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贝特森命名"Genetics"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846320"/>
            <a:ext cx="10515600" cy="1280160"/>
          </a:xfrm>
          <a:prstGeom prst="rect">
            <a:avLst/>
          </a:prstGeom>
          <a:solidFill>
            <a:srgbClr val="305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66359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843"/>
                </a:solidFill>
                <a:latin typeface="Microsoft YaHei"/>
              </a:defRPr>
            </a:pPr>
            <a:r>
              <a:t>1909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97BC62"/>
                </a:solidFill>
                <a:latin typeface="Microsoft YaHei"/>
              </a:defRPr>
            </a:pPr>
            <a:r>
              <a:t>"基因"一词诞生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5532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约翰逊创造"gene"术语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C5F2D"/>
                </a:solidFill>
                <a:latin typeface="Microsoft YaHei"/>
              </a:defRPr>
            </a:pPr>
            <a:r>
              <a:t>⚖️ 重新发现之争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515600" cy="27432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2C3E50"/>
                </a:solidFill>
                <a:latin typeface="Microsoft YaHei"/>
              </a:defRPr>
            </a:pPr>
            <a:r>
              <a:t>"我必须承认，我最初认为这是一个新发现。但当我查阅文献时，发现孟德尔在35年前就已经发现了这一切。"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3474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2C5F2D"/>
                </a:solidFill>
                <a:latin typeface="Microsoft YaHei"/>
              </a:defRPr>
            </a:pPr>
            <a:r>
              <a:t>—— 科伦斯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50"/>
                </a:solidFill>
                <a:latin typeface="Microsoft YaHei"/>
              </a:defRPr>
            </a:pPr>
            <a:r>
              <a:t>德弗里斯最初未引用孟德尔，坚称独立发现。后在科伦斯压力下承认曾阅读孟德尔论文。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🤔 思考题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solidFill>
            <a:srgbClr val="305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640080" cy="64008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1945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为什么孟德尔的论文在当时被忽视，35年后才被重新发现？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657600"/>
            <a:ext cx="10515600" cy="1371600"/>
          </a:xfrm>
          <a:prstGeom prst="rect">
            <a:avLst/>
          </a:prstGeom>
          <a:solidFill>
            <a:srgbClr val="305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4023360"/>
            <a:ext cx="640080" cy="64008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023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科伦斯为何被认为是确立孟德尔地位的关键人物？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C5F2D"/>
                </a:solidFill>
                <a:latin typeface="Microsoft YaHei"/>
              </a:defRPr>
            </a:pPr>
            <a:r>
              <a:t>📌 关键概念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2560320" cy="82296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Microsoft YaHei"/>
              </a:defRPr>
            </a:pPr>
            <a:r>
              <a:t>重新发现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3566160" y="1463040"/>
            <a:ext cx="2560320" cy="82296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66160" y="1645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Microsoft YaHei"/>
              </a:defRPr>
            </a:pPr>
            <a:r>
              <a:t>泛基因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463040"/>
            <a:ext cx="2560320" cy="82296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Microsoft YaHei"/>
              </a:defRPr>
            </a:pPr>
            <a:r>
              <a:t>分离定律</a:t>
            </a:r>
          </a:p>
        </p:txBody>
      </p:sp>
      <p:sp>
        <p:nvSpPr>
          <p:cNvPr id="9" name="Rectangle 8"/>
          <p:cNvSpPr/>
          <p:nvPr/>
        </p:nvSpPr>
        <p:spPr>
          <a:xfrm>
            <a:off x="9235440" y="1463040"/>
            <a:ext cx="2560320" cy="82296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0" y="1645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Microsoft YaHei"/>
              </a:defRPr>
            </a:pPr>
            <a:r>
              <a:t>自由组合定律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560320"/>
            <a:ext cx="2560320" cy="82296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43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Microsoft YaHei"/>
              </a:defRPr>
            </a:pPr>
            <a:r>
              <a:t>遗传学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2560320"/>
            <a:ext cx="2560320" cy="82296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743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Microsoft YaHei"/>
              </a:defRPr>
            </a:pPr>
            <a:r>
              <a:t>基因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560320"/>
            <a:ext cx="2560320" cy="82296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743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Microsoft YaHei"/>
              </a:defRPr>
            </a:pPr>
            <a:r>
              <a:t>1900年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2560320"/>
            <a:ext cx="2560320" cy="82296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2743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Microsoft YaHei"/>
              </a:defRPr>
            </a:pPr>
            <a:r>
              <a:t>孟德尔定律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🔜 下节预告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D4A843"/>
                </a:solidFill>
                <a:latin typeface="Microsoft YaHei"/>
              </a:defRPr>
            </a:pPr>
            <a:r>
              <a:t>孟德尔遗传的验证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→ 贝特森的验证实验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→ 德弗里斯的突变论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→ 孟德尔定律的广泛验证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577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→ 向染色体遗传理论过渡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FFFFFF"/>
                </a:solidFill>
                <a:latin typeface="Microsoft YaHei"/>
              </a:defRPr>
            </a:pPr>
            <a:r>
              <a:t>感谢聆听！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97BC62"/>
                </a:solidFill>
                <a:latin typeface="Microsoft YaHei"/>
              </a:defRPr>
            </a:pPr>
            <a:r>
              <a:t>Day 13: 孟德尔定律的重新发现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D4A843"/>
                </a:solidFill>
                <a:latin typeface="Microsoft YaHei"/>
              </a:defRPr>
            </a:pPr>
            <a:r>
              <a:t>遗传学100天学习计划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