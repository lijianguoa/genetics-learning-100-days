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本页为学习内容总览。HGP是人类历史上最伟大的科学工程之一，本节将从历史、技术、人物、文献、实验和伦理等多角度全面解读。建议学习时间：45-60分钟。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HGP的提出经历了科学界的激烈争论。反对者认为30亿碱基中大部分是'垃圾DNA'，全测序是浪费资源；支持者则认为完整序列是理解生命的基础。沃森的领导力和政治影响力对项目启动至关重要。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文特尔的加入是HGP历史上的转折点。他的竞争迫使公共项目加速，但也引发了关于科学数据公共性的深刻讨论。百慕大原则（24小时公开数据）是公共项目最重要的政策遗产。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草图到完成序列的过渡是质的飞跃。草图覆盖率约90%且存在大量缺口和错误；完成序列覆盖99%的常染色质区域，准确率达99.99%，几乎无缺口。这一过程用了2年多。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Sanger测序法由Frederick Sanger于1977年发明，至今仍是金标准。HGP时代主要使用ABI公司的自动化毛细管电泳测序仪（如ABI 3730），每次可同时检测96个样品。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两种策略各有优劣。实际上，Celera的组装也部分依赖了公共项目的物理图谱数据。今天的基因组测序项目通常采用WGS策略，因为计算能力和算法已大幅进步。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完成序列并非'100%完成'。人类基因组中约5-8%的区域（主要是异染色质）至今仍难以完全测序，需要第三代长读长测序技术。最新的T2T（Telomere-to-Telomere）联盟于2022年首次完成了真正意义上的全基因组。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基因数量悖论是HGP最重要的发现之一。它从根本上改变了'一个基因=一个蛋白质'的简单观念，推动了转录组学、蛋白质组学和表观遗传学的发展。人类复杂性源于基因调控的精妙组合，而非基因数量。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百慕大原则是科学史上最重要的数据共享政策之一。1996年在百慕大召开的会议上，HGP参与者达成共识：基因组序列是人类的共同遗产，应当免费共享。这一原则后来被称为'百慕大精神'。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科林斯的领导风格以协调和共识为特征。他成功地将竞争激烈的各国测序中心团结在一起，同时抵御了来自Celera的商业压力。他还是一位虔诚的基督徒，致力于调和科学与信仰的关系。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文特尔是基因组学领域最具争议也最具创新力的人物之一。他的全基因组鸟枪法策略后来成为主流。他后来转向合成生物学和海洋微生物多样性研究，创立了J. Craig Venter Institute。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中国的1%贡献虽小但意义重大。它标志着中国正式进入国际基因组学舞台。华大基因（BGI）后来从测序服务商发展成为全球最大的基因组学研究中心之一，在水稻、熊猫、人类等基因组测序中做出了重要贡献。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这四篇论文是HGP最重要的文献。2001年的两篇草图论文同时发表在Nature和Science上，是人类基因组研究的里程碑。2004年的完成序列论文提供了最权威的基因组分析。2003年的愿景论文为后基因组时代规划了蓝图。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BAC文库是HGP公共项目的基础。BAC（细菌人工染色体）可以稳定携带100-300kb的外源DNA片段。通过构建覆盖全基因组的BAC文库并进行物理定位，测序者可以按'图'索骥，确保每个区域都被覆盖且组装正确。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Celera的全基因组鸟枪法是人类基因组测序的策略创新。它绕过了繁琐的BAC文库构建和物理图谱定位，直接用计算能力解决组装问题。其超级计算集群在当时是民用领域最大的之一。这一策略后来成为主流。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这些小故事展现了HGP背后的人性面。科林斯和文特尔虽然风格迥异，但都在关键时刻展现了科学家的风度。基因数量之谜的故事提醒我们：科学发现常常颠覆预期。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本页列出Day 82涉及的核心术语。建议学习者在阅读文献时注意这些术语的英文缩写和全称，因为国际期刊通常使用英文术语。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思考题旨在激发深入讨论。建议结合Day 81（HGP启动）的内容，理解从启动到完成的完整历程。下一节Day 83将进入'基因组学时代'，探讨HGP完成后的新发展。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82总结了HGP从启动到完成的历程。HGP的完成不是终点，而是基因组学时代的起点。下节将探讨HGP完成后的重要发展：从结构到功能，从单一到群体，从组织到单细胞。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人类基因组计划完成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4A843"/>
                </a:solidFill>
                <a:latin typeface="Microsoft YaHei"/>
              </a:defRPr>
            </a:pPr>
            <a:r>
              <a:t>解码三十亿字母的生命之书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>
                <a:solidFill>
                  <a:srgbClr val="97BC62"/>
                </a:solidFill>
                <a:latin typeface="Microsoft YaHei"/>
              </a:defRPr>
            </a:pPr>
            <a:r>
              <a:t>遗传学100天学习计划 · Day 82/100</a:t>
            </a:r>
          </a:p>
          <a:p>
            <a:pPr algn="ctr">
              <a:spcAft>
                <a:spcPts val="400"/>
              </a:spcAft>
              <a:defRPr sz="1400">
                <a:solidFill>
                  <a:srgbClr val="97BC62"/>
                </a:solidFill>
                <a:latin typeface="Microsoft YaHei"/>
              </a:defRPr>
            </a:pPr>
            <a:r>
              <a:t>第七部分：现代遗传学（第81-95天）</a:t>
            </a:r>
          </a:p>
          <a:p>
            <a:pPr algn="ctr">
              <a:spcAft>
                <a:spcPts val="400"/>
              </a:spcAft>
              <a:defRPr sz="1400">
                <a:solidFill>
                  <a:srgbClr val="97BC62"/>
                </a:solidFill>
                <a:latin typeface="Microsoft YaHei"/>
              </a:defRPr>
            </a:pPr>
            <a:r>
              <a:t>2026年8月4日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本日概览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Day 82 学习内容导览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主题：人类基因组计划（HGP）的完成及其深远影响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2003年4月14日正式宣布完成，历时13年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历史背景：项目缘起与公私竞争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1985年构想到1990年启动，1998年Celera加入竞争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核心概念：测序方法、完成序列标准、基因数量之谜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逐步克隆法 vs 全基因组鸟枪法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科学家故事：科林斯、文特尔、杨焕明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公共项目领导者、私营竞争者、中国1%贡献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重要文献：2001草图论文与2004完成序列论文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Nature &amp; Science里程碑论文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经典实验：BAC文库构建与全基因组鸟枪法组装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思考与展望：基因数量悖论、开放数据伦理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历史背景（一）：项目缘起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从构想到启动（1985-1990）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1985年：罗伯特·辛谢默首次提出全面测序人类基因组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加州大学Santa Cruz会议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1988年：美国国家科学院发布报告建议开展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NAS联合NRC发布蓝图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1989年：NIH成立国家人类基因组研究中心（NCHGR）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詹姆斯·沃森任首任主任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1990年10月1日：HGP正式启动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预计15年完成，预算30亿美元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六国合作：美、英、日、法、德、中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中国是唯一参与的发展中国家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目标：测定30亿碱基对，定位所有人类基因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历史背景（二）：公私竞争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文特尔与塞莱拉的挑战（1998-2000）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1998年5月：文特尔创立Celera Genomics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声称3年内完成测序，采用全基因组鸟枪法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公共项目：逐步克隆法（Clone-by-Clone）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准确但较慢，需要物理图谱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私营项目：全基因组鸟枪法（WGS）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快速但计算量大，重复区易错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竞争加速了双方进度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原计划2005年完成提前到2003年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数据公开之争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公共项目24h公开 vs Celera商业保护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2000年6月26日：白宫联合发布会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克林顿斡旋下的'休战'时刻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历史背景（三）：从草图到完成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里程碑事件（2001-2004）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2001年2月15日：Nature发表公共联盟草图论文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覆盖约90%基因组，估计30,000-35,000基因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2001年2月16日：Science发表Celera草图论文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覆盖约95%基因组，独立组装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2003年4月14日：正式宣布完成序列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比原计划提前2年多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2003年4月：Nature发表未来愿景论文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Collins等提出基因组学蓝图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2004年10月21日：Nature发表最终完成序列分析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基因数修正为20,000-25,000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完成标准：覆盖99%常染色质，准确率99.99%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19,599个确认蛋白编码基因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核心概念（一）：基因组测序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Genome Sequencing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基因组测序 = 确定全部DNA中每个碱基（A/T/G/C）的排列顺序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人类基因组：约30亿碱基对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分布在23对染色体上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HGP采用Sanger测序法（链终止法）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结合自动化毛细管电泳技术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Sanger法原理：ddNTP终止DNA链延伸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通过电泳分离不同长度片段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通量限制：每次反应约500-1000bp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需要数千万次反应覆盖全基因组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后续发展：NGS（下一代测序）大幅降低成本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从30亿美元降至约1000美元/基因组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核心概念（二）：两种测序策略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逐步克隆法 vs 全基因组鸟枪法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48640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逐步克隆法（公共项目）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1. 基因组DNA部分酶切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2. 插入BAC载体（100-300kb）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3. 构建BAC文库覆盖全基因组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4. 利用STS标记构建物理图谱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5. 逐BAC进行鸟枪法测序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6. 按物理图谱组装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优点：准确、重复区可靠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缺点：速度慢、流程复杂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全基因组鸟枪法（Celera）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1. 基因组DNA直接随机打断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2. 产生不同大小片段（2/10/50kb）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3. 大规模Sanger测序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4. 超级计算机拼装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5. 参考公共图谱辅助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优点：速度快、流程简单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缺点：计算量大、重复区易错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核心概念（三）：完成序列标准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Finished Sequence vs Draft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草图序列（Draft）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覆盖率~90%，存在缺口，错误率较高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完成序列（Finished）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覆盖99%常染色质，准确率99.99%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完成标准的具体指标：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覆盖率：基因编码区域（常染色质）约99%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准确率：错误率 &lt; 1/10,000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连续性：片段平均长度 &gt; 数千kb，几乎无缺口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验证：独立验证和交叉比对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异染色质区域（着丝粒、端粒）仍难以完全测序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这些区域富含重复序列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核心概念（四）：基因数量之谜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The Gene Count Surprise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预期：约100,000个基因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基于人类复杂性的估计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2001草图：30,000-35,000个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已远低于预期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2004完成序列：20,000-25,000个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仅比线虫（~20,000）略多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19,599个确认 + 2,188个预测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总蛋白编码基因约22,000个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复杂性从何而来？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选择性剪接：一个基因→多种蛋白质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非编码RNA调控（miRNA、lncRNA等）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表观遗传修饰（DNA甲基化、组蛋白修饰）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蛋白质翻译后修饰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核心概念（五）：开放数据政策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Bermuda Principles &amp; Open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10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百慕大原则（1996年确立）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序列数据产生后24小时内公开释放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数据进入GenBank等公共数据库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全球科学家免费获取和使用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无专利限制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意义：加速全球基因组学研究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避免了数据垄断和重复浪费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对比：Celera最初实行商业保护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后因压力部分公开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影响：成为开放科学的典范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影响后续ENCODE、千人基因组等项目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科学家故事（一）：弗朗西斯·科林斯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Francis Collins — 公共项目的领航者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11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医学遗传学家，1993年接替沃森出任NCHGR主任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后升格为NHGRI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此前成就：定位克隆发现多个致病基因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囊性纤维化（CFTR）、亨廷顿舞蹈症等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HGP领导者：协调六国20余个测序中心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坚定推行开放数据政策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2009年：被奥巴马任命为NIH院长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领导美国生物医学研究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业余音乐人：组建摇滚乐队'The Directors'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在HGP完成庆典上弹吉他庆祝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著书：《生命的语言》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向公众普及基因组学知识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科学家故事（二）：克雷格·文特尔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Craig Venter — 私营竞争的搅局者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12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1991年：在NIH开创EST技术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快速发现基因的新方法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1992年：离开NIH，创立TIGR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基因组研究所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1995年：完成首个自由生活生物全基因组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流感嗜血杆菌Haemophilus influenzae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1998年：创立Celera Genomics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以WGS挑战公共项目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2000年：与科林斯在白宫共同宣布草图完成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2010年：创造首个人工合成基因组细胞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Mycoplasma mycoides JCVI-syn1.0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文特尔的个人基因组（2007年）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首批个人全基因组之一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科学家故事（三）：杨焕明与中国的贡献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Yang Huanming &amp; China's 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13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1999年9月：伦敦HGP战略会议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中国争取到1%测序任务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负责区域：第3号染色体短臂约30Mb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约占人类基因组1%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团队：杨焕明、汪建等华大基因创始团队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从零开始：在一间旧工厂搭建测序实验室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基础设施薄弱，资金设备不足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日夜轮班：赶在2000年6月草图发布前完成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'科学来不得半点马虎'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通过国际质量审核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赢得国际同行钦佩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后续：参与HapMap、千人基因组等计划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'1%的精神'成为中国基因组学的起点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重要文献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Key Publications of HGP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14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Nature 2001（公共联盟草图）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IHGSC, Nature 409:860-921, DOI:10.1038/35057062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通讯作者：Eric Lander（Broad研究所）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覆盖~90%基因组，估计30,000-35,000基因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Science 2001（Celera草图）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Venter et al., Science 291:1304-1351, DOI:10.1126/science.1058040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采用WGS独立组装，覆盖~95%基因组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Nature 2004（完成序列）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IHGSC, Nature 431:931-945, DOI:10.1038/nature03001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基因数修正为20,000-25,000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19,599确认 + 2,188预测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Nature 2003（未来愿景）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Collins et al., Nature 422:835-847, DOI:10.1038/nature01641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经典实验（一）：BAC文库与逐步克隆测序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BAC Library Construction &amp; Hierarchical Sequencing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15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步骤1：人类基因组DNA部分酶切（限制性内切酶）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步骤2：大片段（100-300kb）插入BAC载体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步骤3：转化大肠杆菌，构建BAC文库（覆盖全基因组）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步骤4：STS标记和指纹图谱定位各BAC克隆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步骤5：构建重叠群（Contig），确定物理图谱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步骤6：选定最小重叠路径的BAC逐一鸟枪法测序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步骤7：每个碱基平均覆盖8-10次（覆盖深度8-10x）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步骤8：计算机组装、填缺口、质量验证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关键：物理图谱提供'脚手架'，确保组装正确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经典实验（二）：全基因组鸟枪法组装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Whole-Genome Shotgun Assembly (Celera)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16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步骤1：基因组DNA直接随机打断（超声波/酶切）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步骤2：产生不同大小片段：2kb、10kb、50kb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步骤3：构建不同插入片段的测序文库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步骤4：对数千万个片段两端进行Sanger测序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步骤5：总测序量约为基因组的5-6倍（覆盖深度5-6x）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步骤6：超级计算机将海量短片段重叠拼装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步骤7：利用双端测序信息连接Contig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步骤8：参考公共物理图谱辅助定序和定位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关键挑战：重复序列区域的正确组装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小故事集锦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Anecdotes from the HGP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17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白宫握手（2000.6.26）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克林顿称'伽利略首次将望远镜对准天空'般的时刻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文特尔发布会前夜还在实验室加班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科林斯则花大量时间准备发言稿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'只有2万个基因？'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从100,000预期降到20,000-25,000的震惊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中国团队的'生死冲刺'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从零开始，日夜轮班，1%的精神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沃森的基因组（2007）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首个个人全基因组，要求屏蔽APOE信息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科林斯的摇滚乐队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The Directors乐队在庆典上演出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术语表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Key Terminology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18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48640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基础术语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HGP：人类基因组计划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IHGSC：国际人类基因组测序联盟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WGS：全基因组鸟枪法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BAC：细菌人工染色体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EST：表达序列标签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STS：序列标签位点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SNP：单核苷酸多态性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Contig：重叠群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进阶术语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Euchromatin：常染色质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Finished Sequence：完成序列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Bermuda Principles：百慕大原则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Alternative Splicing：选择性剪接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ELSI：伦理法律社会影响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Pangenome：泛基因组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Precision Medicine：精准医学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Genome Annotation：基因组注释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思考题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Discussion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19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Q1 基因数量悖论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人类~22,000基因 vs 线虫~20,000基因，复杂性从何而来？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Q2 公私竞争利弊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Celera的竞争加速了进度，但引发数据公开争议，利弊如何？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Q3 开放数据的价值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百慕大原则24h公开数据对后续研究的影响？当今新挑战？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Q4 测序技术演进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Sanger→NGS→三代长读长，如果今天设计HGP，策略如何？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Q5 伦理思考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HGP将3-5%预算用于ELSI，精准医学时代面临哪些伦理风险？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Q6 中国角色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从1%贡献到今天基因组学大国，中国基因组学的发展路径？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总结与下节预告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Summary &amp; Next Day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20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本日要点回顾：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HGP于2003年4月完成，13年30亿美元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覆盖99%常染色质，准确率99.99%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两种测序策略：逐步克隆法 vs WGS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公私竞争加速了进度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基因数量仅20,000-25,000个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复杂性来自调控而非数量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百慕大原则：24h数据公开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开放科学的典范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中国贡献1%测序任务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'1%的精神'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Day 83预告：基因组学时代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ENCODE计划、千人基因组计划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结构基因组学与泛基因组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单细胞基因组学</a:t>
            </a:r>
          </a:p>
          <a:p>
            <a:pPr>
              <a:spcAft>
                <a:spcPts val="600"/>
              </a:spcAft>
              <a:defRPr sz="1200">
                <a:solidFill>
                  <a:srgbClr val="6B7B6B"/>
                </a:solidFill>
                <a:latin typeface="Microsoft YaHei"/>
              </a:defRPr>
            </a:pPr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