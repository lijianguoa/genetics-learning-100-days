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explore gene editing technology - from ZFN to CRISPR-Cas9 to prime editing.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generations of gene editing. CRISPR revolutionized the field by using RNA instead of proteins for target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Cas9 cuts DNA at sites specified by sgRNA. The PAM sequence is required for Cas9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editing and prime editing represent the shift from cutting to searching-and-replacing.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scientists shaped the gene editing revolution. Doudna and Charpentier won the 2020 Nobel Prize.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landmark papers spanning 12 years of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yogurt bacteria to human cells - the journey of CRISPR from basic science to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Casgevy is the first FDA-approved CRISPR therapy, treating sickle cell disease by reactivating fetal hemoglobin.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 editing transforms agriculture and research. CRISPR screening is now standard for gene function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 Jiankui case highlighted the ethical boundaries of gene editing. The key distinction is somatic vs germline editing.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Off-target effects, delivery, efficiency, and immunogenicity remain key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these questions for deeper understanding of gene editing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Tomorrow we dive deeper into CRISPR-Cas9: crystal structure, sgRNA optimization, Cas variants, and delivery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learning with us today. See you tomorrow for Day 89!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1F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1234440"/>
            <a:ext cx="25603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spc="2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GENETICS · 100 DAYS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基因编辑技术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88  |  遗传学100天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ZFN to CRISPR-Cas9 to Prime Editing</a:t>
            </a:r>
            <a:endParaRPr lang="en-US" sz="13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1527048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426464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技术演进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61104" y="1527048"/>
            <a:ext cx="621792" cy="6217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261104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204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95744" y="1527048"/>
            <a:ext cx="621792" cy="6217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7095744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关键科学家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426464" y="3264408"/>
            <a:ext cx="621792" cy="62179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1426464" y="32644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61104" y="3264408"/>
            <a:ext cx="621792" cy="62179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4261104" y="32644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52044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应用领域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95744" y="3264408"/>
            <a:ext cx="621792" cy="6217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7095744" y="32644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5508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伦理与展望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三代技术演进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155448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554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ZFN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98424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120" y="2514600"/>
            <a:ext cx="548640" cy="182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6517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蛋白质介导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30632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成本高 · 周期长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132588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94560" y="1325880"/>
            <a:ext cx="1554480" cy="8229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2267712" y="1554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67712" y="198424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697480" y="2514600"/>
            <a:ext cx="54864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2267712" y="26517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更灵活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67712" y="30632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仍需定制蛋白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1325880"/>
            <a:ext cx="1554480" cy="3063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1325880"/>
            <a:ext cx="1554480" cy="8229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005072" y="15544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05072" y="198424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434840" y="2514600"/>
            <a:ext cx="54864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4005072" y="26517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RNA引导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05072" y="306324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 · 高效 · 低成本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0" y="1325880"/>
            <a:ext cx="2971800" cy="3063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pic>
        <p:nvPicPr>
          <p:cNvPr id="26" name="Image 0" descr="/workspace/genetics_learning/gene_editing_day088_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24728" y="1435608"/>
            <a:ext cx="2752344" cy="154533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852160" y="31089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技术演进时间线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852160" y="3474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从蛋白质到RNA，三代技术不断简化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CRISPR-Cas9：核心机制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840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90472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490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Cas9蛋白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核酸内切酶  ·  识别并切割DNA双链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840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450592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4505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sgRNA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724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向导RNA  ·  引导Cas9至靶位点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8404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410712"/>
            <a:ext cx="512064" cy="51206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410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685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NGG序列  ·  Cas9识别所必需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32588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pic>
        <p:nvPicPr>
          <p:cNvPr id="20" name="Image 0" descr="/workspace/genetics_learning/gene_editing_day088_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81728" y="1435608"/>
            <a:ext cx="3895344" cy="21945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7091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Cas9-sgRNA-DNA 切割机制示意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0916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sgRNA引导Cas9在PAM附近切割DNA双链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超越剪刀：碱基编辑与引物编辑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9547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395478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碱基编辑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039112"/>
            <a:ext cx="3497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/ 2017   ·   David Liu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497580" cy="1691640"/>
          </a:xfrm>
          <a:prstGeom prst="roundRect">
            <a:avLst>
              <a:gd name="adj" fmla="val 4324"/>
            </a:avLst>
          </a:prstGeom>
          <a:solidFill>
            <a:srgbClr val="E8F0E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87752"/>
            <a:ext cx="3131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C→T, A→G 转换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无双链断裂 (DSB-free)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无需供体模板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32020" y="1325880"/>
            <a:ext cx="39547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2020" y="1325880"/>
            <a:ext cx="3954780" cy="8229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960620" y="1554480"/>
            <a:ext cx="3497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引物编辑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60620" y="2039112"/>
            <a:ext cx="3497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  ·   David Liu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60620" y="2423160"/>
            <a:ext cx="3497580" cy="1691640"/>
          </a:xfrm>
          <a:prstGeom prst="roundRect">
            <a:avLst>
              <a:gd name="adj" fmla="val 4324"/>
            </a:avLst>
          </a:prstGeom>
          <a:solidFill>
            <a:srgbClr val="F6EFDC"/>
          </a:solidFill>
          <a:ln/>
        </p:spPr>
      </p:sp>
      <p:sp>
        <p:nvSpPr>
          <p:cNvPr id="15" name="Text 13"/>
          <p:cNvSpPr/>
          <p:nvPr/>
        </p:nvSpPr>
        <p:spPr>
          <a:xfrm>
            <a:off x="5143500" y="2587752"/>
            <a:ext cx="31318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全部12种转换 + 小片段indel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搜索-替换 (Search &amp; Replace)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可纠正89%致病变异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关键科学家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81912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819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81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Jennifer Doudna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3520440" cy="18288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87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2020诺贝尔奖 · 奠基性论文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581912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819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97880" y="1581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Emmanuelle Charpentier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9788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Planck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496312"/>
            <a:ext cx="3520440" cy="18288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587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发现tracrRNA · 2020诺贝尔奖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273552"/>
            <a:ext cx="822960" cy="8229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FZ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3273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张锋 (Feng Zhang)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3675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/ Broad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187952"/>
            <a:ext cx="3520440" cy="18288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79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人类细胞首编辑 · 多种CRISPR工具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273552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DL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97880" y="3273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刘如谦 (David Liu)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97880" y="36758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4187952"/>
            <a:ext cx="3520440" cy="18288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2793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碱基编辑 + 引物编辑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里程碑论文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496312"/>
            <a:ext cx="740664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313432"/>
            <a:ext cx="402336" cy="40233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Barrangou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" y="306324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317296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CRISPR免疫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35661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PMID:17379808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9172" y="2313432"/>
            <a:ext cx="402336" cy="402336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917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717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7170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Jinek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53412" y="306324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9132" y="317296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Cas9编程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9132" y="35661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PMID:22745249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70832" y="2313432"/>
            <a:ext cx="402336" cy="402336"/>
          </a:xfrm>
          <a:prstGeom prst="ellipse">
            <a:avLst/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2336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05072" y="306324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50792" y="317296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人类细胞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50792" y="35661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PMID:23287718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22492" y="2313432"/>
            <a:ext cx="402336" cy="402336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2249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7502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7502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6732" y="306324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02452" y="317296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碱基编辑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02452" y="35661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PMID:27096365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74152" y="2313432"/>
            <a:ext cx="402336" cy="402336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74152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2668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72668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Anzalone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08392" y="306324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54112" y="317296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引物编辑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54112" y="3566160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PMID:31634902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62763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16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CRISPR免疫功能验证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酸奶细菌 → 抗噬菌体免疫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8229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627632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816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Cas9体外编程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双RNA → 单链sgRNA简化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560320" cy="8229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1627632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816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人类细胞编辑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从体外到活细胞跨越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医学应用：Casgevy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3063240"/>
          </a:xfrm>
          <a:prstGeom prst="roundRect">
            <a:avLst>
              <a:gd name="adj" fmla="val 298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2023.12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FDA 批准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920240" y="3337560"/>
            <a:ext cx="9144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全球首个 CRISPR 疗法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适应症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901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镰刀型细胞贫血病 + β-地中海贫血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3657600" cy="18288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作用机制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724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 BCL11A 增强子 → 激活胎儿血红蛋白 (HbF)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218688"/>
            <a:ext cx="3657600" cy="18288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328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治疗策略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自体细胞体外编辑再回输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农业与研究应用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作物改良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54480" y="2075688"/>
            <a:ext cx="54864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抗病小麦、抗病番茄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6002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0644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畜禽育种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06440" y="2075688"/>
            <a:ext cx="54864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抗PRRS猪、抗结核牛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9184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筛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基因功能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554480" y="3767328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全基因组CRISPR筛选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29184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0644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诊断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806440" y="3767328"/>
            <a:ext cx="54864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/ DETECTR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伦理边界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926080" cy="3063240"/>
          </a:xfrm>
          <a:prstGeom prst="roundRect">
            <a:avLst>
              <a:gd name="adj" fmla="val 3125"/>
            </a:avLst>
          </a:prstGeom>
          <a:solidFill>
            <a:srgbClr val="F7E8D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874520"/>
            <a:ext cx="914400" cy="822960"/>
          </a:xfrm>
          <a:prstGeom prst="triangle">
            <a:avLst/>
          </a:prstGeom>
          <a:solidFill>
            <a:srgbClr val="B85C2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842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150" kern="0" dirty="0">
                <a:solidFill>
                  <a:srgbClr val="B85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贺建奎“基因编辑婴儿”事件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全球科学界震动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3716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58768" y="1627632"/>
            <a:ext cx="402336" cy="402336"/>
          </a:xfrm>
          <a:prstGeom prst="ellipse">
            <a:avLst/>
          </a:prstGeom>
          <a:solidFill>
            <a:srgbClr val="B85C2E"/>
          </a:solidFill>
          <a:ln/>
        </p:spPr>
      </p:sp>
      <p:sp>
        <p:nvSpPr>
          <p:cNvPr id="12" name="Text 10"/>
          <p:cNvSpPr/>
          <p:nvPr/>
        </p:nvSpPr>
        <p:spPr>
          <a:xfrm>
            <a:off x="3858768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481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核心争议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生殖系编辑可遗传，影响后代及人类基因池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2395728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58768" y="2651760"/>
            <a:ext cx="402336" cy="402336"/>
          </a:xfrm>
          <a:prstGeom prst="ellipse">
            <a:avLst/>
          </a:prstGeom>
          <a:solidFill>
            <a:srgbClr val="B85C2E"/>
          </a:solidFill>
          <a:ln/>
        </p:spPr>
      </p:sp>
      <p:sp>
        <p:nvSpPr>
          <p:cNvPr id="17" name="Text 15"/>
          <p:cNvSpPr/>
          <p:nvPr/>
        </p:nvSpPr>
        <p:spPr>
          <a:xfrm>
            <a:off x="385876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25054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体细胞 vs 生殖系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8529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不可遗传 vs 可遗传 — 本质区别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3419856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58768" y="3675888"/>
            <a:ext cx="402336" cy="402336"/>
          </a:xfrm>
          <a:prstGeom prst="ellipse">
            <a:avLst/>
          </a:prstGeom>
          <a:solidFill>
            <a:srgbClr val="B85C2E"/>
          </a:solidFill>
          <a:ln/>
        </p:spPr>
      </p:sp>
      <p:sp>
        <p:nvSpPr>
          <p:cNvPr id="22" name="Text 20"/>
          <p:cNvSpPr/>
          <p:nvPr/>
        </p:nvSpPr>
        <p:spPr>
          <a:xfrm>
            <a:off x="385876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3529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治疗 vs 增强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38770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消除疾病 vs 改造特质，界限何在？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技术挑战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rgbClr val="B85C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脱靶效应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54480" y="2075688"/>
            <a:ext cx="548640" cy="27432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非靶标位点意外切割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6002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80644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递送效率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06440" y="2075688"/>
            <a:ext cx="548640" cy="27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体内递送仍待突破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9184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编辑效率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554480" y="3767328"/>
            <a:ext cx="548640" cy="2743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引物编辑效率偏低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29184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80644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免疫反应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806440" y="3767328"/>
            <a:ext cx="548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3886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Cas9蛋白免疫原性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09728" cy="1417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687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87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8059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三代技术优缺点比较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109728" cy="1417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66878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687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35040" y="18059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体细胞 vs 生殖系编辑伦理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109728" cy="1417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3147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147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4518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Casgevy 治疗机制分析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109728" cy="1417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331470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3147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35040" y="34518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引物编辑技术瓶颈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术语速查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280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2588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8188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8188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48840" y="132588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规律间隔成簇短回文重复序列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3752" y="138188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38188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32588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CRISPR相关蛋白9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6027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21627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1627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sgRNA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216027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单链向导RNA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16027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3752" y="221627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21627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16027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前间区序列邻近基序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9466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05066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05066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NHEJ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48840" y="299466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非同源末端连接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99466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3752" y="305066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05066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99466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同源定向修复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2905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388505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388505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48840" y="382905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胞嘧啶碱基编辑器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829050"/>
            <a:ext cx="3977640" cy="697230"/>
          </a:xfrm>
          <a:prstGeom prst="roundRect">
            <a:avLst>
              <a:gd name="adj" fmla="val 10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73752" y="3885057"/>
            <a:ext cx="1371600" cy="585216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873752" y="3885057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pegRNA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3829050"/>
            <a:ext cx="210312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引物编辑向导RNA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1F">
              <a:alpha val="6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spc="2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CRISPR-Cas9 系统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4937760" cy="2743200"/>
          </a:xfrm>
          <a:prstGeom prst="roundRect">
            <a:avLst>
              <a:gd name="adj" fmla="val 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89 学习内容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" y="254203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2468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Cas9晶体结构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" y="292608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28529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sgRNA优化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3310128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2369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Cas9变体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694176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36210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Cas12 / Cas13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" y="4078224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4005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递送系统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06440" y="18288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预习阅读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932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Doudna &amp; Charpentier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综述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32918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1F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PMID: 25299471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508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· Day 88 · 基因编辑技术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1F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1554480"/>
            <a:ext cx="1828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遗传学100天学习计划  |  Day 88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77440" y="3383280"/>
            <a:ext cx="4389120" cy="502920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学习资源: github.com/lijianguoa/genetics-learning-100-days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89!</a:t>
            </a:r>
            <a:endParaRPr lang="en-US" sz="13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基因编辑技术 - Day 88</dc:title>
  <dc:subject>PptxGenJS Presentation</dc:subject>
  <dc:creator>Genetics 100 Days</dc:creator>
  <cp:lastModifiedBy>Genetics 100 Days</cp:lastModifiedBy>
  <cp:revision>1</cp:revision>
  <dcterms:created xsi:type="dcterms:W3CDTF">2026-08-10T04:22:47Z</dcterms:created>
  <dcterms:modified xsi:type="dcterms:W3CDTF">2026-08-10T04:22:47Z</dcterms:modified>
</cp:coreProperties>
</file>