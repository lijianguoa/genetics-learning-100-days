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封面页。本讲为遗传学100天学习计划第96天内容。
主题：遗传学发展史回顾。
本讲将系统梳理遗传学从史前育种到CRISPR基因编辑的完整发展历程，
涵盖8个主要发展阶段，重点关注关键科学家的贡献和范式转变。
建议讲解时长：45-60分钟。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目录页。本讲分为8个部分：
1. 前孟德尔时代 - 人类早期对遗传的朴素认识
2. 孟德尔时代 - 遗传学的真正起点，1865-1900年
3. 细胞遗传学建立 - 染色体理论的证实
4. 突变论 - 遗传变异来源的发现
5. 经典遗传学发展 - 群体遗传学和数量遗传学
6. 分子遗传学革命 - DNA结构、中心法则、遗传密码
7. 现代遗传学 - 基因组学、CRISPR基因编辑
8. 综合与展望 - 历史启示和未来方向
讲解时注意各部分之间的时间逻辑和因果关系。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
1. 前科学时代对遗传的认识是朴素且错误的。人类从约公元前8000年就开始选择性育种（如驯化狗、小麦），但并不理解遗传机制。
2. 达尔文的泛生论（Pangenesis）认为身体各器官产生微小的"泛子"，通过血液汇集到生殖细胞。这一理论虽然是错误的，但反映了当时对遗传物质来源的思考。
3. 融合遗传理论（如墨水瓶模型）认为子代是亲代的"混合"，这无法解释为什么隐性性状会在后代中重新出现。这正是孟德尔要解决的核心问题。
4. Kolreuter和Gartner的植物杂交实验为孟德尔提供了方法学基础，但他们的工作缺乏定量分析。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
1. 孟德尔为何选择豌豆？豌豆是自花授粉植物，可以在实验中控制授粉过程；世代周期短（一年一代）；性状差异明显且稳定遗传；容易栽培。
2. 7对性状的选择极其精妙：它们恰好分布在不同的染色体上（虽然孟德尔当时不知道染色体），从而表现出自由组合规律。有学者认为孟德尔可能"筛选"了数据，但这仍有争议。
3. 约30,000株实验规模在当时是空前的。孟德尔不仅是生物学家，更是数学家——他将概率论和统计学引入生物学，这是方法论的重大突破。
4. 孟德尔的实验设计包含严格的对照：去雄防止自花授粉、套袋防止异花授粉、逐株记录表型数据。这种严谨程度远超同时代的杂交实验。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
1. 分离定律的核心：等位基因（当时孟德尔称之为"因子"）在形成配子时彼此分离，每个配子只携带一个等位基因。F2代出现3:1的表型比，是因为杂合子Aa自交后，雄雌配子各带A或a，随机结合产生1AA:2Aa:1aa的基因型比。
2. 自由组合定律：当研究两对基因时，不同基因对在配子形成时自由组合。F2代表型比为9:3:3:1，这恰好是两个3:1的乘积(3:1)^2=9:3:3:1。
3. 数学基础：孟德尔实际上使用了二项分布和概率乘法法则。这正是他的工作超越同时代的关键——他将数学严格性引入了生物学。
4. 最重要的影响：孟德尔证明了遗传因子是"颗粒式"的、不融合的。隐性性状不会在杂交中"消失"，而是在后代中重新出现。这彻底否定了当时主流的融合遗传理论。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
1. 孟德尔1866年论文发表后35年间几乎无人问津，仅被引用约3次。被忽视的原因包括：(1)发表在地方性学会期刊上，传播范围有限；(2)论文包含大量数学内容，当时的生物学家不具备理解所需的数学背景；(3)达尔文等主流学者关注的是进化和物种形成，而非杂交规律。
2. 1900年，三位科学家各自独立地在自己的杂交实验中得出了与孟德尔相同的结论，在查阅文献时"发现"了孟德尔的论文。这一"同时"发现是科学史上最著名的巧合之一。
3. 重新发现后，孟德尔定律迅速被接受，遗传学作为独立学科正式建立。William Bateson在1905年首次使用"genetics"一词。
4. 孟德尔的名言"我的时代终将到来"（Meine Zeit wird schon kommen）体现了他对自身工作价值的自信，尽管生前未获认可。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
1. Sutton-Boveri假说(1902)：Sutton和Boveri独立提出，在减数分裂中染色体的行为（配对、分离、自由组合）与孟德尔因子在配子中的行为完全平行。因此染色体可能就是遗传因子的物理载体。
2. 连锁与交换：位于同一条染色体上的基因倾向于一起遗传（连锁），但在减数分裂前期I，同源染色体之间会发生交换(crossing over)，导致基因重组。交换频率与基因间距离成正比。
3. 遗传图谱：Sturtevant（摩尔根的学生）在1913年利用交换频率构建了果蝇首张遗传图谱，这是基因在染色体上线性排列的最早证据。1%重组频率=1cM(厘摩)图距单位。
4. 这一理论将抽象的"遗传因子"赋予了具体的物理实体——染色体，使遗传学从数学描述走向了物质基础。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
1. 摩尔根最初对孟德尔理论持怀疑态度，他认为突变和进化是渐进的而非离散的。但白眼突变体的发现彻底改变了他的观点。
2. 1910年，摩尔根在果蝇培养瓶中发现了一只白眼雄蝇（正常果蝇是红眼）。杂交实验显示白眼性状的遗传与性别相关——这正是伴性遗传的证据，白眼基因位于X染色体上。
3. 这一发现是第一次将一个具体基因定位到一条具体染色体上，有力地支持了染色体遗传理论。摩尔根因此荣获1933年诺贝尔生理学或医学奖。
4. 果蝇作为模式生物的优势极其突出：世代短、繁殖强、染色体少、突变丰富。摩尔根的"蝇室"（只有约30平方米的小实验室）培养了成千上万的研究者，果蝇至今仍是遗传学研究的核心模式生物。
5. 摩尔根团队(包括Sturtevant, Bridges, Muller等)的贡献奠定了经典遗传学的基础。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
1. 德弗里斯是孟德尔定律的三位重新发现者之一，但他在重新发现孟德尔之前就已经在月见草实验中观察到了大量"突变"。
2. 月见草(Oenothera)实际上有一种特殊的遗传机制——平衡易位杂合体，导致其"突变"实际上是由于染色体重组造成的。但德弗里斯的"突变"概念本身是正确的。
3. 突变论的核心贡献：确立了遗传变异是可以"跳跃式"发生的，而非只有达尔文所说的连续微变。这与达尔文渐进进化论形成了对照。
4. 后来的综合进化论（Modern Synthesis, 1930-40s）将达尔文自然选择与孟德尔遗传学和突变论统一起来：突变提供原材料，自然选择决定方向。
5. 1927年，Muller证明X射线可以人工诱发突变，获1946年诺贝尔奖——这进一步证实了突变的物理基础。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
1. 多基因遗传：Nilsson-Ehle(1909)通过小麦粒色实验证明，某些连续变异的性状（如身高、产量）是由多个基因共同控制的，每个基因效应微小但可累加。
2. 数量遗传学：Fisher(1918)发表论文，用统计学方法将连续表型方差分解为遗传方差和环境方差，奠定了数量遗传学的理论基础。
3. 群体遗传学：Wright, Haldane, Fisher三人(20世纪初-中期)将孟德尔遗传学与达尔文进化论结合，研究等位基因频率在群体中的变化规律。
4. 哈迪-温伯格定律(1908)：在理想群体中（无突变、无迁移、无选择、随机交配、大群体），等位基因频率p和q在世代间保持不变，基因型频率为p^2+2pq+q^2=1。这为群体遗传学提供了"零假设"基线。
5. 遗传力(h^2)：表型方差中遗传方差所占比例，是育种选择和遗传风险评估的关键参数。广义遗传力H^2=VG/VP，狭义遗传力h^2=VA/VP。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
1. 在20世纪上半叶，主流观点认为蛋白质是遗传物质，因为蛋白质由20种氨基酸组成，多样性远高于仅4种碱基的DNA。
2. Avery(1944)的肺炎链球菌转化实验：将致病S型菌的提取物分别用蛋白酶、RNA酶、DNA酶处理后转化非致病R型菌。只有DNA酶处理后转化失败，证明DNA是"转化因子"。但这一结果当时未被广泛接受，因为实验体系存在杂质可能性的争议。
3. Hershey-Chase(1952)的噬菌体实验更加简洁有力：用32P标记DNA（磷是DNA特有），用35S标记蛋白质（硫是蛋白质特有）。感染后用搅拌器将噬菌体外壳与细菌分离，发现只有32P(DNA)进入了细菌内部。这一实验彻底终结了争议。
4. 从Avery到Hershey-Chase历时8年，说明科学范式转变需要时间和足够的证据积累。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
1. 1953年4月25日，Watson和Crick在《Nature》发表了一篇仅一页的论文，提出DNA双螺旋结构模型。这是20世纪最重要的科学发现之一。
2. Rosalind Franklin的"照片51号"是关键的实验证据：这张X射线衍射照片清晰地显示了DNA的螺旋结构和周期性。Franklin的同事Wilkins将照片展示给Watson，这直接推动了模型的建立。Franklin本人未能获得诺贝尔奖（1962年颁奖时已去世），她的贡献长期被低估。
3. Chargaff法则(1950)：不同物种DNA的碱基组成中，A和T的摩尔比接近1:1，G和C的摩尔比也接近1:1。这为碱基特异性配对(A-T, G-C)提供了关键依据。
4. 双螺旋模型的核心：(1)两条反向平行(antiparallel)的多核苷酸链；(2)糖-磷酸骨架在外侧；(3)碱基对在内部，A与T配对(2个氢键)，G与C配对(3个氢键)；(4)螺距约3.4nm，每圈10个碱基对。
5. 最重要的是，双螺旋结构直接暗示了复制机制：双链分开后，每条链可以作为模板合成新链——半保留复制。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
1. 中心法则(Crick, 1958)：遗传信息从DNA流向RNA，再从RNA流向蛋白质。DNA-&gt;DNA(复制)、DNA-&gt;RNA(转录)、RNA-&gt;蛋白质(翻译)是三个核心过程。
2. 1970年，Temin和Baltimore发现逆转录酶，证明RNA可以逆转录为DNA(RNA-&gt;DNA)，对中心法则做了重要修正。但蛋白质-&gt;核酸的信息流从未被发现。
3. 遗传密码是三联的：3个碱基组成一个密码子(codon)，4^3=64种密码子。其中61个编码20种氨基酸（存在简并性），3个是终止密码子(UAA, UAG, UGA)。AUG是起始密码子同时编码蛋氨酸。
4. 密码子破译历程：Nirenberg(1961)用人工合成的poly-U(polyuridylic acid)做mRNA，在体外翻译出多聚苯丙氨酸，证明UUU编码苯丙氨酸。Khorana用人工合成的重复序列RNA破译了更多密码子。
5. 遗传密码的通用性是生命共同起源的有力证据：从细菌到人类，几乎使用同一套密码本。少数例外（线粒体、纤毛虫）是后来进化的结果。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
1. Jacob和Monod在1961年提出操纵子模型，这是基因表达调控的第一个分子模型，为此获得1965年诺贝尔生理学或医学奖。
2. 操纵子的组成：启动子(P)是RNA聚合酶结合位点；操纵基因(O)是阻遏蛋白结合位点；结构基因(lacZ, lacY, lacA)编码功能蛋白。还有上游的调节基因(lacI)编码阻遏蛋白。
3. 负调控：在没有乳糖时，阻遏蛋白结合在操纵基因(O)上，阻止RNA聚合酶转录结构基因。当乳糖存在时，乳糖(实际是异乳糖)作为诱导物与阻遏蛋白结合，使其变构脱离O，转录开启。
4. 正调控：当葡萄糖缺乏时，cAMP浓度升高，cAMP与CAP(分解代谢物激活蛋白)结合，CAP-cAMP复合物结合在启动子附近，增强RNA聚合酶的结合效率。
5. 这种双重调控机制使大肠杆菌能优先利用葡萄糖（最经济的碳源），只有在葡萄糖耗尽且乳糖存在时才大量表达lac基因。这是微生物代谢优化的经典案例。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
1. 重组DNA技术(1970s)：Berg首先在体外构建了重组DNA分子。Boyer和Cohen将外源基因插入质粒并导入大肠杆菌表达，开创了基因工程。关键工具是限制性内切酶（"分子剪刀"）和DNA连接酶（"分子胶水"）。
2. PCR技术(1983)：Mullis在驾车途中想到了PCR的原理——通过温度循环(变性95°C→退火55°C→延伸72°C)实现DNA的指数扩增(2^n)。最初使用普通DNA聚合酶（每个循环需补充），后来从嗜热细菌Thermus aquaticus中提取Taq酶（耐高温），实现自动化。Mullis获1993年诺贝尔化学奖。
3. Sanger测序(1977)：利用ddNTP（双脱氧核苷三磷酸）的链终止效应，在测序反应中随机终止DNA合成，通过电泳分离不同长度片段确定序列。这是"一代测序"，Sanger因此二次获得诺贝尔奖(1958, 1980)。
4. 这些技术的标准化使分子生物学从"手工艺"变成了"工程学"，任何实验室都可以使用标准工具进行基因操作，极大地推动了遗传学研究。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
1. 人类基因组计划(HGP)于1990年启动，2003年宣布完成，历时13年。这是继阿波罗登月计划之后最大规模的国际科学合作项目。
2. 人类基因组约30亿碱基对，约20000-25000个蛋白编码基因——远少于预期的10万个基因。这说明基因数量与生物复杂性不成正比，基因调控和可变剪切是复杂性的重要来源。
3. 六国合作：美国(54%)、英国(33%)、日本(7%)、法国(2.8%)、德国(2.2%)、中国(1%)。中国承担了3号染色体短臂约3000万碱基对的测序工作。
4. 测序成本的下降：HGP耗资约30亿美元；到2020年，个人基因组测序成本已低于1000美元——下降了数百万倍。这得益于二代测序(NGS)技术的革命。
5. HGP的完成开启了基因组学时代，推动了精准医学、药物开发、遗传病诊断、进化生物学等众多领域的发展。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
1. CRISPR-Cas9是细菌的适应性免疫系统，原用于抵御噬菌体入侵。Doudna和Charpentier在2012年证明Cas9可以被"重新编程"——只需更换sgRNA序列，就能切割任意DNA目标序列。这是基因编辑的革命性突破。
2. 张锋团队(Broad研究所)在2013年率先在哺乳动物细胞中实现CRISPR编辑，拓展了其在真核生物中的应用。围绕CRISPR专利的争议持续多年，最终Broad研究所获得了关键专利。
3. 工作原理：(1)设计sgRNA识别目标序列；(2)Cas9-sgRNA复合物结合DNA；(3)识别PAM序列(NGG)定位切割点；(4)Cas9切割DNA双链产生DSB(double strand break)；(5)细胞通过NHEJ(非同源末端连接，易出错)或HDR(同源定向修复，精确替换)修复。
4. 2020年诺贝尔化学奖授予Doudna和Charpentier，表彰她们开发CRISPR-Cas9基因编辑方法。这是首次有两位女性科学家共同获得科学类诺贝尔奖。
5. 应用前景极其广阔：基因治疗（如镰刀型贫血、Leber先天性失明）、农业育种（抗病、高产作物）、基础研究（基因功能筛选）、传染病诊断（如SHERLOCK技术）。但也引发伦理争议（如人类胚胎编辑）。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
1. 孟德尔(1822-1884)：被称为"遗传学之父"。他在布尔诺修道院的8年豌豆杂交实验，发现了分离定律和自由组合定律。他的工作是遗传学从经验走向科学的起点。
2. 摩尔根(1866-1945)：通过果蝇白眼突变体的伴性遗传研究，首次将基因定位到染色体上。他和学生们构建了果蝇遗传图谱，证实了染色体遗传理论。1933年诺贝尔奖。
3. Watson&amp;Crick(1953)：在Franklin的X射线衍射数据和Chargaff碱基比规律的启发下，提出DNA双螺旋结构模型。这一发现将遗传学从细胞水平推进到分子水平，开启了分子遗传学时代。
4. Doudna(2020)：与Charpentier合作，证明Cas9可以被重新编程为通用基因编辑工具。CRISPR-Cas9使精准基因组编辑变得简便和廉价，2020年诺贝尔化学奖。
5. 这四位科学家代表了遗传学发展的四个里程碑：定律发现→染色体定位→分子结构→精准编辑。每一位的工作都建立在上一位的发现之上。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
1. 数学是基石：孟德尔成功的核心在于他将概率论和统计学引入生物学。没有数学工具，就无法从杂交数据中发现3:1和9:3:3:1的规律。这启示我们：定量分析是科学发现的关键。
2. 模式生物关键：孟德尔选择豌豆、摩尔根选择果蝇，都是因为这些生物有适合实验的特性。正确的模式生物选择可以大大加速研究进程。现代遗传学常用的模式生物还包括小鼠、线虫、斑马鱼、拟南芥等。
3. 跨学科合作：分子生物学的诞生受益于物理学家Delbruck、晶体学家Franklin、化学家Chargaff等多学科专家的贡献。科学突破往往发生在学科交叉处。
4. 基础研究为先：CRISPR最初是作为细菌免疫机制被研究的，研究者完全没有预见到它会成为基因编辑工具。这再次证明基础研究是应用创新的源泉。
5. 范式转变需时：从Avery证明DNA是遗传物质(1944)到Watson-Crick提出双螺旋(1953)花了9年。科学范式转变不是一蹴而就的，需要证据积累和观念转变。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
1. 本讲系统回顾了遗传学从史前育种到CRISPR编辑的完整发展历程，跨越约1万年。
2. 发展脉络：经验育种（前孟德尔）→ 实验遗传学（孟德尔定律）→ 细胞遗传学（染色体理论）→ 分子遗传学（DNA结构、中心法则）→ 基因组学（HGP）→ 精准编辑（CRISPR）。
3. 五个关键转折点：1866孟德尔定律、1900重新发现、1953DNA双螺旋、2003人类基因组、2012 CRISPR。每一次转折都伴随着方法论或概念的根本性变革。
4. 参考文献列出了五篇里程碑式论文，建议学生阅读原文感受科学写作的力量。
5. 下节预告：Day 097将讨论遗传学与人类社会的关系，包括ELSI（伦理、法律和社会影响）议题：基因检测的隐私问题、基因编辑的伦理边界、遗传歧视、基因增强的公平性等。
6. 感谢同学们的坚持！100天计划已接近尾声。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000000">
              <a:alpha val="60000"/>
            </a:srgbClr>
          </a:solidFill>
          <a:ln/>
        </p:spPr>
      </p:sp>
      <p:sp>
        <p:nvSpPr>
          <p:cNvPr id="4" name="Text 1"/>
          <p:cNvSpPr/>
          <p:nvPr/>
        </p:nvSpPr>
        <p:spPr>
          <a:xfrm>
            <a:off x="914400" y="1280160"/>
            <a:ext cx="7315200" cy="914400"/>
          </a:xfrm>
          <a:prstGeom prst="rect">
            <a:avLst/>
          </a:prstGeom>
          <a:noFill/>
          <a:ln/>
        </p:spPr>
        <p:txBody>
          <a:bodyPr wrap="square" rtlCol="0" anchor="ctr">
            <a:normAutofit/>
          </a:bodyPr>
          <a:lstStyle/>
          <a:p>
            <a:pPr algn="ctr" indent="0" marL="0">
              <a:buNone/>
            </a:pPr>
            <a:r>
              <a:rPr lang="en-US" sz="4200" b="1" spc="250" kern="0" dirty="0">
                <a:solidFill>
                  <a:srgbClr val="FFFFFF"/>
                </a:solidFill>
                <a:latin typeface="Georgia" pitchFamily="34" charset="0"/>
                <a:ea typeface="Georgia" pitchFamily="34" charset="-122"/>
                <a:cs typeface="Georgia" pitchFamily="34" charset="-120"/>
              </a:rPr>
              <a:t>遗传学发展史回顾</a:t>
            </a:r>
            <a:endParaRPr lang="en-US" sz="4200" dirty="0"/>
          </a:p>
        </p:txBody>
      </p:sp>
      <p:sp>
        <p:nvSpPr>
          <p:cNvPr id="5" name="Text 2"/>
          <p:cNvSpPr/>
          <p:nvPr/>
        </p:nvSpPr>
        <p:spPr>
          <a:xfrm>
            <a:off x="914400" y="2286000"/>
            <a:ext cx="7315200" cy="548640"/>
          </a:xfrm>
          <a:prstGeom prst="rect">
            <a:avLst/>
          </a:prstGeom>
          <a:noFill/>
          <a:ln/>
        </p:spPr>
        <p:txBody>
          <a:bodyPr wrap="square" rtlCol="0" anchor="ctr">
            <a:normAutofit/>
          </a:bodyPr>
          <a:lstStyle/>
          <a:p>
            <a:pPr algn="ctr" indent="0" marL="0">
              <a:buNone/>
            </a:pPr>
            <a:r>
              <a:rPr lang="en-US" sz="2200" i="1" spc="100" kern="0" dirty="0">
                <a:solidFill>
                  <a:srgbClr val="97BC62"/>
                </a:solidFill>
                <a:latin typeface="Georgia" pitchFamily="34" charset="0"/>
                <a:ea typeface="Georgia" pitchFamily="34" charset="-122"/>
                <a:cs typeface="Georgia" pitchFamily="34" charset="-120"/>
              </a:rPr>
              <a:t>History of Genetics Development</a:t>
            </a:r>
            <a:endParaRPr lang="en-US" sz="2200" dirty="0"/>
          </a:p>
        </p:txBody>
      </p:sp>
      <p:sp>
        <p:nvSpPr>
          <p:cNvPr id="6" name="Shape 3"/>
          <p:cNvSpPr/>
          <p:nvPr/>
        </p:nvSpPr>
        <p:spPr>
          <a:xfrm>
            <a:off x="3200400" y="2971800"/>
            <a:ext cx="2743200" cy="0"/>
          </a:xfrm>
          <a:prstGeom prst="line">
            <a:avLst/>
          </a:prstGeom>
          <a:noFill/>
          <a:ln w="25400">
            <a:solidFill>
              <a:srgbClr val="D4A843"/>
            </a:solidFill>
            <a:prstDash val="solid"/>
          </a:ln>
        </p:spPr>
      </p:sp>
      <p:sp>
        <p:nvSpPr>
          <p:cNvPr id="7" name="Text 4"/>
          <p:cNvSpPr/>
          <p:nvPr/>
        </p:nvSpPr>
        <p:spPr>
          <a:xfrm>
            <a:off x="914400" y="3931920"/>
            <a:ext cx="7315200" cy="457200"/>
          </a:xfrm>
          <a:prstGeom prst="rect">
            <a:avLst/>
          </a:prstGeom>
          <a:noFill/>
          <a:ln/>
        </p:spPr>
        <p:txBody>
          <a:bodyPr wrap="square" rtlCol="0" anchor="ctr">
            <a:normAutofit/>
          </a:bodyPr>
          <a:lstStyle/>
          <a:p>
            <a:pPr algn="ctr" indent="0" marL="0">
              <a:buNone/>
            </a:pPr>
            <a:r>
              <a:rPr lang="en-US" sz="1400" spc="50" kern="0" dirty="0">
                <a:solidFill>
                  <a:srgbClr val="D4A843"/>
                </a:solidFill>
                <a:latin typeface="Calibri" pitchFamily="34" charset="0"/>
                <a:ea typeface="Calibri" pitchFamily="34" charset="-122"/>
                <a:cs typeface="Calibri" pitchFamily="34" charset="-120"/>
              </a:rPr>
              <a:t>遗传学100天学习计划  ·  Day 096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320040"/>
            <a:ext cx="73152" cy="594360"/>
          </a:xfrm>
          <a:prstGeom prst="rect">
            <a:avLst/>
          </a:prstGeom>
          <a:solidFill>
            <a:srgbClr val="D4A843"/>
          </a:solidFill>
          <a:ln/>
        </p:spPr>
      </p:sp>
      <p:sp>
        <p:nvSpPr>
          <p:cNvPr id="4" name="Text 1"/>
          <p:cNvSpPr/>
          <p:nvPr/>
        </p:nvSpPr>
        <p:spPr>
          <a:xfrm>
            <a:off x="640080" y="274320"/>
            <a:ext cx="8046720" cy="502920"/>
          </a:xfrm>
          <a:prstGeom prst="rect">
            <a:avLst/>
          </a:prstGeom>
          <a:noFill/>
          <a:ln/>
        </p:spPr>
        <p:txBody>
          <a:bodyPr wrap="square" rtlCol="0" anchor="ctr">
            <a:normAutofit/>
          </a:bodyPr>
          <a:lstStyle/>
          <a:p>
            <a:pPr indent="0" marL="0">
              <a:buNone/>
            </a:pPr>
            <a:r>
              <a:rPr lang="en-US" sz="2600" b="1" spc="150" kern="0" dirty="0">
                <a:solidFill>
                  <a:srgbClr val="2C5F2D"/>
                </a:solidFill>
                <a:latin typeface="Georgia" pitchFamily="34" charset="0"/>
                <a:ea typeface="Georgia" pitchFamily="34" charset="-122"/>
                <a:cs typeface="Georgia" pitchFamily="34" charset="-120"/>
              </a:rPr>
              <a:t>目录  /  Contents</a:t>
            </a:r>
            <a:endParaRPr lang="en-US" sz="2600" dirty="0"/>
          </a:p>
        </p:txBody>
      </p:sp>
      <p:sp>
        <p:nvSpPr>
          <p:cNvPr id="5" name="Shape 2"/>
          <p:cNvSpPr/>
          <p:nvPr/>
        </p:nvSpPr>
        <p:spPr>
          <a:xfrm>
            <a:off x="457200" y="1097280"/>
            <a:ext cx="3977640" cy="834390"/>
          </a:xfrm>
          <a:prstGeom prst="roundRect">
            <a:avLst>
              <a:gd name="adj" fmla="val 8767"/>
            </a:avLst>
          </a:prstGeom>
          <a:solidFill>
            <a:srgbClr val="FFFFFF"/>
          </a:solidFill>
          <a:ln/>
          <a:effectLst>
            <a:outerShdw sx="100000" sy="100000" kx="0" ky="0" algn="bl" rotWithShape="0" blurRad="152400" dist="50800" dir="8100000">
              <a:srgbClr val="000000">
                <a:alpha val="28000"/>
              </a:srgbClr>
            </a:outerShdw>
          </a:effectLst>
        </p:spPr>
      </p:sp>
      <p:sp>
        <p:nvSpPr>
          <p:cNvPr id="6" name="Shape 3"/>
          <p:cNvSpPr/>
          <p:nvPr/>
        </p:nvSpPr>
        <p:spPr>
          <a:xfrm>
            <a:off x="594360" y="1207008"/>
            <a:ext cx="365760" cy="365760"/>
          </a:xfrm>
          <a:prstGeom prst="ellipse">
            <a:avLst/>
          </a:prstGeom>
          <a:solidFill>
            <a:srgbClr val="2C5F2D"/>
          </a:solidFill>
          <a:ln/>
        </p:spPr>
      </p:sp>
      <p:sp>
        <p:nvSpPr>
          <p:cNvPr id="7" name="Text 4"/>
          <p:cNvSpPr/>
          <p:nvPr/>
        </p:nvSpPr>
        <p:spPr>
          <a:xfrm>
            <a:off x="594360" y="1207008"/>
            <a:ext cx="365760" cy="365760"/>
          </a:xfrm>
          <a:prstGeom prst="rect">
            <a:avLst/>
          </a:prstGeom>
          <a:noFill/>
          <a:ln/>
        </p:spPr>
        <p:txBody>
          <a:bodyPr wrap="square" rtlCol="0" anchor="ctr">
            <a:normAutofit/>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01</a:t>
            </a:r>
            <a:endParaRPr lang="en-US" sz="1200" dirty="0"/>
          </a:p>
        </p:txBody>
      </p:sp>
      <p:sp>
        <p:nvSpPr>
          <p:cNvPr id="8" name="Text 5"/>
          <p:cNvSpPr/>
          <p:nvPr/>
        </p:nvSpPr>
        <p:spPr>
          <a:xfrm>
            <a:off x="1051560" y="1188720"/>
            <a:ext cx="324612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前孟德尔时代</a:t>
            </a:r>
            <a:endParaRPr lang="en-US" sz="1300" dirty="0"/>
          </a:p>
        </p:txBody>
      </p:sp>
      <p:sp>
        <p:nvSpPr>
          <p:cNvPr id="9" name="Text 6"/>
          <p:cNvSpPr/>
          <p:nvPr/>
        </p:nvSpPr>
        <p:spPr>
          <a:xfrm>
            <a:off x="1051560" y="1444752"/>
            <a:ext cx="3246120" cy="228600"/>
          </a:xfrm>
          <a:prstGeom prst="rect">
            <a:avLst/>
          </a:prstGeom>
          <a:noFill/>
          <a:ln/>
        </p:spPr>
        <p:txBody>
          <a:bodyPr wrap="square" rtlCol="0" anchor="ctr">
            <a:normAutofit/>
          </a:bodyPr>
          <a:lstStyle/>
          <a:p>
            <a:pPr indent="0" marL="0">
              <a:buNone/>
            </a:pPr>
            <a:r>
              <a:rPr lang="en-US" sz="1000" i="1" dirty="0">
                <a:solidFill>
                  <a:srgbClr val="888888"/>
                </a:solidFill>
                <a:latin typeface="Calibri" pitchFamily="34" charset="0"/>
                <a:ea typeface="Calibri" pitchFamily="34" charset="-122"/>
                <a:cs typeface="Calibri" pitchFamily="34" charset="-120"/>
              </a:rPr>
              <a:t>Pre-Mendelian Era</a:t>
            </a:r>
            <a:endParaRPr lang="en-US" sz="1000" dirty="0"/>
          </a:p>
        </p:txBody>
      </p:sp>
      <p:sp>
        <p:nvSpPr>
          <p:cNvPr id="10" name="Shape 7"/>
          <p:cNvSpPr/>
          <p:nvPr/>
        </p:nvSpPr>
        <p:spPr>
          <a:xfrm>
            <a:off x="4709160" y="1097280"/>
            <a:ext cx="3977640" cy="834390"/>
          </a:xfrm>
          <a:prstGeom prst="roundRect">
            <a:avLst>
              <a:gd name="adj" fmla="val 8767"/>
            </a:avLst>
          </a:prstGeom>
          <a:solidFill>
            <a:srgbClr val="FFFFFF"/>
          </a:solidFill>
          <a:ln/>
          <a:effectLst>
            <a:outerShdw sx="100000" sy="100000" kx="0" ky="0" algn="bl" rotWithShape="0" blurRad="152400" dist="50800" dir="8100000">
              <a:srgbClr val="000000">
                <a:alpha val="28000"/>
              </a:srgbClr>
            </a:outerShdw>
          </a:effectLst>
        </p:spPr>
      </p:sp>
      <p:sp>
        <p:nvSpPr>
          <p:cNvPr id="11" name="Shape 8"/>
          <p:cNvSpPr/>
          <p:nvPr/>
        </p:nvSpPr>
        <p:spPr>
          <a:xfrm>
            <a:off x="4846320" y="1207008"/>
            <a:ext cx="365760" cy="365760"/>
          </a:xfrm>
          <a:prstGeom prst="ellipse">
            <a:avLst/>
          </a:prstGeom>
          <a:solidFill>
            <a:srgbClr val="2C5F2D"/>
          </a:solidFill>
          <a:ln/>
        </p:spPr>
      </p:sp>
      <p:sp>
        <p:nvSpPr>
          <p:cNvPr id="12" name="Text 9"/>
          <p:cNvSpPr/>
          <p:nvPr/>
        </p:nvSpPr>
        <p:spPr>
          <a:xfrm>
            <a:off x="4846320" y="1207008"/>
            <a:ext cx="365760" cy="365760"/>
          </a:xfrm>
          <a:prstGeom prst="rect">
            <a:avLst/>
          </a:prstGeom>
          <a:noFill/>
          <a:ln/>
        </p:spPr>
        <p:txBody>
          <a:bodyPr wrap="square" rtlCol="0" anchor="ctr">
            <a:normAutofit/>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02</a:t>
            </a:r>
            <a:endParaRPr lang="en-US" sz="1200" dirty="0"/>
          </a:p>
        </p:txBody>
      </p:sp>
      <p:sp>
        <p:nvSpPr>
          <p:cNvPr id="13" name="Text 10"/>
          <p:cNvSpPr/>
          <p:nvPr/>
        </p:nvSpPr>
        <p:spPr>
          <a:xfrm>
            <a:off x="5303520" y="1188720"/>
            <a:ext cx="324612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孟德尔时代</a:t>
            </a:r>
            <a:endParaRPr lang="en-US" sz="1300" dirty="0"/>
          </a:p>
        </p:txBody>
      </p:sp>
      <p:sp>
        <p:nvSpPr>
          <p:cNvPr id="14" name="Text 11"/>
          <p:cNvSpPr/>
          <p:nvPr/>
        </p:nvSpPr>
        <p:spPr>
          <a:xfrm>
            <a:off x="5303520" y="1444752"/>
            <a:ext cx="3246120" cy="228600"/>
          </a:xfrm>
          <a:prstGeom prst="rect">
            <a:avLst/>
          </a:prstGeom>
          <a:noFill/>
          <a:ln/>
        </p:spPr>
        <p:txBody>
          <a:bodyPr wrap="square" rtlCol="0" anchor="ctr">
            <a:normAutofit/>
          </a:bodyPr>
          <a:lstStyle/>
          <a:p>
            <a:pPr indent="0" marL="0">
              <a:buNone/>
            </a:pPr>
            <a:r>
              <a:rPr lang="en-US" sz="1000" i="1" dirty="0">
                <a:solidFill>
                  <a:srgbClr val="888888"/>
                </a:solidFill>
                <a:latin typeface="Calibri" pitchFamily="34" charset="0"/>
                <a:ea typeface="Calibri" pitchFamily="34" charset="-122"/>
                <a:cs typeface="Calibri" pitchFamily="34" charset="-120"/>
              </a:rPr>
              <a:t>Mendelian Era</a:t>
            </a:r>
            <a:endParaRPr lang="en-US" sz="1000" dirty="0"/>
          </a:p>
        </p:txBody>
      </p:sp>
      <p:sp>
        <p:nvSpPr>
          <p:cNvPr id="15" name="Shape 12"/>
          <p:cNvSpPr/>
          <p:nvPr/>
        </p:nvSpPr>
        <p:spPr>
          <a:xfrm>
            <a:off x="457200" y="2068830"/>
            <a:ext cx="3977640" cy="834390"/>
          </a:xfrm>
          <a:prstGeom prst="roundRect">
            <a:avLst>
              <a:gd name="adj" fmla="val 8767"/>
            </a:avLst>
          </a:prstGeom>
          <a:solidFill>
            <a:srgbClr val="FFFFFF"/>
          </a:solidFill>
          <a:ln/>
          <a:effectLst>
            <a:outerShdw sx="100000" sy="100000" kx="0" ky="0" algn="bl" rotWithShape="0" blurRad="152400" dist="50800" dir="8100000">
              <a:srgbClr val="000000">
                <a:alpha val="28000"/>
              </a:srgbClr>
            </a:outerShdw>
          </a:effectLst>
        </p:spPr>
      </p:sp>
      <p:sp>
        <p:nvSpPr>
          <p:cNvPr id="16" name="Shape 13"/>
          <p:cNvSpPr/>
          <p:nvPr/>
        </p:nvSpPr>
        <p:spPr>
          <a:xfrm>
            <a:off x="594360" y="2178558"/>
            <a:ext cx="365760" cy="365760"/>
          </a:xfrm>
          <a:prstGeom prst="ellipse">
            <a:avLst/>
          </a:prstGeom>
          <a:solidFill>
            <a:srgbClr val="2C5F2D"/>
          </a:solidFill>
          <a:ln/>
        </p:spPr>
      </p:sp>
      <p:sp>
        <p:nvSpPr>
          <p:cNvPr id="17" name="Text 14"/>
          <p:cNvSpPr/>
          <p:nvPr/>
        </p:nvSpPr>
        <p:spPr>
          <a:xfrm>
            <a:off x="594360" y="2178558"/>
            <a:ext cx="365760" cy="365760"/>
          </a:xfrm>
          <a:prstGeom prst="rect">
            <a:avLst/>
          </a:prstGeom>
          <a:noFill/>
          <a:ln/>
        </p:spPr>
        <p:txBody>
          <a:bodyPr wrap="square" rtlCol="0" anchor="ctr">
            <a:normAutofit/>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03</a:t>
            </a:r>
            <a:endParaRPr lang="en-US" sz="1200" dirty="0"/>
          </a:p>
        </p:txBody>
      </p:sp>
      <p:sp>
        <p:nvSpPr>
          <p:cNvPr id="18" name="Text 15"/>
          <p:cNvSpPr/>
          <p:nvPr/>
        </p:nvSpPr>
        <p:spPr>
          <a:xfrm>
            <a:off x="1051560" y="2160270"/>
            <a:ext cx="324612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细胞遗传学建立</a:t>
            </a:r>
            <a:endParaRPr lang="en-US" sz="1300" dirty="0"/>
          </a:p>
        </p:txBody>
      </p:sp>
      <p:sp>
        <p:nvSpPr>
          <p:cNvPr id="19" name="Text 16"/>
          <p:cNvSpPr/>
          <p:nvPr/>
        </p:nvSpPr>
        <p:spPr>
          <a:xfrm>
            <a:off x="1051560" y="2416302"/>
            <a:ext cx="3246120" cy="228600"/>
          </a:xfrm>
          <a:prstGeom prst="rect">
            <a:avLst/>
          </a:prstGeom>
          <a:noFill/>
          <a:ln/>
        </p:spPr>
        <p:txBody>
          <a:bodyPr wrap="square" rtlCol="0" anchor="ctr">
            <a:normAutofit/>
          </a:bodyPr>
          <a:lstStyle/>
          <a:p>
            <a:pPr indent="0" marL="0">
              <a:buNone/>
            </a:pPr>
            <a:r>
              <a:rPr lang="en-US" sz="1000" i="1" dirty="0">
                <a:solidFill>
                  <a:srgbClr val="888888"/>
                </a:solidFill>
                <a:latin typeface="Calibri" pitchFamily="34" charset="0"/>
                <a:ea typeface="Calibri" pitchFamily="34" charset="-122"/>
                <a:cs typeface="Calibri" pitchFamily="34" charset="-120"/>
              </a:rPr>
              <a:t>Cytogenetics</a:t>
            </a:r>
            <a:endParaRPr lang="en-US" sz="1000" dirty="0"/>
          </a:p>
        </p:txBody>
      </p:sp>
      <p:sp>
        <p:nvSpPr>
          <p:cNvPr id="20" name="Shape 17"/>
          <p:cNvSpPr/>
          <p:nvPr/>
        </p:nvSpPr>
        <p:spPr>
          <a:xfrm>
            <a:off x="4709160" y="2068830"/>
            <a:ext cx="3977640" cy="834390"/>
          </a:xfrm>
          <a:prstGeom prst="roundRect">
            <a:avLst>
              <a:gd name="adj" fmla="val 8767"/>
            </a:avLst>
          </a:prstGeom>
          <a:solidFill>
            <a:srgbClr val="FFFFFF"/>
          </a:solidFill>
          <a:ln/>
          <a:effectLst>
            <a:outerShdw sx="100000" sy="100000" kx="0" ky="0" algn="bl" rotWithShape="0" blurRad="152400" dist="50800" dir="8100000">
              <a:srgbClr val="000000">
                <a:alpha val="28000"/>
              </a:srgbClr>
            </a:outerShdw>
          </a:effectLst>
        </p:spPr>
      </p:sp>
      <p:sp>
        <p:nvSpPr>
          <p:cNvPr id="21" name="Shape 18"/>
          <p:cNvSpPr/>
          <p:nvPr/>
        </p:nvSpPr>
        <p:spPr>
          <a:xfrm>
            <a:off x="4846320" y="2178558"/>
            <a:ext cx="365760" cy="365760"/>
          </a:xfrm>
          <a:prstGeom prst="ellipse">
            <a:avLst/>
          </a:prstGeom>
          <a:solidFill>
            <a:srgbClr val="2C5F2D"/>
          </a:solidFill>
          <a:ln/>
        </p:spPr>
      </p:sp>
      <p:sp>
        <p:nvSpPr>
          <p:cNvPr id="22" name="Text 19"/>
          <p:cNvSpPr/>
          <p:nvPr/>
        </p:nvSpPr>
        <p:spPr>
          <a:xfrm>
            <a:off x="4846320" y="2178558"/>
            <a:ext cx="365760" cy="365760"/>
          </a:xfrm>
          <a:prstGeom prst="rect">
            <a:avLst/>
          </a:prstGeom>
          <a:noFill/>
          <a:ln/>
        </p:spPr>
        <p:txBody>
          <a:bodyPr wrap="square" rtlCol="0" anchor="ctr">
            <a:normAutofit/>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04</a:t>
            </a:r>
            <a:endParaRPr lang="en-US" sz="1200" dirty="0"/>
          </a:p>
        </p:txBody>
      </p:sp>
      <p:sp>
        <p:nvSpPr>
          <p:cNvPr id="23" name="Text 20"/>
          <p:cNvSpPr/>
          <p:nvPr/>
        </p:nvSpPr>
        <p:spPr>
          <a:xfrm>
            <a:off x="5303520" y="2160270"/>
            <a:ext cx="324612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突变论</a:t>
            </a:r>
            <a:endParaRPr lang="en-US" sz="1300" dirty="0"/>
          </a:p>
        </p:txBody>
      </p:sp>
      <p:sp>
        <p:nvSpPr>
          <p:cNvPr id="24" name="Text 21"/>
          <p:cNvSpPr/>
          <p:nvPr/>
        </p:nvSpPr>
        <p:spPr>
          <a:xfrm>
            <a:off x="5303520" y="2416302"/>
            <a:ext cx="3246120" cy="228600"/>
          </a:xfrm>
          <a:prstGeom prst="rect">
            <a:avLst/>
          </a:prstGeom>
          <a:noFill/>
          <a:ln/>
        </p:spPr>
        <p:txBody>
          <a:bodyPr wrap="square" rtlCol="0" anchor="ctr">
            <a:normAutofit/>
          </a:bodyPr>
          <a:lstStyle/>
          <a:p>
            <a:pPr indent="0" marL="0">
              <a:buNone/>
            </a:pPr>
            <a:r>
              <a:rPr lang="en-US" sz="1000" i="1" dirty="0">
                <a:solidFill>
                  <a:srgbClr val="888888"/>
                </a:solidFill>
                <a:latin typeface="Calibri" pitchFamily="34" charset="0"/>
                <a:ea typeface="Calibri" pitchFamily="34" charset="-122"/>
                <a:cs typeface="Calibri" pitchFamily="34" charset="-120"/>
              </a:rPr>
              <a:t>Mutation Theory</a:t>
            </a:r>
            <a:endParaRPr lang="en-US" sz="1000" dirty="0"/>
          </a:p>
        </p:txBody>
      </p:sp>
      <p:sp>
        <p:nvSpPr>
          <p:cNvPr id="25" name="Shape 22"/>
          <p:cNvSpPr/>
          <p:nvPr/>
        </p:nvSpPr>
        <p:spPr>
          <a:xfrm>
            <a:off x="457200" y="3040380"/>
            <a:ext cx="3977640" cy="834390"/>
          </a:xfrm>
          <a:prstGeom prst="roundRect">
            <a:avLst>
              <a:gd name="adj" fmla="val 8767"/>
            </a:avLst>
          </a:prstGeom>
          <a:solidFill>
            <a:srgbClr val="FFFFFF"/>
          </a:solidFill>
          <a:ln/>
          <a:effectLst>
            <a:outerShdw sx="100000" sy="100000" kx="0" ky="0" algn="bl" rotWithShape="0" blurRad="152400" dist="50800" dir="8100000">
              <a:srgbClr val="000000">
                <a:alpha val="28000"/>
              </a:srgbClr>
            </a:outerShdw>
          </a:effectLst>
        </p:spPr>
      </p:sp>
      <p:sp>
        <p:nvSpPr>
          <p:cNvPr id="26" name="Shape 23"/>
          <p:cNvSpPr/>
          <p:nvPr/>
        </p:nvSpPr>
        <p:spPr>
          <a:xfrm>
            <a:off x="594360" y="3150108"/>
            <a:ext cx="365760" cy="365760"/>
          </a:xfrm>
          <a:prstGeom prst="ellipse">
            <a:avLst/>
          </a:prstGeom>
          <a:solidFill>
            <a:srgbClr val="2C5F2D"/>
          </a:solidFill>
          <a:ln/>
        </p:spPr>
      </p:sp>
      <p:sp>
        <p:nvSpPr>
          <p:cNvPr id="27" name="Text 24"/>
          <p:cNvSpPr/>
          <p:nvPr/>
        </p:nvSpPr>
        <p:spPr>
          <a:xfrm>
            <a:off x="594360" y="3150108"/>
            <a:ext cx="365760" cy="365760"/>
          </a:xfrm>
          <a:prstGeom prst="rect">
            <a:avLst/>
          </a:prstGeom>
          <a:noFill/>
          <a:ln/>
        </p:spPr>
        <p:txBody>
          <a:bodyPr wrap="square" rtlCol="0" anchor="ctr">
            <a:normAutofit/>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05</a:t>
            </a:r>
            <a:endParaRPr lang="en-US" sz="1200" dirty="0"/>
          </a:p>
        </p:txBody>
      </p:sp>
      <p:sp>
        <p:nvSpPr>
          <p:cNvPr id="28" name="Text 25"/>
          <p:cNvSpPr/>
          <p:nvPr/>
        </p:nvSpPr>
        <p:spPr>
          <a:xfrm>
            <a:off x="1051560" y="3131820"/>
            <a:ext cx="324612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经典遗传学发展</a:t>
            </a:r>
            <a:endParaRPr lang="en-US" sz="1300" dirty="0"/>
          </a:p>
        </p:txBody>
      </p:sp>
      <p:sp>
        <p:nvSpPr>
          <p:cNvPr id="29" name="Text 26"/>
          <p:cNvSpPr/>
          <p:nvPr/>
        </p:nvSpPr>
        <p:spPr>
          <a:xfrm>
            <a:off x="1051560" y="3387852"/>
            <a:ext cx="3246120" cy="228600"/>
          </a:xfrm>
          <a:prstGeom prst="rect">
            <a:avLst/>
          </a:prstGeom>
          <a:noFill/>
          <a:ln/>
        </p:spPr>
        <p:txBody>
          <a:bodyPr wrap="square" rtlCol="0" anchor="ctr">
            <a:normAutofit/>
          </a:bodyPr>
          <a:lstStyle/>
          <a:p>
            <a:pPr indent="0" marL="0">
              <a:buNone/>
            </a:pPr>
            <a:r>
              <a:rPr lang="en-US" sz="1000" i="1" dirty="0">
                <a:solidFill>
                  <a:srgbClr val="888888"/>
                </a:solidFill>
                <a:latin typeface="Calibri" pitchFamily="34" charset="0"/>
                <a:ea typeface="Calibri" pitchFamily="34" charset="-122"/>
                <a:cs typeface="Calibri" pitchFamily="34" charset="-120"/>
              </a:rPr>
              <a:t>Classical Genetics</a:t>
            </a:r>
            <a:endParaRPr lang="en-US" sz="1000" dirty="0"/>
          </a:p>
        </p:txBody>
      </p:sp>
      <p:sp>
        <p:nvSpPr>
          <p:cNvPr id="30" name="Shape 27"/>
          <p:cNvSpPr/>
          <p:nvPr/>
        </p:nvSpPr>
        <p:spPr>
          <a:xfrm>
            <a:off x="4709160" y="3040380"/>
            <a:ext cx="3977640" cy="834390"/>
          </a:xfrm>
          <a:prstGeom prst="roundRect">
            <a:avLst>
              <a:gd name="adj" fmla="val 8767"/>
            </a:avLst>
          </a:prstGeom>
          <a:solidFill>
            <a:srgbClr val="FFFFFF"/>
          </a:solidFill>
          <a:ln/>
          <a:effectLst>
            <a:outerShdw sx="100000" sy="100000" kx="0" ky="0" algn="bl" rotWithShape="0" blurRad="152400" dist="50800" dir="8100000">
              <a:srgbClr val="000000">
                <a:alpha val="28000"/>
              </a:srgbClr>
            </a:outerShdw>
          </a:effectLst>
        </p:spPr>
      </p:sp>
      <p:sp>
        <p:nvSpPr>
          <p:cNvPr id="31" name="Shape 28"/>
          <p:cNvSpPr/>
          <p:nvPr/>
        </p:nvSpPr>
        <p:spPr>
          <a:xfrm>
            <a:off x="4846320" y="3150108"/>
            <a:ext cx="365760" cy="365760"/>
          </a:xfrm>
          <a:prstGeom prst="ellipse">
            <a:avLst/>
          </a:prstGeom>
          <a:solidFill>
            <a:srgbClr val="2C5F2D"/>
          </a:solidFill>
          <a:ln/>
        </p:spPr>
      </p:sp>
      <p:sp>
        <p:nvSpPr>
          <p:cNvPr id="32" name="Text 29"/>
          <p:cNvSpPr/>
          <p:nvPr/>
        </p:nvSpPr>
        <p:spPr>
          <a:xfrm>
            <a:off x="4846320" y="3150108"/>
            <a:ext cx="365760" cy="365760"/>
          </a:xfrm>
          <a:prstGeom prst="rect">
            <a:avLst/>
          </a:prstGeom>
          <a:noFill/>
          <a:ln/>
        </p:spPr>
        <p:txBody>
          <a:bodyPr wrap="square" rtlCol="0" anchor="ctr">
            <a:normAutofit/>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06</a:t>
            </a:r>
            <a:endParaRPr lang="en-US" sz="1200" dirty="0"/>
          </a:p>
        </p:txBody>
      </p:sp>
      <p:sp>
        <p:nvSpPr>
          <p:cNvPr id="33" name="Text 30"/>
          <p:cNvSpPr/>
          <p:nvPr/>
        </p:nvSpPr>
        <p:spPr>
          <a:xfrm>
            <a:off x="5303520" y="3131820"/>
            <a:ext cx="324612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分子遗传学革命</a:t>
            </a:r>
            <a:endParaRPr lang="en-US" sz="1300" dirty="0"/>
          </a:p>
        </p:txBody>
      </p:sp>
      <p:sp>
        <p:nvSpPr>
          <p:cNvPr id="34" name="Text 31"/>
          <p:cNvSpPr/>
          <p:nvPr/>
        </p:nvSpPr>
        <p:spPr>
          <a:xfrm>
            <a:off x="5303520" y="3387852"/>
            <a:ext cx="3246120" cy="228600"/>
          </a:xfrm>
          <a:prstGeom prst="rect">
            <a:avLst/>
          </a:prstGeom>
          <a:noFill/>
          <a:ln/>
        </p:spPr>
        <p:txBody>
          <a:bodyPr wrap="square" rtlCol="0" anchor="ctr">
            <a:normAutofit/>
          </a:bodyPr>
          <a:lstStyle/>
          <a:p>
            <a:pPr indent="0" marL="0">
              <a:buNone/>
            </a:pPr>
            <a:r>
              <a:rPr lang="en-US" sz="1000" i="1" dirty="0">
                <a:solidFill>
                  <a:srgbClr val="888888"/>
                </a:solidFill>
                <a:latin typeface="Calibri" pitchFamily="34" charset="0"/>
                <a:ea typeface="Calibri" pitchFamily="34" charset="-122"/>
                <a:cs typeface="Calibri" pitchFamily="34" charset="-120"/>
              </a:rPr>
              <a:t>Molecular Genetics</a:t>
            </a:r>
            <a:endParaRPr lang="en-US" sz="1000" dirty="0"/>
          </a:p>
        </p:txBody>
      </p:sp>
      <p:sp>
        <p:nvSpPr>
          <p:cNvPr id="35" name="Shape 32"/>
          <p:cNvSpPr/>
          <p:nvPr/>
        </p:nvSpPr>
        <p:spPr>
          <a:xfrm>
            <a:off x="457200" y="4011930"/>
            <a:ext cx="3977640" cy="834390"/>
          </a:xfrm>
          <a:prstGeom prst="roundRect">
            <a:avLst>
              <a:gd name="adj" fmla="val 8767"/>
            </a:avLst>
          </a:prstGeom>
          <a:solidFill>
            <a:srgbClr val="FFFFFF"/>
          </a:solidFill>
          <a:ln/>
          <a:effectLst>
            <a:outerShdw sx="100000" sy="100000" kx="0" ky="0" algn="bl" rotWithShape="0" blurRad="152400" dist="50800" dir="8100000">
              <a:srgbClr val="000000">
                <a:alpha val="28000"/>
              </a:srgbClr>
            </a:outerShdw>
          </a:effectLst>
        </p:spPr>
      </p:sp>
      <p:sp>
        <p:nvSpPr>
          <p:cNvPr id="36" name="Shape 33"/>
          <p:cNvSpPr/>
          <p:nvPr/>
        </p:nvSpPr>
        <p:spPr>
          <a:xfrm>
            <a:off x="594360" y="4121658"/>
            <a:ext cx="365760" cy="365760"/>
          </a:xfrm>
          <a:prstGeom prst="ellipse">
            <a:avLst/>
          </a:prstGeom>
          <a:solidFill>
            <a:srgbClr val="2C5F2D"/>
          </a:solidFill>
          <a:ln/>
        </p:spPr>
      </p:sp>
      <p:sp>
        <p:nvSpPr>
          <p:cNvPr id="37" name="Text 34"/>
          <p:cNvSpPr/>
          <p:nvPr/>
        </p:nvSpPr>
        <p:spPr>
          <a:xfrm>
            <a:off x="594360" y="4121658"/>
            <a:ext cx="365760" cy="365760"/>
          </a:xfrm>
          <a:prstGeom prst="rect">
            <a:avLst/>
          </a:prstGeom>
          <a:noFill/>
          <a:ln/>
        </p:spPr>
        <p:txBody>
          <a:bodyPr wrap="square" rtlCol="0" anchor="ctr">
            <a:normAutofit/>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07</a:t>
            </a:r>
            <a:endParaRPr lang="en-US" sz="1200" dirty="0"/>
          </a:p>
        </p:txBody>
      </p:sp>
      <p:sp>
        <p:nvSpPr>
          <p:cNvPr id="38" name="Text 35"/>
          <p:cNvSpPr/>
          <p:nvPr/>
        </p:nvSpPr>
        <p:spPr>
          <a:xfrm>
            <a:off x="1051560" y="4103370"/>
            <a:ext cx="324612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现代遗传学</a:t>
            </a:r>
            <a:endParaRPr lang="en-US" sz="1300" dirty="0"/>
          </a:p>
        </p:txBody>
      </p:sp>
      <p:sp>
        <p:nvSpPr>
          <p:cNvPr id="39" name="Text 36"/>
          <p:cNvSpPr/>
          <p:nvPr/>
        </p:nvSpPr>
        <p:spPr>
          <a:xfrm>
            <a:off x="1051560" y="4359402"/>
            <a:ext cx="3246120" cy="228600"/>
          </a:xfrm>
          <a:prstGeom prst="rect">
            <a:avLst/>
          </a:prstGeom>
          <a:noFill/>
          <a:ln/>
        </p:spPr>
        <p:txBody>
          <a:bodyPr wrap="square" rtlCol="0" anchor="ctr">
            <a:normAutofit/>
          </a:bodyPr>
          <a:lstStyle/>
          <a:p>
            <a:pPr indent="0" marL="0">
              <a:buNone/>
            </a:pPr>
            <a:r>
              <a:rPr lang="en-US" sz="1000" i="1" dirty="0">
                <a:solidFill>
                  <a:srgbClr val="888888"/>
                </a:solidFill>
                <a:latin typeface="Calibri" pitchFamily="34" charset="0"/>
                <a:ea typeface="Calibri" pitchFamily="34" charset="-122"/>
                <a:cs typeface="Calibri" pitchFamily="34" charset="-120"/>
              </a:rPr>
              <a:t>Modern Genetics</a:t>
            </a:r>
            <a:endParaRPr lang="en-US" sz="1000" dirty="0"/>
          </a:p>
        </p:txBody>
      </p:sp>
      <p:sp>
        <p:nvSpPr>
          <p:cNvPr id="40" name="Shape 37"/>
          <p:cNvSpPr/>
          <p:nvPr/>
        </p:nvSpPr>
        <p:spPr>
          <a:xfrm>
            <a:off x="4709160" y="4011930"/>
            <a:ext cx="3977640" cy="834390"/>
          </a:xfrm>
          <a:prstGeom prst="roundRect">
            <a:avLst>
              <a:gd name="adj" fmla="val 8767"/>
            </a:avLst>
          </a:prstGeom>
          <a:solidFill>
            <a:srgbClr val="FFFFFF"/>
          </a:solidFill>
          <a:ln/>
          <a:effectLst>
            <a:outerShdw sx="100000" sy="100000" kx="0" ky="0" algn="bl" rotWithShape="0" blurRad="152400" dist="50800" dir="8100000">
              <a:srgbClr val="000000">
                <a:alpha val="28000"/>
              </a:srgbClr>
            </a:outerShdw>
          </a:effectLst>
        </p:spPr>
      </p:sp>
      <p:sp>
        <p:nvSpPr>
          <p:cNvPr id="41" name="Shape 38"/>
          <p:cNvSpPr/>
          <p:nvPr/>
        </p:nvSpPr>
        <p:spPr>
          <a:xfrm>
            <a:off x="4846320" y="4121658"/>
            <a:ext cx="365760" cy="365760"/>
          </a:xfrm>
          <a:prstGeom prst="ellipse">
            <a:avLst/>
          </a:prstGeom>
          <a:solidFill>
            <a:srgbClr val="2C5F2D"/>
          </a:solidFill>
          <a:ln/>
        </p:spPr>
      </p:sp>
      <p:sp>
        <p:nvSpPr>
          <p:cNvPr id="42" name="Text 39"/>
          <p:cNvSpPr/>
          <p:nvPr/>
        </p:nvSpPr>
        <p:spPr>
          <a:xfrm>
            <a:off x="4846320" y="4121658"/>
            <a:ext cx="365760" cy="365760"/>
          </a:xfrm>
          <a:prstGeom prst="rect">
            <a:avLst/>
          </a:prstGeom>
          <a:noFill/>
          <a:ln/>
        </p:spPr>
        <p:txBody>
          <a:bodyPr wrap="square" rtlCol="0" anchor="ctr">
            <a:normAutofit/>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08</a:t>
            </a:r>
            <a:endParaRPr lang="en-US" sz="1200" dirty="0"/>
          </a:p>
        </p:txBody>
      </p:sp>
      <p:sp>
        <p:nvSpPr>
          <p:cNvPr id="43" name="Text 40"/>
          <p:cNvSpPr/>
          <p:nvPr/>
        </p:nvSpPr>
        <p:spPr>
          <a:xfrm>
            <a:off x="5303520" y="4103370"/>
            <a:ext cx="324612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综合与展望</a:t>
            </a:r>
            <a:endParaRPr lang="en-US" sz="1300" dirty="0"/>
          </a:p>
        </p:txBody>
      </p:sp>
      <p:sp>
        <p:nvSpPr>
          <p:cNvPr id="44" name="Text 41"/>
          <p:cNvSpPr/>
          <p:nvPr/>
        </p:nvSpPr>
        <p:spPr>
          <a:xfrm>
            <a:off x="5303520" y="4359402"/>
            <a:ext cx="3246120" cy="228600"/>
          </a:xfrm>
          <a:prstGeom prst="rect">
            <a:avLst/>
          </a:prstGeom>
          <a:noFill/>
          <a:ln/>
        </p:spPr>
        <p:txBody>
          <a:bodyPr wrap="square" rtlCol="0" anchor="ctr">
            <a:normAutofit/>
          </a:bodyPr>
          <a:lstStyle/>
          <a:p>
            <a:pPr indent="0" marL="0">
              <a:buNone/>
            </a:pPr>
            <a:r>
              <a:rPr lang="en-US" sz="1000" i="1" dirty="0">
                <a:solidFill>
                  <a:srgbClr val="888888"/>
                </a:solidFill>
                <a:latin typeface="Calibri" pitchFamily="34" charset="0"/>
                <a:ea typeface="Calibri" pitchFamily="34" charset="-122"/>
                <a:cs typeface="Calibri" pitchFamily="34" charset="-120"/>
              </a:rPr>
              <a:t>Synthesis &amp; Outlook</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320040"/>
            <a:ext cx="73152" cy="594360"/>
          </a:xfrm>
          <a:prstGeom prst="rect">
            <a:avLst/>
          </a:prstGeom>
          <a:solidFill>
            <a:srgbClr val="D4A843"/>
          </a:solidFill>
          <a:ln/>
        </p:spPr>
      </p:sp>
      <p:sp>
        <p:nvSpPr>
          <p:cNvPr id="4" name="Text 1"/>
          <p:cNvSpPr/>
          <p:nvPr/>
        </p:nvSpPr>
        <p:spPr>
          <a:xfrm>
            <a:off x="640080" y="274320"/>
            <a:ext cx="8046720" cy="502920"/>
          </a:xfrm>
          <a:prstGeom prst="rect">
            <a:avLst/>
          </a:prstGeom>
          <a:noFill/>
          <a:ln/>
        </p:spPr>
        <p:txBody>
          <a:bodyPr wrap="square" rtlCol="0" anchor="ctr">
            <a:normAutofit/>
          </a:bodyPr>
          <a:lstStyle/>
          <a:p>
            <a:pPr indent="0" marL="0">
              <a:buNone/>
            </a:pPr>
            <a:r>
              <a:rPr lang="en-US" sz="2600" b="1" spc="150" kern="0" dirty="0">
                <a:solidFill>
                  <a:srgbClr val="2C5F2D"/>
                </a:solidFill>
                <a:latin typeface="Georgia" pitchFamily="34" charset="0"/>
                <a:ea typeface="Georgia" pitchFamily="34" charset="-122"/>
                <a:cs typeface="Georgia" pitchFamily="34" charset="-120"/>
              </a:rPr>
              <a:t>前孟德尔时代  /  Pre-Mendelian Era</a:t>
            </a:r>
            <a:endParaRPr lang="en-US" sz="2600" dirty="0"/>
          </a:p>
        </p:txBody>
      </p:sp>
      <p:sp>
        <p:nvSpPr>
          <p:cNvPr id="5" name="Text 2"/>
          <p:cNvSpPr/>
          <p:nvPr/>
        </p:nvSpPr>
        <p:spPr>
          <a:xfrm>
            <a:off x="640080" y="777240"/>
            <a:ext cx="8046720" cy="274320"/>
          </a:xfrm>
          <a:prstGeom prst="rect">
            <a:avLst/>
          </a:prstGeom>
          <a:noFill/>
          <a:ln/>
        </p:spPr>
        <p:txBody>
          <a:bodyPr wrap="square" rtlCol="0" anchor="ctr">
            <a:normAutofit/>
          </a:bodyPr>
          <a:lstStyle/>
          <a:p>
            <a:pPr indent="0" marL="0">
              <a:buNone/>
            </a:pPr>
            <a:r>
              <a:rPr lang="en-US" sz="1300" i="1" dirty="0">
                <a:solidFill>
                  <a:srgbClr val="97BC62"/>
                </a:solidFill>
                <a:latin typeface="Calibri" pitchFamily="34" charset="0"/>
                <a:ea typeface="Calibri" pitchFamily="34" charset="-122"/>
                <a:cs typeface="Calibri" pitchFamily="34" charset="-120"/>
              </a:rPr>
              <a:t>公元前8000年 — 19世纪中叶</a:t>
            </a:r>
            <a:endParaRPr lang="en-US" sz="1300" dirty="0"/>
          </a:p>
        </p:txBody>
      </p:sp>
      <p:sp>
        <p:nvSpPr>
          <p:cNvPr id="6" name="Shape 3"/>
          <p:cNvSpPr/>
          <p:nvPr/>
        </p:nvSpPr>
        <p:spPr>
          <a:xfrm>
            <a:off x="457200" y="1143000"/>
            <a:ext cx="4000500" cy="1760220"/>
          </a:xfrm>
          <a:prstGeom prst="roundRect">
            <a:avLst>
              <a:gd name="adj" fmla="val 4156"/>
            </a:avLst>
          </a:prstGeom>
          <a:solidFill>
            <a:srgbClr val="FFFFFF"/>
          </a:solidFill>
          <a:ln/>
          <a:effectLst>
            <a:outerShdw sx="100000" sy="100000" kx="0" ky="0" algn="bl" rotWithShape="0" blurRad="152400" dist="50800" dir="8100000">
              <a:srgbClr val="000000">
                <a:alpha val="28000"/>
              </a:srgbClr>
            </a:outerShdw>
          </a:effectLst>
        </p:spPr>
      </p:sp>
      <p:sp>
        <p:nvSpPr>
          <p:cNvPr id="7" name="Shape 4"/>
          <p:cNvSpPr/>
          <p:nvPr/>
        </p:nvSpPr>
        <p:spPr>
          <a:xfrm>
            <a:off x="457200" y="1143000"/>
            <a:ext cx="4000500" cy="54864"/>
          </a:xfrm>
          <a:prstGeom prst="rect">
            <a:avLst/>
          </a:prstGeom>
          <a:solidFill>
            <a:srgbClr val="97BC62"/>
          </a:solidFill>
          <a:ln/>
        </p:spPr>
      </p:sp>
      <p:sp>
        <p:nvSpPr>
          <p:cNvPr id="8" name="Shape 5"/>
          <p:cNvSpPr/>
          <p:nvPr/>
        </p:nvSpPr>
        <p:spPr>
          <a:xfrm>
            <a:off x="640080" y="1325880"/>
            <a:ext cx="411480" cy="411480"/>
          </a:xfrm>
          <a:prstGeom prst="ellipse">
            <a:avLst/>
          </a:prstGeom>
          <a:solidFill>
            <a:srgbClr val="2C5F2D"/>
          </a:solidFill>
          <a:ln/>
        </p:spPr>
      </p:sp>
      <p:sp>
        <p:nvSpPr>
          <p:cNvPr id="9" name="Text 6"/>
          <p:cNvSpPr/>
          <p:nvPr/>
        </p:nvSpPr>
        <p:spPr>
          <a:xfrm>
            <a:off x="640080" y="1325880"/>
            <a:ext cx="411480" cy="411480"/>
          </a:xfrm>
          <a:prstGeom prst="rect">
            <a:avLst/>
          </a:prstGeom>
          <a:noFill/>
          <a:ln/>
        </p:spPr>
        <p:txBody>
          <a:bodyPr wrap="square" rtlCol="0" anchor="ctr">
            <a:normAutofit/>
          </a:bodyPr>
          <a:lstStyle/>
          <a:p>
            <a:pPr algn="ctr" indent="0" marL="0">
              <a:buNone/>
            </a:pPr>
            <a:r>
              <a:rPr lang="en-US" sz="1100" b="1" dirty="0">
                <a:solidFill>
                  <a:srgbClr val="FFFFFF"/>
                </a:solidFill>
                <a:latin typeface="Georgia" pitchFamily="34" charset="0"/>
                <a:ea typeface="Georgia" pitchFamily="34" charset="-122"/>
                <a:cs typeface="Georgia" pitchFamily="34" charset="-120"/>
              </a:rPr>
              <a:t>I</a:t>
            </a:r>
            <a:endParaRPr lang="en-US" sz="1100" dirty="0"/>
          </a:p>
        </p:txBody>
      </p:sp>
      <p:sp>
        <p:nvSpPr>
          <p:cNvPr id="10" name="Text 7"/>
          <p:cNvSpPr/>
          <p:nvPr/>
        </p:nvSpPr>
        <p:spPr>
          <a:xfrm>
            <a:off x="1188720" y="1325880"/>
            <a:ext cx="3086100" cy="41148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选择性育种  Selective Breeding</a:t>
            </a:r>
            <a:endParaRPr lang="en-US" sz="1300" dirty="0"/>
          </a:p>
        </p:txBody>
      </p:sp>
      <p:sp>
        <p:nvSpPr>
          <p:cNvPr id="11" name="Text 8"/>
          <p:cNvSpPr/>
          <p:nvPr/>
        </p:nvSpPr>
        <p:spPr>
          <a:xfrm>
            <a:off x="685800" y="1828800"/>
            <a:ext cx="3543300" cy="937260"/>
          </a:xfrm>
          <a:prstGeom prst="rect">
            <a:avLst/>
          </a:prstGeom>
          <a:noFill/>
          <a:ln/>
        </p:spPr>
        <p:txBody>
          <a:bodyPr wrap="square" rtlCol="0" anchor="t">
            <a:normAutofit/>
          </a:bodyPr>
          <a:lstStyle/>
          <a:p>
            <a:pPr indent="0" marL="0">
              <a:lnSpc>
                <a:spcPct val="120000"/>
              </a:lnSpc>
              <a:buNone/>
            </a:pPr>
            <a:r>
              <a:rPr lang="en-US" sz="1100" dirty="0">
                <a:solidFill>
                  <a:srgbClr val="333333"/>
                </a:solidFill>
                <a:latin typeface="Calibri" pitchFamily="34" charset="0"/>
                <a:ea typeface="Calibri" pitchFamily="34" charset="-122"/>
                <a:cs typeface="Calibri" pitchFamily="34" charset="-120"/>
              </a:rPr>
              <a:t>公元前8000年，人类开始对动植物进行选择性育种，积累经验性遗传知识</a:t>
            </a:r>
            <a:endParaRPr lang="en-US" sz="1100" dirty="0"/>
          </a:p>
        </p:txBody>
      </p:sp>
      <p:sp>
        <p:nvSpPr>
          <p:cNvPr id="12" name="Shape 9"/>
          <p:cNvSpPr/>
          <p:nvPr/>
        </p:nvSpPr>
        <p:spPr>
          <a:xfrm>
            <a:off x="4686300" y="1143000"/>
            <a:ext cx="4000500" cy="1760220"/>
          </a:xfrm>
          <a:prstGeom prst="roundRect">
            <a:avLst>
              <a:gd name="adj" fmla="val 4156"/>
            </a:avLst>
          </a:prstGeom>
          <a:solidFill>
            <a:srgbClr val="FFFFFF"/>
          </a:solidFill>
          <a:ln/>
          <a:effectLst>
            <a:outerShdw sx="100000" sy="100000" kx="0" ky="0" algn="bl" rotWithShape="0" blurRad="152400" dist="50800" dir="8100000">
              <a:srgbClr val="000000">
                <a:alpha val="28000"/>
              </a:srgbClr>
            </a:outerShdw>
          </a:effectLst>
        </p:spPr>
      </p:sp>
      <p:sp>
        <p:nvSpPr>
          <p:cNvPr id="13" name="Shape 10"/>
          <p:cNvSpPr/>
          <p:nvPr/>
        </p:nvSpPr>
        <p:spPr>
          <a:xfrm>
            <a:off x="4686300" y="1143000"/>
            <a:ext cx="4000500" cy="54864"/>
          </a:xfrm>
          <a:prstGeom prst="rect">
            <a:avLst/>
          </a:prstGeom>
          <a:solidFill>
            <a:srgbClr val="97BC62"/>
          </a:solidFill>
          <a:ln/>
        </p:spPr>
      </p:sp>
      <p:sp>
        <p:nvSpPr>
          <p:cNvPr id="14" name="Shape 11"/>
          <p:cNvSpPr/>
          <p:nvPr/>
        </p:nvSpPr>
        <p:spPr>
          <a:xfrm>
            <a:off x="4869180" y="1325880"/>
            <a:ext cx="411480" cy="411480"/>
          </a:xfrm>
          <a:prstGeom prst="ellipse">
            <a:avLst/>
          </a:prstGeom>
          <a:solidFill>
            <a:srgbClr val="2C5F2D"/>
          </a:solidFill>
          <a:ln/>
        </p:spPr>
      </p:sp>
      <p:sp>
        <p:nvSpPr>
          <p:cNvPr id="15" name="Text 12"/>
          <p:cNvSpPr/>
          <p:nvPr/>
        </p:nvSpPr>
        <p:spPr>
          <a:xfrm>
            <a:off x="4869180" y="1325880"/>
            <a:ext cx="411480" cy="411480"/>
          </a:xfrm>
          <a:prstGeom prst="rect">
            <a:avLst/>
          </a:prstGeom>
          <a:noFill/>
          <a:ln/>
        </p:spPr>
        <p:txBody>
          <a:bodyPr wrap="square" rtlCol="0" anchor="ctr">
            <a:normAutofit/>
          </a:bodyPr>
          <a:lstStyle/>
          <a:p>
            <a:pPr algn="ctr" indent="0" marL="0">
              <a:buNone/>
            </a:pPr>
            <a:r>
              <a:rPr lang="en-US" sz="1100" b="1" dirty="0">
                <a:solidFill>
                  <a:srgbClr val="FFFFFF"/>
                </a:solidFill>
                <a:latin typeface="Georgia" pitchFamily="34" charset="0"/>
                <a:ea typeface="Georgia" pitchFamily="34" charset="-122"/>
                <a:cs typeface="Georgia" pitchFamily="34" charset="-120"/>
              </a:rPr>
              <a:t>II</a:t>
            </a:r>
            <a:endParaRPr lang="en-US" sz="1100" dirty="0"/>
          </a:p>
        </p:txBody>
      </p:sp>
      <p:sp>
        <p:nvSpPr>
          <p:cNvPr id="16" name="Text 13"/>
          <p:cNvSpPr/>
          <p:nvPr/>
        </p:nvSpPr>
        <p:spPr>
          <a:xfrm>
            <a:off x="5417820" y="1325880"/>
            <a:ext cx="3086100" cy="41148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泛生论  Pangenesis</a:t>
            </a:r>
            <a:endParaRPr lang="en-US" sz="1300" dirty="0"/>
          </a:p>
        </p:txBody>
      </p:sp>
      <p:sp>
        <p:nvSpPr>
          <p:cNvPr id="17" name="Text 14"/>
          <p:cNvSpPr/>
          <p:nvPr/>
        </p:nvSpPr>
        <p:spPr>
          <a:xfrm>
            <a:off x="4914900" y="1828800"/>
            <a:ext cx="3543300" cy="937260"/>
          </a:xfrm>
          <a:prstGeom prst="rect">
            <a:avLst/>
          </a:prstGeom>
          <a:noFill/>
          <a:ln/>
        </p:spPr>
        <p:txBody>
          <a:bodyPr wrap="square" rtlCol="0" anchor="t">
            <a:normAutofit/>
          </a:bodyPr>
          <a:lstStyle/>
          <a:p>
            <a:pPr indent="0" marL="0">
              <a:lnSpc>
                <a:spcPct val="120000"/>
              </a:lnSpc>
              <a:buNone/>
            </a:pPr>
            <a:r>
              <a:rPr lang="en-US" sz="1100" dirty="0">
                <a:solidFill>
                  <a:srgbClr val="333333"/>
                </a:solidFill>
                <a:latin typeface="Calibri" pitchFamily="34" charset="0"/>
                <a:ea typeface="Calibri" pitchFamily="34" charset="-122"/>
                <a:cs typeface="Calibri" pitchFamily="34" charset="-120"/>
              </a:rPr>
              <a:t>达尔文提出：身体各部分产生"泛子"，通过血液传至生殖细胞</a:t>
            </a:r>
            <a:endParaRPr lang="en-US" sz="1100" dirty="0"/>
          </a:p>
        </p:txBody>
      </p:sp>
      <p:sp>
        <p:nvSpPr>
          <p:cNvPr id="18" name="Shape 15"/>
          <p:cNvSpPr/>
          <p:nvPr/>
        </p:nvSpPr>
        <p:spPr>
          <a:xfrm>
            <a:off x="457200" y="3086100"/>
            <a:ext cx="4000500" cy="1760220"/>
          </a:xfrm>
          <a:prstGeom prst="roundRect">
            <a:avLst>
              <a:gd name="adj" fmla="val 4156"/>
            </a:avLst>
          </a:prstGeom>
          <a:solidFill>
            <a:srgbClr val="FFFFFF"/>
          </a:solidFill>
          <a:ln/>
          <a:effectLst>
            <a:outerShdw sx="100000" sy="100000" kx="0" ky="0" algn="bl" rotWithShape="0" blurRad="152400" dist="50800" dir="8100000">
              <a:srgbClr val="000000">
                <a:alpha val="28000"/>
              </a:srgbClr>
            </a:outerShdw>
          </a:effectLst>
        </p:spPr>
      </p:sp>
      <p:sp>
        <p:nvSpPr>
          <p:cNvPr id="19" name="Shape 16"/>
          <p:cNvSpPr/>
          <p:nvPr/>
        </p:nvSpPr>
        <p:spPr>
          <a:xfrm>
            <a:off x="457200" y="3086100"/>
            <a:ext cx="4000500" cy="54864"/>
          </a:xfrm>
          <a:prstGeom prst="rect">
            <a:avLst/>
          </a:prstGeom>
          <a:solidFill>
            <a:srgbClr val="97BC62"/>
          </a:solidFill>
          <a:ln/>
        </p:spPr>
      </p:sp>
      <p:sp>
        <p:nvSpPr>
          <p:cNvPr id="20" name="Shape 17"/>
          <p:cNvSpPr/>
          <p:nvPr/>
        </p:nvSpPr>
        <p:spPr>
          <a:xfrm>
            <a:off x="640080" y="3268980"/>
            <a:ext cx="411480" cy="411480"/>
          </a:xfrm>
          <a:prstGeom prst="ellipse">
            <a:avLst/>
          </a:prstGeom>
          <a:solidFill>
            <a:srgbClr val="2C5F2D"/>
          </a:solidFill>
          <a:ln/>
        </p:spPr>
      </p:sp>
      <p:sp>
        <p:nvSpPr>
          <p:cNvPr id="21" name="Text 18"/>
          <p:cNvSpPr/>
          <p:nvPr/>
        </p:nvSpPr>
        <p:spPr>
          <a:xfrm>
            <a:off x="640080" y="3268980"/>
            <a:ext cx="411480" cy="411480"/>
          </a:xfrm>
          <a:prstGeom prst="rect">
            <a:avLst/>
          </a:prstGeom>
          <a:noFill/>
          <a:ln/>
        </p:spPr>
        <p:txBody>
          <a:bodyPr wrap="square" rtlCol="0" anchor="ctr">
            <a:normAutofit/>
          </a:bodyPr>
          <a:lstStyle/>
          <a:p>
            <a:pPr algn="ctr" indent="0" marL="0">
              <a:buNone/>
            </a:pPr>
            <a:r>
              <a:rPr lang="en-US" sz="1100" b="1" dirty="0">
                <a:solidFill>
                  <a:srgbClr val="FFFFFF"/>
                </a:solidFill>
                <a:latin typeface="Georgia" pitchFamily="34" charset="0"/>
                <a:ea typeface="Georgia" pitchFamily="34" charset="-122"/>
                <a:cs typeface="Georgia" pitchFamily="34" charset="-120"/>
              </a:rPr>
              <a:t>III</a:t>
            </a:r>
            <a:endParaRPr lang="en-US" sz="1100" dirty="0"/>
          </a:p>
        </p:txBody>
      </p:sp>
      <p:sp>
        <p:nvSpPr>
          <p:cNvPr id="22" name="Text 19"/>
          <p:cNvSpPr/>
          <p:nvPr/>
        </p:nvSpPr>
        <p:spPr>
          <a:xfrm>
            <a:off x="1188720" y="3268980"/>
            <a:ext cx="3086100" cy="41148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融合遗传  Blending Inheritance</a:t>
            </a:r>
            <a:endParaRPr lang="en-US" sz="1300" dirty="0"/>
          </a:p>
        </p:txBody>
      </p:sp>
      <p:sp>
        <p:nvSpPr>
          <p:cNvPr id="23" name="Text 20"/>
          <p:cNvSpPr/>
          <p:nvPr/>
        </p:nvSpPr>
        <p:spPr>
          <a:xfrm>
            <a:off x="685800" y="3771900"/>
            <a:ext cx="3543300" cy="937260"/>
          </a:xfrm>
          <a:prstGeom prst="rect">
            <a:avLst/>
          </a:prstGeom>
          <a:noFill/>
          <a:ln/>
        </p:spPr>
        <p:txBody>
          <a:bodyPr wrap="square" rtlCol="0" anchor="t">
            <a:normAutofit/>
          </a:bodyPr>
          <a:lstStyle/>
          <a:p>
            <a:pPr indent="0" marL="0">
              <a:lnSpc>
                <a:spcPct val="120000"/>
              </a:lnSpc>
              <a:buNone/>
            </a:pPr>
            <a:r>
              <a:rPr lang="en-US" sz="1100" dirty="0">
                <a:solidFill>
                  <a:srgbClr val="333333"/>
                </a:solidFill>
                <a:latin typeface="Calibri" pitchFamily="34" charset="0"/>
                <a:ea typeface="Calibri" pitchFamily="34" charset="-122"/>
                <a:cs typeface="Calibri" pitchFamily="34" charset="-120"/>
              </a:rPr>
              <a:t>子代性状是亲代"混合"的结果，无法解释性状的分离</a:t>
            </a:r>
            <a:endParaRPr lang="en-US" sz="1100" dirty="0"/>
          </a:p>
        </p:txBody>
      </p:sp>
      <p:sp>
        <p:nvSpPr>
          <p:cNvPr id="24" name="Shape 21"/>
          <p:cNvSpPr/>
          <p:nvPr/>
        </p:nvSpPr>
        <p:spPr>
          <a:xfrm>
            <a:off x="4686300" y="3086100"/>
            <a:ext cx="4000500" cy="1760220"/>
          </a:xfrm>
          <a:prstGeom prst="roundRect">
            <a:avLst>
              <a:gd name="adj" fmla="val 4156"/>
            </a:avLst>
          </a:prstGeom>
          <a:solidFill>
            <a:srgbClr val="FFFFFF"/>
          </a:solidFill>
          <a:ln/>
          <a:effectLst>
            <a:outerShdw sx="100000" sy="100000" kx="0" ky="0" algn="bl" rotWithShape="0" blurRad="152400" dist="50800" dir="8100000">
              <a:srgbClr val="000000">
                <a:alpha val="28000"/>
              </a:srgbClr>
            </a:outerShdw>
          </a:effectLst>
        </p:spPr>
      </p:sp>
      <p:sp>
        <p:nvSpPr>
          <p:cNvPr id="25" name="Shape 22"/>
          <p:cNvSpPr/>
          <p:nvPr/>
        </p:nvSpPr>
        <p:spPr>
          <a:xfrm>
            <a:off x="4686300" y="3086100"/>
            <a:ext cx="4000500" cy="54864"/>
          </a:xfrm>
          <a:prstGeom prst="rect">
            <a:avLst/>
          </a:prstGeom>
          <a:solidFill>
            <a:srgbClr val="97BC62"/>
          </a:solidFill>
          <a:ln/>
        </p:spPr>
      </p:sp>
      <p:sp>
        <p:nvSpPr>
          <p:cNvPr id="26" name="Shape 23"/>
          <p:cNvSpPr/>
          <p:nvPr/>
        </p:nvSpPr>
        <p:spPr>
          <a:xfrm>
            <a:off x="4869180" y="3268980"/>
            <a:ext cx="411480" cy="411480"/>
          </a:xfrm>
          <a:prstGeom prst="ellipse">
            <a:avLst/>
          </a:prstGeom>
          <a:solidFill>
            <a:srgbClr val="2C5F2D"/>
          </a:solidFill>
          <a:ln/>
        </p:spPr>
      </p:sp>
      <p:sp>
        <p:nvSpPr>
          <p:cNvPr id="27" name="Text 24"/>
          <p:cNvSpPr/>
          <p:nvPr/>
        </p:nvSpPr>
        <p:spPr>
          <a:xfrm>
            <a:off x="4869180" y="3268980"/>
            <a:ext cx="411480" cy="411480"/>
          </a:xfrm>
          <a:prstGeom prst="rect">
            <a:avLst/>
          </a:prstGeom>
          <a:noFill/>
          <a:ln/>
        </p:spPr>
        <p:txBody>
          <a:bodyPr wrap="square" rtlCol="0" anchor="ctr">
            <a:normAutofit/>
          </a:bodyPr>
          <a:lstStyle/>
          <a:p>
            <a:pPr algn="ctr" indent="0" marL="0">
              <a:buNone/>
            </a:pPr>
            <a:r>
              <a:rPr lang="en-US" sz="1100" b="1" dirty="0">
                <a:solidFill>
                  <a:srgbClr val="FFFFFF"/>
                </a:solidFill>
                <a:latin typeface="Georgia" pitchFamily="34" charset="0"/>
                <a:ea typeface="Georgia" pitchFamily="34" charset="-122"/>
                <a:cs typeface="Georgia" pitchFamily="34" charset="-120"/>
              </a:rPr>
              <a:t>IV</a:t>
            </a:r>
            <a:endParaRPr lang="en-US" sz="1100" dirty="0"/>
          </a:p>
        </p:txBody>
      </p:sp>
      <p:sp>
        <p:nvSpPr>
          <p:cNvPr id="28" name="Text 25"/>
          <p:cNvSpPr/>
          <p:nvPr/>
        </p:nvSpPr>
        <p:spPr>
          <a:xfrm>
            <a:off x="5417820" y="3268980"/>
            <a:ext cx="3086100" cy="41148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杂交先驱  Hybridization Pioneers</a:t>
            </a:r>
            <a:endParaRPr lang="en-US" sz="1300" dirty="0"/>
          </a:p>
        </p:txBody>
      </p:sp>
      <p:sp>
        <p:nvSpPr>
          <p:cNvPr id="29" name="Text 26"/>
          <p:cNvSpPr/>
          <p:nvPr/>
        </p:nvSpPr>
        <p:spPr>
          <a:xfrm>
            <a:off x="4914900" y="3771900"/>
            <a:ext cx="3543300" cy="937260"/>
          </a:xfrm>
          <a:prstGeom prst="rect">
            <a:avLst/>
          </a:prstGeom>
          <a:noFill/>
          <a:ln/>
        </p:spPr>
        <p:txBody>
          <a:bodyPr wrap="square" rtlCol="0" anchor="t">
            <a:normAutofit/>
          </a:bodyPr>
          <a:lstStyle/>
          <a:p>
            <a:pPr indent="0" marL="0">
              <a:lnSpc>
                <a:spcPct val="120000"/>
              </a:lnSpc>
              <a:buNone/>
            </a:pPr>
            <a:r>
              <a:rPr lang="en-US" sz="1100" dirty="0">
                <a:solidFill>
                  <a:srgbClr val="333333"/>
                </a:solidFill>
                <a:latin typeface="Calibri" pitchFamily="34" charset="0"/>
                <a:ea typeface="Calibri" pitchFamily="34" charset="-122"/>
                <a:cs typeface="Calibri" pitchFamily="34" charset="-120"/>
              </a:rPr>
              <a:t>Kolreuter和Gartner的杂交实验为孟德尔奠定基础</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320040"/>
            <a:ext cx="73152" cy="594360"/>
          </a:xfrm>
          <a:prstGeom prst="rect">
            <a:avLst/>
          </a:prstGeom>
          <a:solidFill>
            <a:srgbClr val="D4A843"/>
          </a:solidFill>
          <a:ln/>
        </p:spPr>
      </p:sp>
      <p:sp>
        <p:nvSpPr>
          <p:cNvPr id="4" name="Text 1"/>
          <p:cNvSpPr/>
          <p:nvPr/>
        </p:nvSpPr>
        <p:spPr>
          <a:xfrm>
            <a:off x="640080" y="274320"/>
            <a:ext cx="8046720" cy="502920"/>
          </a:xfrm>
          <a:prstGeom prst="rect">
            <a:avLst/>
          </a:prstGeom>
          <a:noFill/>
          <a:ln/>
        </p:spPr>
        <p:txBody>
          <a:bodyPr wrap="square" rtlCol="0" anchor="ctr">
            <a:normAutofit/>
          </a:bodyPr>
          <a:lstStyle/>
          <a:p>
            <a:pPr indent="0" marL="0">
              <a:buNone/>
            </a:pPr>
            <a:r>
              <a:rPr lang="en-US" sz="2600" b="1" spc="150" kern="0" dirty="0">
                <a:solidFill>
                  <a:srgbClr val="2C5F2D"/>
                </a:solidFill>
                <a:latin typeface="Georgia" pitchFamily="34" charset="0"/>
                <a:ea typeface="Georgia" pitchFamily="34" charset="-122"/>
                <a:cs typeface="Georgia" pitchFamily="34" charset="-120"/>
              </a:rPr>
              <a:t>孟德尔的生平与实验  /  Mendel's Life and Experiments</a:t>
            </a:r>
            <a:endParaRPr lang="en-US" sz="2600" dirty="0"/>
          </a:p>
        </p:txBody>
      </p:sp>
      <p:sp>
        <p:nvSpPr>
          <p:cNvPr id="5" name="Text 2"/>
          <p:cNvSpPr/>
          <p:nvPr/>
        </p:nvSpPr>
        <p:spPr>
          <a:xfrm>
            <a:off x="640080" y="777240"/>
            <a:ext cx="8046720" cy="274320"/>
          </a:xfrm>
          <a:prstGeom prst="rect">
            <a:avLst/>
          </a:prstGeom>
          <a:noFill/>
          <a:ln/>
        </p:spPr>
        <p:txBody>
          <a:bodyPr wrap="square" rtlCol="0" anchor="ctr">
            <a:normAutofit/>
          </a:bodyPr>
          <a:lstStyle/>
          <a:p>
            <a:pPr indent="0" marL="0">
              <a:buNone/>
            </a:pPr>
            <a:r>
              <a:rPr lang="en-US" sz="1300" i="1" dirty="0">
                <a:solidFill>
                  <a:srgbClr val="97BC62"/>
                </a:solidFill>
                <a:latin typeface="Calibri" pitchFamily="34" charset="0"/>
                <a:ea typeface="Calibri" pitchFamily="34" charset="-122"/>
                <a:cs typeface="Calibri" pitchFamily="34" charset="-120"/>
              </a:rPr>
              <a:t>Gregor Mendel (1822-1884)  ·  布尔诺奥古斯丁修道院</a:t>
            </a:r>
            <a:endParaRPr lang="en-US" sz="1300" dirty="0"/>
          </a:p>
        </p:txBody>
      </p:sp>
      <p:sp>
        <p:nvSpPr>
          <p:cNvPr id="6" name="Text 3"/>
          <p:cNvSpPr/>
          <p:nvPr/>
        </p:nvSpPr>
        <p:spPr>
          <a:xfrm>
            <a:off x="457200" y="1143000"/>
            <a:ext cx="3931920" cy="274320"/>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生平时间线 / Life Timeline</a:t>
            </a:r>
            <a:endParaRPr lang="en-US" sz="1400" dirty="0"/>
          </a:p>
        </p:txBody>
      </p:sp>
      <p:sp>
        <p:nvSpPr>
          <p:cNvPr id="7" name="Shape 4"/>
          <p:cNvSpPr/>
          <p:nvPr/>
        </p:nvSpPr>
        <p:spPr>
          <a:xfrm>
            <a:off x="914400" y="1645920"/>
            <a:ext cx="0" cy="2651760"/>
          </a:xfrm>
          <a:prstGeom prst="line">
            <a:avLst/>
          </a:prstGeom>
          <a:noFill/>
          <a:ln w="25400">
            <a:solidFill>
              <a:srgbClr val="97BC62"/>
            </a:solidFill>
            <a:prstDash val="solid"/>
          </a:ln>
        </p:spPr>
      </p:sp>
      <p:sp>
        <p:nvSpPr>
          <p:cNvPr id="8" name="Shape 5"/>
          <p:cNvSpPr/>
          <p:nvPr/>
        </p:nvSpPr>
        <p:spPr>
          <a:xfrm>
            <a:off x="841248" y="1508760"/>
            <a:ext cx="146304" cy="146304"/>
          </a:xfrm>
          <a:prstGeom prst="ellipse">
            <a:avLst/>
          </a:prstGeom>
          <a:solidFill>
            <a:srgbClr val="D4A843"/>
          </a:solidFill>
          <a:ln/>
        </p:spPr>
      </p:sp>
      <p:sp>
        <p:nvSpPr>
          <p:cNvPr id="9" name="Text 6"/>
          <p:cNvSpPr/>
          <p:nvPr/>
        </p:nvSpPr>
        <p:spPr>
          <a:xfrm>
            <a:off x="457200" y="1463040"/>
            <a:ext cx="365760" cy="274320"/>
          </a:xfrm>
          <a:prstGeom prst="rect">
            <a:avLst/>
          </a:prstGeom>
          <a:noFill/>
          <a:ln/>
        </p:spPr>
        <p:txBody>
          <a:bodyPr wrap="square" rtlCol="0" anchor="ctr">
            <a:normAutofit/>
          </a:bodyPr>
          <a:lstStyle/>
          <a:p>
            <a:pPr algn="r" indent="0" marL="0">
              <a:buNone/>
            </a:pPr>
            <a:r>
              <a:rPr lang="en-US" sz="1100" b="1" dirty="0">
                <a:solidFill>
                  <a:srgbClr val="2C5F2D"/>
                </a:solidFill>
                <a:latin typeface="Georgia" pitchFamily="34" charset="0"/>
                <a:ea typeface="Georgia" pitchFamily="34" charset="-122"/>
                <a:cs typeface="Georgia" pitchFamily="34" charset="-120"/>
              </a:rPr>
              <a:t>1822</a:t>
            </a:r>
            <a:endParaRPr lang="en-US" sz="1100" dirty="0"/>
          </a:p>
        </p:txBody>
      </p:sp>
      <p:sp>
        <p:nvSpPr>
          <p:cNvPr id="10" name="Text 7"/>
          <p:cNvSpPr/>
          <p:nvPr/>
        </p:nvSpPr>
        <p:spPr>
          <a:xfrm>
            <a:off x="1097280" y="1463040"/>
            <a:ext cx="3200400" cy="274320"/>
          </a:xfrm>
          <a:prstGeom prst="rect">
            <a:avLst/>
          </a:prstGeom>
          <a:noFill/>
          <a:ln/>
        </p:spPr>
        <p:txBody>
          <a:bodyPr wrap="square" rtlCol="0" anchor="ctr">
            <a:normAutofit/>
          </a:bodyPr>
          <a:lstStyle/>
          <a:p>
            <a:pPr indent="0" marL="0">
              <a:buNone/>
            </a:pPr>
            <a:r>
              <a:rPr lang="en-US" sz="1000" dirty="0">
                <a:solidFill>
                  <a:srgbClr val="333333"/>
                </a:solidFill>
                <a:latin typeface="Calibri" pitchFamily="34" charset="0"/>
                <a:ea typeface="Calibri" pitchFamily="34" charset="-122"/>
                <a:cs typeface="Calibri" pitchFamily="34" charset="-120"/>
              </a:rPr>
              <a:t>出生于奥地利西里西亚（今捷克）</a:t>
            </a:r>
            <a:endParaRPr lang="en-US" sz="1000" dirty="0"/>
          </a:p>
        </p:txBody>
      </p:sp>
      <p:sp>
        <p:nvSpPr>
          <p:cNvPr id="11" name="Shape 8"/>
          <p:cNvSpPr/>
          <p:nvPr/>
        </p:nvSpPr>
        <p:spPr>
          <a:xfrm>
            <a:off x="841248" y="2057400"/>
            <a:ext cx="146304" cy="146304"/>
          </a:xfrm>
          <a:prstGeom prst="ellipse">
            <a:avLst/>
          </a:prstGeom>
          <a:solidFill>
            <a:srgbClr val="D4A843"/>
          </a:solidFill>
          <a:ln/>
        </p:spPr>
      </p:sp>
      <p:sp>
        <p:nvSpPr>
          <p:cNvPr id="12" name="Text 9"/>
          <p:cNvSpPr/>
          <p:nvPr/>
        </p:nvSpPr>
        <p:spPr>
          <a:xfrm>
            <a:off x="457200" y="2011680"/>
            <a:ext cx="365760" cy="274320"/>
          </a:xfrm>
          <a:prstGeom prst="rect">
            <a:avLst/>
          </a:prstGeom>
          <a:noFill/>
          <a:ln/>
        </p:spPr>
        <p:txBody>
          <a:bodyPr wrap="square" rtlCol="0" anchor="ctr">
            <a:normAutofit/>
          </a:bodyPr>
          <a:lstStyle/>
          <a:p>
            <a:pPr algn="r" indent="0" marL="0">
              <a:buNone/>
            </a:pPr>
            <a:r>
              <a:rPr lang="en-US" sz="1100" b="1" dirty="0">
                <a:solidFill>
                  <a:srgbClr val="2C5F2D"/>
                </a:solidFill>
                <a:latin typeface="Georgia" pitchFamily="34" charset="0"/>
                <a:ea typeface="Georgia" pitchFamily="34" charset="-122"/>
                <a:cs typeface="Georgia" pitchFamily="34" charset="-120"/>
              </a:rPr>
              <a:t>1843</a:t>
            </a:r>
            <a:endParaRPr lang="en-US" sz="1100" dirty="0"/>
          </a:p>
        </p:txBody>
      </p:sp>
      <p:sp>
        <p:nvSpPr>
          <p:cNvPr id="13" name="Text 10"/>
          <p:cNvSpPr/>
          <p:nvPr/>
        </p:nvSpPr>
        <p:spPr>
          <a:xfrm>
            <a:off x="1097280" y="2011680"/>
            <a:ext cx="3200400" cy="274320"/>
          </a:xfrm>
          <a:prstGeom prst="rect">
            <a:avLst/>
          </a:prstGeom>
          <a:noFill/>
          <a:ln/>
        </p:spPr>
        <p:txBody>
          <a:bodyPr wrap="square" rtlCol="0" anchor="ctr">
            <a:normAutofit/>
          </a:bodyPr>
          <a:lstStyle/>
          <a:p>
            <a:pPr indent="0" marL="0">
              <a:buNone/>
            </a:pPr>
            <a:r>
              <a:rPr lang="en-US" sz="1000" dirty="0">
                <a:solidFill>
                  <a:srgbClr val="333333"/>
                </a:solidFill>
                <a:latin typeface="Calibri" pitchFamily="34" charset="0"/>
                <a:ea typeface="Calibri" pitchFamily="34" charset="-122"/>
                <a:cs typeface="Calibri" pitchFamily="34" charset="-120"/>
              </a:rPr>
              <a:t>加入布尔诺奥古斯丁修道院</a:t>
            </a:r>
            <a:endParaRPr lang="en-US" sz="1000" dirty="0"/>
          </a:p>
        </p:txBody>
      </p:sp>
      <p:sp>
        <p:nvSpPr>
          <p:cNvPr id="14" name="Shape 11"/>
          <p:cNvSpPr/>
          <p:nvPr/>
        </p:nvSpPr>
        <p:spPr>
          <a:xfrm>
            <a:off x="841248" y="2606040"/>
            <a:ext cx="146304" cy="146304"/>
          </a:xfrm>
          <a:prstGeom prst="ellipse">
            <a:avLst/>
          </a:prstGeom>
          <a:solidFill>
            <a:srgbClr val="D4A843"/>
          </a:solidFill>
          <a:ln/>
        </p:spPr>
      </p:sp>
      <p:sp>
        <p:nvSpPr>
          <p:cNvPr id="15" name="Text 12"/>
          <p:cNvSpPr/>
          <p:nvPr/>
        </p:nvSpPr>
        <p:spPr>
          <a:xfrm>
            <a:off x="457200" y="2560320"/>
            <a:ext cx="365760" cy="274320"/>
          </a:xfrm>
          <a:prstGeom prst="rect">
            <a:avLst/>
          </a:prstGeom>
          <a:noFill/>
          <a:ln/>
        </p:spPr>
        <p:txBody>
          <a:bodyPr wrap="square" rtlCol="0" anchor="ctr">
            <a:normAutofit/>
          </a:bodyPr>
          <a:lstStyle/>
          <a:p>
            <a:pPr algn="r" indent="0" marL="0">
              <a:buNone/>
            </a:pPr>
            <a:r>
              <a:rPr lang="en-US" sz="1100" b="1" dirty="0">
                <a:solidFill>
                  <a:srgbClr val="2C5F2D"/>
                </a:solidFill>
                <a:latin typeface="Georgia" pitchFamily="34" charset="0"/>
                <a:ea typeface="Georgia" pitchFamily="34" charset="-122"/>
                <a:cs typeface="Georgia" pitchFamily="34" charset="-120"/>
              </a:rPr>
              <a:t>1856</a:t>
            </a:r>
            <a:endParaRPr lang="en-US" sz="1100" dirty="0"/>
          </a:p>
        </p:txBody>
      </p:sp>
      <p:sp>
        <p:nvSpPr>
          <p:cNvPr id="16" name="Text 13"/>
          <p:cNvSpPr/>
          <p:nvPr/>
        </p:nvSpPr>
        <p:spPr>
          <a:xfrm>
            <a:off x="1097280" y="2560320"/>
            <a:ext cx="3200400" cy="274320"/>
          </a:xfrm>
          <a:prstGeom prst="rect">
            <a:avLst/>
          </a:prstGeom>
          <a:noFill/>
          <a:ln/>
        </p:spPr>
        <p:txBody>
          <a:bodyPr wrap="square" rtlCol="0" anchor="ctr">
            <a:normAutofit/>
          </a:bodyPr>
          <a:lstStyle/>
          <a:p>
            <a:pPr indent="0" marL="0">
              <a:buNone/>
            </a:pPr>
            <a:r>
              <a:rPr lang="en-US" sz="1000" dirty="0">
                <a:solidFill>
                  <a:srgbClr val="333333"/>
                </a:solidFill>
                <a:latin typeface="Calibri" pitchFamily="34" charset="0"/>
                <a:ea typeface="Calibri" pitchFamily="34" charset="-122"/>
                <a:cs typeface="Calibri" pitchFamily="34" charset="-120"/>
              </a:rPr>
              <a:t>开始豌豆杂交实验</a:t>
            </a:r>
            <a:endParaRPr lang="en-US" sz="1000" dirty="0"/>
          </a:p>
        </p:txBody>
      </p:sp>
      <p:sp>
        <p:nvSpPr>
          <p:cNvPr id="17" name="Shape 14"/>
          <p:cNvSpPr/>
          <p:nvPr/>
        </p:nvSpPr>
        <p:spPr>
          <a:xfrm>
            <a:off x="841248" y="3154680"/>
            <a:ext cx="146304" cy="146304"/>
          </a:xfrm>
          <a:prstGeom prst="ellipse">
            <a:avLst/>
          </a:prstGeom>
          <a:solidFill>
            <a:srgbClr val="D4A843"/>
          </a:solidFill>
          <a:ln/>
        </p:spPr>
      </p:sp>
      <p:sp>
        <p:nvSpPr>
          <p:cNvPr id="18" name="Text 15"/>
          <p:cNvSpPr/>
          <p:nvPr/>
        </p:nvSpPr>
        <p:spPr>
          <a:xfrm>
            <a:off x="457200" y="3108960"/>
            <a:ext cx="365760" cy="274320"/>
          </a:xfrm>
          <a:prstGeom prst="rect">
            <a:avLst/>
          </a:prstGeom>
          <a:noFill/>
          <a:ln/>
        </p:spPr>
        <p:txBody>
          <a:bodyPr wrap="square" rtlCol="0" anchor="ctr">
            <a:normAutofit/>
          </a:bodyPr>
          <a:lstStyle/>
          <a:p>
            <a:pPr algn="r" indent="0" marL="0">
              <a:buNone/>
            </a:pPr>
            <a:r>
              <a:rPr lang="en-US" sz="1100" b="1" dirty="0">
                <a:solidFill>
                  <a:srgbClr val="2C5F2D"/>
                </a:solidFill>
                <a:latin typeface="Georgia" pitchFamily="34" charset="0"/>
                <a:ea typeface="Georgia" pitchFamily="34" charset="-122"/>
                <a:cs typeface="Georgia" pitchFamily="34" charset="-120"/>
              </a:rPr>
              <a:t>1865</a:t>
            </a:r>
            <a:endParaRPr lang="en-US" sz="1100" dirty="0"/>
          </a:p>
        </p:txBody>
      </p:sp>
      <p:sp>
        <p:nvSpPr>
          <p:cNvPr id="19" name="Text 16"/>
          <p:cNvSpPr/>
          <p:nvPr/>
        </p:nvSpPr>
        <p:spPr>
          <a:xfrm>
            <a:off x="1097280" y="3108960"/>
            <a:ext cx="3200400" cy="274320"/>
          </a:xfrm>
          <a:prstGeom prst="rect">
            <a:avLst/>
          </a:prstGeom>
          <a:noFill/>
          <a:ln/>
        </p:spPr>
        <p:txBody>
          <a:bodyPr wrap="square" rtlCol="0" anchor="ctr">
            <a:normAutofit/>
          </a:bodyPr>
          <a:lstStyle/>
          <a:p>
            <a:pPr indent="0" marL="0">
              <a:buNone/>
            </a:pPr>
            <a:r>
              <a:rPr lang="en-US" sz="1000" dirty="0">
                <a:solidFill>
                  <a:srgbClr val="333333"/>
                </a:solidFill>
                <a:latin typeface="Calibri" pitchFamily="34" charset="0"/>
                <a:ea typeface="Calibri" pitchFamily="34" charset="-122"/>
                <a:cs typeface="Calibri" pitchFamily="34" charset="-120"/>
              </a:rPr>
              <a:t>在自然科学学会宣读论文</a:t>
            </a:r>
            <a:endParaRPr lang="en-US" sz="1000" dirty="0"/>
          </a:p>
        </p:txBody>
      </p:sp>
      <p:sp>
        <p:nvSpPr>
          <p:cNvPr id="20" name="Shape 17"/>
          <p:cNvSpPr/>
          <p:nvPr/>
        </p:nvSpPr>
        <p:spPr>
          <a:xfrm>
            <a:off x="841248" y="3703320"/>
            <a:ext cx="146304" cy="146304"/>
          </a:xfrm>
          <a:prstGeom prst="ellipse">
            <a:avLst/>
          </a:prstGeom>
          <a:solidFill>
            <a:srgbClr val="D4A843"/>
          </a:solidFill>
          <a:ln/>
        </p:spPr>
      </p:sp>
      <p:sp>
        <p:nvSpPr>
          <p:cNvPr id="21" name="Text 18"/>
          <p:cNvSpPr/>
          <p:nvPr/>
        </p:nvSpPr>
        <p:spPr>
          <a:xfrm>
            <a:off x="457200" y="3657600"/>
            <a:ext cx="365760" cy="274320"/>
          </a:xfrm>
          <a:prstGeom prst="rect">
            <a:avLst/>
          </a:prstGeom>
          <a:noFill/>
          <a:ln/>
        </p:spPr>
        <p:txBody>
          <a:bodyPr wrap="square" rtlCol="0" anchor="ctr">
            <a:normAutofit/>
          </a:bodyPr>
          <a:lstStyle/>
          <a:p>
            <a:pPr algn="r" indent="0" marL="0">
              <a:buNone/>
            </a:pPr>
            <a:r>
              <a:rPr lang="en-US" sz="1100" b="1" dirty="0">
                <a:solidFill>
                  <a:srgbClr val="2C5F2D"/>
                </a:solidFill>
                <a:latin typeface="Georgia" pitchFamily="34" charset="0"/>
                <a:ea typeface="Georgia" pitchFamily="34" charset="-122"/>
                <a:cs typeface="Georgia" pitchFamily="34" charset="-120"/>
              </a:rPr>
              <a:t>1866</a:t>
            </a:r>
            <a:endParaRPr lang="en-US" sz="1100" dirty="0"/>
          </a:p>
        </p:txBody>
      </p:sp>
      <p:sp>
        <p:nvSpPr>
          <p:cNvPr id="22" name="Text 19"/>
          <p:cNvSpPr/>
          <p:nvPr/>
        </p:nvSpPr>
        <p:spPr>
          <a:xfrm>
            <a:off x="1097280" y="3657600"/>
            <a:ext cx="3200400" cy="274320"/>
          </a:xfrm>
          <a:prstGeom prst="rect">
            <a:avLst/>
          </a:prstGeom>
          <a:noFill/>
          <a:ln/>
        </p:spPr>
        <p:txBody>
          <a:bodyPr wrap="square" rtlCol="0" anchor="ctr">
            <a:normAutofit/>
          </a:bodyPr>
          <a:lstStyle/>
          <a:p>
            <a:pPr indent="0" marL="0">
              <a:buNone/>
            </a:pPr>
            <a:r>
              <a:rPr lang="en-US" sz="1000" dirty="0">
                <a:solidFill>
                  <a:srgbClr val="333333"/>
                </a:solidFill>
                <a:latin typeface="Calibri" pitchFamily="34" charset="0"/>
                <a:ea typeface="Calibri" pitchFamily="34" charset="-122"/>
                <a:cs typeface="Calibri" pitchFamily="34" charset="-120"/>
              </a:rPr>
              <a:t>论文正式发表</a:t>
            </a:r>
            <a:endParaRPr lang="en-US" sz="1000" dirty="0"/>
          </a:p>
        </p:txBody>
      </p:sp>
      <p:sp>
        <p:nvSpPr>
          <p:cNvPr id="23" name="Shape 20"/>
          <p:cNvSpPr/>
          <p:nvPr/>
        </p:nvSpPr>
        <p:spPr>
          <a:xfrm>
            <a:off x="841248" y="4251960"/>
            <a:ext cx="146304" cy="146304"/>
          </a:xfrm>
          <a:prstGeom prst="ellipse">
            <a:avLst/>
          </a:prstGeom>
          <a:solidFill>
            <a:srgbClr val="D4A843"/>
          </a:solidFill>
          <a:ln/>
        </p:spPr>
      </p:sp>
      <p:sp>
        <p:nvSpPr>
          <p:cNvPr id="24" name="Text 21"/>
          <p:cNvSpPr/>
          <p:nvPr/>
        </p:nvSpPr>
        <p:spPr>
          <a:xfrm>
            <a:off x="457200" y="4206240"/>
            <a:ext cx="365760" cy="274320"/>
          </a:xfrm>
          <a:prstGeom prst="rect">
            <a:avLst/>
          </a:prstGeom>
          <a:noFill/>
          <a:ln/>
        </p:spPr>
        <p:txBody>
          <a:bodyPr wrap="square" rtlCol="0" anchor="ctr">
            <a:normAutofit/>
          </a:bodyPr>
          <a:lstStyle/>
          <a:p>
            <a:pPr algn="r" indent="0" marL="0">
              <a:buNone/>
            </a:pPr>
            <a:r>
              <a:rPr lang="en-US" sz="1100" b="1" dirty="0">
                <a:solidFill>
                  <a:srgbClr val="2C5F2D"/>
                </a:solidFill>
                <a:latin typeface="Georgia" pitchFamily="34" charset="0"/>
                <a:ea typeface="Georgia" pitchFamily="34" charset="-122"/>
                <a:cs typeface="Georgia" pitchFamily="34" charset="-120"/>
              </a:rPr>
              <a:t>1884</a:t>
            </a:r>
            <a:endParaRPr lang="en-US" sz="1100" dirty="0"/>
          </a:p>
        </p:txBody>
      </p:sp>
      <p:sp>
        <p:nvSpPr>
          <p:cNvPr id="25" name="Text 22"/>
          <p:cNvSpPr/>
          <p:nvPr/>
        </p:nvSpPr>
        <p:spPr>
          <a:xfrm>
            <a:off x="1097280" y="4206240"/>
            <a:ext cx="3200400" cy="274320"/>
          </a:xfrm>
          <a:prstGeom prst="rect">
            <a:avLst/>
          </a:prstGeom>
          <a:noFill/>
          <a:ln/>
        </p:spPr>
        <p:txBody>
          <a:bodyPr wrap="square" rtlCol="0" anchor="ctr">
            <a:normAutofit/>
          </a:bodyPr>
          <a:lstStyle/>
          <a:p>
            <a:pPr indent="0" marL="0">
              <a:buNone/>
            </a:pPr>
            <a:r>
              <a:rPr lang="en-US" sz="1000" dirty="0">
                <a:solidFill>
                  <a:srgbClr val="333333"/>
                </a:solidFill>
                <a:latin typeface="Calibri" pitchFamily="34" charset="0"/>
                <a:ea typeface="Calibri" pitchFamily="34" charset="-122"/>
                <a:cs typeface="Calibri" pitchFamily="34" charset="-120"/>
              </a:rPr>
              <a:t>逝世，享年62岁</a:t>
            </a:r>
            <a:endParaRPr lang="en-US" sz="1000" dirty="0"/>
          </a:p>
        </p:txBody>
      </p:sp>
      <p:sp>
        <p:nvSpPr>
          <p:cNvPr id="26" name="Shape 23"/>
          <p:cNvSpPr/>
          <p:nvPr/>
        </p:nvSpPr>
        <p:spPr>
          <a:xfrm>
            <a:off x="4754880" y="1143000"/>
            <a:ext cx="3931920" cy="3657600"/>
          </a:xfrm>
          <a:prstGeom prst="roundRect">
            <a:avLst>
              <a:gd name="adj" fmla="val 2000"/>
            </a:avLst>
          </a:prstGeom>
          <a:solidFill>
            <a:srgbClr val="FFFFFF"/>
          </a:solidFill>
          <a:ln/>
          <a:effectLst>
            <a:outerShdw sx="100000" sy="100000" kx="0" ky="0" algn="bl" rotWithShape="0" blurRad="152400" dist="50800" dir="8100000">
              <a:srgbClr val="000000">
                <a:alpha val="28000"/>
              </a:srgbClr>
            </a:outerShdw>
          </a:effectLst>
        </p:spPr>
      </p:sp>
      <p:sp>
        <p:nvSpPr>
          <p:cNvPr id="27" name="Shape 24"/>
          <p:cNvSpPr/>
          <p:nvPr/>
        </p:nvSpPr>
        <p:spPr>
          <a:xfrm>
            <a:off x="4754880" y="1143000"/>
            <a:ext cx="3931920" cy="54864"/>
          </a:xfrm>
          <a:prstGeom prst="rect">
            <a:avLst/>
          </a:prstGeom>
          <a:solidFill>
            <a:srgbClr val="2C5F2D"/>
          </a:solidFill>
          <a:ln/>
        </p:spPr>
      </p:sp>
      <p:sp>
        <p:nvSpPr>
          <p:cNvPr id="28" name="Text 25"/>
          <p:cNvSpPr/>
          <p:nvPr/>
        </p:nvSpPr>
        <p:spPr>
          <a:xfrm>
            <a:off x="4983480" y="1325880"/>
            <a:ext cx="3474720" cy="320040"/>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实验设计精要 / Key Experimental Design</a:t>
            </a:r>
            <a:endParaRPr lang="en-US" sz="1400" dirty="0"/>
          </a:p>
        </p:txBody>
      </p:sp>
      <p:sp>
        <p:nvSpPr>
          <p:cNvPr id="29" name="Text 26"/>
          <p:cNvSpPr/>
          <p:nvPr/>
        </p:nvSpPr>
        <p:spPr>
          <a:xfrm>
            <a:off x="4983480" y="1737360"/>
            <a:ext cx="3474720" cy="2834640"/>
          </a:xfrm>
          <a:prstGeom prst="rect">
            <a:avLst/>
          </a:prstGeom>
          <a:noFill/>
          <a:ln/>
        </p:spPr>
        <p:txBody>
          <a:bodyPr wrap="square" rtlCol="0" anchor="ctr">
            <a:normAutofit/>
          </a:bodyPr>
          <a:lstStyle/>
          <a:p>
            <a:pPr marL="342900" indent="-342900">
              <a:lnSpc>
                <a:spcPct val="115000"/>
              </a:lnSpc>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豌豆(Pisum sativum)作为实验材料：自花授粉、易栽培、性状明显</a:t>
            </a:r>
            <a:endParaRPr lang="en-US" sz="1100" dirty="0"/>
          </a:p>
          <a:p>
            <a:pPr marL="342900" indent="-342900">
              <a:lnSpc>
                <a:spcPct val="115000"/>
              </a:lnSpc>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选择7对明显性状：种子形状、子叶颜色、花色等</a:t>
            </a:r>
            <a:endParaRPr lang="en-US" sz="1100" dirty="0"/>
          </a:p>
          <a:p>
            <a:pPr marL="342900" indent="-342900">
              <a:lnSpc>
                <a:spcPct val="115000"/>
              </a:lnSpc>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约30,000株豌豆，历时8年(1856-1864)系统杂交实验</a:t>
            </a:r>
            <a:endParaRPr lang="en-US" sz="1100" dirty="0"/>
          </a:p>
          <a:p>
            <a:pPr marL="342900" indent="-342900">
              <a:lnSpc>
                <a:spcPct val="115000"/>
              </a:lnSpc>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首次将统计学方法引入生物学，定量分析杂交结果</a:t>
            </a:r>
            <a:endParaRPr lang="en-US" sz="1100" dirty="0"/>
          </a:p>
          <a:p>
            <a:pPr marL="342900" indent="-342900">
              <a:lnSpc>
                <a:spcPct val="115000"/>
              </a:lnSpc>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严格对照实验：去雄授粉、套袋隔离、逐株记录</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320040"/>
            <a:ext cx="73152" cy="594360"/>
          </a:xfrm>
          <a:prstGeom prst="rect">
            <a:avLst/>
          </a:prstGeom>
          <a:solidFill>
            <a:srgbClr val="D4A843"/>
          </a:solidFill>
          <a:ln/>
        </p:spPr>
      </p:sp>
      <p:sp>
        <p:nvSpPr>
          <p:cNvPr id="4" name="Text 1"/>
          <p:cNvSpPr/>
          <p:nvPr/>
        </p:nvSpPr>
        <p:spPr>
          <a:xfrm>
            <a:off x="640080" y="274320"/>
            <a:ext cx="8046720" cy="502920"/>
          </a:xfrm>
          <a:prstGeom prst="rect">
            <a:avLst/>
          </a:prstGeom>
          <a:noFill/>
          <a:ln/>
        </p:spPr>
        <p:txBody>
          <a:bodyPr wrap="square" rtlCol="0" anchor="ctr">
            <a:normAutofit/>
          </a:bodyPr>
          <a:lstStyle/>
          <a:p>
            <a:pPr indent="0" marL="0">
              <a:buNone/>
            </a:pPr>
            <a:r>
              <a:rPr lang="en-US" sz="2600" b="1" spc="150" kern="0" dirty="0">
                <a:solidFill>
                  <a:srgbClr val="2C5F2D"/>
                </a:solidFill>
                <a:latin typeface="Georgia" pitchFamily="34" charset="0"/>
                <a:ea typeface="Georgia" pitchFamily="34" charset="-122"/>
                <a:cs typeface="Georgia" pitchFamily="34" charset="-120"/>
              </a:rPr>
              <a:t>孟德尔遗传定律  /  Mendel's Laws</a:t>
            </a:r>
            <a:endParaRPr lang="en-US" sz="2600" dirty="0"/>
          </a:p>
        </p:txBody>
      </p:sp>
      <p:sp>
        <p:nvSpPr>
          <p:cNvPr id="5" name="Text 2"/>
          <p:cNvSpPr/>
          <p:nvPr/>
        </p:nvSpPr>
        <p:spPr>
          <a:xfrm>
            <a:off x="640080" y="777240"/>
            <a:ext cx="8046720" cy="274320"/>
          </a:xfrm>
          <a:prstGeom prst="rect">
            <a:avLst/>
          </a:prstGeom>
          <a:noFill/>
          <a:ln/>
        </p:spPr>
        <p:txBody>
          <a:bodyPr wrap="square" rtlCol="0" anchor="ctr">
            <a:normAutofit/>
          </a:bodyPr>
          <a:lstStyle/>
          <a:p>
            <a:pPr indent="0" marL="0">
              <a:buNone/>
            </a:pPr>
            <a:r>
              <a:rPr lang="en-US" sz="1300" i="1" dirty="0">
                <a:solidFill>
                  <a:srgbClr val="97BC62"/>
                </a:solidFill>
                <a:latin typeface="Calibri" pitchFamily="34" charset="0"/>
                <a:ea typeface="Calibri" pitchFamily="34" charset="-122"/>
                <a:cs typeface="Calibri" pitchFamily="34" charset="-120"/>
              </a:rPr>
              <a:t>分离定律与自由组合定律 / Law of Segregation &amp; Independent Assortment</a:t>
            </a:r>
            <a:endParaRPr lang="en-US" sz="1300" dirty="0"/>
          </a:p>
        </p:txBody>
      </p:sp>
      <p:sp>
        <p:nvSpPr>
          <p:cNvPr id="6" name="Shape 3"/>
          <p:cNvSpPr/>
          <p:nvPr/>
        </p:nvSpPr>
        <p:spPr>
          <a:xfrm>
            <a:off x="457200" y="1188720"/>
            <a:ext cx="3977640" cy="3200400"/>
          </a:xfrm>
          <a:prstGeom prst="roundRect">
            <a:avLst>
              <a:gd name="adj" fmla="val 2286"/>
            </a:avLst>
          </a:prstGeom>
          <a:solidFill>
            <a:srgbClr val="FFFFFF"/>
          </a:solidFill>
          <a:ln/>
          <a:effectLst>
            <a:outerShdw sx="100000" sy="100000" kx="0" ky="0" algn="bl" rotWithShape="0" blurRad="152400" dist="50800" dir="8100000">
              <a:srgbClr val="000000">
                <a:alpha val="28000"/>
              </a:srgbClr>
            </a:outerShdw>
          </a:effectLst>
        </p:spPr>
      </p:sp>
      <p:sp>
        <p:nvSpPr>
          <p:cNvPr id="7" name="Shape 4"/>
          <p:cNvSpPr/>
          <p:nvPr/>
        </p:nvSpPr>
        <p:spPr>
          <a:xfrm>
            <a:off x="457200" y="1188720"/>
            <a:ext cx="3977640" cy="54864"/>
          </a:xfrm>
          <a:prstGeom prst="rect">
            <a:avLst/>
          </a:prstGeom>
          <a:solidFill>
            <a:srgbClr val="2C5F2D"/>
          </a:solidFill>
          <a:ln/>
        </p:spPr>
      </p:sp>
      <p:sp>
        <p:nvSpPr>
          <p:cNvPr id="8" name="Shape 5"/>
          <p:cNvSpPr/>
          <p:nvPr/>
        </p:nvSpPr>
        <p:spPr>
          <a:xfrm>
            <a:off x="640080" y="1371600"/>
            <a:ext cx="457200" cy="457200"/>
          </a:xfrm>
          <a:prstGeom prst="ellipse">
            <a:avLst/>
          </a:prstGeom>
          <a:solidFill>
            <a:srgbClr val="2C5F2D"/>
          </a:solidFill>
          <a:ln/>
        </p:spPr>
      </p:sp>
      <p:sp>
        <p:nvSpPr>
          <p:cNvPr id="9" name="Text 6"/>
          <p:cNvSpPr/>
          <p:nvPr/>
        </p:nvSpPr>
        <p:spPr>
          <a:xfrm>
            <a:off x="640080" y="1371600"/>
            <a:ext cx="457200" cy="457200"/>
          </a:xfrm>
          <a:prstGeom prst="rect">
            <a:avLst/>
          </a:prstGeom>
          <a:noFill/>
          <a:ln/>
        </p:spPr>
        <p:txBody>
          <a:bodyPr wrap="square" rtlCol="0" anchor="ctr">
            <a:normAutofit/>
          </a:bodyPr>
          <a:lstStyle/>
          <a:p>
            <a:pPr algn="ctr" indent="0" marL="0">
              <a:buNone/>
            </a:pPr>
            <a:r>
              <a:rPr lang="en-US" sz="1800" b="1" dirty="0">
                <a:solidFill>
                  <a:srgbClr val="FFFFFF"/>
                </a:solidFill>
                <a:latin typeface="Georgia" pitchFamily="34" charset="0"/>
                <a:ea typeface="Georgia" pitchFamily="34" charset="-122"/>
                <a:cs typeface="Georgia" pitchFamily="34" charset="-120"/>
              </a:rPr>
              <a:t>I</a:t>
            </a:r>
            <a:endParaRPr lang="en-US" sz="1800" dirty="0"/>
          </a:p>
        </p:txBody>
      </p:sp>
      <p:sp>
        <p:nvSpPr>
          <p:cNvPr id="10" name="Text 7"/>
          <p:cNvSpPr/>
          <p:nvPr/>
        </p:nvSpPr>
        <p:spPr>
          <a:xfrm>
            <a:off x="1234440" y="1371600"/>
            <a:ext cx="2971800" cy="274320"/>
          </a:xfrm>
          <a:prstGeom prst="rect">
            <a:avLst/>
          </a:prstGeom>
          <a:noFill/>
          <a:ln/>
        </p:spPr>
        <p:txBody>
          <a:bodyPr wrap="square" rtlCol="0" anchor="ctr">
            <a:normAutofit/>
          </a:bodyPr>
          <a:lstStyle/>
          <a:p>
            <a:pPr indent="0" marL="0">
              <a:buNone/>
            </a:pPr>
            <a:r>
              <a:rPr lang="en-US" sz="1600" b="1" dirty="0">
                <a:solidFill>
                  <a:srgbClr val="2C5F2D"/>
                </a:solidFill>
                <a:latin typeface="Georgia" pitchFamily="34" charset="0"/>
                <a:ea typeface="Georgia" pitchFamily="34" charset="-122"/>
                <a:cs typeface="Georgia" pitchFamily="34" charset="-120"/>
              </a:rPr>
              <a:t>分离定律</a:t>
            </a:r>
            <a:endParaRPr lang="en-US" sz="1600" dirty="0"/>
          </a:p>
        </p:txBody>
      </p:sp>
      <p:sp>
        <p:nvSpPr>
          <p:cNvPr id="11" name="Text 8"/>
          <p:cNvSpPr/>
          <p:nvPr/>
        </p:nvSpPr>
        <p:spPr>
          <a:xfrm>
            <a:off x="1234440" y="1627632"/>
            <a:ext cx="2971800" cy="228600"/>
          </a:xfrm>
          <a:prstGeom prst="rect">
            <a:avLst/>
          </a:prstGeom>
          <a:noFill/>
          <a:ln/>
        </p:spPr>
        <p:txBody>
          <a:bodyPr wrap="square" rtlCol="0" anchor="ctr">
            <a:normAutofit/>
          </a:bodyPr>
          <a:lstStyle/>
          <a:p>
            <a:pPr indent="0" marL="0">
              <a:buNone/>
            </a:pPr>
            <a:r>
              <a:rPr lang="en-US" sz="1100" i="1" dirty="0">
                <a:solidFill>
                  <a:srgbClr val="888888"/>
                </a:solidFill>
                <a:latin typeface="Calibri" pitchFamily="34" charset="0"/>
                <a:ea typeface="Calibri" pitchFamily="34" charset="-122"/>
                <a:cs typeface="Calibri" pitchFamily="34" charset="-120"/>
              </a:rPr>
              <a:t>Law of Segregation</a:t>
            </a:r>
            <a:endParaRPr lang="en-US" sz="1100" dirty="0"/>
          </a:p>
        </p:txBody>
      </p:sp>
      <p:sp>
        <p:nvSpPr>
          <p:cNvPr id="12" name="Text 9"/>
          <p:cNvSpPr/>
          <p:nvPr/>
        </p:nvSpPr>
        <p:spPr>
          <a:xfrm>
            <a:off x="685800" y="1965960"/>
            <a:ext cx="3520440" cy="2286000"/>
          </a:xfrm>
          <a:prstGeom prst="rect">
            <a:avLst/>
          </a:prstGeom>
          <a:noFill/>
          <a:ln/>
        </p:spPr>
        <p:txBody>
          <a:bodyPr wrap="square" rtlCol="0" anchor="ctr">
            <a:normAutofit/>
          </a:bodyPr>
          <a:lstStyle/>
          <a:p>
            <a:pPr marL="342900" indent="-342900">
              <a:lnSpc>
                <a:spcPct val="120000"/>
              </a:lnSpc>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等位基因在配子形成时彼此分离</a:t>
            </a:r>
            <a:endParaRPr lang="en-US" sz="1100" dirty="0"/>
          </a:p>
          <a:p>
            <a:pPr marL="342900" indent="-342900">
              <a:lnSpc>
                <a:spcPct val="120000"/>
              </a:lnSpc>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F2代表型比例  显性:隐性 = 3:1</a:t>
            </a:r>
            <a:endParaRPr lang="en-US" sz="1100" dirty="0"/>
          </a:p>
          <a:p>
            <a:pPr marL="342900" indent="-342900">
              <a:lnSpc>
                <a:spcPct val="120000"/>
              </a:lnSpc>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基因型比例  1AA : 2Aa : 1aa</a:t>
            </a:r>
            <a:endParaRPr lang="en-US" sz="1100" dirty="0"/>
          </a:p>
          <a:p>
            <a:pPr marL="342900" indent="-342900">
              <a:lnSpc>
                <a:spcPct val="120000"/>
              </a:lnSpc>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杂合子(Aa)表型与显性纯合子(AA)相同</a:t>
            </a:r>
            <a:endParaRPr lang="en-US" sz="1100" dirty="0"/>
          </a:p>
          <a:p>
            <a:pPr marL="342900" indent="-342900">
              <a:lnSpc>
                <a:spcPct val="120000"/>
              </a:lnSpc>
              <a:buSzPct val="100000"/>
              <a:buChar char="•"/>
            </a:pPr>
            <a:r>
              <a:rPr lang="en-US" sz="1100" dirty="0">
                <a:solidFill>
                  <a:srgbClr val="333333"/>
                </a:solidFill>
                <a:latin typeface="Calibri" pitchFamily="34" charset="0"/>
                <a:ea typeface="Calibri" pitchFamily="34" charset="-122"/>
                <a:cs typeface="Calibri" pitchFamily="34" charset="-120"/>
              </a:rPr>
              <a:t>数学基础：二项分布 (3:1 = 1/4 + 2/4 + 1/4)</a:t>
            </a:r>
            <a:endParaRPr lang="en-US" sz="1100" dirty="0"/>
          </a:p>
        </p:txBody>
      </p:sp>
      <p:sp>
        <p:nvSpPr>
          <p:cNvPr id="13" name="Shape 10"/>
          <p:cNvSpPr/>
          <p:nvPr/>
        </p:nvSpPr>
        <p:spPr>
          <a:xfrm>
            <a:off x="4709160" y="1188720"/>
            <a:ext cx="3977640" cy="3200400"/>
          </a:xfrm>
          <a:prstGeom prst="roundRect">
            <a:avLst>
              <a:gd name="adj" fmla="val 2286"/>
            </a:avLst>
          </a:prstGeom>
          <a:solidFill>
            <a:srgbClr val="FFFFFF"/>
          </a:solidFill>
          <a:ln/>
          <a:effectLst>
            <a:outerShdw sx="100000" sy="100000" kx="0" ky="0" algn="bl" rotWithShape="0" blurRad="152400" dist="50800" dir="8100000">
              <a:srgbClr val="000000">
                <a:alpha val="28000"/>
              </a:srgbClr>
            </a:outerShdw>
          </a:effectLst>
        </p:spPr>
      </p:sp>
      <p:sp>
        <p:nvSpPr>
          <p:cNvPr id="14" name="Shape 11"/>
          <p:cNvSpPr/>
          <p:nvPr/>
        </p:nvSpPr>
        <p:spPr>
          <a:xfrm>
            <a:off x="4709160" y="1188720"/>
            <a:ext cx="3977640" cy="54864"/>
          </a:xfrm>
          <a:prstGeom prst="rect">
            <a:avLst/>
          </a:prstGeom>
          <a:solidFill>
            <a:srgbClr val="97BC62"/>
          </a:solidFill>
          <a:ln/>
        </p:spPr>
      </p:sp>
      <p:sp>
        <p:nvSpPr>
          <p:cNvPr id="15" name="Shape 12"/>
          <p:cNvSpPr/>
          <p:nvPr/>
        </p:nvSpPr>
        <p:spPr>
          <a:xfrm>
            <a:off x="4892040" y="1371600"/>
            <a:ext cx="457200" cy="457200"/>
          </a:xfrm>
          <a:prstGeom prst="ellipse">
            <a:avLst/>
          </a:prstGeom>
          <a:solidFill>
            <a:srgbClr val="97BC62"/>
          </a:solidFill>
          <a:ln/>
        </p:spPr>
      </p:sp>
      <p:sp>
        <p:nvSpPr>
          <p:cNvPr id="16" name="Text 13"/>
          <p:cNvSpPr/>
          <p:nvPr/>
        </p:nvSpPr>
        <p:spPr>
          <a:xfrm>
            <a:off x="4892040" y="1371600"/>
            <a:ext cx="457200" cy="457200"/>
          </a:xfrm>
          <a:prstGeom prst="rect">
            <a:avLst/>
          </a:prstGeom>
          <a:noFill/>
          <a:ln/>
        </p:spPr>
        <p:txBody>
          <a:bodyPr wrap="square" rtlCol="0" anchor="ctr">
            <a:normAutofit/>
          </a:bodyPr>
          <a:lstStyle/>
          <a:p>
            <a:pPr algn="ctr" indent="0" marL="0">
              <a:buNone/>
            </a:pPr>
            <a:r>
              <a:rPr lang="en-US" sz="1800" b="1" dirty="0">
                <a:solidFill>
                  <a:srgbClr val="FFFFFF"/>
                </a:solidFill>
                <a:latin typeface="Georgia" pitchFamily="34" charset="0"/>
                <a:ea typeface="Georgia" pitchFamily="34" charset="-122"/>
                <a:cs typeface="Georgia" pitchFamily="34" charset="-120"/>
              </a:rPr>
              <a:t>II</a:t>
            </a:r>
            <a:endParaRPr lang="en-US" sz="1800" dirty="0"/>
          </a:p>
        </p:txBody>
      </p:sp>
      <p:sp>
        <p:nvSpPr>
          <p:cNvPr id="17" name="Text 14"/>
          <p:cNvSpPr/>
          <p:nvPr/>
        </p:nvSpPr>
        <p:spPr>
          <a:xfrm>
            <a:off x="5486400" y="1371600"/>
            <a:ext cx="2971800" cy="274320"/>
          </a:xfrm>
          <a:prstGeom prst="rect">
            <a:avLst/>
          </a:prstGeom>
          <a:noFill/>
          <a:ln/>
        </p:spPr>
        <p:txBody>
          <a:bodyPr wrap="square" rtlCol="0" anchor="ctr">
            <a:normAutofit/>
          </a:bodyPr>
          <a:lstStyle/>
          <a:p>
            <a:pPr indent="0" marL="0">
              <a:buNone/>
            </a:pPr>
            <a:r>
              <a:rPr lang="en-US" sz="1600" b="1" dirty="0">
                <a:solidFill>
                  <a:srgbClr val="2C5F2D"/>
                </a:solidFill>
                <a:latin typeface="Georgia" pitchFamily="34" charset="0"/>
                <a:ea typeface="Georgia" pitchFamily="34" charset="-122"/>
                <a:cs typeface="Georgia" pitchFamily="34" charset="-120"/>
              </a:rPr>
              <a:t>自由组合定律</a:t>
            </a:r>
            <a:endParaRPr lang="en-US" sz="1600" dirty="0"/>
          </a:p>
        </p:txBody>
      </p:sp>
      <p:sp>
        <p:nvSpPr>
          <p:cNvPr id="18" name="Text 15"/>
          <p:cNvSpPr/>
          <p:nvPr/>
        </p:nvSpPr>
        <p:spPr>
          <a:xfrm>
            <a:off x="5486400" y="1627632"/>
            <a:ext cx="2971800" cy="228600"/>
          </a:xfrm>
          <a:prstGeom prst="rect">
            <a:avLst/>
          </a:prstGeom>
          <a:noFill/>
          <a:ln/>
        </p:spPr>
        <p:txBody>
          <a:bodyPr wrap="square" rtlCol="0" anchor="ctr">
            <a:normAutofit/>
          </a:bodyPr>
          <a:lstStyle/>
          <a:p>
            <a:pPr indent="0" marL="0">
              <a:buNone/>
            </a:pPr>
            <a:r>
              <a:rPr lang="en-US" sz="1100" i="1" dirty="0">
                <a:solidFill>
                  <a:srgbClr val="888888"/>
                </a:solidFill>
                <a:latin typeface="Calibri" pitchFamily="34" charset="0"/>
                <a:ea typeface="Calibri" pitchFamily="34" charset="-122"/>
                <a:cs typeface="Calibri" pitchFamily="34" charset="-120"/>
              </a:rPr>
              <a:t>Law of Independent Assortment</a:t>
            </a:r>
            <a:endParaRPr lang="en-US" sz="1100" dirty="0"/>
          </a:p>
        </p:txBody>
      </p:sp>
      <p:sp>
        <p:nvSpPr>
          <p:cNvPr id="19" name="Text 16"/>
          <p:cNvSpPr/>
          <p:nvPr/>
        </p:nvSpPr>
        <p:spPr>
          <a:xfrm>
            <a:off x="4937760" y="1965960"/>
            <a:ext cx="3520440" cy="2286000"/>
          </a:xfrm>
          <a:prstGeom prst="rect">
            <a:avLst/>
          </a:prstGeom>
          <a:noFill/>
          <a:ln/>
        </p:spPr>
        <p:txBody>
          <a:bodyPr wrap="square" rtlCol="0" anchor="ctr">
            <a:normAutofit/>
          </a:bodyPr>
          <a:lstStyle/>
          <a:p>
            <a:pPr marL="342900" indent="-342900">
              <a:lnSpc>
                <a:spcPct val="120000"/>
              </a:lnSpc>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不同基因对在配子形成时自由组合</a:t>
            </a:r>
            <a:endParaRPr lang="en-US" sz="1100" dirty="0"/>
          </a:p>
          <a:p>
            <a:pPr marL="342900" indent="-342900">
              <a:lnSpc>
                <a:spcPct val="120000"/>
              </a:lnSpc>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双杂合F2比例 9:3:3:1 (4种表型)</a:t>
            </a:r>
            <a:endParaRPr lang="en-US" sz="1100" dirty="0"/>
          </a:p>
          <a:p>
            <a:pPr marL="342900" indent="-342900">
              <a:lnSpc>
                <a:spcPct val="120000"/>
              </a:lnSpc>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基因型比例 16种 (1:2:1:2:4:2:1:2:1 组合)</a:t>
            </a:r>
            <a:endParaRPr lang="en-US" sz="1100" dirty="0"/>
          </a:p>
          <a:p>
            <a:pPr marL="342900" indent="-342900">
              <a:lnSpc>
                <a:spcPct val="120000"/>
              </a:lnSpc>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重组型出现证明非同源染色体独立分配</a:t>
            </a:r>
            <a:endParaRPr lang="en-US" sz="1100" dirty="0"/>
          </a:p>
          <a:p>
            <a:pPr marL="342900" indent="-342900">
              <a:lnSpc>
                <a:spcPct val="120000"/>
              </a:lnSpc>
              <a:buSzPct val="100000"/>
              <a:buChar char="•"/>
            </a:pPr>
            <a:r>
              <a:rPr lang="en-US" sz="1100" dirty="0">
                <a:solidFill>
                  <a:srgbClr val="333333"/>
                </a:solidFill>
                <a:latin typeface="Calibri" pitchFamily="34" charset="0"/>
                <a:ea typeface="Calibri" pitchFamily="34" charset="-122"/>
                <a:cs typeface="Calibri" pitchFamily="34" charset="-120"/>
              </a:rPr>
              <a:t>数学基础：乘法法则 (3:1)^n = 两对基因9:3:3:1</a:t>
            </a:r>
            <a:endParaRPr lang="en-US" sz="1100" dirty="0"/>
          </a:p>
        </p:txBody>
      </p:sp>
      <p:sp>
        <p:nvSpPr>
          <p:cNvPr id="20" name="Shape 17"/>
          <p:cNvSpPr/>
          <p:nvPr/>
        </p:nvSpPr>
        <p:spPr>
          <a:xfrm>
            <a:off x="457200" y="4480560"/>
            <a:ext cx="8229600" cy="457200"/>
          </a:xfrm>
          <a:prstGeom prst="roundRect">
            <a:avLst>
              <a:gd name="adj" fmla="val 10000"/>
            </a:avLst>
          </a:prstGeom>
          <a:solidFill>
            <a:srgbClr val="E8EFE0"/>
          </a:solidFill>
          <a:ln/>
        </p:spPr>
      </p:sp>
      <p:sp>
        <p:nvSpPr>
          <p:cNvPr id="21" name="Text 18"/>
          <p:cNvSpPr/>
          <p:nvPr/>
        </p:nvSpPr>
        <p:spPr>
          <a:xfrm>
            <a:off x="640080" y="4480560"/>
            <a:ext cx="7863840" cy="45720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核心洞察：遗传因子是"颗粒式"的，不融合 —— 这颠覆了融合遗传理论</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320040"/>
            <a:ext cx="73152" cy="594360"/>
          </a:xfrm>
          <a:prstGeom prst="rect">
            <a:avLst/>
          </a:prstGeom>
          <a:solidFill>
            <a:srgbClr val="D4A843"/>
          </a:solidFill>
          <a:ln/>
        </p:spPr>
      </p:sp>
      <p:sp>
        <p:nvSpPr>
          <p:cNvPr id="4" name="Text 1"/>
          <p:cNvSpPr/>
          <p:nvPr/>
        </p:nvSpPr>
        <p:spPr>
          <a:xfrm>
            <a:off x="640080" y="274320"/>
            <a:ext cx="8046720" cy="502920"/>
          </a:xfrm>
          <a:prstGeom prst="rect">
            <a:avLst/>
          </a:prstGeom>
          <a:noFill/>
          <a:ln/>
        </p:spPr>
        <p:txBody>
          <a:bodyPr wrap="square" rtlCol="0" anchor="ctr">
            <a:normAutofit/>
          </a:bodyPr>
          <a:lstStyle/>
          <a:p>
            <a:pPr indent="0" marL="0">
              <a:buNone/>
            </a:pPr>
            <a:r>
              <a:rPr lang="en-US" sz="2600" b="1" spc="150" kern="0" dirty="0">
                <a:solidFill>
                  <a:srgbClr val="2C5F2D"/>
                </a:solidFill>
                <a:latin typeface="Georgia" pitchFamily="34" charset="0"/>
                <a:ea typeface="Georgia" pitchFamily="34" charset="-122"/>
                <a:cs typeface="Georgia" pitchFamily="34" charset="-120"/>
              </a:rPr>
              <a:t>孟德尔定律的重新发现  /  Rediscovery of Mendel's Laws</a:t>
            </a:r>
            <a:endParaRPr lang="en-US" sz="2600" dirty="0"/>
          </a:p>
        </p:txBody>
      </p:sp>
      <p:sp>
        <p:nvSpPr>
          <p:cNvPr id="5" name="Text 2"/>
          <p:cNvSpPr/>
          <p:nvPr/>
        </p:nvSpPr>
        <p:spPr>
          <a:xfrm>
            <a:off x="640080" y="777240"/>
            <a:ext cx="8046720" cy="274320"/>
          </a:xfrm>
          <a:prstGeom prst="rect">
            <a:avLst/>
          </a:prstGeom>
          <a:noFill/>
          <a:ln/>
        </p:spPr>
        <p:txBody>
          <a:bodyPr wrap="square" rtlCol="0" anchor="ctr">
            <a:normAutofit/>
          </a:bodyPr>
          <a:lstStyle/>
          <a:p>
            <a:pPr indent="0" marL="0">
              <a:buNone/>
            </a:pPr>
            <a:r>
              <a:rPr lang="en-US" sz="1300" i="1" dirty="0">
                <a:solidFill>
                  <a:srgbClr val="97BC62"/>
                </a:solidFill>
                <a:latin typeface="Calibri" pitchFamily="34" charset="0"/>
                <a:ea typeface="Calibri" pitchFamily="34" charset="-122"/>
                <a:cs typeface="Calibri" pitchFamily="34" charset="-120"/>
              </a:rPr>
              <a:t>1900年 —— 现代遗传学的真正起点</a:t>
            </a:r>
            <a:endParaRPr lang="en-US" sz="1300" dirty="0"/>
          </a:p>
        </p:txBody>
      </p:sp>
      <p:sp>
        <p:nvSpPr>
          <p:cNvPr id="6" name="Shape 3"/>
          <p:cNvSpPr/>
          <p:nvPr/>
        </p:nvSpPr>
        <p:spPr>
          <a:xfrm>
            <a:off x="480060" y="1143000"/>
            <a:ext cx="1874520" cy="1371600"/>
          </a:xfrm>
          <a:prstGeom prst="roundRect">
            <a:avLst>
              <a:gd name="adj" fmla="val 5333"/>
            </a:avLst>
          </a:prstGeom>
          <a:solidFill>
            <a:srgbClr val="FFFFFF"/>
          </a:solidFill>
          <a:ln/>
          <a:effectLst>
            <a:outerShdw sx="100000" sy="100000" kx="0" ky="0" algn="bl" rotWithShape="0" blurRad="152400" dist="50800" dir="8100000">
              <a:srgbClr val="000000">
                <a:alpha val="28000"/>
              </a:srgbClr>
            </a:outerShdw>
          </a:effectLst>
        </p:spPr>
      </p:sp>
      <p:sp>
        <p:nvSpPr>
          <p:cNvPr id="7" name="Shape 4"/>
          <p:cNvSpPr/>
          <p:nvPr/>
        </p:nvSpPr>
        <p:spPr>
          <a:xfrm>
            <a:off x="480060" y="1143000"/>
            <a:ext cx="1874520" cy="54864"/>
          </a:xfrm>
          <a:prstGeom prst="rect">
            <a:avLst/>
          </a:prstGeom>
          <a:solidFill>
            <a:srgbClr val="2C5F2D"/>
          </a:solidFill>
          <a:ln/>
        </p:spPr>
      </p:sp>
      <p:sp>
        <p:nvSpPr>
          <p:cNvPr id="8" name="Text 5"/>
          <p:cNvSpPr/>
          <p:nvPr/>
        </p:nvSpPr>
        <p:spPr>
          <a:xfrm>
            <a:off x="617220" y="1307592"/>
            <a:ext cx="1600200" cy="274320"/>
          </a:xfrm>
          <a:prstGeom prst="rect">
            <a:avLst/>
          </a:prstGeom>
          <a:noFill/>
          <a:ln/>
        </p:spPr>
        <p:txBody>
          <a:bodyPr wrap="square" rtlCol="0" anchor="ctr">
            <a:normAutofit/>
          </a:bodyPr>
          <a:lstStyle/>
          <a:p>
            <a:pPr algn="ctr" indent="0" marL="0">
              <a:buNone/>
            </a:pPr>
            <a:r>
              <a:rPr lang="en-US" sz="1500" b="1" dirty="0">
                <a:solidFill>
                  <a:srgbClr val="2C5F2D"/>
                </a:solidFill>
                <a:latin typeface="Georgia" pitchFamily="34" charset="0"/>
                <a:ea typeface="Georgia" pitchFamily="34" charset="-122"/>
                <a:cs typeface="Georgia" pitchFamily="34" charset="-120"/>
              </a:rPr>
              <a:t>1866</a:t>
            </a:r>
            <a:endParaRPr lang="en-US" sz="1500" dirty="0"/>
          </a:p>
        </p:txBody>
      </p:sp>
      <p:sp>
        <p:nvSpPr>
          <p:cNvPr id="9" name="Text 6"/>
          <p:cNvSpPr/>
          <p:nvPr/>
        </p:nvSpPr>
        <p:spPr>
          <a:xfrm>
            <a:off x="617220" y="1600200"/>
            <a:ext cx="1600200" cy="228600"/>
          </a:xfrm>
          <a:prstGeom prst="rect">
            <a:avLst/>
          </a:prstGeom>
          <a:noFill/>
          <a:ln/>
        </p:spPr>
        <p:txBody>
          <a:bodyPr wrap="square" rtlCol="0" anchor="ctr">
            <a:normAutofit/>
          </a:bodyPr>
          <a:lstStyle/>
          <a:p>
            <a:pPr algn="ctr" indent="0" marL="0">
              <a:buNone/>
            </a:pPr>
            <a:r>
              <a:rPr lang="en-US" sz="1100" b="1" dirty="0">
                <a:solidFill>
                  <a:srgbClr val="2C5F2D"/>
                </a:solidFill>
                <a:latin typeface="Georgia" pitchFamily="34" charset="0"/>
                <a:ea typeface="Georgia" pitchFamily="34" charset="-122"/>
                <a:cs typeface="Georgia" pitchFamily="34" charset="-120"/>
              </a:rPr>
              <a:t>论文发表</a:t>
            </a:r>
            <a:endParaRPr lang="en-US" sz="1100" dirty="0"/>
          </a:p>
        </p:txBody>
      </p:sp>
      <p:sp>
        <p:nvSpPr>
          <p:cNvPr id="10" name="Text 7"/>
          <p:cNvSpPr/>
          <p:nvPr/>
        </p:nvSpPr>
        <p:spPr>
          <a:xfrm>
            <a:off x="617220" y="1856232"/>
            <a:ext cx="1600200" cy="566928"/>
          </a:xfrm>
          <a:prstGeom prst="rect">
            <a:avLst/>
          </a:prstGeom>
          <a:noFill/>
          <a:ln/>
        </p:spPr>
        <p:txBody>
          <a:bodyPr wrap="square" lIns="0" tIns="0" rIns="0" bIns="0" rtlCol="0" anchor="t">
            <a:normAutofit/>
          </a:bodyPr>
          <a:lstStyle/>
          <a:p>
            <a:pPr algn="ctr" indent="0" marL="0">
              <a:lnSpc>
                <a:spcPct val="110000"/>
              </a:lnSpc>
              <a:buNone/>
            </a:pPr>
            <a:r>
              <a:rPr lang="en-US" sz="800" dirty="0">
                <a:solidFill>
                  <a:srgbClr val="333333"/>
                </a:solidFill>
                <a:latin typeface="Calibri" pitchFamily="34" charset="0"/>
                <a:ea typeface="Calibri" pitchFamily="34" charset="-122"/>
                <a:cs typeface="Calibri" pitchFamily="34" charset="-120"/>
              </a:rPr>
              <a:t>Mendel发表论文</a:t>
            </a:r>
            <a:endParaRPr lang="en-US" sz="800" dirty="0"/>
          </a:p>
          <a:p>
            <a:pPr algn="ctr" indent="0" marL="0">
              <a:lnSpc>
                <a:spcPct val="110000"/>
              </a:lnSpc>
              <a:buNone/>
            </a:pPr>
            <a:r>
              <a:rPr lang="en-US" sz="800" dirty="0">
                <a:solidFill>
                  <a:srgbClr val="333333"/>
                </a:solidFill>
                <a:latin typeface="Calibri" pitchFamily="34" charset="0"/>
                <a:ea typeface="Calibri" pitchFamily="34" charset="-122"/>
                <a:cs typeface="Calibri" pitchFamily="34" charset="-120"/>
              </a:rPr>
              <a:t>布尔诺自然科学学会会刊</a:t>
            </a:r>
            <a:endParaRPr lang="en-US" sz="800" dirty="0"/>
          </a:p>
        </p:txBody>
      </p:sp>
      <p:sp>
        <p:nvSpPr>
          <p:cNvPr id="11" name="Shape 8"/>
          <p:cNvSpPr/>
          <p:nvPr/>
        </p:nvSpPr>
        <p:spPr>
          <a:xfrm>
            <a:off x="2354580" y="1828800"/>
            <a:ext cx="228600" cy="0"/>
          </a:xfrm>
          <a:prstGeom prst="line">
            <a:avLst/>
          </a:prstGeom>
          <a:noFill/>
          <a:ln w="25400">
            <a:solidFill>
              <a:srgbClr val="97BC62"/>
            </a:solidFill>
            <a:prstDash val="solid"/>
            <a:tailEnd type="triangle"/>
          </a:ln>
        </p:spPr>
      </p:sp>
      <p:sp>
        <p:nvSpPr>
          <p:cNvPr id="12" name="Shape 9"/>
          <p:cNvSpPr/>
          <p:nvPr/>
        </p:nvSpPr>
        <p:spPr>
          <a:xfrm>
            <a:off x="2583180" y="1143000"/>
            <a:ext cx="1874520" cy="1371600"/>
          </a:xfrm>
          <a:prstGeom prst="roundRect">
            <a:avLst>
              <a:gd name="adj" fmla="val 5333"/>
            </a:avLst>
          </a:prstGeom>
          <a:solidFill>
            <a:srgbClr val="FFFFFF"/>
          </a:solidFill>
          <a:ln/>
          <a:effectLst>
            <a:outerShdw sx="100000" sy="100000" kx="0" ky="0" algn="bl" rotWithShape="0" blurRad="152400" dist="50800" dir="8100000">
              <a:srgbClr val="000000">
                <a:alpha val="28000"/>
              </a:srgbClr>
            </a:outerShdw>
          </a:effectLst>
        </p:spPr>
      </p:sp>
      <p:sp>
        <p:nvSpPr>
          <p:cNvPr id="13" name="Shape 10"/>
          <p:cNvSpPr/>
          <p:nvPr/>
        </p:nvSpPr>
        <p:spPr>
          <a:xfrm>
            <a:off x="2583180" y="1143000"/>
            <a:ext cx="1874520" cy="54864"/>
          </a:xfrm>
          <a:prstGeom prst="rect">
            <a:avLst/>
          </a:prstGeom>
          <a:solidFill>
            <a:srgbClr val="2C5F2D"/>
          </a:solidFill>
          <a:ln/>
        </p:spPr>
      </p:sp>
      <p:sp>
        <p:nvSpPr>
          <p:cNvPr id="14" name="Text 11"/>
          <p:cNvSpPr/>
          <p:nvPr/>
        </p:nvSpPr>
        <p:spPr>
          <a:xfrm>
            <a:off x="2720340" y="1307592"/>
            <a:ext cx="1600200" cy="274320"/>
          </a:xfrm>
          <a:prstGeom prst="rect">
            <a:avLst/>
          </a:prstGeom>
          <a:noFill/>
          <a:ln/>
        </p:spPr>
        <p:txBody>
          <a:bodyPr wrap="square" rtlCol="0" anchor="ctr">
            <a:normAutofit/>
          </a:bodyPr>
          <a:lstStyle/>
          <a:p>
            <a:pPr algn="ctr" indent="0" marL="0">
              <a:buNone/>
            </a:pPr>
            <a:r>
              <a:rPr lang="en-US" sz="1500" b="1" dirty="0">
                <a:solidFill>
                  <a:srgbClr val="2C5F2D"/>
                </a:solidFill>
                <a:latin typeface="Georgia" pitchFamily="34" charset="0"/>
                <a:ea typeface="Georgia" pitchFamily="34" charset="-122"/>
                <a:cs typeface="Georgia" pitchFamily="34" charset="-120"/>
              </a:rPr>
              <a:t>35年</a:t>
            </a:r>
            <a:endParaRPr lang="en-US" sz="1500" dirty="0"/>
          </a:p>
        </p:txBody>
      </p:sp>
      <p:sp>
        <p:nvSpPr>
          <p:cNvPr id="15" name="Text 12"/>
          <p:cNvSpPr/>
          <p:nvPr/>
        </p:nvSpPr>
        <p:spPr>
          <a:xfrm>
            <a:off x="2720340" y="1600200"/>
            <a:ext cx="1600200" cy="228600"/>
          </a:xfrm>
          <a:prstGeom prst="rect">
            <a:avLst/>
          </a:prstGeom>
          <a:noFill/>
          <a:ln/>
        </p:spPr>
        <p:txBody>
          <a:bodyPr wrap="square" rtlCol="0" anchor="ctr">
            <a:normAutofit/>
          </a:bodyPr>
          <a:lstStyle/>
          <a:p>
            <a:pPr algn="ctr" indent="0" marL="0">
              <a:buNone/>
            </a:pPr>
            <a:r>
              <a:rPr lang="en-US" sz="1100" b="1" dirty="0">
                <a:solidFill>
                  <a:srgbClr val="2C5F2D"/>
                </a:solidFill>
                <a:latin typeface="Georgia" pitchFamily="34" charset="0"/>
                <a:ea typeface="Georgia" pitchFamily="34" charset="-122"/>
                <a:cs typeface="Georgia" pitchFamily="34" charset="-120"/>
              </a:rPr>
              <a:t>无人问津</a:t>
            </a:r>
            <a:endParaRPr lang="en-US" sz="1100" dirty="0"/>
          </a:p>
        </p:txBody>
      </p:sp>
      <p:sp>
        <p:nvSpPr>
          <p:cNvPr id="16" name="Text 13"/>
          <p:cNvSpPr/>
          <p:nvPr/>
        </p:nvSpPr>
        <p:spPr>
          <a:xfrm>
            <a:off x="2720340" y="1856232"/>
            <a:ext cx="1600200" cy="566928"/>
          </a:xfrm>
          <a:prstGeom prst="rect">
            <a:avLst/>
          </a:prstGeom>
          <a:noFill/>
          <a:ln/>
        </p:spPr>
        <p:txBody>
          <a:bodyPr wrap="square" lIns="0" tIns="0" rIns="0" bIns="0" rtlCol="0" anchor="t">
            <a:normAutofit/>
          </a:bodyPr>
          <a:lstStyle/>
          <a:p>
            <a:pPr algn="ctr" indent="0" marL="0">
              <a:lnSpc>
                <a:spcPct val="110000"/>
              </a:lnSpc>
              <a:buNone/>
            </a:pPr>
            <a:r>
              <a:rPr lang="en-US" sz="800" dirty="0">
                <a:solidFill>
                  <a:srgbClr val="333333"/>
                </a:solidFill>
                <a:latin typeface="Calibri" pitchFamily="34" charset="0"/>
                <a:ea typeface="Calibri" pitchFamily="34" charset="-122"/>
                <a:cs typeface="Calibri" pitchFamily="34" charset="-120"/>
              </a:rPr>
              <a:t>被引用仅3次</a:t>
            </a:r>
            <a:endParaRPr lang="en-US" sz="800" dirty="0"/>
          </a:p>
          <a:p>
            <a:pPr algn="ctr" indent="0" marL="0">
              <a:lnSpc>
                <a:spcPct val="110000"/>
              </a:lnSpc>
              <a:buNone/>
            </a:pPr>
            <a:r>
              <a:rPr lang="en-US" sz="800" dirty="0">
                <a:solidFill>
                  <a:srgbClr val="333333"/>
                </a:solidFill>
                <a:latin typeface="Calibri" pitchFamily="34" charset="0"/>
                <a:ea typeface="Calibri" pitchFamily="34" charset="-122"/>
                <a:cs typeface="Calibri" pitchFamily="34" charset="-120"/>
              </a:rPr>
              <a:t>被同时代学者忽视</a:t>
            </a:r>
            <a:endParaRPr lang="en-US" sz="800" dirty="0"/>
          </a:p>
        </p:txBody>
      </p:sp>
      <p:sp>
        <p:nvSpPr>
          <p:cNvPr id="17" name="Shape 14"/>
          <p:cNvSpPr/>
          <p:nvPr/>
        </p:nvSpPr>
        <p:spPr>
          <a:xfrm>
            <a:off x="4457700" y="1828800"/>
            <a:ext cx="228600" cy="0"/>
          </a:xfrm>
          <a:prstGeom prst="line">
            <a:avLst/>
          </a:prstGeom>
          <a:noFill/>
          <a:ln w="25400">
            <a:solidFill>
              <a:srgbClr val="97BC62"/>
            </a:solidFill>
            <a:prstDash val="solid"/>
            <a:tailEnd type="triangle"/>
          </a:ln>
        </p:spPr>
      </p:sp>
      <p:sp>
        <p:nvSpPr>
          <p:cNvPr id="18" name="Shape 15"/>
          <p:cNvSpPr/>
          <p:nvPr/>
        </p:nvSpPr>
        <p:spPr>
          <a:xfrm>
            <a:off x="4686300" y="1143000"/>
            <a:ext cx="1874520" cy="1371600"/>
          </a:xfrm>
          <a:prstGeom prst="roundRect">
            <a:avLst>
              <a:gd name="adj" fmla="val 5333"/>
            </a:avLst>
          </a:prstGeom>
          <a:solidFill>
            <a:srgbClr val="FFFFFF"/>
          </a:solidFill>
          <a:ln/>
          <a:effectLst>
            <a:outerShdw sx="100000" sy="100000" kx="0" ky="0" algn="bl" rotWithShape="0" blurRad="152400" dist="50800" dir="8100000">
              <a:srgbClr val="000000">
                <a:alpha val="28000"/>
              </a:srgbClr>
            </a:outerShdw>
          </a:effectLst>
        </p:spPr>
      </p:sp>
      <p:sp>
        <p:nvSpPr>
          <p:cNvPr id="19" name="Shape 16"/>
          <p:cNvSpPr/>
          <p:nvPr/>
        </p:nvSpPr>
        <p:spPr>
          <a:xfrm>
            <a:off x="4686300" y="1143000"/>
            <a:ext cx="1874520" cy="54864"/>
          </a:xfrm>
          <a:prstGeom prst="rect">
            <a:avLst/>
          </a:prstGeom>
          <a:solidFill>
            <a:srgbClr val="D4A843"/>
          </a:solidFill>
          <a:ln/>
        </p:spPr>
      </p:sp>
      <p:sp>
        <p:nvSpPr>
          <p:cNvPr id="20" name="Text 17"/>
          <p:cNvSpPr/>
          <p:nvPr/>
        </p:nvSpPr>
        <p:spPr>
          <a:xfrm>
            <a:off x="4823460" y="1307592"/>
            <a:ext cx="1600200" cy="274320"/>
          </a:xfrm>
          <a:prstGeom prst="rect">
            <a:avLst/>
          </a:prstGeom>
          <a:noFill/>
          <a:ln/>
        </p:spPr>
        <p:txBody>
          <a:bodyPr wrap="square" rtlCol="0" anchor="ctr">
            <a:normAutofit/>
          </a:bodyPr>
          <a:lstStyle/>
          <a:p>
            <a:pPr algn="ctr" indent="0" marL="0">
              <a:buNone/>
            </a:pPr>
            <a:r>
              <a:rPr lang="en-US" sz="1500" b="1" dirty="0">
                <a:solidFill>
                  <a:srgbClr val="D4A843"/>
                </a:solidFill>
                <a:latin typeface="Georgia" pitchFamily="34" charset="0"/>
                <a:ea typeface="Georgia" pitchFamily="34" charset="-122"/>
                <a:cs typeface="Georgia" pitchFamily="34" charset="-120"/>
              </a:rPr>
              <a:t>1900</a:t>
            </a:r>
            <a:endParaRPr lang="en-US" sz="1500" dirty="0"/>
          </a:p>
        </p:txBody>
      </p:sp>
      <p:sp>
        <p:nvSpPr>
          <p:cNvPr id="21" name="Text 18"/>
          <p:cNvSpPr/>
          <p:nvPr/>
        </p:nvSpPr>
        <p:spPr>
          <a:xfrm>
            <a:off x="4823460" y="1600200"/>
            <a:ext cx="1600200" cy="228600"/>
          </a:xfrm>
          <a:prstGeom prst="rect">
            <a:avLst/>
          </a:prstGeom>
          <a:noFill/>
          <a:ln/>
        </p:spPr>
        <p:txBody>
          <a:bodyPr wrap="square" rtlCol="0" anchor="ctr">
            <a:normAutofit/>
          </a:bodyPr>
          <a:lstStyle/>
          <a:p>
            <a:pPr algn="ctr" indent="0" marL="0">
              <a:buNone/>
            </a:pPr>
            <a:r>
              <a:rPr lang="en-US" sz="1100" b="1" dirty="0">
                <a:solidFill>
                  <a:srgbClr val="2C5F2D"/>
                </a:solidFill>
                <a:latin typeface="Georgia" pitchFamily="34" charset="0"/>
                <a:ea typeface="Georgia" pitchFamily="34" charset="-122"/>
                <a:cs typeface="Georgia" pitchFamily="34" charset="-120"/>
              </a:rPr>
              <a:t>重新发现</a:t>
            </a:r>
            <a:endParaRPr lang="en-US" sz="1100" dirty="0"/>
          </a:p>
        </p:txBody>
      </p:sp>
      <p:sp>
        <p:nvSpPr>
          <p:cNvPr id="22" name="Text 19"/>
          <p:cNvSpPr/>
          <p:nvPr/>
        </p:nvSpPr>
        <p:spPr>
          <a:xfrm>
            <a:off x="4823460" y="1856232"/>
            <a:ext cx="1600200" cy="566928"/>
          </a:xfrm>
          <a:prstGeom prst="rect">
            <a:avLst/>
          </a:prstGeom>
          <a:noFill/>
          <a:ln/>
        </p:spPr>
        <p:txBody>
          <a:bodyPr wrap="square" lIns="0" tIns="0" rIns="0" bIns="0" rtlCol="0" anchor="t">
            <a:normAutofit/>
          </a:bodyPr>
          <a:lstStyle/>
          <a:p>
            <a:pPr algn="ctr" indent="0" marL="0">
              <a:lnSpc>
                <a:spcPct val="110000"/>
              </a:lnSpc>
              <a:buNone/>
            </a:pPr>
            <a:r>
              <a:rPr lang="en-US" sz="800" dirty="0">
                <a:solidFill>
                  <a:srgbClr val="333333"/>
                </a:solidFill>
                <a:latin typeface="Calibri" pitchFamily="34" charset="0"/>
                <a:ea typeface="Calibri" pitchFamily="34" charset="-122"/>
                <a:cs typeface="Calibri" pitchFamily="34" charset="-120"/>
              </a:rPr>
              <a:t>三位科学家几乎同时</a:t>
            </a:r>
            <a:endParaRPr lang="en-US" sz="800" dirty="0"/>
          </a:p>
          <a:p>
            <a:pPr algn="ctr" indent="0" marL="0">
              <a:lnSpc>
                <a:spcPct val="110000"/>
              </a:lnSpc>
              <a:buNone/>
            </a:pPr>
            <a:r>
              <a:rPr lang="en-US" sz="800" dirty="0">
                <a:solidFill>
                  <a:srgbClr val="333333"/>
                </a:solidFill>
                <a:latin typeface="Calibri" pitchFamily="34" charset="0"/>
                <a:ea typeface="Calibri" pitchFamily="34" charset="-122"/>
                <a:cs typeface="Calibri" pitchFamily="34" charset="-120"/>
              </a:rPr>
              <a:t>独立重新发现孟德尔定律</a:t>
            </a:r>
            <a:endParaRPr lang="en-US" sz="800" dirty="0"/>
          </a:p>
        </p:txBody>
      </p:sp>
      <p:sp>
        <p:nvSpPr>
          <p:cNvPr id="23" name="Shape 20"/>
          <p:cNvSpPr/>
          <p:nvPr/>
        </p:nvSpPr>
        <p:spPr>
          <a:xfrm>
            <a:off x="6560820" y="1828800"/>
            <a:ext cx="228600" cy="0"/>
          </a:xfrm>
          <a:prstGeom prst="line">
            <a:avLst/>
          </a:prstGeom>
          <a:noFill/>
          <a:ln w="25400">
            <a:solidFill>
              <a:srgbClr val="97BC62"/>
            </a:solidFill>
            <a:prstDash val="solid"/>
            <a:tailEnd type="triangle"/>
          </a:ln>
        </p:spPr>
      </p:sp>
      <p:sp>
        <p:nvSpPr>
          <p:cNvPr id="24" name="Shape 21"/>
          <p:cNvSpPr/>
          <p:nvPr/>
        </p:nvSpPr>
        <p:spPr>
          <a:xfrm>
            <a:off x="6789420" y="1143000"/>
            <a:ext cx="1874520" cy="1371600"/>
          </a:xfrm>
          <a:prstGeom prst="roundRect">
            <a:avLst>
              <a:gd name="adj" fmla="val 5333"/>
            </a:avLst>
          </a:prstGeom>
          <a:solidFill>
            <a:srgbClr val="FFFFFF"/>
          </a:solidFill>
          <a:ln/>
          <a:effectLst>
            <a:outerShdw sx="100000" sy="100000" kx="0" ky="0" algn="bl" rotWithShape="0" blurRad="152400" dist="50800" dir="8100000">
              <a:srgbClr val="000000">
                <a:alpha val="28000"/>
              </a:srgbClr>
            </a:outerShdw>
          </a:effectLst>
        </p:spPr>
      </p:sp>
      <p:sp>
        <p:nvSpPr>
          <p:cNvPr id="25" name="Shape 22"/>
          <p:cNvSpPr/>
          <p:nvPr/>
        </p:nvSpPr>
        <p:spPr>
          <a:xfrm>
            <a:off x="6789420" y="1143000"/>
            <a:ext cx="1874520" cy="54864"/>
          </a:xfrm>
          <a:prstGeom prst="rect">
            <a:avLst/>
          </a:prstGeom>
          <a:solidFill>
            <a:srgbClr val="2C5F2D"/>
          </a:solidFill>
          <a:ln/>
        </p:spPr>
      </p:sp>
      <p:sp>
        <p:nvSpPr>
          <p:cNvPr id="26" name="Text 23"/>
          <p:cNvSpPr/>
          <p:nvPr/>
        </p:nvSpPr>
        <p:spPr>
          <a:xfrm>
            <a:off x="6926580" y="1307592"/>
            <a:ext cx="1600200" cy="274320"/>
          </a:xfrm>
          <a:prstGeom prst="rect">
            <a:avLst/>
          </a:prstGeom>
          <a:noFill/>
          <a:ln/>
        </p:spPr>
        <p:txBody>
          <a:bodyPr wrap="square" rtlCol="0" anchor="ctr">
            <a:normAutofit/>
          </a:bodyPr>
          <a:lstStyle/>
          <a:p>
            <a:pPr algn="ctr" indent="0" marL="0">
              <a:buNone/>
            </a:pPr>
            <a:r>
              <a:rPr lang="en-US" sz="1500" b="1" dirty="0">
                <a:solidFill>
                  <a:srgbClr val="2C5F2D"/>
                </a:solidFill>
                <a:latin typeface="Georgia" pitchFamily="34" charset="0"/>
                <a:ea typeface="Georgia" pitchFamily="34" charset="-122"/>
                <a:cs typeface="Georgia" pitchFamily="34" charset="-120"/>
              </a:rPr>
              <a:t>1900+</a:t>
            </a:r>
            <a:endParaRPr lang="en-US" sz="1500" dirty="0"/>
          </a:p>
        </p:txBody>
      </p:sp>
      <p:sp>
        <p:nvSpPr>
          <p:cNvPr id="27" name="Text 24"/>
          <p:cNvSpPr/>
          <p:nvPr/>
        </p:nvSpPr>
        <p:spPr>
          <a:xfrm>
            <a:off x="6926580" y="1600200"/>
            <a:ext cx="1600200" cy="228600"/>
          </a:xfrm>
          <a:prstGeom prst="rect">
            <a:avLst/>
          </a:prstGeom>
          <a:noFill/>
          <a:ln/>
        </p:spPr>
        <p:txBody>
          <a:bodyPr wrap="square" rtlCol="0" anchor="ctr">
            <a:normAutofit/>
          </a:bodyPr>
          <a:lstStyle/>
          <a:p>
            <a:pPr algn="ctr" indent="0" marL="0">
              <a:buNone/>
            </a:pPr>
            <a:r>
              <a:rPr lang="en-US" sz="1100" b="1" dirty="0">
                <a:solidFill>
                  <a:srgbClr val="2C5F2D"/>
                </a:solidFill>
                <a:latin typeface="Georgia" pitchFamily="34" charset="0"/>
                <a:ea typeface="Georgia" pitchFamily="34" charset="-122"/>
                <a:cs typeface="Georgia" pitchFamily="34" charset="-120"/>
              </a:rPr>
              <a:t>学科建立</a:t>
            </a:r>
            <a:endParaRPr lang="en-US" sz="1100" dirty="0"/>
          </a:p>
        </p:txBody>
      </p:sp>
      <p:sp>
        <p:nvSpPr>
          <p:cNvPr id="28" name="Text 25"/>
          <p:cNvSpPr/>
          <p:nvPr/>
        </p:nvSpPr>
        <p:spPr>
          <a:xfrm>
            <a:off x="6926580" y="1856232"/>
            <a:ext cx="1600200" cy="566928"/>
          </a:xfrm>
          <a:prstGeom prst="rect">
            <a:avLst/>
          </a:prstGeom>
          <a:noFill/>
          <a:ln/>
        </p:spPr>
        <p:txBody>
          <a:bodyPr wrap="square" lIns="0" tIns="0" rIns="0" bIns="0" rtlCol="0" anchor="t">
            <a:normAutofit/>
          </a:bodyPr>
          <a:lstStyle/>
          <a:p>
            <a:pPr algn="ctr" indent="0" marL="0">
              <a:lnSpc>
                <a:spcPct val="110000"/>
              </a:lnSpc>
              <a:buNone/>
            </a:pPr>
            <a:r>
              <a:rPr lang="en-US" sz="800" dirty="0">
                <a:solidFill>
                  <a:srgbClr val="333333"/>
                </a:solidFill>
                <a:latin typeface="Calibri" pitchFamily="34" charset="0"/>
                <a:ea typeface="Calibri" pitchFamily="34" charset="-122"/>
                <a:cs typeface="Calibri" pitchFamily="34" charset="-120"/>
              </a:rPr>
              <a:t>现代遗传学作为</a:t>
            </a:r>
            <a:endParaRPr lang="en-US" sz="800" dirty="0"/>
          </a:p>
          <a:p>
            <a:pPr algn="ctr" indent="0" marL="0">
              <a:lnSpc>
                <a:spcPct val="110000"/>
              </a:lnSpc>
              <a:buNone/>
            </a:pPr>
            <a:r>
              <a:rPr lang="en-US" sz="800" dirty="0">
                <a:solidFill>
                  <a:srgbClr val="333333"/>
                </a:solidFill>
                <a:latin typeface="Calibri" pitchFamily="34" charset="0"/>
                <a:ea typeface="Calibri" pitchFamily="34" charset="-122"/>
                <a:cs typeface="Calibri" pitchFamily="34" charset="-120"/>
              </a:rPr>
              <a:t>独立学科正式起步</a:t>
            </a:r>
            <a:endParaRPr lang="en-US" sz="800" dirty="0"/>
          </a:p>
        </p:txBody>
      </p:sp>
      <p:sp>
        <p:nvSpPr>
          <p:cNvPr id="29" name="Shape 26"/>
          <p:cNvSpPr/>
          <p:nvPr/>
        </p:nvSpPr>
        <p:spPr>
          <a:xfrm>
            <a:off x="457200" y="2606040"/>
            <a:ext cx="8229600" cy="1508760"/>
          </a:xfrm>
          <a:prstGeom prst="roundRect">
            <a:avLst>
              <a:gd name="adj" fmla="val 4848"/>
            </a:avLst>
          </a:prstGeom>
          <a:solidFill>
            <a:srgbClr val="FFFFFF"/>
          </a:solidFill>
          <a:ln/>
          <a:effectLst>
            <a:outerShdw sx="100000" sy="100000" kx="0" ky="0" algn="bl" rotWithShape="0" blurRad="152400" dist="50800" dir="8100000">
              <a:srgbClr val="000000">
                <a:alpha val="28000"/>
              </a:srgbClr>
            </a:outerShdw>
          </a:effectLst>
        </p:spPr>
      </p:sp>
      <p:sp>
        <p:nvSpPr>
          <p:cNvPr id="30" name="Shape 27"/>
          <p:cNvSpPr/>
          <p:nvPr/>
        </p:nvSpPr>
        <p:spPr>
          <a:xfrm>
            <a:off x="457200" y="2606040"/>
            <a:ext cx="73152" cy="1508760"/>
          </a:xfrm>
          <a:prstGeom prst="rect">
            <a:avLst/>
          </a:prstGeom>
          <a:solidFill>
            <a:srgbClr val="D4A843"/>
          </a:solidFill>
          <a:ln/>
        </p:spPr>
      </p:sp>
      <p:sp>
        <p:nvSpPr>
          <p:cNvPr id="31" name="Text 28"/>
          <p:cNvSpPr/>
          <p:nvPr/>
        </p:nvSpPr>
        <p:spPr>
          <a:xfrm>
            <a:off x="685800" y="2715768"/>
            <a:ext cx="7772400" cy="22860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三位重新发现者 / The Three Rediscoverers (1900)</a:t>
            </a:r>
            <a:endParaRPr lang="en-US" sz="1300" dirty="0"/>
          </a:p>
        </p:txBody>
      </p:sp>
      <p:sp>
        <p:nvSpPr>
          <p:cNvPr id="32" name="Text 29"/>
          <p:cNvSpPr/>
          <p:nvPr/>
        </p:nvSpPr>
        <p:spPr>
          <a:xfrm>
            <a:off x="685800" y="3017520"/>
            <a:ext cx="7772400" cy="960120"/>
          </a:xfrm>
          <a:prstGeom prst="rect">
            <a:avLst/>
          </a:prstGeom>
          <a:noFill/>
          <a:ln/>
        </p:spPr>
        <p:txBody>
          <a:bodyPr wrap="square" rtlCol="0" anchor="ctr">
            <a:normAutofit/>
          </a:bodyPr>
          <a:lstStyle/>
          <a:p>
            <a:pPr marL="342900" indent="-342900">
              <a:lnSpc>
                <a:spcPct val="115000"/>
              </a:lnSpc>
              <a:spcAft>
                <a:spcPts val="400"/>
              </a:spcAft>
              <a:buSzPct val="100000"/>
              <a:buChar char="•"/>
            </a:pPr>
            <a:r>
              <a:rPr lang="en-US" sz="1000" dirty="0">
                <a:solidFill>
                  <a:srgbClr val="333333"/>
                </a:solidFill>
                <a:latin typeface="Calibri" pitchFamily="34" charset="0"/>
                <a:ea typeface="Calibri" pitchFamily="34" charset="-122"/>
                <a:cs typeface="Calibri" pitchFamily="34" charset="-120"/>
              </a:rPr>
              <a:t>Hugo de Vries (荷兰)  —  月见草实验中发现3:1比例</a:t>
            </a:r>
            <a:endParaRPr lang="en-US" sz="1000" dirty="0"/>
          </a:p>
          <a:p>
            <a:pPr marL="342900" indent="-342900">
              <a:lnSpc>
                <a:spcPct val="115000"/>
              </a:lnSpc>
              <a:spcAft>
                <a:spcPts val="400"/>
              </a:spcAft>
              <a:buSzPct val="100000"/>
              <a:buChar char="•"/>
            </a:pPr>
            <a:r>
              <a:rPr lang="en-US" sz="1000" dirty="0">
                <a:solidFill>
                  <a:srgbClr val="333333"/>
                </a:solidFill>
                <a:latin typeface="Calibri" pitchFamily="34" charset="0"/>
                <a:ea typeface="Calibri" pitchFamily="34" charset="-122"/>
                <a:cs typeface="Calibri" pitchFamily="34" charset="-120"/>
              </a:rPr>
              <a:t>Carl Correns (德国)  —  玉米杂交实验，独立得出相同结论</a:t>
            </a:r>
            <a:endParaRPr lang="en-US" sz="1000" dirty="0"/>
          </a:p>
          <a:p>
            <a:pPr marL="342900" indent="-342900">
              <a:lnSpc>
                <a:spcPct val="115000"/>
              </a:lnSpc>
              <a:buSzPct val="100000"/>
              <a:buChar char="•"/>
            </a:pPr>
            <a:r>
              <a:rPr lang="en-US" sz="1000" dirty="0">
                <a:solidFill>
                  <a:srgbClr val="333333"/>
                </a:solidFill>
                <a:latin typeface="Calibri" pitchFamily="34" charset="0"/>
                <a:ea typeface="Calibri" pitchFamily="34" charset="-122"/>
                <a:cs typeface="Calibri" pitchFamily="34" charset="-120"/>
              </a:rPr>
              <a:t>Erich von Tschermak (奥地利)  —  豌豆杂交，验证孟德尔结果</a:t>
            </a:r>
            <a:endParaRPr lang="en-US" sz="1000" dirty="0"/>
          </a:p>
        </p:txBody>
      </p:sp>
      <p:sp>
        <p:nvSpPr>
          <p:cNvPr id="33" name="Text 30"/>
          <p:cNvSpPr/>
          <p:nvPr/>
        </p:nvSpPr>
        <p:spPr>
          <a:xfrm>
            <a:off x="457200" y="4251960"/>
            <a:ext cx="8229600" cy="320040"/>
          </a:xfrm>
          <a:prstGeom prst="rect">
            <a:avLst/>
          </a:prstGeom>
          <a:noFill/>
          <a:ln/>
        </p:spPr>
        <p:txBody>
          <a:bodyPr wrap="square" rtlCol="0" anchor="ctr">
            <a:normAutofit/>
          </a:bodyPr>
          <a:lstStyle/>
          <a:p>
            <a:pPr algn="ctr" indent="0" marL="0">
              <a:buNone/>
            </a:pPr>
            <a:r>
              <a:rPr lang="en-US" sz="1300" i="1" dirty="0">
                <a:solidFill>
                  <a:srgbClr val="D4A843"/>
                </a:solidFill>
                <a:latin typeface="Georgia" pitchFamily="34" charset="0"/>
                <a:ea typeface="Georgia" pitchFamily="34" charset="-122"/>
                <a:cs typeface="Georgia" pitchFamily="34" charset="-120"/>
              </a:rPr>
              <a:t>"我的时代终将到来"  ——  Gregor Mendel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320040"/>
            <a:ext cx="73152" cy="594360"/>
          </a:xfrm>
          <a:prstGeom prst="rect">
            <a:avLst/>
          </a:prstGeom>
          <a:solidFill>
            <a:srgbClr val="D4A843"/>
          </a:solidFill>
          <a:ln/>
        </p:spPr>
      </p:sp>
      <p:sp>
        <p:nvSpPr>
          <p:cNvPr id="4" name="Text 1"/>
          <p:cNvSpPr/>
          <p:nvPr/>
        </p:nvSpPr>
        <p:spPr>
          <a:xfrm>
            <a:off x="640080" y="274320"/>
            <a:ext cx="8046720" cy="502920"/>
          </a:xfrm>
          <a:prstGeom prst="rect">
            <a:avLst/>
          </a:prstGeom>
          <a:noFill/>
          <a:ln/>
        </p:spPr>
        <p:txBody>
          <a:bodyPr wrap="square" rtlCol="0" anchor="ctr">
            <a:normAutofit/>
          </a:bodyPr>
          <a:lstStyle/>
          <a:p>
            <a:pPr indent="0" marL="0">
              <a:buNone/>
            </a:pPr>
            <a:r>
              <a:rPr lang="en-US" sz="2600" b="1" spc="150" kern="0" dirty="0">
                <a:solidFill>
                  <a:srgbClr val="2C5F2D"/>
                </a:solidFill>
                <a:latin typeface="Georgia" pitchFamily="34" charset="0"/>
                <a:ea typeface="Georgia" pitchFamily="34" charset="-122"/>
                <a:cs typeface="Georgia" pitchFamily="34" charset="-120"/>
              </a:rPr>
              <a:t>染色体遗传理论  /  Chromosomal Theory of Inheritance</a:t>
            </a:r>
            <a:endParaRPr lang="en-US" sz="2600" dirty="0"/>
          </a:p>
        </p:txBody>
      </p:sp>
      <p:sp>
        <p:nvSpPr>
          <p:cNvPr id="5" name="Text 2"/>
          <p:cNvSpPr/>
          <p:nvPr/>
        </p:nvSpPr>
        <p:spPr>
          <a:xfrm>
            <a:off x="640080" y="777240"/>
            <a:ext cx="8046720" cy="274320"/>
          </a:xfrm>
          <a:prstGeom prst="rect">
            <a:avLst/>
          </a:prstGeom>
          <a:noFill/>
          <a:ln/>
        </p:spPr>
        <p:txBody>
          <a:bodyPr wrap="square" rtlCol="0" anchor="ctr">
            <a:normAutofit/>
          </a:bodyPr>
          <a:lstStyle/>
          <a:p>
            <a:pPr indent="0" marL="0">
              <a:buNone/>
            </a:pPr>
            <a:r>
              <a:rPr lang="en-US" sz="1300" i="1" dirty="0">
                <a:solidFill>
                  <a:srgbClr val="97BC62"/>
                </a:solidFill>
                <a:latin typeface="Calibri" pitchFamily="34" charset="0"/>
                <a:ea typeface="Calibri" pitchFamily="34" charset="-122"/>
                <a:cs typeface="Calibri" pitchFamily="34" charset="-120"/>
              </a:rPr>
              <a:t>Sutton-Boveri Hypothesis (1902)  ·  连锁与交换  ·  遗传图谱</a:t>
            </a:r>
            <a:endParaRPr lang="en-US" sz="1300" dirty="0"/>
          </a:p>
        </p:txBody>
      </p:sp>
      <p:sp>
        <p:nvSpPr>
          <p:cNvPr id="6" name="Shape 3"/>
          <p:cNvSpPr/>
          <p:nvPr/>
        </p:nvSpPr>
        <p:spPr>
          <a:xfrm>
            <a:off x="457200" y="1188720"/>
            <a:ext cx="8229600" cy="1371600"/>
          </a:xfrm>
          <a:prstGeom prst="roundRect">
            <a:avLst>
              <a:gd name="adj" fmla="val 5333"/>
            </a:avLst>
          </a:prstGeom>
          <a:solidFill>
            <a:srgbClr val="FFFFFF"/>
          </a:solidFill>
          <a:ln/>
          <a:effectLst>
            <a:outerShdw sx="100000" sy="100000" kx="0" ky="0" algn="bl" rotWithShape="0" blurRad="152400" dist="50800" dir="8100000">
              <a:srgbClr val="000000">
                <a:alpha val="28000"/>
              </a:srgbClr>
            </a:outerShdw>
          </a:effectLst>
        </p:spPr>
      </p:sp>
      <p:sp>
        <p:nvSpPr>
          <p:cNvPr id="7" name="Shape 4"/>
          <p:cNvSpPr/>
          <p:nvPr/>
        </p:nvSpPr>
        <p:spPr>
          <a:xfrm>
            <a:off x="457200" y="1188720"/>
            <a:ext cx="8229600" cy="54864"/>
          </a:xfrm>
          <a:prstGeom prst="rect">
            <a:avLst/>
          </a:prstGeom>
          <a:solidFill>
            <a:srgbClr val="2C5F2D"/>
          </a:solidFill>
          <a:ln/>
        </p:spPr>
      </p:sp>
      <p:sp>
        <p:nvSpPr>
          <p:cNvPr id="8" name="Text 5"/>
          <p:cNvSpPr/>
          <p:nvPr/>
        </p:nvSpPr>
        <p:spPr>
          <a:xfrm>
            <a:off x="685800" y="1325880"/>
            <a:ext cx="7772400" cy="274320"/>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核心概念：孟德尔"因子"的物理载体是染色体</a:t>
            </a:r>
            <a:endParaRPr lang="en-US" sz="1400" dirty="0"/>
          </a:p>
        </p:txBody>
      </p:sp>
      <p:sp>
        <p:nvSpPr>
          <p:cNvPr id="9" name="Shape 6"/>
          <p:cNvSpPr/>
          <p:nvPr/>
        </p:nvSpPr>
        <p:spPr>
          <a:xfrm>
            <a:off x="1828800" y="1783080"/>
            <a:ext cx="1645920" cy="502920"/>
          </a:xfrm>
          <a:prstGeom prst="roundRect">
            <a:avLst>
              <a:gd name="adj" fmla="val 18182"/>
            </a:avLst>
          </a:prstGeom>
          <a:solidFill>
            <a:srgbClr val="2C5F2D"/>
          </a:solidFill>
          <a:ln/>
        </p:spPr>
      </p:sp>
      <p:sp>
        <p:nvSpPr>
          <p:cNvPr id="10" name="Text 7"/>
          <p:cNvSpPr/>
          <p:nvPr/>
        </p:nvSpPr>
        <p:spPr>
          <a:xfrm>
            <a:off x="1828800" y="1783080"/>
            <a:ext cx="1645920" cy="502920"/>
          </a:xfrm>
          <a:prstGeom prst="rect">
            <a:avLst/>
          </a:prstGeom>
          <a:noFill/>
          <a:ln/>
        </p:spPr>
        <p:txBody>
          <a:bodyPr wrap="square" rtlCol="0" anchor="ctr">
            <a:normAutofit/>
          </a:bodyPr>
          <a:lstStyle/>
          <a:p>
            <a:pPr algn="ctr" indent="0" marL="0">
              <a:lnSpc>
                <a:spcPct val="100000"/>
              </a:lnSpc>
              <a:buNone/>
            </a:pPr>
            <a:r>
              <a:rPr lang="en-US" sz="1000" b="1" dirty="0">
                <a:solidFill>
                  <a:srgbClr val="FFFFFF"/>
                </a:solidFill>
                <a:latin typeface="Georgia" pitchFamily="34" charset="0"/>
                <a:ea typeface="Georgia" pitchFamily="34" charset="-122"/>
                <a:cs typeface="Georgia" pitchFamily="34" charset="-120"/>
              </a:rPr>
              <a:t>染色体</a:t>
            </a:r>
            <a:endParaRPr lang="en-US" sz="1000" dirty="0"/>
          </a:p>
          <a:p>
            <a:pPr algn="ctr" indent="0" marL="0">
              <a:lnSpc>
                <a:spcPct val="100000"/>
              </a:lnSpc>
              <a:buNone/>
            </a:pPr>
            <a:r>
              <a:rPr lang="en-US" sz="1000" b="1" dirty="0">
                <a:solidFill>
                  <a:srgbClr val="FFFFFF"/>
                </a:solidFill>
                <a:latin typeface="Georgia" pitchFamily="34" charset="0"/>
                <a:ea typeface="Georgia" pitchFamily="34" charset="-122"/>
                <a:cs typeface="Georgia" pitchFamily="34" charset="-120"/>
              </a:rPr>
              <a:t>Chromosomes</a:t>
            </a:r>
            <a:endParaRPr lang="en-US" sz="1000" dirty="0"/>
          </a:p>
        </p:txBody>
      </p:sp>
      <p:sp>
        <p:nvSpPr>
          <p:cNvPr id="11" name="Shape 8"/>
          <p:cNvSpPr/>
          <p:nvPr/>
        </p:nvSpPr>
        <p:spPr>
          <a:xfrm>
            <a:off x="3474720" y="2034540"/>
            <a:ext cx="731520" cy="0"/>
          </a:xfrm>
          <a:prstGeom prst="line">
            <a:avLst/>
          </a:prstGeom>
          <a:noFill/>
          <a:ln w="19050">
            <a:solidFill>
              <a:srgbClr val="999999"/>
            </a:solidFill>
            <a:prstDash val="solid"/>
            <a:tailEnd type="triangle"/>
          </a:ln>
        </p:spPr>
      </p:sp>
      <p:sp>
        <p:nvSpPr>
          <p:cNvPr id="12" name="Shape 9"/>
          <p:cNvSpPr/>
          <p:nvPr/>
        </p:nvSpPr>
        <p:spPr>
          <a:xfrm>
            <a:off x="4206240" y="1783080"/>
            <a:ext cx="1645920" cy="502920"/>
          </a:xfrm>
          <a:prstGeom prst="roundRect">
            <a:avLst>
              <a:gd name="adj" fmla="val 18182"/>
            </a:avLst>
          </a:prstGeom>
          <a:solidFill>
            <a:srgbClr val="3D7A3E"/>
          </a:solidFill>
          <a:ln/>
        </p:spPr>
      </p:sp>
      <p:sp>
        <p:nvSpPr>
          <p:cNvPr id="13" name="Text 10"/>
          <p:cNvSpPr/>
          <p:nvPr/>
        </p:nvSpPr>
        <p:spPr>
          <a:xfrm>
            <a:off x="4206240" y="1783080"/>
            <a:ext cx="1645920" cy="502920"/>
          </a:xfrm>
          <a:prstGeom prst="rect">
            <a:avLst/>
          </a:prstGeom>
          <a:noFill/>
          <a:ln/>
        </p:spPr>
        <p:txBody>
          <a:bodyPr wrap="square" rtlCol="0" anchor="ctr">
            <a:normAutofit/>
          </a:bodyPr>
          <a:lstStyle/>
          <a:p>
            <a:pPr algn="ctr" indent="0" marL="0">
              <a:lnSpc>
                <a:spcPct val="100000"/>
              </a:lnSpc>
              <a:buNone/>
            </a:pPr>
            <a:r>
              <a:rPr lang="en-US" sz="1000" b="1" dirty="0">
                <a:solidFill>
                  <a:srgbClr val="FFFFFF"/>
                </a:solidFill>
                <a:latin typeface="Georgia" pitchFamily="34" charset="0"/>
                <a:ea typeface="Georgia" pitchFamily="34" charset="-122"/>
                <a:cs typeface="Georgia" pitchFamily="34" charset="-120"/>
              </a:rPr>
              <a:t>基因位点</a:t>
            </a:r>
            <a:endParaRPr lang="en-US" sz="1000" dirty="0"/>
          </a:p>
          <a:p>
            <a:pPr algn="ctr" indent="0" marL="0">
              <a:lnSpc>
                <a:spcPct val="100000"/>
              </a:lnSpc>
              <a:buNone/>
            </a:pPr>
            <a:r>
              <a:rPr lang="en-US" sz="1000" b="1" dirty="0">
                <a:solidFill>
                  <a:srgbClr val="FFFFFF"/>
                </a:solidFill>
                <a:latin typeface="Georgia" pitchFamily="34" charset="0"/>
                <a:ea typeface="Georgia" pitchFamily="34" charset="-122"/>
                <a:cs typeface="Georgia" pitchFamily="34" charset="-120"/>
              </a:rPr>
              <a:t>Gene Loci</a:t>
            </a:r>
            <a:endParaRPr lang="en-US" sz="1000" dirty="0"/>
          </a:p>
        </p:txBody>
      </p:sp>
      <p:sp>
        <p:nvSpPr>
          <p:cNvPr id="14" name="Shape 11"/>
          <p:cNvSpPr/>
          <p:nvPr/>
        </p:nvSpPr>
        <p:spPr>
          <a:xfrm>
            <a:off x="5852160" y="2034540"/>
            <a:ext cx="731520" cy="0"/>
          </a:xfrm>
          <a:prstGeom prst="line">
            <a:avLst/>
          </a:prstGeom>
          <a:noFill/>
          <a:ln w="19050">
            <a:solidFill>
              <a:srgbClr val="999999"/>
            </a:solidFill>
            <a:prstDash val="solid"/>
            <a:tailEnd type="triangle"/>
          </a:ln>
        </p:spPr>
      </p:sp>
      <p:sp>
        <p:nvSpPr>
          <p:cNvPr id="15" name="Shape 12"/>
          <p:cNvSpPr/>
          <p:nvPr/>
        </p:nvSpPr>
        <p:spPr>
          <a:xfrm>
            <a:off x="6583680" y="1783080"/>
            <a:ext cx="1645920" cy="502920"/>
          </a:xfrm>
          <a:prstGeom prst="roundRect">
            <a:avLst>
              <a:gd name="adj" fmla="val 18182"/>
            </a:avLst>
          </a:prstGeom>
          <a:solidFill>
            <a:srgbClr val="97BC62"/>
          </a:solidFill>
          <a:ln/>
        </p:spPr>
      </p:sp>
      <p:sp>
        <p:nvSpPr>
          <p:cNvPr id="16" name="Text 13"/>
          <p:cNvSpPr/>
          <p:nvPr/>
        </p:nvSpPr>
        <p:spPr>
          <a:xfrm>
            <a:off x="6583680" y="1783080"/>
            <a:ext cx="1645920" cy="502920"/>
          </a:xfrm>
          <a:prstGeom prst="rect">
            <a:avLst/>
          </a:prstGeom>
          <a:noFill/>
          <a:ln/>
        </p:spPr>
        <p:txBody>
          <a:bodyPr wrap="square" rtlCol="0" anchor="ctr">
            <a:normAutofit/>
          </a:bodyPr>
          <a:lstStyle/>
          <a:p>
            <a:pPr algn="ctr" indent="0" marL="0">
              <a:lnSpc>
                <a:spcPct val="100000"/>
              </a:lnSpc>
              <a:buNone/>
            </a:pPr>
            <a:r>
              <a:rPr lang="en-US" sz="1000" b="1" dirty="0">
                <a:solidFill>
                  <a:srgbClr val="FFFFFF"/>
                </a:solidFill>
                <a:latin typeface="Georgia" pitchFamily="34" charset="0"/>
                <a:ea typeface="Georgia" pitchFamily="34" charset="-122"/>
                <a:cs typeface="Georgia" pitchFamily="34" charset="-120"/>
              </a:rPr>
              <a:t>性状表达</a:t>
            </a:r>
            <a:endParaRPr lang="en-US" sz="1000" dirty="0"/>
          </a:p>
          <a:p>
            <a:pPr algn="ctr" indent="0" marL="0">
              <a:lnSpc>
                <a:spcPct val="100000"/>
              </a:lnSpc>
              <a:buNone/>
            </a:pPr>
            <a:r>
              <a:rPr lang="en-US" sz="1000" b="1" dirty="0">
                <a:solidFill>
                  <a:srgbClr val="FFFFFF"/>
                </a:solidFill>
                <a:latin typeface="Georgia" pitchFamily="34" charset="0"/>
                <a:ea typeface="Georgia" pitchFamily="34" charset="-122"/>
                <a:cs typeface="Georgia" pitchFamily="34" charset="-120"/>
              </a:rPr>
              <a:t>Trait Expression</a:t>
            </a:r>
            <a:endParaRPr lang="en-US" sz="1000" dirty="0"/>
          </a:p>
        </p:txBody>
      </p:sp>
      <p:sp>
        <p:nvSpPr>
          <p:cNvPr id="17" name="Shape 14"/>
          <p:cNvSpPr/>
          <p:nvPr/>
        </p:nvSpPr>
        <p:spPr>
          <a:xfrm>
            <a:off x="457200" y="2743200"/>
            <a:ext cx="1920240" cy="1920240"/>
          </a:xfrm>
          <a:prstGeom prst="roundRect">
            <a:avLst>
              <a:gd name="adj" fmla="val 3810"/>
            </a:avLst>
          </a:prstGeom>
          <a:solidFill>
            <a:srgbClr val="FFFFFF"/>
          </a:solidFill>
          <a:ln/>
          <a:effectLst>
            <a:outerShdw sx="100000" sy="100000" kx="0" ky="0" algn="bl" rotWithShape="0" blurRad="152400" dist="50800" dir="8100000">
              <a:srgbClr val="000000">
                <a:alpha val="28000"/>
              </a:srgbClr>
            </a:outerShdw>
          </a:effectLst>
        </p:spPr>
      </p:sp>
      <p:sp>
        <p:nvSpPr>
          <p:cNvPr id="18" name="Shape 15"/>
          <p:cNvSpPr/>
          <p:nvPr/>
        </p:nvSpPr>
        <p:spPr>
          <a:xfrm>
            <a:off x="457200" y="2743200"/>
            <a:ext cx="1920240" cy="54864"/>
          </a:xfrm>
          <a:prstGeom prst="rect">
            <a:avLst/>
          </a:prstGeom>
          <a:solidFill>
            <a:srgbClr val="97BC62"/>
          </a:solidFill>
          <a:ln/>
        </p:spPr>
      </p:sp>
      <p:sp>
        <p:nvSpPr>
          <p:cNvPr id="19" name="Text 16"/>
          <p:cNvSpPr/>
          <p:nvPr/>
        </p:nvSpPr>
        <p:spPr>
          <a:xfrm>
            <a:off x="594360" y="2880360"/>
            <a:ext cx="1645920" cy="32004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Sutton-Boveri假说</a:t>
            </a:r>
            <a:endParaRPr lang="en-US" sz="1200" dirty="0"/>
          </a:p>
        </p:txBody>
      </p:sp>
      <p:sp>
        <p:nvSpPr>
          <p:cNvPr id="20" name="Text 17"/>
          <p:cNvSpPr/>
          <p:nvPr/>
        </p:nvSpPr>
        <p:spPr>
          <a:xfrm>
            <a:off x="594360" y="3182112"/>
            <a:ext cx="164592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Sutton-Boveri Hypothesis</a:t>
            </a:r>
            <a:endParaRPr lang="en-US" sz="900" dirty="0"/>
          </a:p>
        </p:txBody>
      </p:sp>
      <p:sp>
        <p:nvSpPr>
          <p:cNvPr id="21" name="Text 18"/>
          <p:cNvSpPr/>
          <p:nvPr/>
        </p:nvSpPr>
        <p:spPr>
          <a:xfrm>
            <a:off x="594360" y="3383280"/>
            <a:ext cx="1645920" cy="1143000"/>
          </a:xfrm>
          <a:prstGeom prst="rect">
            <a:avLst/>
          </a:prstGeom>
          <a:noFill/>
          <a:ln/>
        </p:spPr>
        <p:txBody>
          <a:bodyPr wrap="square" rtlCol="0" anchor="t">
            <a:normAutofit/>
          </a:bodyPr>
          <a:lstStyle/>
          <a:p>
            <a:pPr indent="0" marL="0">
              <a:lnSpc>
                <a:spcPct val="115000"/>
              </a:lnSpc>
              <a:buNone/>
            </a:pPr>
            <a:r>
              <a:rPr lang="en-US" sz="900" dirty="0">
                <a:solidFill>
                  <a:srgbClr val="333333"/>
                </a:solidFill>
                <a:latin typeface="Calibri" pitchFamily="34" charset="0"/>
                <a:ea typeface="Calibri" pitchFamily="34" charset="-122"/>
                <a:cs typeface="Calibri" pitchFamily="34" charset="-120"/>
              </a:rPr>
              <a:t>1902年提出：染色体行为与孟德尔因子平行，染色体是遗传载体</a:t>
            </a:r>
            <a:endParaRPr lang="en-US" sz="900" dirty="0"/>
          </a:p>
        </p:txBody>
      </p:sp>
      <p:sp>
        <p:nvSpPr>
          <p:cNvPr id="22" name="Shape 19"/>
          <p:cNvSpPr/>
          <p:nvPr/>
        </p:nvSpPr>
        <p:spPr>
          <a:xfrm>
            <a:off x="2560320" y="2743200"/>
            <a:ext cx="1920240" cy="1920240"/>
          </a:xfrm>
          <a:prstGeom prst="roundRect">
            <a:avLst>
              <a:gd name="adj" fmla="val 3810"/>
            </a:avLst>
          </a:prstGeom>
          <a:solidFill>
            <a:srgbClr val="FFFFFF"/>
          </a:solidFill>
          <a:ln/>
          <a:effectLst>
            <a:outerShdw sx="100000" sy="100000" kx="0" ky="0" algn="bl" rotWithShape="0" blurRad="152400" dist="50800" dir="8100000">
              <a:srgbClr val="000000">
                <a:alpha val="28000"/>
              </a:srgbClr>
            </a:outerShdw>
          </a:effectLst>
        </p:spPr>
      </p:sp>
      <p:sp>
        <p:nvSpPr>
          <p:cNvPr id="23" name="Shape 20"/>
          <p:cNvSpPr/>
          <p:nvPr/>
        </p:nvSpPr>
        <p:spPr>
          <a:xfrm>
            <a:off x="2560320" y="2743200"/>
            <a:ext cx="1920240" cy="54864"/>
          </a:xfrm>
          <a:prstGeom prst="rect">
            <a:avLst/>
          </a:prstGeom>
          <a:solidFill>
            <a:srgbClr val="97BC62"/>
          </a:solidFill>
          <a:ln/>
        </p:spPr>
      </p:sp>
      <p:sp>
        <p:nvSpPr>
          <p:cNvPr id="24" name="Text 21"/>
          <p:cNvSpPr/>
          <p:nvPr/>
        </p:nvSpPr>
        <p:spPr>
          <a:xfrm>
            <a:off x="2697480" y="2880360"/>
            <a:ext cx="1645920" cy="32004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连锁与交换</a:t>
            </a:r>
            <a:endParaRPr lang="en-US" sz="1200" dirty="0"/>
          </a:p>
        </p:txBody>
      </p:sp>
      <p:sp>
        <p:nvSpPr>
          <p:cNvPr id="25" name="Text 22"/>
          <p:cNvSpPr/>
          <p:nvPr/>
        </p:nvSpPr>
        <p:spPr>
          <a:xfrm>
            <a:off x="2697480" y="3182112"/>
            <a:ext cx="164592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Linkage &amp; Crossing Over</a:t>
            </a:r>
            <a:endParaRPr lang="en-US" sz="900" dirty="0"/>
          </a:p>
        </p:txBody>
      </p:sp>
      <p:sp>
        <p:nvSpPr>
          <p:cNvPr id="26" name="Text 23"/>
          <p:cNvSpPr/>
          <p:nvPr/>
        </p:nvSpPr>
        <p:spPr>
          <a:xfrm>
            <a:off x="2697480" y="3383280"/>
            <a:ext cx="1645920" cy="1143000"/>
          </a:xfrm>
          <a:prstGeom prst="rect">
            <a:avLst/>
          </a:prstGeom>
          <a:noFill/>
          <a:ln/>
        </p:spPr>
        <p:txBody>
          <a:bodyPr wrap="square" rtlCol="0" anchor="t">
            <a:normAutofit/>
          </a:bodyPr>
          <a:lstStyle/>
          <a:p>
            <a:pPr indent="0" marL="0">
              <a:lnSpc>
                <a:spcPct val="115000"/>
              </a:lnSpc>
              <a:buNone/>
            </a:pPr>
            <a:r>
              <a:rPr lang="en-US" sz="900" dirty="0">
                <a:solidFill>
                  <a:srgbClr val="333333"/>
                </a:solidFill>
                <a:latin typeface="Calibri" pitchFamily="34" charset="0"/>
                <a:ea typeface="Calibri" pitchFamily="34" charset="-122"/>
                <a:cs typeface="Calibri" pitchFamily="34" charset="-120"/>
              </a:rPr>
              <a:t>同源染色体上基因连锁，减数分裂时交换产生重组</a:t>
            </a:r>
            <a:endParaRPr lang="en-US" sz="900" dirty="0"/>
          </a:p>
        </p:txBody>
      </p:sp>
      <p:sp>
        <p:nvSpPr>
          <p:cNvPr id="27" name="Shape 24"/>
          <p:cNvSpPr/>
          <p:nvPr/>
        </p:nvSpPr>
        <p:spPr>
          <a:xfrm>
            <a:off x="4663440" y="2743200"/>
            <a:ext cx="1920240" cy="1920240"/>
          </a:xfrm>
          <a:prstGeom prst="roundRect">
            <a:avLst>
              <a:gd name="adj" fmla="val 3810"/>
            </a:avLst>
          </a:prstGeom>
          <a:solidFill>
            <a:srgbClr val="FFFFFF"/>
          </a:solidFill>
          <a:ln/>
          <a:effectLst>
            <a:outerShdw sx="100000" sy="100000" kx="0" ky="0" algn="bl" rotWithShape="0" blurRad="152400" dist="50800" dir="8100000">
              <a:srgbClr val="000000">
                <a:alpha val="28000"/>
              </a:srgbClr>
            </a:outerShdw>
          </a:effectLst>
        </p:spPr>
      </p:sp>
      <p:sp>
        <p:nvSpPr>
          <p:cNvPr id="28" name="Shape 25"/>
          <p:cNvSpPr/>
          <p:nvPr/>
        </p:nvSpPr>
        <p:spPr>
          <a:xfrm>
            <a:off x="4663440" y="2743200"/>
            <a:ext cx="1920240" cy="54864"/>
          </a:xfrm>
          <a:prstGeom prst="rect">
            <a:avLst/>
          </a:prstGeom>
          <a:solidFill>
            <a:srgbClr val="97BC62"/>
          </a:solidFill>
          <a:ln/>
        </p:spPr>
      </p:sp>
      <p:sp>
        <p:nvSpPr>
          <p:cNvPr id="29" name="Text 26"/>
          <p:cNvSpPr/>
          <p:nvPr/>
        </p:nvSpPr>
        <p:spPr>
          <a:xfrm>
            <a:off x="4800600" y="2880360"/>
            <a:ext cx="1645920" cy="32004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遗传图谱</a:t>
            </a:r>
            <a:endParaRPr lang="en-US" sz="1200" dirty="0"/>
          </a:p>
        </p:txBody>
      </p:sp>
      <p:sp>
        <p:nvSpPr>
          <p:cNvPr id="30" name="Text 27"/>
          <p:cNvSpPr/>
          <p:nvPr/>
        </p:nvSpPr>
        <p:spPr>
          <a:xfrm>
            <a:off x="4800600" y="3182112"/>
            <a:ext cx="164592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Genetic Mapping</a:t>
            </a:r>
            <a:endParaRPr lang="en-US" sz="900" dirty="0"/>
          </a:p>
        </p:txBody>
      </p:sp>
      <p:sp>
        <p:nvSpPr>
          <p:cNvPr id="31" name="Text 28"/>
          <p:cNvSpPr/>
          <p:nvPr/>
        </p:nvSpPr>
        <p:spPr>
          <a:xfrm>
            <a:off x="4800600" y="3383280"/>
            <a:ext cx="1645920" cy="1143000"/>
          </a:xfrm>
          <a:prstGeom prst="rect">
            <a:avLst/>
          </a:prstGeom>
          <a:noFill/>
          <a:ln/>
        </p:spPr>
        <p:txBody>
          <a:bodyPr wrap="square" rtlCol="0" anchor="t">
            <a:normAutofit/>
          </a:bodyPr>
          <a:lstStyle/>
          <a:p>
            <a:pPr indent="0" marL="0">
              <a:lnSpc>
                <a:spcPct val="115000"/>
              </a:lnSpc>
              <a:buNone/>
            </a:pPr>
            <a:r>
              <a:rPr lang="en-US" sz="900" dirty="0">
                <a:solidFill>
                  <a:srgbClr val="333333"/>
                </a:solidFill>
                <a:latin typeface="Calibri" pitchFamily="34" charset="0"/>
                <a:ea typeface="Calibri" pitchFamily="34" charset="-122"/>
                <a:cs typeface="Calibri" pitchFamily="34" charset="-120"/>
              </a:rPr>
              <a:t>Sturtevant(1913)构建首张果蝇遗传图谱，重组频率=图距</a:t>
            </a:r>
            <a:endParaRPr lang="en-US" sz="900" dirty="0"/>
          </a:p>
        </p:txBody>
      </p:sp>
      <p:sp>
        <p:nvSpPr>
          <p:cNvPr id="32" name="Shape 29"/>
          <p:cNvSpPr/>
          <p:nvPr/>
        </p:nvSpPr>
        <p:spPr>
          <a:xfrm>
            <a:off x="6766560" y="2743200"/>
            <a:ext cx="1920240" cy="1920240"/>
          </a:xfrm>
          <a:prstGeom prst="roundRect">
            <a:avLst>
              <a:gd name="adj" fmla="val 3810"/>
            </a:avLst>
          </a:prstGeom>
          <a:solidFill>
            <a:srgbClr val="FFFFFF"/>
          </a:solidFill>
          <a:ln/>
          <a:effectLst>
            <a:outerShdw sx="100000" sy="100000" kx="0" ky="0" algn="bl" rotWithShape="0" blurRad="152400" dist="50800" dir="8100000">
              <a:srgbClr val="000000">
                <a:alpha val="28000"/>
              </a:srgbClr>
            </a:outerShdw>
          </a:effectLst>
        </p:spPr>
      </p:sp>
      <p:sp>
        <p:nvSpPr>
          <p:cNvPr id="33" name="Shape 30"/>
          <p:cNvSpPr/>
          <p:nvPr/>
        </p:nvSpPr>
        <p:spPr>
          <a:xfrm>
            <a:off x="6766560" y="2743200"/>
            <a:ext cx="1920240" cy="54864"/>
          </a:xfrm>
          <a:prstGeom prst="rect">
            <a:avLst/>
          </a:prstGeom>
          <a:solidFill>
            <a:srgbClr val="97BC62"/>
          </a:solidFill>
          <a:ln/>
        </p:spPr>
      </p:sp>
      <p:sp>
        <p:nvSpPr>
          <p:cNvPr id="34" name="Text 31"/>
          <p:cNvSpPr/>
          <p:nvPr/>
        </p:nvSpPr>
        <p:spPr>
          <a:xfrm>
            <a:off x="6903720" y="2880360"/>
            <a:ext cx="1645920" cy="32004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实验验证</a:t>
            </a:r>
            <a:endParaRPr lang="en-US" sz="1200" dirty="0"/>
          </a:p>
        </p:txBody>
      </p:sp>
      <p:sp>
        <p:nvSpPr>
          <p:cNvPr id="35" name="Text 32"/>
          <p:cNvSpPr/>
          <p:nvPr/>
        </p:nvSpPr>
        <p:spPr>
          <a:xfrm>
            <a:off x="6903720" y="3182112"/>
            <a:ext cx="164592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Experimental Validation</a:t>
            </a:r>
            <a:endParaRPr lang="en-US" sz="900" dirty="0"/>
          </a:p>
        </p:txBody>
      </p:sp>
      <p:sp>
        <p:nvSpPr>
          <p:cNvPr id="36" name="Text 33"/>
          <p:cNvSpPr/>
          <p:nvPr/>
        </p:nvSpPr>
        <p:spPr>
          <a:xfrm>
            <a:off x="6903720" y="3383280"/>
            <a:ext cx="1645920" cy="1143000"/>
          </a:xfrm>
          <a:prstGeom prst="rect">
            <a:avLst/>
          </a:prstGeom>
          <a:noFill/>
          <a:ln/>
        </p:spPr>
        <p:txBody>
          <a:bodyPr wrap="square" rtlCol="0" anchor="t">
            <a:normAutofit/>
          </a:bodyPr>
          <a:lstStyle/>
          <a:p>
            <a:pPr indent="0" marL="0">
              <a:lnSpc>
                <a:spcPct val="115000"/>
              </a:lnSpc>
              <a:buNone/>
            </a:pPr>
            <a:r>
              <a:rPr lang="en-US" sz="900" dirty="0">
                <a:solidFill>
                  <a:srgbClr val="333333"/>
                </a:solidFill>
                <a:latin typeface="Calibri" pitchFamily="34" charset="0"/>
                <a:ea typeface="Calibri" pitchFamily="34" charset="-122"/>
                <a:cs typeface="Calibri" pitchFamily="34" charset="-120"/>
              </a:rPr>
              <a:t>摩尔根果蝇实验证实染色体理论，获1933年诺贝尔奖</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320040"/>
            <a:ext cx="73152" cy="594360"/>
          </a:xfrm>
          <a:prstGeom prst="rect">
            <a:avLst/>
          </a:prstGeom>
          <a:solidFill>
            <a:srgbClr val="D4A843"/>
          </a:solidFill>
          <a:ln/>
        </p:spPr>
      </p:sp>
      <p:sp>
        <p:nvSpPr>
          <p:cNvPr id="4" name="Text 1"/>
          <p:cNvSpPr/>
          <p:nvPr/>
        </p:nvSpPr>
        <p:spPr>
          <a:xfrm>
            <a:off x="640080" y="274320"/>
            <a:ext cx="8046720" cy="502920"/>
          </a:xfrm>
          <a:prstGeom prst="rect">
            <a:avLst/>
          </a:prstGeom>
          <a:noFill/>
          <a:ln/>
        </p:spPr>
        <p:txBody>
          <a:bodyPr wrap="square" rtlCol="0" anchor="ctr">
            <a:normAutofit/>
          </a:bodyPr>
          <a:lstStyle/>
          <a:p>
            <a:pPr indent="0" marL="0">
              <a:buNone/>
            </a:pPr>
            <a:r>
              <a:rPr lang="en-US" sz="2600" b="1" spc="150" kern="0" dirty="0">
                <a:solidFill>
                  <a:srgbClr val="2C5F2D"/>
                </a:solidFill>
                <a:latin typeface="Georgia" pitchFamily="34" charset="0"/>
                <a:ea typeface="Georgia" pitchFamily="34" charset="-122"/>
                <a:cs typeface="Georgia" pitchFamily="34" charset="-120"/>
              </a:rPr>
              <a:t>摩尔根与果蝇研究  /  Morgan and Drosophila</a:t>
            </a:r>
            <a:endParaRPr lang="en-US" sz="2600" dirty="0"/>
          </a:p>
        </p:txBody>
      </p:sp>
      <p:sp>
        <p:nvSpPr>
          <p:cNvPr id="5" name="Text 2"/>
          <p:cNvSpPr/>
          <p:nvPr/>
        </p:nvSpPr>
        <p:spPr>
          <a:xfrm>
            <a:off x="640080" y="777240"/>
            <a:ext cx="8046720" cy="274320"/>
          </a:xfrm>
          <a:prstGeom prst="rect">
            <a:avLst/>
          </a:prstGeom>
          <a:noFill/>
          <a:ln/>
        </p:spPr>
        <p:txBody>
          <a:bodyPr wrap="square" rtlCol="0" anchor="ctr">
            <a:normAutofit/>
          </a:bodyPr>
          <a:lstStyle/>
          <a:p>
            <a:pPr indent="0" marL="0">
              <a:buNone/>
            </a:pPr>
            <a:r>
              <a:rPr lang="en-US" sz="1300" i="1" dirty="0">
                <a:solidFill>
                  <a:srgbClr val="97BC62"/>
                </a:solidFill>
                <a:latin typeface="Calibri" pitchFamily="34" charset="0"/>
                <a:ea typeface="Calibri" pitchFamily="34" charset="-122"/>
                <a:cs typeface="Calibri" pitchFamily="34" charset="-120"/>
              </a:rPr>
              <a:t>Thomas Hunt Morgan (1866-1945)  ·  1933 Nobel Prize</a:t>
            </a:r>
            <a:endParaRPr lang="en-US" sz="1300" dirty="0"/>
          </a:p>
        </p:txBody>
      </p:sp>
      <p:sp>
        <p:nvSpPr>
          <p:cNvPr id="6" name="Shape 3"/>
          <p:cNvSpPr/>
          <p:nvPr/>
        </p:nvSpPr>
        <p:spPr>
          <a:xfrm>
            <a:off x="457200" y="1143000"/>
            <a:ext cx="3931920" cy="3611880"/>
          </a:xfrm>
          <a:prstGeom prst="roundRect">
            <a:avLst>
              <a:gd name="adj" fmla="val 2025"/>
            </a:avLst>
          </a:prstGeom>
          <a:solidFill>
            <a:srgbClr val="FFFFFF"/>
          </a:solidFill>
          <a:ln/>
          <a:effectLst>
            <a:outerShdw sx="100000" sy="100000" kx="0" ky="0" algn="bl" rotWithShape="0" blurRad="152400" dist="50800" dir="8100000">
              <a:srgbClr val="000000">
                <a:alpha val="28000"/>
              </a:srgbClr>
            </a:outerShdw>
          </a:effectLst>
        </p:spPr>
      </p:sp>
      <p:sp>
        <p:nvSpPr>
          <p:cNvPr id="7" name="Shape 4"/>
          <p:cNvSpPr/>
          <p:nvPr/>
        </p:nvSpPr>
        <p:spPr>
          <a:xfrm>
            <a:off x="457200" y="1143000"/>
            <a:ext cx="3931920" cy="54864"/>
          </a:xfrm>
          <a:prstGeom prst="rect">
            <a:avLst/>
          </a:prstGeom>
          <a:solidFill>
            <a:srgbClr val="2C5F2D"/>
          </a:solidFill>
          <a:ln/>
        </p:spPr>
      </p:sp>
      <p:sp>
        <p:nvSpPr>
          <p:cNvPr id="8" name="Text 5"/>
          <p:cNvSpPr/>
          <p:nvPr/>
        </p:nvSpPr>
        <p:spPr>
          <a:xfrm>
            <a:off x="685800" y="1280160"/>
            <a:ext cx="3474720" cy="274320"/>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核心贡献 / Key Contributions</a:t>
            </a:r>
            <a:endParaRPr lang="en-US" sz="1400" dirty="0"/>
          </a:p>
        </p:txBody>
      </p:sp>
      <p:sp>
        <p:nvSpPr>
          <p:cNvPr id="9" name="Text 6"/>
          <p:cNvSpPr/>
          <p:nvPr/>
        </p:nvSpPr>
        <p:spPr>
          <a:xfrm>
            <a:off x="685800" y="1645920"/>
            <a:ext cx="3474720" cy="2971800"/>
          </a:xfrm>
          <a:prstGeom prst="rect">
            <a:avLst/>
          </a:prstGeom>
          <a:noFill/>
          <a:ln/>
        </p:spPr>
        <p:txBody>
          <a:bodyPr wrap="square" rtlCol="0" anchor="ctr">
            <a:normAutofit/>
          </a:bodyPr>
          <a:lstStyle/>
          <a:p>
            <a:pPr indent="0" marL="0">
              <a:lnSpc>
                <a:spcPct val="110000"/>
              </a:lnSpc>
              <a:spcAft>
                <a:spcPts val="300"/>
              </a:spcAft>
              <a:buNone/>
            </a:pPr>
            <a:r>
              <a:rPr lang="en-US" sz="1100" b="1" dirty="0">
                <a:solidFill>
                  <a:srgbClr val="333333"/>
                </a:solidFill>
                <a:latin typeface="Calibri" pitchFamily="34" charset="0"/>
                <a:ea typeface="Calibri" pitchFamily="34" charset="-122"/>
                <a:cs typeface="Calibri" pitchFamily="34" charset="-120"/>
              </a:rPr>
              <a:t>白眼突变体发现 (1910)</a:t>
            </a:r>
            <a:endParaRPr lang="en-US" sz="1100" dirty="0"/>
          </a:p>
          <a:p>
            <a:pPr indent="0" marL="0">
              <a:lnSpc>
                <a:spcPct val="110000"/>
              </a:lnSpc>
              <a:spcAft>
                <a:spcPts val="800"/>
              </a:spcAft>
              <a:buNone/>
            </a:pPr>
            <a:r>
              <a:rPr lang="en-US" sz="1100" dirty="0">
                <a:solidFill>
                  <a:srgbClr val="333333"/>
                </a:solidFill>
                <a:latin typeface="Calibri" pitchFamily="34" charset="0"/>
                <a:ea typeface="Calibri" pitchFamily="34" charset="-122"/>
                <a:cs typeface="Calibri" pitchFamily="34" charset="-120"/>
              </a:rPr>
              <a:t>  红眼(w+) -&gt; 白眼(w)突变，雄性为主</a:t>
            </a:r>
            <a:endParaRPr lang="en-US" sz="1100" dirty="0"/>
          </a:p>
          <a:p>
            <a:pPr indent="0" marL="0">
              <a:lnSpc>
                <a:spcPct val="110000"/>
              </a:lnSpc>
              <a:spcAft>
                <a:spcPts val="300"/>
              </a:spcAft>
              <a:buNone/>
            </a:pPr>
            <a:r>
              <a:rPr lang="en-US" sz="1100" b="1" dirty="0">
                <a:solidFill>
                  <a:srgbClr val="333333"/>
                </a:solidFill>
                <a:latin typeface="Calibri" pitchFamily="34" charset="0"/>
                <a:ea typeface="Calibri" pitchFamily="34" charset="-122"/>
                <a:cs typeface="Calibri" pitchFamily="34" charset="-120"/>
              </a:rPr>
              <a:t>伴性遗传证实</a:t>
            </a:r>
            <a:endParaRPr lang="en-US" sz="1100" dirty="0"/>
          </a:p>
          <a:p>
            <a:pPr indent="0" marL="0">
              <a:lnSpc>
                <a:spcPct val="110000"/>
              </a:lnSpc>
              <a:spcAft>
                <a:spcPts val="800"/>
              </a:spcAft>
              <a:buNone/>
            </a:pPr>
            <a:r>
              <a:rPr lang="en-US" sz="1100" dirty="0">
                <a:solidFill>
                  <a:srgbClr val="333333"/>
                </a:solidFill>
                <a:latin typeface="Calibri" pitchFamily="34" charset="0"/>
                <a:ea typeface="Calibri" pitchFamily="34" charset="-122"/>
                <a:cs typeface="Calibri" pitchFamily="34" charset="-120"/>
              </a:rPr>
              <a:t>  白眼基因位于X染色体上</a:t>
            </a:r>
            <a:endParaRPr lang="en-US" sz="1100" dirty="0"/>
          </a:p>
          <a:p>
            <a:pPr indent="0" marL="0">
              <a:lnSpc>
                <a:spcPct val="110000"/>
              </a:lnSpc>
              <a:spcAft>
                <a:spcPts val="300"/>
              </a:spcAft>
              <a:buNone/>
            </a:pPr>
            <a:r>
              <a:rPr lang="en-US" sz="1100" b="1" dirty="0">
                <a:solidFill>
                  <a:srgbClr val="333333"/>
                </a:solidFill>
                <a:latin typeface="Calibri" pitchFamily="34" charset="0"/>
                <a:ea typeface="Calibri" pitchFamily="34" charset="-122"/>
                <a:cs typeface="Calibri" pitchFamily="34" charset="-120"/>
              </a:rPr>
              <a:t>基因线性排列</a:t>
            </a:r>
            <a:endParaRPr lang="en-US" sz="1100" dirty="0"/>
          </a:p>
          <a:p>
            <a:pPr indent="0" marL="0">
              <a:lnSpc>
                <a:spcPct val="110000"/>
              </a:lnSpc>
              <a:spcAft>
                <a:spcPts val="800"/>
              </a:spcAft>
              <a:buNone/>
            </a:pPr>
            <a:r>
              <a:rPr lang="en-US" sz="1100" dirty="0">
                <a:solidFill>
                  <a:srgbClr val="333333"/>
                </a:solidFill>
                <a:latin typeface="Calibri" pitchFamily="34" charset="0"/>
                <a:ea typeface="Calibri" pitchFamily="34" charset="-122"/>
                <a:cs typeface="Calibri" pitchFamily="34" charset="-120"/>
              </a:rPr>
              <a:t>  基因在染色体上有确定位置</a:t>
            </a:r>
            <a:endParaRPr lang="en-US" sz="1100" dirty="0"/>
          </a:p>
          <a:p>
            <a:pPr indent="0" marL="0">
              <a:lnSpc>
                <a:spcPct val="110000"/>
              </a:lnSpc>
              <a:spcAft>
                <a:spcPts val="300"/>
              </a:spcAft>
              <a:buNone/>
            </a:pPr>
            <a:r>
              <a:rPr lang="en-US" sz="1100" b="1" dirty="0">
                <a:solidFill>
                  <a:srgbClr val="333333"/>
                </a:solidFill>
                <a:latin typeface="Calibri" pitchFamily="34" charset="0"/>
                <a:ea typeface="Calibri" pitchFamily="34" charset="-122"/>
                <a:cs typeface="Calibri" pitchFamily="34" charset="-120"/>
              </a:rPr>
              <a:t>连锁与交换实验</a:t>
            </a:r>
            <a:endParaRPr lang="en-US" sz="1100" dirty="0"/>
          </a:p>
          <a:p>
            <a:pPr indent="0" marL="0">
              <a:lnSpc>
                <a:spcPct val="110000"/>
              </a:lnSpc>
              <a:spcAft>
                <a:spcPts val="800"/>
              </a:spcAft>
              <a:buNone/>
            </a:pPr>
            <a:r>
              <a:rPr lang="en-US" sz="1100" dirty="0">
                <a:solidFill>
                  <a:srgbClr val="333333"/>
                </a:solidFill>
                <a:latin typeface="Calibri" pitchFamily="34" charset="0"/>
                <a:ea typeface="Calibri" pitchFamily="34" charset="-122"/>
                <a:cs typeface="Calibri" pitchFamily="34" charset="-120"/>
              </a:rPr>
              <a:t>  证实染色体是基因载体</a:t>
            </a:r>
            <a:endParaRPr lang="en-US" sz="1100" dirty="0"/>
          </a:p>
          <a:p>
            <a:pPr indent="0" marL="0">
              <a:lnSpc>
                <a:spcPct val="110000"/>
              </a:lnSpc>
              <a:spcAft>
                <a:spcPts val="300"/>
              </a:spcAft>
              <a:buNone/>
            </a:pPr>
            <a:r>
              <a:rPr lang="en-US" sz="1100" b="1" dirty="0">
                <a:solidFill>
                  <a:srgbClr val="333333"/>
                </a:solidFill>
                <a:latin typeface="Calibri" pitchFamily="34" charset="0"/>
                <a:ea typeface="Calibri" pitchFamily="34" charset="-122"/>
                <a:cs typeface="Calibri" pitchFamily="34" charset="-120"/>
              </a:rPr>
              <a:t>果蝇作为模式生物</a:t>
            </a:r>
            <a:endParaRPr lang="en-US" sz="1100" dirty="0"/>
          </a:p>
          <a:p>
            <a:pPr indent="0" marL="0">
              <a:lnSpc>
                <a:spcPct val="110000"/>
              </a:lnSpc>
              <a:buNone/>
            </a:pPr>
            <a:r>
              <a:rPr lang="en-US" sz="1100" dirty="0">
                <a:solidFill>
                  <a:srgbClr val="333333"/>
                </a:solidFill>
                <a:latin typeface="Calibri" pitchFamily="34" charset="0"/>
                <a:ea typeface="Calibri" pitchFamily="34" charset="-122"/>
                <a:cs typeface="Calibri" pitchFamily="34" charset="-120"/>
              </a:rPr>
              <a:t>  建立蝇室(fly room)，开创遗传学新模式</a:t>
            </a:r>
            <a:endParaRPr lang="en-US" sz="1100" dirty="0"/>
          </a:p>
        </p:txBody>
      </p:sp>
      <p:sp>
        <p:nvSpPr>
          <p:cNvPr id="10" name="Shape 7"/>
          <p:cNvSpPr/>
          <p:nvPr/>
        </p:nvSpPr>
        <p:spPr>
          <a:xfrm>
            <a:off x="4572000" y="1143000"/>
            <a:ext cx="4114800" cy="3611880"/>
          </a:xfrm>
          <a:prstGeom prst="roundRect">
            <a:avLst>
              <a:gd name="adj" fmla="val 2025"/>
            </a:avLst>
          </a:prstGeom>
          <a:solidFill>
            <a:srgbClr val="FFFFFF"/>
          </a:solidFill>
          <a:ln/>
          <a:effectLst>
            <a:outerShdw sx="100000" sy="100000" kx="0" ky="0" algn="bl" rotWithShape="0" blurRad="152400" dist="50800" dir="8100000">
              <a:srgbClr val="000000">
                <a:alpha val="28000"/>
              </a:srgbClr>
            </a:outerShdw>
          </a:effectLst>
        </p:spPr>
      </p:sp>
      <p:sp>
        <p:nvSpPr>
          <p:cNvPr id="11" name="Shape 8"/>
          <p:cNvSpPr/>
          <p:nvPr/>
        </p:nvSpPr>
        <p:spPr>
          <a:xfrm>
            <a:off x="4572000" y="1143000"/>
            <a:ext cx="4114800" cy="54864"/>
          </a:xfrm>
          <a:prstGeom prst="rect">
            <a:avLst/>
          </a:prstGeom>
          <a:solidFill>
            <a:srgbClr val="97BC62"/>
          </a:solidFill>
          <a:ln/>
        </p:spPr>
      </p:sp>
      <p:sp>
        <p:nvSpPr>
          <p:cNvPr id="12" name="Text 9"/>
          <p:cNvSpPr/>
          <p:nvPr/>
        </p:nvSpPr>
        <p:spPr>
          <a:xfrm>
            <a:off x="4800600" y="1280160"/>
            <a:ext cx="3657600" cy="274320"/>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果蝇作为模式生物的优势</a:t>
            </a:r>
            <a:endParaRPr lang="en-US" sz="1400" dirty="0"/>
          </a:p>
        </p:txBody>
      </p:sp>
      <p:sp>
        <p:nvSpPr>
          <p:cNvPr id="13" name="Text 10"/>
          <p:cNvSpPr/>
          <p:nvPr/>
        </p:nvSpPr>
        <p:spPr>
          <a:xfrm>
            <a:off x="4800600" y="1554480"/>
            <a:ext cx="3657600" cy="228600"/>
          </a:xfrm>
          <a:prstGeom prst="rect">
            <a:avLst/>
          </a:prstGeom>
          <a:noFill/>
          <a:ln/>
        </p:spPr>
        <p:txBody>
          <a:bodyPr wrap="square" rtlCol="0" anchor="ctr">
            <a:normAutofit/>
          </a:bodyPr>
          <a:lstStyle/>
          <a:p>
            <a:pPr indent="0" marL="0">
              <a:buNone/>
            </a:pPr>
            <a:r>
              <a:rPr lang="en-US" sz="1000" i="1" dirty="0">
                <a:solidFill>
                  <a:srgbClr val="888888"/>
                </a:solidFill>
                <a:latin typeface="Calibri" pitchFamily="34" charset="0"/>
                <a:ea typeface="Calibri" pitchFamily="34" charset="-122"/>
                <a:cs typeface="Calibri" pitchFamily="34" charset="-120"/>
              </a:rPr>
              <a:t>Advantages of Drosophila melanogaster</a:t>
            </a:r>
            <a:endParaRPr lang="en-US" sz="1000" dirty="0"/>
          </a:p>
        </p:txBody>
      </p:sp>
      <p:sp>
        <p:nvSpPr>
          <p:cNvPr id="14" name="Text 11"/>
          <p:cNvSpPr/>
          <p:nvPr/>
        </p:nvSpPr>
        <p:spPr>
          <a:xfrm>
            <a:off x="4800600" y="1874520"/>
            <a:ext cx="3657600" cy="2743200"/>
          </a:xfrm>
          <a:prstGeom prst="rect">
            <a:avLst/>
          </a:prstGeom>
          <a:noFill/>
          <a:ln/>
        </p:spPr>
        <p:txBody>
          <a:bodyPr wrap="square" rtlCol="0" anchor="ctr">
            <a:normAutofit/>
          </a:bodyPr>
          <a:lstStyle/>
          <a:p>
            <a:pPr marL="342900" indent="-342900">
              <a:lnSpc>
                <a:spcPct val="115000"/>
              </a:lnSpc>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世代周期短：约10-14天一代</a:t>
            </a:r>
            <a:endParaRPr lang="en-US" sz="1100" dirty="0"/>
          </a:p>
          <a:p>
            <a:pPr marL="342900" indent="-342900">
              <a:lnSpc>
                <a:spcPct val="115000"/>
              </a:lnSpc>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繁殖力强：单次产卵数百枚</a:t>
            </a:r>
            <a:endParaRPr lang="en-US" sz="1100" dirty="0"/>
          </a:p>
          <a:p>
            <a:pPr marL="342900" indent="-342900">
              <a:lnSpc>
                <a:spcPct val="115000"/>
              </a:lnSpc>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体型小：试管中即可大规模饲养</a:t>
            </a:r>
            <a:endParaRPr lang="en-US" sz="1100" dirty="0"/>
          </a:p>
          <a:p>
            <a:pPr marL="342900" indent="-342900">
              <a:lnSpc>
                <a:spcPct val="115000"/>
              </a:lnSpc>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染色体少：仅4对（3对常+1对性）</a:t>
            </a:r>
            <a:endParaRPr lang="en-US" sz="1100" dirty="0"/>
          </a:p>
          <a:p>
            <a:pPr marL="342900" indent="-342900">
              <a:lnSpc>
                <a:spcPct val="115000"/>
              </a:lnSpc>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突变体丰富：易诱发和识别可见突变</a:t>
            </a:r>
            <a:endParaRPr lang="en-US" sz="1100" dirty="0"/>
          </a:p>
          <a:p>
            <a:pPr marL="342900" indent="-342900">
              <a:lnSpc>
                <a:spcPct val="115000"/>
              </a:lnSpc>
              <a:spcAft>
                <a:spcPts val="600"/>
              </a:spcAft>
              <a:buSzPct val="100000"/>
              <a:buChar char="•"/>
            </a:pPr>
            <a:r>
              <a:rPr lang="en-US" sz="1100" dirty="0">
                <a:solidFill>
                  <a:srgbClr val="333333"/>
                </a:solidFill>
                <a:latin typeface="Calibri" pitchFamily="34" charset="0"/>
                <a:ea typeface="Calibri" pitchFamily="34" charset="-122"/>
                <a:cs typeface="Calibri" pitchFamily="34" charset="-120"/>
              </a:rPr>
              <a:t>唾液腺巨染色体：便于细胞学观察</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320040"/>
            <a:ext cx="73152" cy="594360"/>
          </a:xfrm>
          <a:prstGeom prst="rect">
            <a:avLst/>
          </a:prstGeom>
          <a:solidFill>
            <a:srgbClr val="D4A843"/>
          </a:solidFill>
          <a:ln/>
        </p:spPr>
      </p:sp>
      <p:sp>
        <p:nvSpPr>
          <p:cNvPr id="4" name="Text 1"/>
          <p:cNvSpPr/>
          <p:nvPr/>
        </p:nvSpPr>
        <p:spPr>
          <a:xfrm>
            <a:off x="640080" y="274320"/>
            <a:ext cx="8046720" cy="502920"/>
          </a:xfrm>
          <a:prstGeom prst="rect">
            <a:avLst/>
          </a:prstGeom>
          <a:noFill/>
          <a:ln/>
        </p:spPr>
        <p:txBody>
          <a:bodyPr wrap="square" rtlCol="0" anchor="ctr">
            <a:normAutofit/>
          </a:bodyPr>
          <a:lstStyle/>
          <a:p>
            <a:pPr indent="0" marL="0">
              <a:buNone/>
            </a:pPr>
            <a:r>
              <a:rPr lang="en-US" sz="2600" b="1" spc="150" kern="0" dirty="0">
                <a:solidFill>
                  <a:srgbClr val="2C5F2D"/>
                </a:solidFill>
                <a:latin typeface="Georgia" pitchFamily="34" charset="0"/>
                <a:ea typeface="Georgia" pitchFamily="34" charset="-122"/>
                <a:cs typeface="Georgia" pitchFamily="34" charset="-120"/>
              </a:rPr>
              <a:t>突变论  /  Mutation Theory</a:t>
            </a:r>
            <a:endParaRPr lang="en-US" sz="2600" dirty="0"/>
          </a:p>
        </p:txBody>
      </p:sp>
      <p:sp>
        <p:nvSpPr>
          <p:cNvPr id="5" name="Text 2"/>
          <p:cNvSpPr/>
          <p:nvPr/>
        </p:nvSpPr>
        <p:spPr>
          <a:xfrm>
            <a:off x="640080" y="777240"/>
            <a:ext cx="8046720" cy="274320"/>
          </a:xfrm>
          <a:prstGeom prst="rect">
            <a:avLst/>
          </a:prstGeom>
          <a:noFill/>
          <a:ln/>
        </p:spPr>
        <p:txBody>
          <a:bodyPr wrap="square" rtlCol="0" anchor="ctr">
            <a:normAutofit/>
          </a:bodyPr>
          <a:lstStyle/>
          <a:p>
            <a:pPr indent="0" marL="0">
              <a:buNone/>
            </a:pPr>
            <a:r>
              <a:rPr lang="en-US" sz="1300" i="1" dirty="0">
                <a:solidFill>
                  <a:srgbClr val="97BC62"/>
                </a:solidFill>
                <a:latin typeface="Calibri" pitchFamily="34" charset="0"/>
                <a:ea typeface="Calibri" pitchFamily="34" charset="-122"/>
                <a:cs typeface="Calibri" pitchFamily="34" charset="-120"/>
              </a:rPr>
              <a:t>Hugo de Vries (1848-1935)  ·  月见草实验  ·  进化与变异</a:t>
            </a:r>
            <a:endParaRPr lang="en-US" sz="1300" dirty="0"/>
          </a:p>
        </p:txBody>
      </p:sp>
      <p:sp>
        <p:nvSpPr>
          <p:cNvPr id="6" name="Shape 3"/>
          <p:cNvSpPr/>
          <p:nvPr/>
        </p:nvSpPr>
        <p:spPr>
          <a:xfrm>
            <a:off x="457200" y="1188720"/>
            <a:ext cx="4000500" cy="1691640"/>
          </a:xfrm>
          <a:prstGeom prst="roundRect">
            <a:avLst>
              <a:gd name="adj" fmla="val 4324"/>
            </a:avLst>
          </a:prstGeom>
          <a:solidFill>
            <a:srgbClr val="FFFFFF"/>
          </a:solidFill>
          <a:ln/>
          <a:effectLst>
            <a:outerShdw sx="100000" sy="100000" kx="0" ky="0" algn="bl" rotWithShape="0" blurRad="152400" dist="50800" dir="8100000">
              <a:srgbClr val="000000">
                <a:alpha val="28000"/>
              </a:srgbClr>
            </a:outerShdw>
          </a:effectLst>
        </p:spPr>
      </p:sp>
      <p:sp>
        <p:nvSpPr>
          <p:cNvPr id="7" name="Shape 4"/>
          <p:cNvSpPr/>
          <p:nvPr/>
        </p:nvSpPr>
        <p:spPr>
          <a:xfrm>
            <a:off x="457200" y="1188720"/>
            <a:ext cx="4000500" cy="54864"/>
          </a:xfrm>
          <a:prstGeom prst="rect">
            <a:avLst/>
          </a:prstGeom>
          <a:solidFill>
            <a:srgbClr val="2C5F2D"/>
          </a:solidFill>
          <a:ln/>
        </p:spPr>
      </p:sp>
      <p:sp>
        <p:nvSpPr>
          <p:cNvPr id="8" name="Text 5"/>
          <p:cNvSpPr/>
          <p:nvPr/>
        </p:nvSpPr>
        <p:spPr>
          <a:xfrm>
            <a:off x="640080" y="1325880"/>
            <a:ext cx="363474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月见草实验</a:t>
            </a:r>
            <a:endParaRPr lang="en-US" sz="1300" dirty="0"/>
          </a:p>
        </p:txBody>
      </p:sp>
      <p:sp>
        <p:nvSpPr>
          <p:cNvPr id="9" name="Text 6"/>
          <p:cNvSpPr/>
          <p:nvPr/>
        </p:nvSpPr>
        <p:spPr>
          <a:xfrm>
            <a:off x="640080" y="1572768"/>
            <a:ext cx="363474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Oenothera Experiment</a:t>
            </a:r>
            <a:endParaRPr lang="en-US" sz="900" dirty="0"/>
          </a:p>
        </p:txBody>
      </p:sp>
      <p:sp>
        <p:nvSpPr>
          <p:cNvPr id="10" name="Text 7"/>
          <p:cNvSpPr/>
          <p:nvPr/>
        </p:nvSpPr>
        <p:spPr>
          <a:xfrm>
            <a:off x="640080" y="1828800"/>
            <a:ext cx="3634740" cy="914400"/>
          </a:xfrm>
          <a:prstGeom prst="rect">
            <a:avLst/>
          </a:prstGeom>
          <a:noFill/>
          <a:ln/>
        </p:spPr>
        <p:txBody>
          <a:bodyPr wrap="square" rtlCol="0" anchor="t">
            <a:normAutofit/>
          </a:bodyP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德弗里斯研究月见草(Oenothera lamarckiana)，观察到大量突然出现的变异类型，不同于连续微变</a:t>
            </a:r>
            <a:endParaRPr lang="en-US" sz="1000" dirty="0"/>
          </a:p>
        </p:txBody>
      </p:sp>
      <p:sp>
        <p:nvSpPr>
          <p:cNvPr id="11" name="Shape 8"/>
          <p:cNvSpPr/>
          <p:nvPr/>
        </p:nvSpPr>
        <p:spPr>
          <a:xfrm>
            <a:off x="4686300" y="1188720"/>
            <a:ext cx="4000500" cy="1691640"/>
          </a:xfrm>
          <a:prstGeom prst="roundRect">
            <a:avLst>
              <a:gd name="adj" fmla="val 4324"/>
            </a:avLst>
          </a:prstGeom>
          <a:solidFill>
            <a:srgbClr val="FFFFFF"/>
          </a:solidFill>
          <a:ln/>
          <a:effectLst>
            <a:outerShdw sx="100000" sy="100000" kx="0" ky="0" algn="bl" rotWithShape="0" blurRad="152400" dist="50800" dir="8100000">
              <a:srgbClr val="000000">
                <a:alpha val="28000"/>
              </a:srgbClr>
            </a:outerShdw>
          </a:effectLst>
        </p:spPr>
      </p:sp>
      <p:sp>
        <p:nvSpPr>
          <p:cNvPr id="12" name="Shape 9"/>
          <p:cNvSpPr/>
          <p:nvPr/>
        </p:nvSpPr>
        <p:spPr>
          <a:xfrm>
            <a:off x="4686300" y="1188720"/>
            <a:ext cx="4000500" cy="54864"/>
          </a:xfrm>
          <a:prstGeom prst="rect">
            <a:avLst/>
          </a:prstGeom>
          <a:solidFill>
            <a:srgbClr val="97BC62"/>
          </a:solidFill>
          <a:ln/>
        </p:spPr>
      </p:sp>
      <p:sp>
        <p:nvSpPr>
          <p:cNvPr id="13" name="Text 10"/>
          <p:cNvSpPr/>
          <p:nvPr/>
        </p:nvSpPr>
        <p:spPr>
          <a:xfrm>
            <a:off x="4869180" y="1325880"/>
            <a:ext cx="363474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突变概念</a:t>
            </a:r>
            <a:endParaRPr lang="en-US" sz="1300" dirty="0"/>
          </a:p>
        </p:txBody>
      </p:sp>
      <p:sp>
        <p:nvSpPr>
          <p:cNvPr id="14" name="Text 11"/>
          <p:cNvSpPr/>
          <p:nvPr/>
        </p:nvSpPr>
        <p:spPr>
          <a:xfrm>
            <a:off x="4869180" y="1572768"/>
            <a:ext cx="363474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Mutation Concept</a:t>
            </a:r>
            <a:endParaRPr lang="en-US" sz="900" dirty="0"/>
          </a:p>
        </p:txBody>
      </p:sp>
      <p:sp>
        <p:nvSpPr>
          <p:cNvPr id="15" name="Text 12"/>
          <p:cNvSpPr/>
          <p:nvPr/>
        </p:nvSpPr>
        <p:spPr>
          <a:xfrm>
            <a:off x="4869180" y="1828800"/>
            <a:ext cx="3634740" cy="914400"/>
          </a:xfrm>
          <a:prstGeom prst="rect">
            <a:avLst/>
          </a:prstGeom>
          <a:noFill/>
          <a:ln/>
        </p:spPr>
        <p:txBody>
          <a:bodyPr wrap="square" rtlCol="0" anchor="t">
            <a:normAutofit/>
          </a:bodyP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提出"突变"(mutation)一词：不连续的、可遗传的变异，是进化的原材料</a:t>
            </a:r>
            <a:endParaRPr lang="en-US" sz="1000" dirty="0"/>
          </a:p>
        </p:txBody>
      </p:sp>
      <p:sp>
        <p:nvSpPr>
          <p:cNvPr id="16" name="Shape 13"/>
          <p:cNvSpPr/>
          <p:nvPr/>
        </p:nvSpPr>
        <p:spPr>
          <a:xfrm>
            <a:off x="457200" y="3063240"/>
            <a:ext cx="4000500" cy="1691640"/>
          </a:xfrm>
          <a:prstGeom prst="roundRect">
            <a:avLst>
              <a:gd name="adj" fmla="val 4324"/>
            </a:avLst>
          </a:prstGeom>
          <a:solidFill>
            <a:srgbClr val="FFFFFF"/>
          </a:solidFill>
          <a:ln/>
          <a:effectLst>
            <a:outerShdw sx="100000" sy="100000" kx="0" ky="0" algn="bl" rotWithShape="0" blurRad="152400" dist="50800" dir="8100000">
              <a:srgbClr val="000000">
                <a:alpha val="28000"/>
              </a:srgbClr>
            </a:outerShdw>
          </a:effectLst>
        </p:spPr>
      </p:sp>
      <p:sp>
        <p:nvSpPr>
          <p:cNvPr id="17" name="Shape 14"/>
          <p:cNvSpPr/>
          <p:nvPr/>
        </p:nvSpPr>
        <p:spPr>
          <a:xfrm>
            <a:off x="457200" y="3063240"/>
            <a:ext cx="4000500" cy="54864"/>
          </a:xfrm>
          <a:prstGeom prst="rect">
            <a:avLst/>
          </a:prstGeom>
          <a:solidFill>
            <a:srgbClr val="2C5F2D"/>
          </a:solidFill>
          <a:ln/>
        </p:spPr>
      </p:sp>
      <p:sp>
        <p:nvSpPr>
          <p:cNvPr id="18" name="Text 15"/>
          <p:cNvSpPr/>
          <p:nvPr/>
        </p:nvSpPr>
        <p:spPr>
          <a:xfrm>
            <a:off x="640080" y="3200400"/>
            <a:ext cx="363474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突变与进化</a:t>
            </a:r>
            <a:endParaRPr lang="en-US" sz="1300" dirty="0"/>
          </a:p>
        </p:txBody>
      </p:sp>
      <p:sp>
        <p:nvSpPr>
          <p:cNvPr id="19" name="Text 16"/>
          <p:cNvSpPr/>
          <p:nvPr/>
        </p:nvSpPr>
        <p:spPr>
          <a:xfrm>
            <a:off x="640080" y="3447288"/>
            <a:ext cx="363474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Mutation &amp; Evolution</a:t>
            </a:r>
            <a:endParaRPr lang="en-US" sz="900" dirty="0"/>
          </a:p>
        </p:txBody>
      </p:sp>
      <p:sp>
        <p:nvSpPr>
          <p:cNvPr id="20" name="Text 17"/>
          <p:cNvSpPr/>
          <p:nvPr/>
        </p:nvSpPr>
        <p:spPr>
          <a:xfrm>
            <a:off x="640080" y="3703320"/>
            <a:ext cx="3634740" cy="914400"/>
          </a:xfrm>
          <a:prstGeom prst="rect">
            <a:avLst/>
          </a:prstGeom>
          <a:noFill/>
          <a:ln/>
        </p:spPr>
        <p:txBody>
          <a:bodyPr wrap="square" rtlCol="0" anchor="t">
            <a:normAutofit/>
          </a:bodyP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认为进化是突变驱动的跳跃式过程，与达尔文渐进论形成对照（后修正为综合进化论）</a:t>
            </a:r>
            <a:endParaRPr lang="en-US" sz="1000" dirty="0"/>
          </a:p>
        </p:txBody>
      </p:sp>
      <p:sp>
        <p:nvSpPr>
          <p:cNvPr id="21" name="Shape 18"/>
          <p:cNvSpPr/>
          <p:nvPr/>
        </p:nvSpPr>
        <p:spPr>
          <a:xfrm>
            <a:off x="4686300" y="3063240"/>
            <a:ext cx="4000500" cy="1691640"/>
          </a:xfrm>
          <a:prstGeom prst="roundRect">
            <a:avLst>
              <a:gd name="adj" fmla="val 4324"/>
            </a:avLst>
          </a:prstGeom>
          <a:solidFill>
            <a:srgbClr val="FFFFFF"/>
          </a:solidFill>
          <a:ln/>
          <a:effectLst>
            <a:outerShdw sx="100000" sy="100000" kx="0" ky="0" algn="bl" rotWithShape="0" blurRad="152400" dist="50800" dir="8100000">
              <a:srgbClr val="000000">
                <a:alpha val="28000"/>
              </a:srgbClr>
            </a:outerShdw>
          </a:effectLst>
        </p:spPr>
      </p:sp>
      <p:sp>
        <p:nvSpPr>
          <p:cNvPr id="22" name="Shape 19"/>
          <p:cNvSpPr/>
          <p:nvPr/>
        </p:nvSpPr>
        <p:spPr>
          <a:xfrm>
            <a:off x="4686300" y="3063240"/>
            <a:ext cx="4000500" cy="54864"/>
          </a:xfrm>
          <a:prstGeom prst="rect">
            <a:avLst/>
          </a:prstGeom>
          <a:solidFill>
            <a:srgbClr val="97BC62"/>
          </a:solidFill>
          <a:ln/>
        </p:spPr>
      </p:sp>
      <p:sp>
        <p:nvSpPr>
          <p:cNvPr id="23" name="Text 20"/>
          <p:cNvSpPr/>
          <p:nvPr/>
        </p:nvSpPr>
        <p:spPr>
          <a:xfrm>
            <a:off x="4869180" y="3200400"/>
            <a:ext cx="363474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历史意义</a:t>
            </a:r>
            <a:endParaRPr lang="en-US" sz="1300" dirty="0"/>
          </a:p>
        </p:txBody>
      </p:sp>
      <p:sp>
        <p:nvSpPr>
          <p:cNvPr id="24" name="Text 21"/>
          <p:cNvSpPr/>
          <p:nvPr/>
        </p:nvSpPr>
        <p:spPr>
          <a:xfrm>
            <a:off x="4869180" y="3447288"/>
            <a:ext cx="363474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Historical Significance</a:t>
            </a:r>
            <a:endParaRPr lang="en-US" sz="900" dirty="0"/>
          </a:p>
        </p:txBody>
      </p:sp>
      <p:sp>
        <p:nvSpPr>
          <p:cNvPr id="25" name="Text 22"/>
          <p:cNvSpPr/>
          <p:nvPr/>
        </p:nvSpPr>
        <p:spPr>
          <a:xfrm>
            <a:off x="4869180" y="3703320"/>
            <a:ext cx="3634740" cy="914400"/>
          </a:xfrm>
          <a:prstGeom prst="rect">
            <a:avLst/>
          </a:prstGeom>
          <a:noFill/>
          <a:ln/>
        </p:spPr>
        <p:txBody>
          <a:bodyPr wrap="square" rtlCol="0" anchor="t">
            <a:normAutofit/>
          </a:bodyP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突变概念的确立，为理解遗传变异来源提供了理论基础，也为后来辐射诱变奠定基础</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320040"/>
            <a:ext cx="73152" cy="594360"/>
          </a:xfrm>
          <a:prstGeom prst="rect">
            <a:avLst/>
          </a:prstGeom>
          <a:solidFill>
            <a:srgbClr val="D4A843"/>
          </a:solidFill>
          <a:ln/>
        </p:spPr>
      </p:sp>
      <p:sp>
        <p:nvSpPr>
          <p:cNvPr id="4" name="Text 1"/>
          <p:cNvSpPr/>
          <p:nvPr/>
        </p:nvSpPr>
        <p:spPr>
          <a:xfrm>
            <a:off x="640080" y="274320"/>
            <a:ext cx="8046720" cy="502920"/>
          </a:xfrm>
          <a:prstGeom prst="rect">
            <a:avLst/>
          </a:prstGeom>
          <a:noFill/>
          <a:ln/>
        </p:spPr>
        <p:txBody>
          <a:bodyPr wrap="square" rtlCol="0" anchor="ctr">
            <a:normAutofit/>
          </a:bodyPr>
          <a:lstStyle/>
          <a:p>
            <a:pPr indent="0" marL="0">
              <a:buNone/>
            </a:pPr>
            <a:r>
              <a:rPr lang="en-US" sz="2600" b="1" spc="150" kern="0" dirty="0">
                <a:solidFill>
                  <a:srgbClr val="2C5F2D"/>
                </a:solidFill>
                <a:latin typeface="Georgia" pitchFamily="34" charset="0"/>
                <a:ea typeface="Georgia" pitchFamily="34" charset="-122"/>
                <a:cs typeface="Georgia" pitchFamily="34" charset="-120"/>
              </a:rPr>
              <a:t>经典遗传学发展  /  Classical Genetics</a:t>
            </a:r>
            <a:endParaRPr lang="en-US" sz="2600" dirty="0"/>
          </a:p>
        </p:txBody>
      </p:sp>
      <p:sp>
        <p:nvSpPr>
          <p:cNvPr id="5" name="Text 2"/>
          <p:cNvSpPr/>
          <p:nvPr/>
        </p:nvSpPr>
        <p:spPr>
          <a:xfrm>
            <a:off x="640080" y="777240"/>
            <a:ext cx="8046720" cy="274320"/>
          </a:xfrm>
          <a:prstGeom prst="rect">
            <a:avLst/>
          </a:prstGeom>
          <a:noFill/>
          <a:ln/>
        </p:spPr>
        <p:txBody>
          <a:bodyPr wrap="square" rtlCol="0" anchor="ctr">
            <a:normAutofit/>
          </a:bodyPr>
          <a:lstStyle/>
          <a:p>
            <a:pPr indent="0" marL="0">
              <a:buNone/>
            </a:pPr>
            <a:r>
              <a:rPr lang="en-US" sz="1300" i="1" dirty="0">
                <a:solidFill>
                  <a:srgbClr val="97BC62"/>
                </a:solidFill>
                <a:latin typeface="Calibri" pitchFamily="34" charset="0"/>
                <a:ea typeface="Calibri" pitchFamily="34" charset="-122"/>
                <a:cs typeface="Calibri" pitchFamily="34" charset="-120"/>
              </a:rPr>
              <a:t>从个体到群体  ·  数量遗传  ·  群体遗传  ·  遗传力</a:t>
            </a:r>
            <a:endParaRPr lang="en-US" sz="1300" dirty="0"/>
          </a:p>
        </p:txBody>
      </p:sp>
      <p:sp>
        <p:nvSpPr>
          <p:cNvPr id="6" name="Shape 3"/>
          <p:cNvSpPr/>
          <p:nvPr/>
        </p:nvSpPr>
        <p:spPr>
          <a:xfrm>
            <a:off x="457200" y="1188720"/>
            <a:ext cx="2621280" cy="1463040"/>
          </a:xfrm>
          <a:prstGeom prst="roundRect">
            <a:avLst>
              <a:gd name="adj" fmla="val 5000"/>
            </a:avLst>
          </a:prstGeom>
          <a:solidFill>
            <a:srgbClr val="FFFFFF"/>
          </a:solidFill>
          <a:ln/>
          <a:effectLst>
            <a:outerShdw sx="100000" sy="100000" kx="0" ky="0" algn="bl" rotWithShape="0" blurRad="152400" dist="50800" dir="8100000">
              <a:srgbClr val="000000">
                <a:alpha val="28000"/>
              </a:srgbClr>
            </a:outerShdw>
          </a:effectLst>
        </p:spPr>
      </p:sp>
      <p:sp>
        <p:nvSpPr>
          <p:cNvPr id="7" name="Shape 4"/>
          <p:cNvSpPr/>
          <p:nvPr/>
        </p:nvSpPr>
        <p:spPr>
          <a:xfrm>
            <a:off x="457200" y="1188720"/>
            <a:ext cx="2621280" cy="54864"/>
          </a:xfrm>
          <a:prstGeom prst="rect">
            <a:avLst/>
          </a:prstGeom>
          <a:solidFill>
            <a:srgbClr val="2C5F2D"/>
          </a:solidFill>
          <a:ln/>
        </p:spPr>
      </p:sp>
      <p:sp>
        <p:nvSpPr>
          <p:cNvPr id="8" name="Text 5"/>
          <p:cNvSpPr/>
          <p:nvPr/>
        </p:nvSpPr>
        <p:spPr>
          <a:xfrm>
            <a:off x="594360" y="1325880"/>
            <a:ext cx="2346960" cy="27432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多基因遗传</a:t>
            </a:r>
            <a:endParaRPr lang="en-US" sz="1200" dirty="0"/>
          </a:p>
        </p:txBody>
      </p:sp>
      <p:sp>
        <p:nvSpPr>
          <p:cNvPr id="9" name="Text 6"/>
          <p:cNvSpPr/>
          <p:nvPr/>
        </p:nvSpPr>
        <p:spPr>
          <a:xfrm>
            <a:off x="594360" y="1572768"/>
            <a:ext cx="234696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Polygenic Inheritance</a:t>
            </a:r>
            <a:endParaRPr lang="en-US" sz="900" dirty="0"/>
          </a:p>
        </p:txBody>
      </p:sp>
      <p:sp>
        <p:nvSpPr>
          <p:cNvPr id="10" name="Text 7"/>
          <p:cNvSpPr/>
          <p:nvPr/>
        </p:nvSpPr>
        <p:spPr>
          <a:xfrm>
            <a:off x="594360" y="1783080"/>
            <a:ext cx="2346960" cy="731520"/>
          </a:xfrm>
          <a:prstGeom prst="rect">
            <a:avLst/>
          </a:prstGeom>
          <a:noFill/>
          <a:ln/>
        </p:spPr>
        <p:txBody>
          <a:bodyPr wrap="square" rtlCol="0" anchor="t">
            <a:normAutofit/>
          </a:bodyPr>
          <a:lstStyle/>
          <a:p>
            <a:pPr indent="0" marL="0">
              <a:lnSpc>
                <a:spcPct val="115000"/>
              </a:lnSpc>
              <a:buNone/>
            </a:pPr>
            <a:r>
              <a:rPr lang="en-US" sz="900" dirty="0">
                <a:solidFill>
                  <a:srgbClr val="333333"/>
                </a:solidFill>
                <a:latin typeface="Calibri" pitchFamily="34" charset="0"/>
                <a:ea typeface="Calibri" pitchFamily="34" charset="-122"/>
                <a:cs typeface="Calibri" pitchFamily="34" charset="-120"/>
              </a:rPr>
              <a:t>数量性状由多个基因共同控制，如身高、产量</a:t>
            </a:r>
            <a:endParaRPr lang="en-US" sz="900" dirty="0"/>
          </a:p>
        </p:txBody>
      </p:sp>
      <p:sp>
        <p:nvSpPr>
          <p:cNvPr id="11" name="Shape 8"/>
          <p:cNvSpPr/>
          <p:nvPr/>
        </p:nvSpPr>
        <p:spPr>
          <a:xfrm>
            <a:off x="3261360" y="1188720"/>
            <a:ext cx="2621280" cy="1463040"/>
          </a:xfrm>
          <a:prstGeom prst="roundRect">
            <a:avLst>
              <a:gd name="adj" fmla="val 5000"/>
            </a:avLst>
          </a:prstGeom>
          <a:solidFill>
            <a:srgbClr val="FFFFFF"/>
          </a:solidFill>
          <a:ln/>
          <a:effectLst>
            <a:outerShdw sx="100000" sy="100000" kx="0" ky="0" algn="bl" rotWithShape="0" blurRad="152400" dist="50800" dir="8100000">
              <a:srgbClr val="000000">
                <a:alpha val="28000"/>
              </a:srgbClr>
            </a:outerShdw>
          </a:effectLst>
        </p:spPr>
      </p:sp>
      <p:sp>
        <p:nvSpPr>
          <p:cNvPr id="12" name="Shape 9"/>
          <p:cNvSpPr/>
          <p:nvPr/>
        </p:nvSpPr>
        <p:spPr>
          <a:xfrm>
            <a:off x="3261360" y="1188720"/>
            <a:ext cx="2621280" cy="54864"/>
          </a:xfrm>
          <a:prstGeom prst="rect">
            <a:avLst/>
          </a:prstGeom>
          <a:solidFill>
            <a:srgbClr val="2C5F2D"/>
          </a:solidFill>
          <a:ln/>
        </p:spPr>
      </p:sp>
      <p:sp>
        <p:nvSpPr>
          <p:cNvPr id="13" name="Text 10"/>
          <p:cNvSpPr/>
          <p:nvPr/>
        </p:nvSpPr>
        <p:spPr>
          <a:xfrm>
            <a:off x="3398520" y="1325880"/>
            <a:ext cx="2346960" cy="27432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数量遗传学</a:t>
            </a:r>
            <a:endParaRPr lang="en-US" sz="1200" dirty="0"/>
          </a:p>
        </p:txBody>
      </p:sp>
      <p:sp>
        <p:nvSpPr>
          <p:cNvPr id="14" name="Text 11"/>
          <p:cNvSpPr/>
          <p:nvPr/>
        </p:nvSpPr>
        <p:spPr>
          <a:xfrm>
            <a:off x="3398520" y="1572768"/>
            <a:ext cx="234696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Quantitative Genetics</a:t>
            </a:r>
            <a:endParaRPr lang="en-US" sz="900" dirty="0"/>
          </a:p>
        </p:txBody>
      </p:sp>
      <p:sp>
        <p:nvSpPr>
          <p:cNvPr id="15" name="Text 12"/>
          <p:cNvSpPr/>
          <p:nvPr/>
        </p:nvSpPr>
        <p:spPr>
          <a:xfrm>
            <a:off x="3398520" y="1783080"/>
            <a:ext cx="2346960" cy="731520"/>
          </a:xfrm>
          <a:prstGeom prst="rect">
            <a:avLst/>
          </a:prstGeom>
          <a:noFill/>
          <a:ln/>
        </p:spPr>
        <p:txBody>
          <a:bodyPr wrap="square" rtlCol="0" anchor="t">
            <a:normAutofit/>
          </a:bodyPr>
          <a:lstStyle/>
          <a:p>
            <a:pPr indent="0" marL="0">
              <a:lnSpc>
                <a:spcPct val="115000"/>
              </a:lnSpc>
              <a:buNone/>
            </a:pPr>
            <a:r>
              <a:rPr lang="en-US" sz="900" dirty="0">
                <a:solidFill>
                  <a:srgbClr val="333333"/>
                </a:solidFill>
                <a:latin typeface="Calibri" pitchFamily="34" charset="0"/>
                <a:ea typeface="Calibri" pitchFamily="34" charset="-122"/>
                <a:cs typeface="Calibri" pitchFamily="34" charset="-120"/>
              </a:rPr>
              <a:t>Fisher(1918): 连续表型的遗传分析模型</a:t>
            </a:r>
            <a:endParaRPr lang="en-US" sz="900" dirty="0"/>
          </a:p>
        </p:txBody>
      </p:sp>
      <p:sp>
        <p:nvSpPr>
          <p:cNvPr id="16" name="Shape 13"/>
          <p:cNvSpPr/>
          <p:nvPr/>
        </p:nvSpPr>
        <p:spPr>
          <a:xfrm>
            <a:off x="6065520" y="1188720"/>
            <a:ext cx="2621280" cy="1463040"/>
          </a:xfrm>
          <a:prstGeom prst="roundRect">
            <a:avLst>
              <a:gd name="adj" fmla="val 5000"/>
            </a:avLst>
          </a:prstGeom>
          <a:solidFill>
            <a:srgbClr val="FFFFFF"/>
          </a:solidFill>
          <a:ln/>
          <a:effectLst>
            <a:outerShdw sx="100000" sy="100000" kx="0" ky="0" algn="bl" rotWithShape="0" blurRad="152400" dist="50800" dir="8100000">
              <a:srgbClr val="000000">
                <a:alpha val="28000"/>
              </a:srgbClr>
            </a:outerShdw>
          </a:effectLst>
        </p:spPr>
      </p:sp>
      <p:sp>
        <p:nvSpPr>
          <p:cNvPr id="17" name="Shape 14"/>
          <p:cNvSpPr/>
          <p:nvPr/>
        </p:nvSpPr>
        <p:spPr>
          <a:xfrm>
            <a:off x="6065520" y="1188720"/>
            <a:ext cx="2621280" cy="54864"/>
          </a:xfrm>
          <a:prstGeom prst="rect">
            <a:avLst/>
          </a:prstGeom>
          <a:solidFill>
            <a:srgbClr val="2C5F2D"/>
          </a:solidFill>
          <a:ln/>
        </p:spPr>
      </p:sp>
      <p:sp>
        <p:nvSpPr>
          <p:cNvPr id="18" name="Text 15"/>
          <p:cNvSpPr/>
          <p:nvPr/>
        </p:nvSpPr>
        <p:spPr>
          <a:xfrm>
            <a:off x="6202680" y="1325880"/>
            <a:ext cx="2346960" cy="27432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群体遗传学</a:t>
            </a:r>
            <a:endParaRPr lang="en-US" sz="1200" dirty="0"/>
          </a:p>
        </p:txBody>
      </p:sp>
      <p:sp>
        <p:nvSpPr>
          <p:cNvPr id="19" name="Text 16"/>
          <p:cNvSpPr/>
          <p:nvPr/>
        </p:nvSpPr>
        <p:spPr>
          <a:xfrm>
            <a:off x="6202680" y="1572768"/>
            <a:ext cx="234696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Population Genetics</a:t>
            </a:r>
            <a:endParaRPr lang="en-US" sz="900" dirty="0"/>
          </a:p>
        </p:txBody>
      </p:sp>
      <p:sp>
        <p:nvSpPr>
          <p:cNvPr id="20" name="Text 17"/>
          <p:cNvSpPr/>
          <p:nvPr/>
        </p:nvSpPr>
        <p:spPr>
          <a:xfrm>
            <a:off x="6202680" y="1783080"/>
            <a:ext cx="2346960" cy="731520"/>
          </a:xfrm>
          <a:prstGeom prst="rect">
            <a:avLst/>
          </a:prstGeom>
          <a:noFill/>
          <a:ln/>
        </p:spPr>
        <p:txBody>
          <a:bodyPr wrap="square" rtlCol="0" anchor="t">
            <a:normAutofit/>
          </a:bodyPr>
          <a:lstStyle/>
          <a:p>
            <a:pPr indent="0" marL="0">
              <a:lnSpc>
                <a:spcPct val="115000"/>
              </a:lnSpc>
              <a:buNone/>
            </a:pPr>
            <a:r>
              <a:rPr lang="en-US" sz="900" dirty="0">
                <a:solidFill>
                  <a:srgbClr val="333333"/>
                </a:solidFill>
                <a:latin typeface="Calibri" pitchFamily="34" charset="0"/>
                <a:ea typeface="Calibri" pitchFamily="34" charset="-122"/>
                <a:cs typeface="Calibri" pitchFamily="34" charset="-120"/>
              </a:rPr>
              <a:t>Wright, Haldane: 等位基因频率在群体中的变化</a:t>
            </a:r>
            <a:endParaRPr lang="en-US" sz="900" dirty="0"/>
          </a:p>
        </p:txBody>
      </p:sp>
      <p:sp>
        <p:nvSpPr>
          <p:cNvPr id="21" name="Shape 18"/>
          <p:cNvSpPr/>
          <p:nvPr/>
        </p:nvSpPr>
        <p:spPr>
          <a:xfrm>
            <a:off x="457200" y="2834640"/>
            <a:ext cx="4000500" cy="1371600"/>
          </a:xfrm>
          <a:prstGeom prst="roundRect">
            <a:avLst>
              <a:gd name="adj" fmla="val 5333"/>
            </a:avLst>
          </a:prstGeom>
          <a:solidFill>
            <a:srgbClr val="FFFFFF"/>
          </a:solidFill>
          <a:ln/>
          <a:effectLst>
            <a:outerShdw sx="100000" sy="100000" kx="0" ky="0" algn="bl" rotWithShape="0" blurRad="152400" dist="50800" dir="8100000">
              <a:srgbClr val="000000">
                <a:alpha val="28000"/>
              </a:srgbClr>
            </a:outerShdw>
          </a:effectLst>
        </p:spPr>
      </p:sp>
      <p:sp>
        <p:nvSpPr>
          <p:cNvPr id="22" name="Shape 19"/>
          <p:cNvSpPr/>
          <p:nvPr/>
        </p:nvSpPr>
        <p:spPr>
          <a:xfrm>
            <a:off x="457200" y="2834640"/>
            <a:ext cx="4000500" cy="54864"/>
          </a:xfrm>
          <a:prstGeom prst="rect">
            <a:avLst/>
          </a:prstGeom>
          <a:solidFill>
            <a:srgbClr val="97BC62"/>
          </a:solidFill>
          <a:ln/>
        </p:spPr>
      </p:sp>
      <p:sp>
        <p:nvSpPr>
          <p:cNvPr id="23" name="Text 20"/>
          <p:cNvSpPr/>
          <p:nvPr/>
        </p:nvSpPr>
        <p:spPr>
          <a:xfrm>
            <a:off x="640080" y="2971800"/>
            <a:ext cx="363474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哈迪-温伯格定律</a:t>
            </a:r>
            <a:endParaRPr lang="en-US" sz="1300" dirty="0"/>
          </a:p>
        </p:txBody>
      </p:sp>
      <p:sp>
        <p:nvSpPr>
          <p:cNvPr id="24" name="Text 21"/>
          <p:cNvSpPr/>
          <p:nvPr/>
        </p:nvSpPr>
        <p:spPr>
          <a:xfrm>
            <a:off x="640080" y="3218688"/>
            <a:ext cx="3634740" cy="182880"/>
          </a:xfrm>
          <a:prstGeom prst="rect">
            <a:avLst/>
          </a:prstGeom>
          <a:noFill/>
          <a:ln/>
        </p:spPr>
        <p:txBody>
          <a:bodyPr wrap="square" rtlCol="0" anchor="ctr">
            <a:normAutofit/>
          </a:bodyPr>
          <a:lstStyle/>
          <a:p>
            <a:pPr indent="0" marL="0">
              <a:buNone/>
            </a:pPr>
            <a:r>
              <a:rPr lang="en-US" sz="1000" i="1" dirty="0">
                <a:solidFill>
                  <a:srgbClr val="888888"/>
                </a:solidFill>
                <a:latin typeface="Calibri" pitchFamily="34" charset="0"/>
                <a:ea typeface="Calibri" pitchFamily="34" charset="-122"/>
                <a:cs typeface="Calibri" pitchFamily="34" charset="-120"/>
              </a:rPr>
              <a:t>Hardy-Weinberg Law</a:t>
            </a:r>
            <a:endParaRPr lang="en-US" sz="1000" dirty="0"/>
          </a:p>
        </p:txBody>
      </p:sp>
      <p:sp>
        <p:nvSpPr>
          <p:cNvPr id="25" name="Text 22"/>
          <p:cNvSpPr/>
          <p:nvPr/>
        </p:nvSpPr>
        <p:spPr>
          <a:xfrm>
            <a:off x="640080" y="3429000"/>
            <a:ext cx="3634740" cy="685800"/>
          </a:xfrm>
          <a:prstGeom prst="rect">
            <a:avLst/>
          </a:prstGeom>
          <a:noFill/>
          <a:ln/>
        </p:spPr>
        <p:txBody>
          <a:bodyPr wrap="square" rtlCol="0" anchor="t">
            <a:normAutofit/>
          </a:bodyPr>
          <a:lstStyle/>
          <a:p>
            <a:pPr indent="0" marL="0">
              <a:lnSpc>
                <a:spcPct val="115000"/>
              </a:lnSpc>
              <a:buNone/>
            </a:pPr>
            <a:r>
              <a:rPr lang="en-US" sz="1000" dirty="0">
                <a:solidFill>
                  <a:srgbClr val="333333"/>
                </a:solidFill>
                <a:latin typeface="Calibri" pitchFamily="34" charset="0"/>
                <a:ea typeface="Calibri" pitchFamily="34" charset="-122"/>
                <a:cs typeface="Calibri" pitchFamily="34" charset="-120"/>
              </a:rPr>
              <a:t>1908: p^2+2pq+q^2=1，理想群体等位频率不变</a:t>
            </a:r>
            <a:endParaRPr lang="en-US" sz="1000" dirty="0"/>
          </a:p>
        </p:txBody>
      </p:sp>
      <p:sp>
        <p:nvSpPr>
          <p:cNvPr id="26" name="Shape 23"/>
          <p:cNvSpPr/>
          <p:nvPr/>
        </p:nvSpPr>
        <p:spPr>
          <a:xfrm>
            <a:off x="4686300" y="2834640"/>
            <a:ext cx="4000500" cy="1371600"/>
          </a:xfrm>
          <a:prstGeom prst="roundRect">
            <a:avLst>
              <a:gd name="adj" fmla="val 5333"/>
            </a:avLst>
          </a:prstGeom>
          <a:solidFill>
            <a:srgbClr val="FFFFFF"/>
          </a:solidFill>
          <a:ln/>
          <a:effectLst>
            <a:outerShdw sx="100000" sy="100000" kx="0" ky="0" algn="bl" rotWithShape="0" blurRad="152400" dist="50800" dir="8100000">
              <a:srgbClr val="000000">
                <a:alpha val="28000"/>
              </a:srgbClr>
            </a:outerShdw>
          </a:effectLst>
        </p:spPr>
      </p:sp>
      <p:sp>
        <p:nvSpPr>
          <p:cNvPr id="27" name="Shape 24"/>
          <p:cNvSpPr/>
          <p:nvPr/>
        </p:nvSpPr>
        <p:spPr>
          <a:xfrm>
            <a:off x="4686300" y="2834640"/>
            <a:ext cx="4000500" cy="54864"/>
          </a:xfrm>
          <a:prstGeom prst="rect">
            <a:avLst/>
          </a:prstGeom>
          <a:solidFill>
            <a:srgbClr val="97BC62"/>
          </a:solidFill>
          <a:ln/>
        </p:spPr>
      </p:sp>
      <p:sp>
        <p:nvSpPr>
          <p:cNvPr id="28" name="Text 25"/>
          <p:cNvSpPr/>
          <p:nvPr/>
        </p:nvSpPr>
        <p:spPr>
          <a:xfrm>
            <a:off x="4869180" y="2971800"/>
            <a:ext cx="363474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遗传力</a:t>
            </a:r>
            <a:endParaRPr lang="en-US" sz="1300" dirty="0"/>
          </a:p>
        </p:txBody>
      </p:sp>
      <p:sp>
        <p:nvSpPr>
          <p:cNvPr id="29" name="Text 26"/>
          <p:cNvSpPr/>
          <p:nvPr/>
        </p:nvSpPr>
        <p:spPr>
          <a:xfrm>
            <a:off x="4869180" y="3218688"/>
            <a:ext cx="3634740" cy="182880"/>
          </a:xfrm>
          <a:prstGeom prst="rect">
            <a:avLst/>
          </a:prstGeom>
          <a:noFill/>
          <a:ln/>
        </p:spPr>
        <p:txBody>
          <a:bodyPr wrap="square" rtlCol="0" anchor="ctr">
            <a:normAutofit/>
          </a:bodyPr>
          <a:lstStyle/>
          <a:p>
            <a:pPr indent="0" marL="0">
              <a:buNone/>
            </a:pPr>
            <a:r>
              <a:rPr lang="en-US" sz="1000" i="1" dirty="0">
                <a:solidFill>
                  <a:srgbClr val="888888"/>
                </a:solidFill>
                <a:latin typeface="Calibri" pitchFamily="34" charset="0"/>
                <a:ea typeface="Calibri" pitchFamily="34" charset="-122"/>
                <a:cs typeface="Calibri" pitchFamily="34" charset="-120"/>
              </a:rPr>
              <a:t>Heritability (h^2)</a:t>
            </a:r>
            <a:endParaRPr lang="en-US" sz="1000" dirty="0"/>
          </a:p>
        </p:txBody>
      </p:sp>
      <p:sp>
        <p:nvSpPr>
          <p:cNvPr id="30" name="Text 27"/>
          <p:cNvSpPr/>
          <p:nvPr/>
        </p:nvSpPr>
        <p:spPr>
          <a:xfrm>
            <a:off x="4869180" y="3429000"/>
            <a:ext cx="3634740" cy="685800"/>
          </a:xfrm>
          <a:prstGeom prst="rect">
            <a:avLst/>
          </a:prstGeom>
          <a:noFill/>
          <a:ln/>
        </p:spPr>
        <p:txBody>
          <a:bodyPr wrap="square" rtlCol="0" anchor="t">
            <a:normAutofit/>
          </a:bodyPr>
          <a:lstStyle/>
          <a:p>
            <a:pPr indent="0" marL="0">
              <a:lnSpc>
                <a:spcPct val="115000"/>
              </a:lnSpc>
              <a:buNone/>
            </a:pPr>
            <a:r>
              <a:rPr lang="en-US" sz="1000" dirty="0">
                <a:solidFill>
                  <a:srgbClr val="333333"/>
                </a:solidFill>
                <a:latin typeface="Calibri" pitchFamily="34" charset="0"/>
                <a:ea typeface="Calibri" pitchFamily="34" charset="-122"/>
                <a:cs typeface="Calibri" pitchFamily="34" charset="-120"/>
              </a:rPr>
              <a:t>表型方差中遗传因素所占比例</a:t>
            </a:r>
            <a:endParaRPr lang="en-US" sz="1000" dirty="0"/>
          </a:p>
        </p:txBody>
      </p:sp>
      <p:sp>
        <p:nvSpPr>
          <p:cNvPr id="31" name="Text 28"/>
          <p:cNvSpPr/>
          <p:nvPr/>
        </p:nvSpPr>
        <p:spPr>
          <a:xfrm>
            <a:off x="457200" y="4343400"/>
            <a:ext cx="8229600" cy="320040"/>
          </a:xfrm>
          <a:prstGeom prst="rect">
            <a:avLst/>
          </a:prstGeom>
          <a:noFill/>
          <a:ln/>
        </p:spPr>
        <p:txBody>
          <a:bodyPr wrap="square" rtlCol="0" anchor="ctr">
            <a:normAutofit/>
          </a:bodyPr>
          <a:lstStyle/>
          <a:p>
            <a:pPr algn="ctr" indent="0" marL="0">
              <a:buNone/>
            </a:pPr>
            <a:r>
              <a:rPr lang="en-US" sz="1200" i="1" dirty="0">
                <a:solidFill>
                  <a:srgbClr val="D4A843"/>
                </a:solidFill>
                <a:latin typeface="Georgia" pitchFamily="34" charset="0"/>
                <a:ea typeface="Georgia" pitchFamily="34" charset="-122"/>
                <a:cs typeface="Georgia" pitchFamily="34" charset="-120"/>
              </a:rPr>
              <a:t>核心拓展：遗传学从个体层次延伸到群体层次，从离散表型扩展到连续表型</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320040"/>
            <a:ext cx="73152" cy="594360"/>
          </a:xfrm>
          <a:prstGeom prst="rect">
            <a:avLst/>
          </a:prstGeom>
          <a:solidFill>
            <a:srgbClr val="D4A843"/>
          </a:solidFill>
          <a:ln/>
        </p:spPr>
      </p:sp>
      <p:sp>
        <p:nvSpPr>
          <p:cNvPr id="4" name="Text 1"/>
          <p:cNvSpPr/>
          <p:nvPr/>
        </p:nvSpPr>
        <p:spPr>
          <a:xfrm>
            <a:off x="640080" y="274320"/>
            <a:ext cx="8046720" cy="502920"/>
          </a:xfrm>
          <a:prstGeom prst="rect">
            <a:avLst/>
          </a:prstGeom>
          <a:noFill/>
          <a:ln/>
        </p:spPr>
        <p:txBody>
          <a:bodyPr wrap="square" rtlCol="0" anchor="ctr">
            <a:normAutofit/>
          </a:bodyPr>
          <a:lstStyle/>
          <a:p>
            <a:pPr indent="0" marL="0">
              <a:buNone/>
            </a:pPr>
            <a:r>
              <a:rPr lang="en-US" sz="2600" b="1" spc="150" kern="0" dirty="0">
                <a:solidFill>
                  <a:srgbClr val="2C5F2D"/>
                </a:solidFill>
                <a:latin typeface="Georgia" pitchFamily="34" charset="0"/>
                <a:ea typeface="Georgia" pitchFamily="34" charset="-122"/>
                <a:cs typeface="Georgia" pitchFamily="34" charset="-120"/>
              </a:rPr>
              <a:t>DNA是遗传物质  /  DNA as Genetic Material</a:t>
            </a:r>
            <a:endParaRPr lang="en-US" sz="2600" dirty="0"/>
          </a:p>
        </p:txBody>
      </p:sp>
      <p:sp>
        <p:nvSpPr>
          <p:cNvPr id="5" name="Text 2"/>
          <p:cNvSpPr/>
          <p:nvPr/>
        </p:nvSpPr>
        <p:spPr>
          <a:xfrm>
            <a:off x="640080" y="777240"/>
            <a:ext cx="8046720" cy="274320"/>
          </a:xfrm>
          <a:prstGeom prst="rect">
            <a:avLst/>
          </a:prstGeom>
          <a:noFill/>
          <a:ln/>
        </p:spPr>
        <p:txBody>
          <a:bodyPr wrap="square" rtlCol="0" anchor="ctr">
            <a:normAutofit/>
          </a:bodyPr>
          <a:lstStyle/>
          <a:p>
            <a:pPr indent="0" marL="0">
              <a:buNone/>
            </a:pPr>
            <a:r>
              <a:rPr lang="en-US" sz="1300" i="1" dirty="0">
                <a:solidFill>
                  <a:srgbClr val="97BC62"/>
                </a:solidFill>
                <a:latin typeface="Calibri" pitchFamily="34" charset="0"/>
                <a:ea typeface="Calibri" pitchFamily="34" charset="-122"/>
                <a:cs typeface="Calibri" pitchFamily="34" charset="-120"/>
              </a:rPr>
              <a:t>Avery (1944)  ·  Hershey-Chase (1952)  ·  颠覆蛋白质假说</a:t>
            </a:r>
            <a:endParaRPr lang="en-US" sz="1300" dirty="0"/>
          </a:p>
        </p:txBody>
      </p:sp>
      <p:sp>
        <p:nvSpPr>
          <p:cNvPr id="6" name="Shape 3"/>
          <p:cNvSpPr/>
          <p:nvPr/>
        </p:nvSpPr>
        <p:spPr>
          <a:xfrm>
            <a:off x="457200" y="1188720"/>
            <a:ext cx="3977640" cy="3200400"/>
          </a:xfrm>
          <a:prstGeom prst="roundRect">
            <a:avLst>
              <a:gd name="adj" fmla="val 2286"/>
            </a:avLst>
          </a:prstGeom>
          <a:solidFill>
            <a:srgbClr val="FFFFFF"/>
          </a:solidFill>
          <a:ln/>
          <a:effectLst>
            <a:outerShdw sx="100000" sy="100000" kx="0" ky="0" algn="bl" rotWithShape="0" blurRad="152400" dist="50800" dir="8100000">
              <a:srgbClr val="000000">
                <a:alpha val="28000"/>
              </a:srgbClr>
            </a:outerShdw>
          </a:effectLst>
        </p:spPr>
      </p:sp>
      <p:sp>
        <p:nvSpPr>
          <p:cNvPr id="7" name="Shape 4"/>
          <p:cNvSpPr/>
          <p:nvPr/>
        </p:nvSpPr>
        <p:spPr>
          <a:xfrm>
            <a:off x="457200" y="1188720"/>
            <a:ext cx="3977640" cy="54864"/>
          </a:xfrm>
          <a:prstGeom prst="rect">
            <a:avLst/>
          </a:prstGeom>
          <a:solidFill>
            <a:srgbClr val="2C5F2D"/>
          </a:solidFill>
          <a:ln/>
        </p:spPr>
      </p:sp>
      <p:sp>
        <p:nvSpPr>
          <p:cNvPr id="8" name="Text 5"/>
          <p:cNvSpPr/>
          <p:nvPr/>
        </p:nvSpPr>
        <p:spPr>
          <a:xfrm>
            <a:off x="685800" y="1325880"/>
            <a:ext cx="3520440" cy="274320"/>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1944  艾弗里转化实验</a:t>
            </a:r>
            <a:endParaRPr lang="en-US" sz="1400" dirty="0"/>
          </a:p>
        </p:txBody>
      </p:sp>
      <p:sp>
        <p:nvSpPr>
          <p:cNvPr id="9" name="Text 6"/>
          <p:cNvSpPr/>
          <p:nvPr/>
        </p:nvSpPr>
        <p:spPr>
          <a:xfrm>
            <a:off x="685800" y="1572768"/>
            <a:ext cx="3520440" cy="182880"/>
          </a:xfrm>
          <a:prstGeom prst="rect">
            <a:avLst/>
          </a:prstGeom>
          <a:noFill/>
          <a:ln/>
        </p:spPr>
        <p:txBody>
          <a:bodyPr wrap="square" rtlCol="0" anchor="ctr">
            <a:normAutofit/>
          </a:bodyPr>
          <a:lstStyle/>
          <a:p>
            <a:pPr indent="0" marL="0">
              <a:buNone/>
            </a:pPr>
            <a:r>
              <a:rPr lang="en-US" sz="1000" i="1" dirty="0">
                <a:solidFill>
                  <a:srgbClr val="888888"/>
                </a:solidFill>
                <a:latin typeface="Calibri" pitchFamily="34" charset="0"/>
                <a:ea typeface="Calibri" pitchFamily="34" charset="-122"/>
                <a:cs typeface="Calibri" pitchFamily="34" charset="-120"/>
              </a:rPr>
              <a:t>Avery's Transformation Experiment</a:t>
            </a:r>
            <a:endParaRPr lang="en-US" sz="1000" dirty="0"/>
          </a:p>
        </p:txBody>
      </p:sp>
      <p:sp>
        <p:nvSpPr>
          <p:cNvPr id="10" name="Text 7"/>
          <p:cNvSpPr/>
          <p:nvPr/>
        </p:nvSpPr>
        <p:spPr>
          <a:xfrm>
            <a:off x="685800" y="1874520"/>
            <a:ext cx="3520440" cy="2377440"/>
          </a:xfrm>
          <a:prstGeom prst="rect">
            <a:avLst/>
          </a:prstGeom>
          <a:noFill/>
          <a:ln/>
        </p:spPr>
        <p:txBody>
          <a:bodyPr wrap="square" rtlCol="0" anchor="ctr">
            <a:normAutofit/>
          </a:bodyPr>
          <a:lstStyle/>
          <a:p>
            <a:pPr marL="342900" indent="-342900">
              <a:lnSpc>
                <a:spcPct val="115000"/>
              </a:lnSpc>
              <a:spcAft>
                <a:spcPts val="500"/>
              </a:spcAft>
              <a:buSzPct val="100000"/>
              <a:buChar char="•"/>
            </a:pPr>
            <a:r>
              <a:rPr lang="en-US" sz="1000" dirty="0">
                <a:solidFill>
                  <a:srgbClr val="333333"/>
                </a:solidFill>
                <a:latin typeface="Calibri" pitchFamily="34" charset="0"/>
                <a:ea typeface="Calibri" pitchFamily="34" charset="-122"/>
                <a:cs typeface="Calibri" pitchFamily="34" charset="-120"/>
              </a:rPr>
              <a:t>S型(致病)肺炎链球菌 → 提取物</a:t>
            </a:r>
            <a:endParaRPr lang="en-US" sz="1000" dirty="0"/>
          </a:p>
          <a:p>
            <a:pPr marL="342900" indent="-342900">
              <a:lnSpc>
                <a:spcPct val="115000"/>
              </a:lnSpc>
              <a:spcAft>
                <a:spcPts val="500"/>
              </a:spcAft>
              <a:buSzPct val="100000"/>
              <a:buChar char="•"/>
            </a:pPr>
            <a:r>
              <a:rPr lang="en-US" sz="1000" dirty="0">
                <a:solidFill>
                  <a:srgbClr val="333333"/>
                </a:solidFill>
                <a:latin typeface="Calibri" pitchFamily="34" charset="0"/>
                <a:ea typeface="Calibri" pitchFamily="34" charset="-122"/>
                <a:cs typeface="Calibri" pitchFamily="34" charset="-120"/>
              </a:rPr>
              <a:t>分别用酶处理：蛋白酶、RNA酶、DNA酶</a:t>
            </a:r>
            <a:endParaRPr lang="en-US" sz="1000" dirty="0"/>
          </a:p>
          <a:p>
            <a:pPr marL="342900" indent="-342900">
              <a:lnSpc>
                <a:spcPct val="115000"/>
              </a:lnSpc>
              <a:spcAft>
                <a:spcPts val="500"/>
              </a:spcAft>
              <a:buSzPct val="100000"/>
              <a:buChar char="•"/>
            </a:pPr>
            <a:r>
              <a:rPr lang="en-US" sz="1000" dirty="0">
                <a:solidFill>
                  <a:srgbClr val="333333"/>
                </a:solidFill>
                <a:latin typeface="Calibri" pitchFamily="34" charset="0"/>
                <a:ea typeface="Calibri" pitchFamily="34" charset="-122"/>
                <a:cs typeface="Calibri" pitchFamily="34" charset="-120"/>
              </a:rPr>
              <a:t>只有DNA酶处理 → 转化失败</a:t>
            </a:r>
            <a:endParaRPr lang="en-US" sz="1000" dirty="0"/>
          </a:p>
          <a:p>
            <a:pPr marL="342900" indent="-342900">
              <a:lnSpc>
                <a:spcPct val="115000"/>
              </a:lnSpc>
              <a:spcAft>
                <a:spcPts val="500"/>
              </a:spcAft>
              <a:buSzPct val="100000"/>
              <a:buChar char="•"/>
            </a:pPr>
            <a:r>
              <a:rPr lang="en-US" sz="1000" dirty="0">
                <a:solidFill>
                  <a:srgbClr val="333333"/>
                </a:solidFill>
                <a:latin typeface="Calibri" pitchFamily="34" charset="0"/>
                <a:ea typeface="Calibri" pitchFamily="34" charset="-122"/>
                <a:cs typeface="Calibri" pitchFamily="34" charset="-120"/>
              </a:rPr>
              <a:t>结论：DNA是"转化因子"</a:t>
            </a:r>
            <a:endParaRPr lang="en-US" sz="1000" dirty="0"/>
          </a:p>
          <a:p>
            <a:pPr marL="342900" indent="-342900">
              <a:lnSpc>
                <a:spcPct val="115000"/>
              </a:lnSpc>
              <a:buSzPct val="100000"/>
              <a:buChar char="•"/>
            </a:pPr>
            <a:r>
              <a:rPr lang="en-US" sz="1000" dirty="0">
                <a:solidFill>
                  <a:srgbClr val="333333"/>
                </a:solidFill>
                <a:latin typeface="Calibri" pitchFamily="34" charset="0"/>
                <a:ea typeface="Calibri" pitchFamily="34" charset="-122"/>
                <a:cs typeface="Calibri" pitchFamily="34" charset="-120"/>
              </a:rPr>
              <a:t>但当时未被广泛接受，因蛋白质假说根深蒂固</a:t>
            </a:r>
            <a:endParaRPr lang="en-US" sz="1000" dirty="0"/>
          </a:p>
        </p:txBody>
      </p:sp>
      <p:sp>
        <p:nvSpPr>
          <p:cNvPr id="11" name="Shape 8"/>
          <p:cNvSpPr/>
          <p:nvPr/>
        </p:nvSpPr>
        <p:spPr>
          <a:xfrm>
            <a:off x="4709160" y="1188720"/>
            <a:ext cx="3977640" cy="3200400"/>
          </a:xfrm>
          <a:prstGeom prst="roundRect">
            <a:avLst>
              <a:gd name="adj" fmla="val 2286"/>
            </a:avLst>
          </a:prstGeom>
          <a:solidFill>
            <a:srgbClr val="FFFFFF"/>
          </a:solidFill>
          <a:ln/>
          <a:effectLst>
            <a:outerShdw sx="100000" sy="100000" kx="0" ky="0" algn="bl" rotWithShape="0" blurRad="152400" dist="50800" dir="8100000">
              <a:srgbClr val="000000">
                <a:alpha val="28000"/>
              </a:srgbClr>
            </a:outerShdw>
          </a:effectLst>
        </p:spPr>
      </p:sp>
      <p:sp>
        <p:nvSpPr>
          <p:cNvPr id="12" name="Shape 9"/>
          <p:cNvSpPr/>
          <p:nvPr/>
        </p:nvSpPr>
        <p:spPr>
          <a:xfrm>
            <a:off x="4709160" y="1188720"/>
            <a:ext cx="3977640" cy="54864"/>
          </a:xfrm>
          <a:prstGeom prst="rect">
            <a:avLst/>
          </a:prstGeom>
          <a:solidFill>
            <a:srgbClr val="97BC62"/>
          </a:solidFill>
          <a:ln/>
        </p:spPr>
      </p:sp>
      <p:sp>
        <p:nvSpPr>
          <p:cNvPr id="13" name="Text 10"/>
          <p:cNvSpPr/>
          <p:nvPr/>
        </p:nvSpPr>
        <p:spPr>
          <a:xfrm>
            <a:off x="4937760" y="1325880"/>
            <a:ext cx="3520440" cy="274320"/>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1952  赫尔希-蔡斯实验</a:t>
            </a:r>
            <a:endParaRPr lang="en-US" sz="1400" dirty="0"/>
          </a:p>
        </p:txBody>
      </p:sp>
      <p:sp>
        <p:nvSpPr>
          <p:cNvPr id="14" name="Text 11"/>
          <p:cNvSpPr/>
          <p:nvPr/>
        </p:nvSpPr>
        <p:spPr>
          <a:xfrm>
            <a:off x="4937760" y="1572768"/>
            <a:ext cx="3520440" cy="182880"/>
          </a:xfrm>
          <a:prstGeom prst="rect">
            <a:avLst/>
          </a:prstGeom>
          <a:noFill/>
          <a:ln/>
        </p:spPr>
        <p:txBody>
          <a:bodyPr wrap="square" rtlCol="0" anchor="ctr">
            <a:normAutofit/>
          </a:bodyPr>
          <a:lstStyle/>
          <a:p>
            <a:pPr indent="0" marL="0">
              <a:buNone/>
            </a:pPr>
            <a:r>
              <a:rPr lang="en-US" sz="1000" i="1" dirty="0">
                <a:solidFill>
                  <a:srgbClr val="888888"/>
                </a:solidFill>
                <a:latin typeface="Calibri" pitchFamily="34" charset="0"/>
                <a:ea typeface="Calibri" pitchFamily="34" charset="-122"/>
                <a:cs typeface="Calibri" pitchFamily="34" charset="-120"/>
              </a:rPr>
              <a:t>Hershey-Chase Blender Experiment</a:t>
            </a:r>
            <a:endParaRPr lang="en-US" sz="1000" dirty="0"/>
          </a:p>
        </p:txBody>
      </p:sp>
      <p:sp>
        <p:nvSpPr>
          <p:cNvPr id="15" name="Text 12"/>
          <p:cNvSpPr/>
          <p:nvPr/>
        </p:nvSpPr>
        <p:spPr>
          <a:xfrm>
            <a:off x="4937760" y="1874520"/>
            <a:ext cx="3520440" cy="2377440"/>
          </a:xfrm>
          <a:prstGeom prst="rect">
            <a:avLst/>
          </a:prstGeom>
          <a:noFill/>
          <a:ln/>
        </p:spPr>
        <p:txBody>
          <a:bodyPr wrap="square" rtlCol="0" anchor="ctr">
            <a:normAutofit/>
          </a:bodyPr>
          <a:lstStyle/>
          <a:p>
            <a:pPr marL="342900" indent="-342900">
              <a:lnSpc>
                <a:spcPct val="115000"/>
              </a:lnSpc>
              <a:spcAft>
                <a:spcPts val="500"/>
              </a:spcAft>
              <a:buSzPct val="100000"/>
              <a:buChar char="•"/>
            </a:pPr>
            <a:r>
              <a:rPr lang="en-US" sz="1000" dirty="0">
                <a:solidFill>
                  <a:srgbClr val="333333"/>
                </a:solidFill>
                <a:latin typeface="Calibri" pitchFamily="34" charset="0"/>
                <a:ea typeface="Calibri" pitchFamily="34" charset="-122"/>
                <a:cs typeface="Calibri" pitchFamily="34" charset="-120"/>
              </a:rPr>
              <a:t>32P标记噬菌体DNA</a:t>
            </a:r>
            <a:endParaRPr lang="en-US" sz="1000" dirty="0"/>
          </a:p>
          <a:p>
            <a:pPr marL="342900" indent="-342900">
              <a:lnSpc>
                <a:spcPct val="115000"/>
              </a:lnSpc>
              <a:spcAft>
                <a:spcPts val="500"/>
              </a:spcAft>
              <a:buSzPct val="100000"/>
              <a:buChar char="•"/>
            </a:pPr>
            <a:r>
              <a:rPr lang="en-US" sz="1000" dirty="0">
                <a:solidFill>
                  <a:srgbClr val="333333"/>
                </a:solidFill>
                <a:latin typeface="Calibri" pitchFamily="34" charset="0"/>
                <a:ea typeface="Calibri" pitchFamily="34" charset="-122"/>
                <a:cs typeface="Calibri" pitchFamily="34" charset="-120"/>
              </a:rPr>
              <a:t>35S标记噬菌体蛋白质外壳</a:t>
            </a:r>
            <a:endParaRPr lang="en-US" sz="1000" dirty="0"/>
          </a:p>
          <a:p>
            <a:pPr marL="342900" indent="-342900">
              <a:lnSpc>
                <a:spcPct val="115000"/>
              </a:lnSpc>
              <a:spcAft>
                <a:spcPts val="500"/>
              </a:spcAft>
              <a:buSzPct val="100000"/>
              <a:buChar char="•"/>
            </a:pPr>
            <a:r>
              <a:rPr lang="en-US" sz="1000" dirty="0">
                <a:solidFill>
                  <a:srgbClr val="333333"/>
                </a:solidFill>
                <a:latin typeface="Calibri" pitchFamily="34" charset="0"/>
                <a:ea typeface="Calibri" pitchFamily="34" charset="-122"/>
                <a:cs typeface="Calibri" pitchFamily="34" charset="-120"/>
              </a:rPr>
              <a:t>感染大肠杆菌 → 搅拌器分离</a:t>
            </a:r>
            <a:endParaRPr lang="en-US" sz="1000" dirty="0"/>
          </a:p>
          <a:p>
            <a:pPr marL="342900" indent="-342900">
              <a:lnSpc>
                <a:spcPct val="115000"/>
              </a:lnSpc>
              <a:spcAft>
                <a:spcPts val="500"/>
              </a:spcAft>
              <a:buSzPct val="100000"/>
              <a:buChar char="•"/>
            </a:pPr>
            <a:r>
              <a:rPr lang="en-US" sz="1000" dirty="0">
                <a:solidFill>
                  <a:srgbClr val="333333"/>
                </a:solidFill>
                <a:latin typeface="Calibri" pitchFamily="34" charset="0"/>
                <a:ea typeface="Calibri" pitchFamily="34" charset="-122"/>
                <a:cs typeface="Calibri" pitchFamily="34" charset="-120"/>
              </a:rPr>
              <a:t>32P(DNA)进入细菌，35S(蛋白质)留在外部</a:t>
            </a:r>
            <a:endParaRPr lang="en-US" sz="1000" dirty="0"/>
          </a:p>
          <a:p>
            <a:pPr marL="342900" indent="-342900">
              <a:lnSpc>
                <a:spcPct val="115000"/>
              </a:lnSpc>
              <a:buSzPct val="100000"/>
              <a:buChar char="•"/>
            </a:pPr>
            <a:r>
              <a:rPr lang="en-US" sz="1000" dirty="0">
                <a:solidFill>
                  <a:srgbClr val="333333"/>
                </a:solidFill>
                <a:latin typeface="Calibri" pitchFamily="34" charset="0"/>
                <a:ea typeface="Calibri" pitchFamily="34" charset="-122"/>
                <a:cs typeface="Calibri" pitchFamily="34" charset="-120"/>
              </a:rPr>
              <a:t>结论：DNA是遗传物质，彻底终结争议</a:t>
            </a:r>
            <a:endParaRPr lang="en-US" sz="1000" dirty="0"/>
          </a:p>
        </p:txBody>
      </p:sp>
      <p:sp>
        <p:nvSpPr>
          <p:cNvPr id="16" name="Shape 13"/>
          <p:cNvSpPr/>
          <p:nvPr/>
        </p:nvSpPr>
        <p:spPr>
          <a:xfrm>
            <a:off x="457200" y="4480560"/>
            <a:ext cx="8229600" cy="457200"/>
          </a:xfrm>
          <a:prstGeom prst="roundRect">
            <a:avLst>
              <a:gd name="adj" fmla="val 10000"/>
            </a:avLst>
          </a:prstGeom>
          <a:solidFill>
            <a:srgbClr val="E8EFE0"/>
          </a:solidFill>
          <a:ln/>
        </p:spPr>
      </p:sp>
      <p:sp>
        <p:nvSpPr>
          <p:cNvPr id="17" name="Text 14"/>
          <p:cNvSpPr/>
          <p:nvPr/>
        </p:nvSpPr>
        <p:spPr>
          <a:xfrm>
            <a:off x="640080" y="4480560"/>
            <a:ext cx="7863840" cy="45720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范式转变：从"蛋白质是遗传物质"到"DNA是遗传物质"，历时8年(1944-1952)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320040"/>
            <a:ext cx="73152" cy="594360"/>
          </a:xfrm>
          <a:prstGeom prst="rect">
            <a:avLst/>
          </a:prstGeom>
          <a:solidFill>
            <a:srgbClr val="D4A843"/>
          </a:solidFill>
          <a:ln/>
        </p:spPr>
      </p:sp>
      <p:sp>
        <p:nvSpPr>
          <p:cNvPr id="4" name="Text 1"/>
          <p:cNvSpPr/>
          <p:nvPr/>
        </p:nvSpPr>
        <p:spPr>
          <a:xfrm>
            <a:off x="640080" y="274320"/>
            <a:ext cx="8046720" cy="502920"/>
          </a:xfrm>
          <a:prstGeom prst="rect">
            <a:avLst/>
          </a:prstGeom>
          <a:noFill/>
          <a:ln/>
        </p:spPr>
        <p:txBody>
          <a:bodyPr wrap="square" rtlCol="0" anchor="ctr">
            <a:normAutofit/>
          </a:bodyPr>
          <a:lstStyle/>
          <a:p>
            <a:pPr indent="0" marL="0">
              <a:buNone/>
            </a:pPr>
            <a:r>
              <a:rPr lang="en-US" sz="2600" b="1" spc="150" kern="0" dirty="0">
                <a:solidFill>
                  <a:srgbClr val="2C5F2D"/>
                </a:solidFill>
                <a:latin typeface="Georgia" pitchFamily="34" charset="0"/>
                <a:ea typeface="Georgia" pitchFamily="34" charset="-122"/>
                <a:cs typeface="Georgia" pitchFamily="34" charset="-120"/>
              </a:rPr>
              <a:t>DNA双螺旋结构  /  DNA Double Helix</a:t>
            </a:r>
            <a:endParaRPr lang="en-US" sz="2600" dirty="0"/>
          </a:p>
        </p:txBody>
      </p:sp>
      <p:sp>
        <p:nvSpPr>
          <p:cNvPr id="5" name="Text 2"/>
          <p:cNvSpPr/>
          <p:nvPr/>
        </p:nvSpPr>
        <p:spPr>
          <a:xfrm>
            <a:off x="640080" y="777240"/>
            <a:ext cx="8046720" cy="274320"/>
          </a:xfrm>
          <a:prstGeom prst="rect">
            <a:avLst/>
          </a:prstGeom>
          <a:noFill/>
          <a:ln/>
        </p:spPr>
        <p:txBody>
          <a:bodyPr wrap="square" rtlCol="0" anchor="ctr">
            <a:normAutofit/>
          </a:bodyPr>
          <a:lstStyle/>
          <a:p>
            <a:pPr indent="0" marL="0">
              <a:buNone/>
            </a:pPr>
            <a:r>
              <a:rPr lang="en-US" sz="1300" i="1" dirty="0">
                <a:solidFill>
                  <a:srgbClr val="97BC62"/>
                </a:solidFill>
                <a:latin typeface="Calibri" pitchFamily="34" charset="0"/>
                <a:ea typeface="Calibri" pitchFamily="34" charset="-122"/>
                <a:cs typeface="Calibri" pitchFamily="34" charset="-120"/>
              </a:rPr>
              <a:t>Watson &amp; Crick (1953)  ·  Photo 51  ·  Chargaff's Rules</a:t>
            </a:r>
            <a:endParaRPr lang="en-US" sz="1300" dirty="0"/>
          </a:p>
        </p:txBody>
      </p:sp>
      <p:sp>
        <p:nvSpPr>
          <p:cNvPr id="6" name="Shape 3"/>
          <p:cNvSpPr/>
          <p:nvPr/>
        </p:nvSpPr>
        <p:spPr>
          <a:xfrm>
            <a:off x="457200" y="1188720"/>
            <a:ext cx="4000500" cy="1417320"/>
          </a:xfrm>
          <a:prstGeom prst="roundRect">
            <a:avLst>
              <a:gd name="adj" fmla="val 5161"/>
            </a:avLst>
          </a:prstGeom>
          <a:solidFill>
            <a:srgbClr val="FFFFFF"/>
          </a:solidFill>
          <a:ln/>
          <a:effectLst>
            <a:outerShdw sx="100000" sy="100000" kx="0" ky="0" algn="bl" rotWithShape="0" blurRad="152400" dist="50800" dir="8100000">
              <a:srgbClr val="000000">
                <a:alpha val="28000"/>
              </a:srgbClr>
            </a:outerShdw>
          </a:effectLst>
        </p:spPr>
      </p:sp>
      <p:sp>
        <p:nvSpPr>
          <p:cNvPr id="7" name="Shape 4"/>
          <p:cNvSpPr/>
          <p:nvPr/>
        </p:nvSpPr>
        <p:spPr>
          <a:xfrm>
            <a:off x="457200" y="1188720"/>
            <a:ext cx="4000500" cy="54864"/>
          </a:xfrm>
          <a:prstGeom prst="rect">
            <a:avLst/>
          </a:prstGeom>
          <a:solidFill>
            <a:srgbClr val="2C5F2D"/>
          </a:solidFill>
          <a:ln/>
        </p:spPr>
      </p:sp>
      <p:sp>
        <p:nvSpPr>
          <p:cNvPr id="8" name="Text 5"/>
          <p:cNvSpPr/>
          <p:nvPr/>
        </p:nvSpPr>
        <p:spPr>
          <a:xfrm>
            <a:off x="640080" y="1325880"/>
            <a:ext cx="363474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1953年Nature论文</a:t>
            </a:r>
            <a:endParaRPr lang="en-US" sz="1300" dirty="0"/>
          </a:p>
        </p:txBody>
      </p:sp>
      <p:sp>
        <p:nvSpPr>
          <p:cNvPr id="9" name="Text 6"/>
          <p:cNvSpPr/>
          <p:nvPr/>
        </p:nvSpPr>
        <p:spPr>
          <a:xfrm>
            <a:off x="640080" y="1572768"/>
            <a:ext cx="363474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Nature Publication</a:t>
            </a:r>
            <a:endParaRPr lang="en-US" sz="900" dirty="0"/>
          </a:p>
        </p:txBody>
      </p:sp>
      <p:sp>
        <p:nvSpPr>
          <p:cNvPr id="10" name="Text 7"/>
          <p:cNvSpPr/>
          <p:nvPr/>
        </p:nvSpPr>
        <p:spPr>
          <a:xfrm>
            <a:off x="640080" y="1828800"/>
            <a:ext cx="3634740" cy="640080"/>
          </a:xfrm>
          <a:prstGeom prst="rect">
            <a:avLst/>
          </a:prstGeom>
          <a:noFill/>
          <a:ln/>
        </p:spPr>
        <p:txBody>
          <a:bodyPr wrap="square" rtlCol="0" anchor="t">
            <a:normAutofit/>
          </a:bodyP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Watson与Crick在《Nature》发表DNA双螺旋结构模型，仅一页篇幅</a:t>
            </a:r>
            <a:endParaRPr lang="en-US" sz="1000" dirty="0"/>
          </a:p>
        </p:txBody>
      </p:sp>
      <p:sp>
        <p:nvSpPr>
          <p:cNvPr id="11" name="Shape 8"/>
          <p:cNvSpPr/>
          <p:nvPr/>
        </p:nvSpPr>
        <p:spPr>
          <a:xfrm>
            <a:off x="4686300" y="1188720"/>
            <a:ext cx="4000500" cy="1417320"/>
          </a:xfrm>
          <a:prstGeom prst="roundRect">
            <a:avLst>
              <a:gd name="adj" fmla="val 5161"/>
            </a:avLst>
          </a:prstGeom>
          <a:solidFill>
            <a:srgbClr val="FFFFFF"/>
          </a:solidFill>
          <a:ln/>
          <a:effectLst>
            <a:outerShdw sx="100000" sy="100000" kx="0" ky="0" algn="bl" rotWithShape="0" blurRad="152400" dist="50800" dir="8100000">
              <a:srgbClr val="000000">
                <a:alpha val="28000"/>
              </a:srgbClr>
            </a:outerShdw>
          </a:effectLst>
        </p:spPr>
      </p:sp>
      <p:sp>
        <p:nvSpPr>
          <p:cNvPr id="12" name="Shape 9"/>
          <p:cNvSpPr/>
          <p:nvPr/>
        </p:nvSpPr>
        <p:spPr>
          <a:xfrm>
            <a:off x="4686300" y="1188720"/>
            <a:ext cx="4000500" cy="54864"/>
          </a:xfrm>
          <a:prstGeom prst="rect">
            <a:avLst/>
          </a:prstGeom>
          <a:solidFill>
            <a:srgbClr val="2C5F2D"/>
          </a:solidFill>
          <a:ln/>
        </p:spPr>
      </p:sp>
      <p:sp>
        <p:nvSpPr>
          <p:cNvPr id="13" name="Text 10"/>
          <p:cNvSpPr/>
          <p:nvPr/>
        </p:nvSpPr>
        <p:spPr>
          <a:xfrm>
            <a:off x="4869180" y="1325880"/>
            <a:ext cx="363474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富兰克林照片51号</a:t>
            </a:r>
            <a:endParaRPr lang="en-US" sz="1300" dirty="0"/>
          </a:p>
        </p:txBody>
      </p:sp>
      <p:sp>
        <p:nvSpPr>
          <p:cNvPr id="14" name="Text 11"/>
          <p:cNvSpPr/>
          <p:nvPr/>
        </p:nvSpPr>
        <p:spPr>
          <a:xfrm>
            <a:off x="4869180" y="1572768"/>
            <a:ext cx="363474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Franklin's Photo 51</a:t>
            </a:r>
            <a:endParaRPr lang="en-US" sz="900" dirty="0"/>
          </a:p>
        </p:txBody>
      </p:sp>
      <p:sp>
        <p:nvSpPr>
          <p:cNvPr id="15" name="Text 12"/>
          <p:cNvSpPr/>
          <p:nvPr/>
        </p:nvSpPr>
        <p:spPr>
          <a:xfrm>
            <a:off x="4869180" y="1828800"/>
            <a:ext cx="3634740" cy="640080"/>
          </a:xfrm>
          <a:prstGeom prst="rect">
            <a:avLst/>
          </a:prstGeom>
          <a:noFill/>
          <a:ln/>
        </p:spPr>
        <p:txBody>
          <a:bodyPr wrap="square" rtlCol="0" anchor="t">
            <a:normAutofit/>
          </a:bodyP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Rosalind Franklin的X射线衍射照片是关键证据，揭示了螺旋结构</a:t>
            </a:r>
            <a:endParaRPr lang="en-US" sz="1000" dirty="0"/>
          </a:p>
        </p:txBody>
      </p:sp>
      <p:sp>
        <p:nvSpPr>
          <p:cNvPr id="16" name="Shape 13"/>
          <p:cNvSpPr/>
          <p:nvPr/>
        </p:nvSpPr>
        <p:spPr>
          <a:xfrm>
            <a:off x="457200" y="2788920"/>
            <a:ext cx="4000500" cy="1417320"/>
          </a:xfrm>
          <a:prstGeom prst="roundRect">
            <a:avLst>
              <a:gd name="adj" fmla="val 5161"/>
            </a:avLst>
          </a:prstGeom>
          <a:solidFill>
            <a:srgbClr val="FFFFFF"/>
          </a:solidFill>
          <a:ln/>
          <a:effectLst>
            <a:outerShdw sx="100000" sy="100000" kx="0" ky="0" algn="bl" rotWithShape="0" blurRad="152400" dist="50800" dir="8100000">
              <a:srgbClr val="000000">
                <a:alpha val="28000"/>
              </a:srgbClr>
            </a:outerShdw>
          </a:effectLst>
        </p:spPr>
      </p:sp>
      <p:sp>
        <p:nvSpPr>
          <p:cNvPr id="17" name="Shape 14"/>
          <p:cNvSpPr/>
          <p:nvPr/>
        </p:nvSpPr>
        <p:spPr>
          <a:xfrm>
            <a:off x="457200" y="2788920"/>
            <a:ext cx="4000500" cy="54864"/>
          </a:xfrm>
          <a:prstGeom prst="rect">
            <a:avLst/>
          </a:prstGeom>
          <a:solidFill>
            <a:srgbClr val="97BC62"/>
          </a:solidFill>
          <a:ln/>
        </p:spPr>
      </p:sp>
      <p:sp>
        <p:nvSpPr>
          <p:cNvPr id="18" name="Text 15"/>
          <p:cNvSpPr/>
          <p:nvPr/>
        </p:nvSpPr>
        <p:spPr>
          <a:xfrm>
            <a:off x="640080" y="2926080"/>
            <a:ext cx="363474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查加夫法则</a:t>
            </a:r>
            <a:endParaRPr lang="en-US" sz="1300" dirty="0"/>
          </a:p>
        </p:txBody>
      </p:sp>
      <p:sp>
        <p:nvSpPr>
          <p:cNvPr id="19" name="Text 16"/>
          <p:cNvSpPr/>
          <p:nvPr/>
        </p:nvSpPr>
        <p:spPr>
          <a:xfrm>
            <a:off x="640080" y="3172968"/>
            <a:ext cx="363474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Chargaff's Rules</a:t>
            </a:r>
            <a:endParaRPr lang="en-US" sz="900" dirty="0"/>
          </a:p>
        </p:txBody>
      </p:sp>
      <p:sp>
        <p:nvSpPr>
          <p:cNvPr id="20" name="Text 17"/>
          <p:cNvSpPr/>
          <p:nvPr/>
        </p:nvSpPr>
        <p:spPr>
          <a:xfrm>
            <a:off x="640080" y="3429000"/>
            <a:ext cx="3634740" cy="640080"/>
          </a:xfrm>
          <a:prstGeom prst="rect">
            <a:avLst/>
          </a:prstGeom>
          <a:noFill/>
          <a:ln/>
        </p:spPr>
        <p:txBody>
          <a:bodyPr wrap="square" rtlCol="0" anchor="t">
            <a:normAutofit/>
          </a:bodyP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A=T, G=C（摩尔比1:1），为碱基配对提供依据</a:t>
            </a:r>
            <a:endParaRPr lang="en-US" sz="1000" dirty="0"/>
          </a:p>
        </p:txBody>
      </p:sp>
      <p:sp>
        <p:nvSpPr>
          <p:cNvPr id="21" name="Shape 18"/>
          <p:cNvSpPr/>
          <p:nvPr/>
        </p:nvSpPr>
        <p:spPr>
          <a:xfrm>
            <a:off x="4686300" y="2788920"/>
            <a:ext cx="4000500" cy="1417320"/>
          </a:xfrm>
          <a:prstGeom prst="roundRect">
            <a:avLst>
              <a:gd name="adj" fmla="val 5161"/>
            </a:avLst>
          </a:prstGeom>
          <a:solidFill>
            <a:srgbClr val="FFFFFF"/>
          </a:solidFill>
          <a:ln/>
          <a:effectLst>
            <a:outerShdw sx="100000" sy="100000" kx="0" ky="0" algn="bl" rotWithShape="0" blurRad="152400" dist="50800" dir="8100000">
              <a:srgbClr val="000000">
                <a:alpha val="28000"/>
              </a:srgbClr>
            </a:outerShdw>
          </a:effectLst>
        </p:spPr>
      </p:sp>
      <p:sp>
        <p:nvSpPr>
          <p:cNvPr id="22" name="Shape 19"/>
          <p:cNvSpPr/>
          <p:nvPr/>
        </p:nvSpPr>
        <p:spPr>
          <a:xfrm>
            <a:off x="4686300" y="2788920"/>
            <a:ext cx="4000500" cy="54864"/>
          </a:xfrm>
          <a:prstGeom prst="rect">
            <a:avLst/>
          </a:prstGeom>
          <a:solidFill>
            <a:srgbClr val="97BC62"/>
          </a:solidFill>
          <a:ln/>
        </p:spPr>
      </p:sp>
      <p:sp>
        <p:nvSpPr>
          <p:cNvPr id="23" name="Text 20"/>
          <p:cNvSpPr/>
          <p:nvPr/>
        </p:nvSpPr>
        <p:spPr>
          <a:xfrm>
            <a:off x="4869180" y="2926080"/>
            <a:ext cx="363474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双螺旋模型</a:t>
            </a:r>
            <a:endParaRPr lang="en-US" sz="1300" dirty="0"/>
          </a:p>
        </p:txBody>
      </p:sp>
      <p:sp>
        <p:nvSpPr>
          <p:cNvPr id="24" name="Text 21"/>
          <p:cNvSpPr/>
          <p:nvPr/>
        </p:nvSpPr>
        <p:spPr>
          <a:xfrm>
            <a:off x="4869180" y="3172968"/>
            <a:ext cx="363474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Double Helix Model</a:t>
            </a:r>
            <a:endParaRPr lang="en-US" sz="900" dirty="0"/>
          </a:p>
        </p:txBody>
      </p:sp>
      <p:sp>
        <p:nvSpPr>
          <p:cNvPr id="25" name="Text 22"/>
          <p:cNvSpPr/>
          <p:nvPr/>
        </p:nvSpPr>
        <p:spPr>
          <a:xfrm>
            <a:off x="4869180" y="3429000"/>
            <a:ext cx="3634740" cy="640080"/>
          </a:xfrm>
          <a:prstGeom prst="rect">
            <a:avLst/>
          </a:prstGeom>
          <a:noFill/>
          <a:ln/>
        </p:spPr>
        <p:txBody>
          <a:bodyPr wrap="square" rtlCol="0" anchor="t">
            <a:normAutofit/>
          </a:bodyP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两条反向平行链，糖-磷酸骨架在外，碱基对(A-T, G-C)在内侧</a:t>
            </a:r>
            <a:endParaRPr lang="en-US" sz="1000" dirty="0"/>
          </a:p>
        </p:txBody>
      </p:sp>
      <p:sp>
        <p:nvSpPr>
          <p:cNvPr id="26" name="Shape 23"/>
          <p:cNvSpPr/>
          <p:nvPr/>
        </p:nvSpPr>
        <p:spPr>
          <a:xfrm>
            <a:off x="457200" y="4343400"/>
            <a:ext cx="8229600" cy="502920"/>
          </a:xfrm>
          <a:prstGeom prst="roundRect">
            <a:avLst>
              <a:gd name="adj" fmla="val 9091"/>
            </a:avLst>
          </a:prstGeom>
          <a:solidFill>
            <a:srgbClr val="E8EFE0"/>
          </a:solidFill>
          <a:ln/>
        </p:spPr>
      </p:sp>
      <p:sp>
        <p:nvSpPr>
          <p:cNvPr id="27" name="Text 24"/>
          <p:cNvSpPr/>
          <p:nvPr/>
        </p:nvSpPr>
        <p:spPr>
          <a:xfrm>
            <a:off x="640080" y="4343400"/>
            <a:ext cx="7863840" cy="502920"/>
          </a:xfrm>
          <a:prstGeom prst="rect">
            <a:avLst/>
          </a:prstGeom>
          <a:noFill/>
          <a:ln/>
        </p:spPr>
        <p:txBody>
          <a:bodyPr wrap="square" rtlCol="0" anchor="ctr">
            <a:normAutofit/>
          </a:bodyPr>
          <a:lstStyle/>
          <a:p>
            <a:pPr algn="ctr" indent="0" marL="0">
              <a:buNone/>
            </a:pPr>
            <a:r>
              <a:rPr lang="en-US" sz="1100" i="1" dirty="0">
                <a:solidFill>
                  <a:srgbClr val="2C5F2D"/>
                </a:solidFill>
                <a:latin typeface="Georgia" pitchFamily="34" charset="0"/>
                <a:ea typeface="Georgia" pitchFamily="34" charset="-122"/>
                <a:cs typeface="Georgia" pitchFamily="34" charset="-120"/>
              </a:rPr>
              <a:t>"我们提出的DNA结构......不可能不引起我们的注意，它所暗示的复制机制......"</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320040"/>
            <a:ext cx="73152" cy="594360"/>
          </a:xfrm>
          <a:prstGeom prst="rect">
            <a:avLst/>
          </a:prstGeom>
          <a:solidFill>
            <a:srgbClr val="D4A843"/>
          </a:solidFill>
          <a:ln/>
        </p:spPr>
      </p:sp>
      <p:sp>
        <p:nvSpPr>
          <p:cNvPr id="4" name="Text 1"/>
          <p:cNvSpPr/>
          <p:nvPr/>
        </p:nvSpPr>
        <p:spPr>
          <a:xfrm>
            <a:off x="640080" y="274320"/>
            <a:ext cx="8046720" cy="502920"/>
          </a:xfrm>
          <a:prstGeom prst="rect">
            <a:avLst/>
          </a:prstGeom>
          <a:noFill/>
          <a:ln/>
        </p:spPr>
        <p:txBody>
          <a:bodyPr wrap="square" rtlCol="0" anchor="ctr">
            <a:normAutofit/>
          </a:bodyPr>
          <a:lstStyle/>
          <a:p>
            <a:pPr indent="0" marL="0">
              <a:buNone/>
            </a:pPr>
            <a:r>
              <a:rPr lang="en-US" sz="2600" b="1" spc="150" kern="0" dirty="0">
                <a:solidFill>
                  <a:srgbClr val="2C5F2D"/>
                </a:solidFill>
                <a:latin typeface="Georgia" pitchFamily="34" charset="0"/>
                <a:ea typeface="Georgia" pitchFamily="34" charset="-122"/>
                <a:cs typeface="Georgia" pitchFamily="34" charset="-120"/>
              </a:rPr>
              <a:t>中心法则与遗传密码  /  Central Dogma &amp; Genetic Code</a:t>
            </a:r>
            <a:endParaRPr lang="en-US" sz="2600" dirty="0"/>
          </a:p>
        </p:txBody>
      </p:sp>
      <p:sp>
        <p:nvSpPr>
          <p:cNvPr id="5" name="Text 2"/>
          <p:cNvSpPr/>
          <p:nvPr/>
        </p:nvSpPr>
        <p:spPr>
          <a:xfrm>
            <a:off x="640080" y="777240"/>
            <a:ext cx="8046720" cy="274320"/>
          </a:xfrm>
          <a:prstGeom prst="rect">
            <a:avLst/>
          </a:prstGeom>
          <a:noFill/>
          <a:ln/>
        </p:spPr>
        <p:txBody>
          <a:bodyPr wrap="square" rtlCol="0" anchor="ctr">
            <a:normAutofit/>
          </a:bodyPr>
          <a:lstStyle/>
          <a:p>
            <a:pPr indent="0" marL="0">
              <a:buNone/>
            </a:pPr>
            <a:r>
              <a:rPr lang="en-US" sz="1300" i="1" dirty="0">
                <a:solidFill>
                  <a:srgbClr val="97BC62"/>
                </a:solidFill>
                <a:latin typeface="Calibri" pitchFamily="34" charset="0"/>
                <a:ea typeface="Calibri" pitchFamily="34" charset="-122"/>
                <a:cs typeface="Calibri" pitchFamily="34" charset="-120"/>
              </a:rPr>
              <a:t>Crick (1958)  ·  DNA -&gt; RNA -&gt; Protein  ·  64 Codons</a:t>
            </a:r>
            <a:endParaRPr lang="en-US" sz="1300" dirty="0"/>
          </a:p>
        </p:txBody>
      </p:sp>
      <p:sp>
        <p:nvSpPr>
          <p:cNvPr id="6" name="Shape 3"/>
          <p:cNvSpPr/>
          <p:nvPr/>
        </p:nvSpPr>
        <p:spPr>
          <a:xfrm>
            <a:off x="1280160" y="1234440"/>
            <a:ext cx="1463040" cy="640080"/>
          </a:xfrm>
          <a:prstGeom prst="roundRect">
            <a:avLst>
              <a:gd name="adj" fmla="val 14286"/>
            </a:avLst>
          </a:prstGeom>
          <a:solidFill>
            <a:srgbClr val="2C5F2D"/>
          </a:solidFill>
          <a:ln/>
          <a:effectLst>
            <a:outerShdw sx="100000" sy="100000" kx="0" ky="0" algn="bl" rotWithShape="0" blurRad="152400" dist="50800" dir="8100000">
              <a:srgbClr val="000000">
                <a:alpha val="28000"/>
              </a:srgbClr>
            </a:outerShdw>
          </a:effectLst>
        </p:spPr>
      </p:sp>
      <p:sp>
        <p:nvSpPr>
          <p:cNvPr id="7" name="Text 4"/>
          <p:cNvSpPr/>
          <p:nvPr/>
        </p:nvSpPr>
        <p:spPr>
          <a:xfrm>
            <a:off x="1280160" y="1234440"/>
            <a:ext cx="1463040" cy="41148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DNA</a:t>
            </a:r>
            <a:endParaRPr lang="en-US" sz="1600" dirty="0"/>
          </a:p>
        </p:txBody>
      </p:sp>
      <p:sp>
        <p:nvSpPr>
          <p:cNvPr id="8" name="Text 5"/>
          <p:cNvSpPr/>
          <p:nvPr/>
        </p:nvSpPr>
        <p:spPr>
          <a:xfrm>
            <a:off x="1280160" y="1618488"/>
            <a:ext cx="1463040" cy="228600"/>
          </a:xfrm>
          <a:prstGeom prst="rect">
            <a:avLst/>
          </a:prstGeom>
          <a:noFill/>
          <a:ln/>
        </p:spPr>
        <p:txBody>
          <a:bodyPr wrap="square" rtlCol="0" anchor="ctr">
            <a:normAutofit/>
          </a:bodyPr>
          <a:lstStyle/>
          <a:p>
            <a:pPr algn="ctr" indent="0" marL="0">
              <a:buNone/>
            </a:pPr>
            <a:r>
              <a:rPr lang="en-US" sz="900" dirty="0">
                <a:solidFill>
                  <a:srgbClr val="FFFFFF"/>
                </a:solidFill>
                <a:latin typeface="Calibri" pitchFamily="34" charset="0"/>
                <a:ea typeface="Calibri" pitchFamily="34" charset="-122"/>
                <a:cs typeface="Calibri" pitchFamily="34" charset="-120"/>
              </a:rPr>
              <a:t>储存</a:t>
            </a:r>
            <a:endParaRPr lang="en-US" sz="900" dirty="0"/>
          </a:p>
        </p:txBody>
      </p:sp>
      <p:sp>
        <p:nvSpPr>
          <p:cNvPr id="9" name="Shape 6"/>
          <p:cNvSpPr/>
          <p:nvPr/>
        </p:nvSpPr>
        <p:spPr>
          <a:xfrm>
            <a:off x="2743200" y="1554480"/>
            <a:ext cx="1097280" cy="0"/>
          </a:xfrm>
          <a:prstGeom prst="line">
            <a:avLst/>
          </a:prstGeom>
          <a:noFill/>
          <a:ln w="25400">
            <a:solidFill>
              <a:srgbClr val="999999"/>
            </a:solidFill>
            <a:prstDash val="solid"/>
            <a:tailEnd type="triangle"/>
          </a:ln>
        </p:spPr>
      </p:sp>
      <p:sp>
        <p:nvSpPr>
          <p:cNvPr id="10" name="Shape 7"/>
          <p:cNvSpPr/>
          <p:nvPr/>
        </p:nvSpPr>
        <p:spPr>
          <a:xfrm>
            <a:off x="3840480" y="1234440"/>
            <a:ext cx="1463040" cy="640080"/>
          </a:xfrm>
          <a:prstGeom prst="roundRect">
            <a:avLst>
              <a:gd name="adj" fmla="val 14286"/>
            </a:avLst>
          </a:prstGeom>
          <a:solidFill>
            <a:srgbClr val="3D7A3E"/>
          </a:solidFill>
          <a:ln/>
          <a:effectLst>
            <a:outerShdw sx="100000" sy="100000" kx="0" ky="0" algn="bl" rotWithShape="0" blurRad="152400" dist="50800" dir="8100000">
              <a:srgbClr val="000000">
                <a:alpha val="28000"/>
              </a:srgbClr>
            </a:outerShdw>
          </a:effectLst>
        </p:spPr>
      </p:sp>
      <p:sp>
        <p:nvSpPr>
          <p:cNvPr id="11" name="Text 8"/>
          <p:cNvSpPr/>
          <p:nvPr/>
        </p:nvSpPr>
        <p:spPr>
          <a:xfrm>
            <a:off x="3840480" y="1234440"/>
            <a:ext cx="1463040" cy="41148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RNA</a:t>
            </a:r>
            <a:endParaRPr lang="en-US" sz="1600" dirty="0"/>
          </a:p>
        </p:txBody>
      </p:sp>
      <p:sp>
        <p:nvSpPr>
          <p:cNvPr id="12" name="Text 9"/>
          <p:cNvSpPr/>
          <p:nvPr/>
        </p:nvSpPr>
        <p:spPr>
          <a:xfrm>
            <a:off x="3840480" y="1618488"/>
            <a:ext cx="1463040" cy="228600"/>
          </a:xfrm>
          <a:prstGeom prst="rect">
            <a:avLst/>
          </a:prstGeom>
          <a:noFill/>
          <a:ln/>
        </p:spPr>
        <p:txBody>
          <a:bodyPr wrap="square" rtlCol="0" anchor="ctr">
            <a:normAutofit/>
          </a:bodyPr>
          <a:lstStyle/>
          <a:p>
            <a:pPr algn="ctr" indent="0" marL="0">
              <a:buNone/>
            </a:pPr>
            <a:r>
              <a:rPr lang="en-US" sz="900" dirty="0">
                <a:solidFill>
                  <a:srgbClr val="FFFFFF"/>
                </a:solidFill>
                <a:latin typeface="Calibri" pitchFamily="34" charset="0"/>
                <a:ea typeface="Calibri" pitchFamily="34" charset="-122"/>
                <a:cs typeface="Calibri" pitchFamily="34" charset="-120"/>
              </a:rPr>
              <a:t>传递</a:t>
            </a:r>
            <a:endParaRPr lang="en-US" sz="900" dirty="0"/>
          </a:p>
        </p:txBody>
      </p:sp>
      <p:sp>
        <p:nvSpPr>
          <p:cNvPr id="13" name="Shape 10"/>
          <p:cNvSpPr/>
          <p:nvPr/>
        </p:nvSpPr>
        <p:spPr>
          <a:xfrm>
            <a:off x="5303520" y="1554480"/>
            <a:ext cx="1097280" cy="0"/>
          </a:xfrm>
          <a:prstGeom prst="line">
            <a:avLst/>
          </a:prstGeom>
          <a:noFill/>
          <a:ln w="25400">
            <a:solidFill>
              <a:srgbClr val="999999"/>
            </a:solidFill>
            <a:prstDash val="solid"/>
            <a:tailEnd type="triangle"/>
          </a:ln>
        </p:spPr>
      </p:sp>
      <p:sp>
        <p:nvSpPr>
          <p:cNvPr id="14" name="Shape 11"/>
          <p:cNvSpPr/>
          <p:nvPr/>
        </p:nvSpPr>
        <p:spPr>
          <a:xfrm>
            <a:off x="6400800" y="1234440"/>
            <a:ext cx="1463040" cy="640080"/>
          </a:xfrm>
          <a:prstGeom prst="roundRect">
            <a:avLst>
              <a:gd name="adj" fmla="val 14286"/>
            </a:avLst>
          </a:prstGeom>
          <a:solidFill>
            <a:srgbClr val="97BC62"/>
          </a:solidFill>
          <a:ln/>
          <a:effectLst>
            <a:outerShdw sx="100000" sy="100000" kx="0" ky="0" algn="bl" rotWithShape="0" blurRad="152400" dist="50800" dir="8100000">
              <a:srgbClr val="000000">
                <a:alpha val="28000"/>
              </a:srgbClr>
            </a:outerShdw>
          </a:effectLst>
        </p:spPr>
      </p:sp>
      <p:sp>
        <p:nvSpPr>
          <p:cNvPr id="15" name="Text 12"/>
          <p:cNvSpPr/>
          <p:nvPr/>
        </p:nvSpPr>
        <p:spPr>
          <a:xfrm>
            <a:off x="6400800" y="1234440"/>
            <a:ext cx="1463040" cy="41148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蛋白质</a:t>
            </a:r>
            <a:endParaRPr lang="en-US" sz="1600" dirty="0"/>
          </a:p>
        </p:txBody>
      </p:sp>
      <p:sp>
        <p:nvSpPr>
          <p:cNvPr id="16" name="Text 13"/>
          <p:cNvSpPr/>
          <p:nvPr/>
        </p:nvSpPr>
        <p:spPr>
          <a:xfrm>
            <a:off x="6400800" y="1618488"/>
            <a:ext cx="1463040" cy="228600"/>
          </a:xfrm>
          <a:prstGeom prst="rect">
            <a:avLst/>
          </a:prstGeom>
          <a:noFill/>
          <a:ln/>
        </p:spPr>
        <p:txBody>
          <a:bodyPr wrap="square" rtlCol="0" anchor="ctr">
            <a:normAutofit/>
          </a:bodyPr>
          <a:lstStyle/>
          <a:p>
            <a:pPr algn="ctr" indent="0" marL="0">
              <a:buNone/>
            </a:pPr>
            <a:r>
              <a:rPr lang="en-US" sz="900" dirty="0">
                <a:solidFill>
                  <a:srgbClr val="FFFFFF"/>
                </a:solidFill>
                <a:latin typeface="Calibri" pitchFamily="34" charset="0"/>
                <a:ea typeface="Calibri" pitchFamily="34" charset="-122"/>
                <a:cs typeface="Calibri" pitchFamily="34" charset="-120"/>
              </a:rPr>
              <a:t>功能</a:t>
            </a:r>
            <a:endParaRPr lang="en-US" sz="900" dirty="0"/>
          </a:p>
        </p:txBody>
      </p:sp>
      <p:sp>
        <p:nvSpPr>
          <p:cNvPr id="17" name="Shape 14"/>
          <p:cNvSpPr/>
          <p:nvPr/>
        </p:nvSpPr>
        <p:spPr>
          <a:xfrm>
            <a:off x="457200" y="2194560"/>
            <a:ext cx="3977640" cy="2194560"/>
          </a:xfrm>
          <a:prstGeom prst="roundRect">
            <a:avLst>
              <a:gd name="adj" fmla="val 3333"/>
            </a:avLst>
          </a:prstGeom>
          <a:solidFill>
            <a:srgbClr val="FFFFFF"/>
          </a:solidFill>
          <a:ln/>
          <a:effectLst>
            <a:outerShdw sx="100000" sy="100000" kx="0" ky="0" algn="bl" rotWithShape="0" blurRad="152400" dist="50800" dir="8100000">
              <a:srgbClr val="000000">
                <a:alpha val="28000"/>
              </a:srgbClr>
            </a:outerShdw>
          </a:effectLst>
        </p:spPr>
      </p:sp>
      <p:sp>
        <p:nvSpPr>
          <p:cNvPr id="18" name="Shape 15"/>
          <p:cNvSpPr/>
          <p:nvPr/>
        </p:nvSpPr>
        <p:spPr>
          <a:xfrm>
            <a:off x="457200" y="2194560"/>
            <a:ext cx="3977640" cy="54864"/>
          </a:xfrm>
          <a:prstGeom prst="rect">
            <a:avLst/>
          </a:prstGeom>
          <a:solidFill>
            <a:srgbClr val="2C5F2D"/>
          </a:solidFill>
          <a:ln/>
        </p:spPr>
      </p:sp>
      <p:sp>
        <p:nvSpPr>
          <p:cNvPr id="19" name="Text 16"/>
          <p:cNvSpPr/>
          <p:nvPr/>
        </p:nvSpPr>
        <p:spPr>
          <a:xfrm>
            <a:off x="685800" y="2331720"/>
            <a:ext cx="3520440" cy="274320"/>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遗传密码 / Genetic Code</a:t>
            </a:r>
            <a:endParaRPr lang="en-US" sz="1400" dirty="0"/>
          </a:p>
        </p:txBody>
      </p:sp>
      <p:sp>
        <p:nvSpPr>
          <p:cNvPr id="20" name="Text 17"/>
          <p:cNvSpPr/>
          <p:nvPr/>
        </p:nvSpPr>
        <p:spPr>
          <a:xfrm>
            <a:off x="685800" y="2697480"/>
            <a:ext cx="3520440" cy="1554480"/>
          </a:xfrm>
          <a:prstGeom prst="rect">
            <a:avLst/>
          </a:prstGeom>
          <a:noFill/>
          <a:ln/>
        </p:spPr>
        <p:txBody>
          <a:bodyPr wrap="square" rtlCol="0" anchor="ctr">
            <a:normAutofit/>
          </a:bodyPr>
          <a:lstStyle/>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三联密码子(triplet codon)编码氨基酸</a:t>
            </a:r>
            <a:endParaRPr lang="en-US" sz="1100" dirty="0"/>
          </a:p>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64个密码子 = 4^3 = 61有意义 + 3终止</a:t>
            </a:r>
            <a:endParaRPr lang="en-US" sz="1100" dirty="0"/>
          </a:p>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编码20种标准氨基酸（简并性/摆动性）</a:t>
            </a:r>
            <a:endParaRPr lang="en-US" sz="1100" dirty="0"/>
          </a:p>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AUG = 起始密码子(蛋氨酸)</a:t>
            </a:r>
            <a:endParaRPr lang="en-US" sz="1100" dirty="0"/>
          </a:p>
          <a:p>
            <a:pPr marL="342900" indent="-342900">
              <a:lnSpc>
                <a:spcPct val="115000"/>
              </a:lnSpc>
              <a:buSzPct val="100000"/>
              <a:buChar char="•"/>
            </a:pPr>
            <a:r>
              <a:rPr lang="en-US" sz="1100" dirty="0">
                <a:solidFill>
                  <a:srgbClr val="333333"/>
                </a:solidFill>
                <a:latin typeface="Calibri" pitchFamily="34" charset="0"/>
                <a:ea typeface="Calibri" pitchFamily="34" charset="-122"/>
                <a:cs typeface="Calibri" pitchFamily="34" charset="-120"/>
              </a:rPr>
              <a:t>通用密码：几乎适用于所有生物</a:t>
            </a:r>
            <a:endParaRPr lang="en-US" sz="1100" dirty="0"/>
          </a:p>
        </p:txBody>
      </p:sp>
      <p:sp>
        <p:nvSpPr>
          <p:cNvPr id="21" name="Shape 18"/>
          <p:cNvSpPr/>
          <p:nvPr/>
        </p:nvSpPr>
        <p:spPr>
          <a:xfrm>
            <a:off x="4709160" y="2194560"/>
            <a:ext cx="3977640" cy="2194560"/>
          </a:xfrm>
          <a:prstGeom prst="roundRect">
            <a:avLst>
              <a:gd name="adj" fmla="val 3333"/>
            </a:avLst>
          </a:prstGeom>
          <a:solidFill>
            <a:srgbClr val="FFFFFF"/>
          </a:solidFill>
          <a:ln/>
          <a:effectLst>
            <a:outerShdw sx="100000" sy="100000" kx="0" ky="0" algn="bl" rotWithShape="0" blurRad="152400" dist="50800" dir="8100000">
              <a:srgbClr val="000000">
                <a:alpha val="28000"/>
              </a:srgbClr>
            </a:outerShdw>
          </a:effectLst>
        </p:spPr>
      </p:sp>
      <p:sp>
        <p:nvSpPr>
          <p:cNvPr id="22" name="Shape 19"/>
          <p:cNvSpPr/>
          <p:nvPr/>
        </p:nvSpPr>
        <p:spPr>
          <a:xfrm>
            <a:off x="4709160" y="2194560"/>
            <a:ext cx="3977640" cy="54864"/>
          </a:xfrm>
          <a:prstGeom prst="rect">
            <a:avLst/>
          </a:prstGeom>
          <a:solidFill>
            <a:srgbClr val="97BC62"/>
          </a:solidFill>
          <a:ln/>
        </p:spPr>
      </p:sp>
      <p:sp>
        <p:nvSpPr>
          <p:cNvPr id="23" name="Text 20"/>
          <p:cNvSpPr/>
          <p:nvPr/>
        </p:nvSpPr>
        <p:spPr>
          <a:xfrm>
            <a:off x="4937760" y="2331720"/>
            <a:ext cx="3520440" cy="274320"/>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破译历程 / Decoding Timeline</a:t>
            </a:r>
            <a:endParaRPr lang="en-US" sz="1400" dirty="0"/>
          </a:p>
        </p:txBody>
      </p:sp>
      <p:sp>
        <p:nvSpPr>
          <p:cNvPr id="24" name="Text 21"/>
          <p:cNvSpPr/>
          <p:nvPr/>
        </p:nvSpPr>
        <p:spPr>
          <a:xfrm>
            <a:off x="4937760" y="2697480"/>
            <a:ext cx="3520440" cy="1554480"/>
          </a:xfrm>
          <a:prstGeom prst="rect">
            <a:avLst/>
          </a:prstGeom>
          <a:noFill/>
          <a:ln/>
        </p:spPr>
        <p:txBody>
          <a:bodyPr wrap="square" rtlCol="0" anchor="ctr">
            <a:normAutofit/>
          </a:bodyPr>
          <a:lstStyle/>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1958: Crick提出中心法则</a:t>
            </a:r>
            <a:endParaRPr lang="en-US" sz="1100" dirty="0"/>
          </a:p>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1961: Nirenberg破译第一个密码子UUU</a:t>
            </a:r>
            <a:endParaRPr lang="en-US" sz="1100" dirty="0"/>
          </a:p>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1965: 全部64个密码子被破译完成</a:t>
            </a:r>
            <a:endParaRPr lang="en-US" sz="1100" dirty="0"/>
          </a:p>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1968: Nirenberg, Khorana, Holley获奖</a:t>
            </a:r>
            <a:endParaRPr lang="en-US" sz="1100" dirty="0"/>
          </a:p>
          <a:p>
            <a:pPr marL="342900" indent="-342900">
              <a:lnSpc>
                <a:spcPct val="115000"/>
              </a:lnSpc>
              <a:buSzPct val="100000"/>
              <a:buChar char="•"/>
            </a:pPr>
            <a:r>
              <a:rPr lang="en-US" sz="1100" dirty="0">
                <a:solidFill>
                  <a:srgbClr val="333333"/>
                </a:solidFill>
                <a:latin typeface="Calibri" pitchFamily="34" charset="0"/>
                <a:ea typeface="Calibri" pitchFamily="34" charset="-122"/>
                <a:cs typeface="Calibri" pitchFamily="34" charset="-120"/>
              </a:rPr>
              <a:t>1970: 发现逆转录(RNA-&gt;DNA)修正法则</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320040"/>
            <a:ext cx="73152" cy="594360"/>
          </a:xfrm>
          <a:prstGeom prst="rect">
            <a:avLst/>
          </a:prstGeom>
          <a:solidFill>
            <a:srgbClr val="D4A843"/>
          </a:solidFill>
          <a:ln/>
        </p:spPr>
      </p:sp>
      <p:sp>
        <p:nvSpPr>
          <p:cNvPr id="4" name="Text 1"/>
          <p:cNvSpPr/>
          <p:nvPr/>
        </p:nvSpPr>
        <p:spPr>
          <a:xfrm>
            <a:off x="640080" y="274320"/>
            <a:ext cx="8046720" cy="502920"/>
          </a:xfrm>
          <a:prstGeom prst="rect">
            <a:avLst/>
          </a:prstGeom>
          <a:noFill/>
          <a:ln/>
        </p:spPr>
        <p:txBody>
          <a:bodyPr wrap="square" rtlCol="0" anchor="ctr">
            <a:normAutofit/>
          </a:bodyPr>
          <a:lstStyle/>
          <a:p>
            <a:pPr indent="0" marL="0">
              <a:buNone/>
            </a:pPr>
            <a:r>
              <a:rPr lang="en-US" sz="2600" b="1" spc="150" kern="0" dirty="0">
                <a:solidFill>
                  <a:srgbClr val="2C5F2D"/>
                </a:solidFill>
                <a:latin typeface="Georgia" pitchFamily="34" charset="0"/>
                <a:ea typeface="Georgia" pitchFamily="34" charset="-122"/>
                <a:cs typeface="Georgia" pitchFamily="34" charset="-120"/>
              </a:rPr>
              <a:t>基因调控: 操纵子模型  /  Gene Regulation: Operon Model</a:t>
            </a:r>
            <a:endParaRPr lang="en-US" sz="2600" dirty="0"/>
          </a:p>
        </p:txBody>
      </p:sp>
      <p:sp>
        <p:nvSpPr>
          <p:cNvPr id="5" name="Text 2"/>
          <p:cNvSpPr/>
          <p:nvPr/>
        </p:nvSpPr>
        <p:spPr>
          <a:xfrm>
            <a:off x="640080" y="777240"/>
            <a:ext cx="8046720" cy="274320"/>
          </a:xfrm>
          <a:prstGeom prst="rect">
            <a:avLst/>
          </a:prstGeom>
          <a:noFill/>
          <a:ln/>
        </p:spPr>
        <p:txBody>
          <a:bodyPr wrap="square" rtlCol="0" anchor="ctr">
            <a:normAutofit/>
          </a:bodyPr>
          <a:lstStyle/>
          <a:p>
            <a:pPr indent="0" marL="0">
              <a:buNone/>
            </a:pPr>
            <a:r>
              <a:rPr lang="en-US" sz="1300" i="1" dirty="0">
                <a:solidFill>
                  <a:srgbClr val="97BC62"/>
                </a:solidFill>
                <a:latin typeface="Calibri" pitchFamily="34" charset="0"/>
                <a:ea typeface="Calibri" pitchFamily="34" charset="-122"/>
                <a:cs typeface="Calibri" pitchFamily="34" charset="-120"/>
              </a:rPr>
              <a:t>Jacob &amp; Monod (1961)  ·  lac operon  ·  1965 Nobel Prize</a:t>
            </a:r>
            <a:endParaRPr lang="en-US" sz="1300" dirty="0"/>
          </a:p>
        </p:txBody>
      </p:sp>
      <p:sp>
        <p:nvSpPr>
          <p:cNvPr id="6" name="Shape 3"/>
          <p:cNvSpPr/>
          <p:nvPr/>
        </p:nvSpPr>
        <p:spPr>
          <a:xfrm>
            <a:off x="731520" y="1280160"/>
            <a:ext cx="731520" cy="548640"/>
          </a:xfrm>
          <a:prstGeom prst="roundRect">
            <a:avLst>
              <a:gd name="adj" fmla="val 10000"/>
            </a:avLst>
          </a:prstGeom>
          <a:solidFill>
            <a:srgbClr val="D4A843"/>
          </a:solidFill>
          <a:ln/>
          <a:effectLst>
            <a:outerShdw sx="100000" sy="100000" kx="0" ky="0" algn="bl" rotWithShape="0" blurRad="152400" dist="50800" dir="8100000">
              <a:srgbClr val="000000">
                <a:alpha val="28000"/>
              </a:srgbClr>
            </a:outerShdw>
          </a:effectLst>
        </p:spPr>
      </p:sp>
      <p:sp>
        <p:nvSpPr>
          <p:cNvPr id="7" name="Text 4"/>
          <p:cNvSpPr/>
          <p:nvPr/>
        </p:nvSpPr>
        <p:spPr>
          <a:xfrm>
            <a:off x="731520" y="1280160"/>
            <a:ext cx="731520" cy="548640"/>
          </a:xfrm>
          <a:prstGeom prst="rect">
            <a:avLst/>
          </a:prstGeom>
          <a:noFill/>
          <a:ln/>
        </p:spPr>
        <p:txBody>
          <a:bodyPr wrap="square" rtlCol="0" anchor="ctr">
            <a:normAutofit/>
          </a:bodyPr>
          <a:lstStyle/>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P</a:t>
            </a:r>
            <a:endParaRPr lang="en-US" sz="900" dirty="0"/>
          </a:p>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启动子</a:t>
            </a:r>
            <a:endParaRPr lang="en-US" sz="900" dirty="0"/>
          </a:p>
        </p:txBody>
      </p:sp>
      <p:sp>
        <p:nvSpPr>
          <p:cNvPr id="8" name="Shape 5"/>
          <p:cNvSpPr/>
          <p:nvPr/>
        </p:nvSpPr>
        <p:spPr>
          <a:xfrm>
            <a:off x="1463040" y="1280160"/>
            <a:ext cx="731520" cy="548640"/>
          </a:xfrm>
          <a:prstGeom prst="roundRect">
            <a:avLst>
              <a:gd name="adj" fmla="val 10000"/>
            </a:avLst>
          </a:prstGeom>
          <a:solidFill>
            <a:srgbClr val="D4A843"/>
          </a:solidFill>
          <a:ln/>
          <a:effectLst>
            <a:outerShdw sx="100000" sy="100000" kx="0" ky="0" algn="bl" rotWithShape="0" blurRad="152400" dist="50800" dir="8100000">
              <a:srgbClr val="000000">
                <a:alpha val="28000"/>
              </a:srgbClr>
            </a:outerShdw>
          </a:effectLst>
        </p:spPr>
      </p:sp>
      <p:sp>
        <p:nvSpPr>
          <p:cNvPr id="9" name="Text 6"/>
          <p:cNvSpPr/>
          <p:nvPr/>
        </p:nvSpPr>
        <p:spPr>
          <a:xfrm>
            <a:off x="1463040" y="1280160"/>
            <a:ext cx="731520" cy="548640"/>
          </a:xfrm>
          <a:prstGeom prst="rect">
            <a:avLst/>
          </a:prstGeom>
          <a:noFill/>
          <a:ln/>
        </p:spPr>
        <p:txBody>
          <a:bodyPr wrap="square" rtlCol="0" anchor="ctr">
            <a:normAutofit/>
          </a:bodyPr>
          <a:lstStyle/>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O</a:t>
            </a:r>
            <a:endParaRPr lang="en-US" sz="900" dirty="0"/>
          </a:p>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操纵基因</a:t>
            </a:r>
            <a:endParaRPr lang="en-US" sz="900" dirty="0"/>
          </a:p>
        </p:txBody>
      </p:sp>
      <p:sp>
        <p:nvSpPr>
          <p:cNvPr id="10" name="Shape 7"/>
          <p:cNvSpPr/>
          <p:nvPr/>
        </p:nvSpPr>
        <p:spPr>
          <a:xfrm>
            <a:off x="2194560" y="1280160"/>
            <a:ext cx="1280160" cy="548640"/>
          </a:xfrm>
          <a:prstGeom prst="roundRect">
            <a:avLst>
              <a:gd name="adj" fmla="val 10000"/>
            </a:avLst>
          </a:prstGeom>
          <a:solidFill>
            <a:srgbClr val="2C5F2D"/>
          </a:solidFill>
          <a:ln/>
          <a:effectLst>
            <a:outerShdw sx="100000" sy="100000" kx="0" ky="0" algn="bl" rotWithShape="0" blurRad="152400" dist="50800" dir="8100000">
              <a:srgbClr val="000000">
                <a:alpha val="28000"/>
              </a:srgbClr>
            </a:outerShdw>
          </a:effectLst>
        </p:spPr>
      </p:sp>
      <p:sp>
        <p:nvSpPr>
          <p:cNvPr id="11" name="Text 8"/>
          <p:cNvSpPr/>
          <p:nvPr/>
        </p:nvSpPr>
        <p:spPr>
          <a:xfrm>
            <a:off x="2194560" y="1280160"/>
            <a:ext cx="1280160" cy="548640"/>
          </a:xfrm>
          <a:prstGeom prst="rect">
            <a:avLst/>
          </a:prstGeom>
          <a:noFill/>
          <a:ln/>
        </p:spPr>
        <p:txBody>
          <a:bodyPr wrap="square" rtlCol="0" anchor="ctr">
            <a:normAutofit/>
          </a:bodyPr>
          <a:lstStyle/>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lacZ</a:t>
            </a:r>
            <a:endParaRPr lang="en-US" sz="900" dirty="0"/>
          </a:p>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β-半乳糖苷酶</a:t>
            </a:r>
            <a:endParaRPr lang="en-US" sz="900" dirty="0"/>
          </a:p>
        </p:txBody>
      </p:sp>
      <p:sp>
        <p:nvSpPr>
          <p:cNvPr id="12" name="Shape 9"/>
          <p:cNvSpPr/>
          <p:nvPr/>
        </p:nvSpPr>
        <p:spPr>
          <a:xfrm>
            <a:off x="3474720" y="1280160"/>
            <a:ext cx="1097280" cy="548640"/>
          </a:xfrm>
          <a:prstGeom prst="roundRect">
            <a:avLst>
              <a:gd name="adj" fmla="val 10000"/>
            </a:avLst>
          </a:prstGeom>
          <a:solidFill>
            <a:srgbClr val="3D7A3E"/>
          </a:solidFill>
          <a:ln/>
          <a:effectLst>
            <a:outerShdw sx="100000" sy="100000" kx="0" ky="0" algn="bl" rotWithShape="0" blurRad="152400" dist="50800" dir="8100000">
              <a:srgbClr val="000000">
                <a:alpha val="28000"/>
              </a:srgbClr>
            </a:outerShdw>
          </a:effectLst>
        </p:spPr>
      </p:sp>
      <p:sp>
        <p:nvSpPr>
          <p:cNvPr id="13" name="Text 10"/>
          <p:cNvSpPr/>
          <p:nvPr/>
        </p:nvSpPr>
        <p:spPr>
          <a:xfrm>
            <a:off x="3474720" y="1280160"/>
            <a:ext cx="1097280" cy="548640"/>
          </a:xfrm>
          <a:prstGeom prst="rect">
            <a:avLst/>
          </a:prstGeom>
          <a:noFill/>
          <a:ln/>
        </p:spPr>
        <p:txBody>
          <a:bodyPr wrap="square" rtlCol="0" anchor="ctr">
            <a:normAutofit/>
          </a:bodyPr>
          <a:lstStyle/>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lacY</a:t>
            </a:r>
            <a:endParaRPr lang="en-US" sz="900" dirty="0"/>
          </a:p>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透性酶</a:t>
            </a:r>
            <a:endParaRPr lang="en-US" sz="900" dirty="0"/>
          </a:p>
        </p:txBody>
      </p:sp>
      <p:sp>
        <p:nvSpPr>
          <p:cNvPr id="14" name="Shape 11"/>
          <p:cNvSpPr/>
          <p:nvPr/>
        </p:nvSpPr>
        <p:spPr>
          <a:xfrm>
            <a:off x="4572000" y="1280160"/>
            <a:ext cx="1097280" cy="548640"/>
          </a:xfrm>
          <a:prstGeom prst="roundRect">
            <a:avLst>
              <a:gd name="adj" fmla="val 10000"/>
            </a:avLst>
          </a:prstGeom>
          <a:solidFill>
            <a:srgbClr val="97BC62"/>
          </a:solidFill>
          <a:ln/>
          <a:effectLst>
            <a:outerShdw sx="100000" sy="100000" kx="0" ky="0" algn="bl" rotWithShape="0" blurRad="152400" dist="50800" dir="8100000">
              <a:srgbClr val="000000">
                <a:alpha val="28000"/>
              </a:srgbClr>
            </a:outerShdw>
          </a:effectLst>
        </p:spPr>
      </p:sp>
      <p:sp>
        <p:nvSpPr>
          <p:cNvPr id="15" name="Text 12"/>
          <p:cNvSpPr/>
          <p:nvPr/>
        </p:nvSpPr>
        <p:spPr>
          <a:xfrm>
            <a:off x="4572000" y="1280160"/>
            <a:ext cx="1097280" cy="548640"/>
          </a:xfrm>
          <a:prstGeom prst="rect">
            <a:avLst/>
          </a:prstGeom>
          <a:noFill/>
          <a:ln/>
        </p:spPr>
        <p:txBody>
          <a:bodyPr wrap="square" rtlCol="0" anchor="ctr">
            <a:normAutofit/>
          </a:bodyPr>
          <a:lstStyle/>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lacA</a:t>
            </a:r>
            <a:endParaRPr lang="en-US" sz="900" dirty="0"/>
          </a:p>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转乙酰酶</a:t>
            </a:r>
            <a:endParaRPr lang="en-US" sz="900" dirty="0"/>
          </a:p>
        </p:txBody>
      </p:sp>
      <p:sp>
        <p:nvSpPr>
          <p:cNvPr id="16" name="Text 13"/>
          <p:cNvSpPr/>
          <p:nvPr/>
        </p:nvSpPr>
        <p:spPr>
          <a:xfrm>
            <a:off x="457200" y="1874520"/>
            <a:ext cx="8229600" cy="228600"/>
          </a:xfrm>
          <a:prstGeom prst="rect">
            <a:avLst/>
          </a:prstGeom>
          <a:noFill/>
          <a:ln/>
        </p:spPr>
        <p:txBody>
          <a:bodyPr wrap="square" rtlCol="0" anchor="ctr">
            <a:normAutofit/>
          </a:bodyPr>
          <a:lstStyle/>
          <a:p>
            <a:pPr algn="ctr" indent="0" marL="0">
              <a:buNone/>
            </a:pPr>
            <a:r>
              <a:rPr lang="en-US" sz="1100" i="1" dirty="0">
                <a:solidFill>
                  <a:srgbClr val="888888"/>
                </a:solidFill>
                <a:latin typeface="Calibri" pitchFamily="34" charset="0"/>
                <a:ea typeface="Calibri" pitchFamily="34" charset="-122"/>
                <a:cs typeface="Calibri" pitchFamily="34" charset="-120"/>
              </a:rPr>
              <a:t>lac操纵子结构 / lac Operon Structure</a:t>
            </a:r>
            <a:endParaRPr lang="en-US" sz="1100" dirty="0"/>
          </a:p>
        </p:txBody>
      </p:sp>
      <p:sp>
        <p:nvSpPr>
          <p:cNvPr id="17" name="Shape 14"/>
          <p:cNvSpPr/>
          <p:nvPr/>
        </p:nvSpPr>
        <p:spPr>
          <a:xfrm>
            <a:off x="457200" y="2331720"/>
            <a:ext cx="3977640" cy="2103120"/>
          </a:xfrm>
          <a:prstGeom prst="roundRect">
            <a:avLst>
              <a:gd name="adj" fmla="val 3478"/>
            </a:avLst>
          </a:prstGeom>
          <a:solidFill>
            <a:srgbClr val="FFFFFF"/>
          </a:solidFill>
          <a:ln/>
          <a:effectLst>
            <a:outerShdw sx="100000" sy="100000" kx="0" ky="0" algn="bl" rotWithShape="0" blurRad="152400" dist="50800" dir="8100000">
              <a:srgbClr val="000000">
                <a:alpha val="28000"/>
              </a:srgbClr>
            </a:outerShdw>
          </a:effectLst>
        </p:spPr>
      </p:sp>
      <p:sp>
        <p:nvSpPr>
          <p:cNvPr id="18" name="Shape 15"/>
          <p:cNvSpPr/>
          <p:nvPr/>
        </p:nvSpPr>
        <p:spPr>
          <a:xfrm>
            <a:off x="457200" y="2331720"/>
            <a:ext cx="3977640" cy="54864"/>
          </a:xfrm>
          <a:prstGeom prst="rect">
            <a:avLst/>
          </a:prstGeom>
          <a:solidFill>
            <a:srgbClr val="2C5F2D"/>
          </a:solidFill>
          <a:ln/>
        </p:spPr>
      </p:sp>
      <p:sp>
        <p:nvSpPr>
          <p:cNvPr id="19" name="Text 16"/>
          <p:cNvSpPr/>
          <p:nvPr/>
        </p:nvSpPr>
        <p:spPr>
          <a:xfrm>
            <a:off x="685800" y="2468880"/>
            <a:ext cx="3520440" cy="274320"/>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负调控 / Negative Regulation</a:t>
            </a:r>
            <a:endParaRPr lang="en-US" sz="1400" dirty="0"/>
          </a:p>
        </p:txBody>
      </p:sp>
      <p:sp>
        <p:nvSpPr>
          <p:cNvPr id="20" name="Text 17"/>
          <p:cNvSpPr/>
          <p:nvPr/>
        </p:nvSpPr>
        <p:spPr>
          <a:xfrm>
            <a:off x="685800" y="2834640"/>
            <a:ext cx="3520440" cy="1463040"/>
          </a:xfrm>
          <a:prstGeom prst="rect">
            <a:avLst/>
          </a:prstGeom>
          <a:noFill/>
          <a:ln/>
        </p:spPr>
        <p:txBody>
          <a:bodyPr wrap="square" rtlCol="0" anchor="ctr">
            <a:normAutofit/>
          </a:bodyPr>
          <a:lstStyle/>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阻遏蛋白(repressor)结合操纵基因(O)</a:t>
            </a:r>
            <a:endParaRPr lang="en-US" sz="1100" dirty="0"/>
          </a:p>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阻断RNA聚合酶转录结构基因</a:t>
            </a:r>
            <a:endParaRPr lang="en-US" sz="1100" dirty="0"/>
          </a:p>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乳糖存在时：乳糖与阻遏蛋白结合</a:t>
            </a:r>
            <a:endParaRPr lang="en-US" sz="1100" dirty="0"/>
          </a:p>
          <a:p>
            <a:pPr marL="342900" indent="-342900">
              <a:lnSpc>
                <a:spcPct val="115000"/>
              </a:lnSpc>
              <a:buSzPct val="100000"/>
              <a:buChar char="•"/>
            </a:pPr>
            <a:r>
              <a:rPr lang="en-US" sz="1100" dirty="0">
                <a:solidFill>
                  <a:srgbClr val="333333"/>
                </a:solidFill>
                <a:latin typeface="Calibri" pitchFamily="34" charset="0"/>
                <a:ea typeface="Calibri" pitchFamily="34" charset="-122"/>
                <a:cs typeface="Calibri" pitchFamily="34" charset="-120"/>
              </a:rPr>
              <a:t>阻遏蛋白变构脱离O → 转录开启</a:t>
            </a:r>
            <a:endParaRPr lang="en-US" sz="1100" dirty="0"/>
          </a:p>
        </p:txBody>
      </p:sp>
      <p:sp>
        <p:nvSpPr>
          <p:cNvPr id="21" name="Shape 18"/>
          <p:cNvSpPr/>
          <p:nvPr/>
        </p:nvSpPr>
        <p:spPr>
          <a:xfrm>
            <a:off x="4709160" y="2331720"/>
            <a:ext cx="3977640" cy="2103120"/>
          </a:xfrm>
          <a:prstGeom prst="roundRect">
            <a:avLst>
              <a:gd name="adj" fmla="val 3478"/>
            </a:avLst>
          </a:prstGeom>
          <a:solidFill>
            <a:srgbClr val="FFFFFF"/>
          </a:solidFill>
          <a:ln/>
          <a:effectLst>
            <a:outerShdw sx="100000" sy="100000" kx="0" ky="0" algn="bl" rotWithShape="0" blurRad="152400" dist="50800" dir="8100000">
              <a:srgbClr val="000000">
                <a:alpha val="28000"/>
              </a:srgbClr>
            </a:outerShdw>
          </a:effectLst>
        </p:spPr>
      </p:sp>
      <p:sp>
        <p:nvSpPr>
          <p:cNvPr id="22" name="Shape 19"/>
          <p:cNvSpPr/>
          <p:nvPr/>
        </p:nvSpPr>
        <p:spPr>
          <a:xfrm>
            <a:off x="4709160" y="2331720"/>
            <a:ext cx="3977640" cy="54864"/>
          </a:xfrm>
          <a:prstGeom prst="rect">
            <a:avLst/>
          </a:prstGeom>
          <a:solidFill>
            <a:srgbClr val="97BC62"/>
          </a:solidFill>
          <a:ln/>
        </p:spPr>
      </p:sp>
      <p:sp>
        <p:nvSpPr>
          <p:cNvPr id="23" name="Text 20"/>
          <p:cNvSpPr/>
          <p:nvPr/>
        </p:nvSpPr>
        <p:spPr>
          <a:xfrm>
            <a:off x="4937760" y="2468880"/>
            <a:ext cx="3520440" cy="274320"/>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正调控 / Positive Regulation</a:t>
            </a:r>
            <a:endParaRPr lang="en-US" sz="1400" dirty="0"/>
          </a:p>
        </p:txBody>
      </p:sp>
      <p:sp>
        <p:nvSpPr>
          <p:cNvPr id="24" name="Text 21"/>
          <p:cNvSpPr/>
          <p:nvPr/>
        </p:nvSpPr>
        <p:spPr>
          <a:xfrm>
            <a:off x="4937760" y="2834640"/>
            <a:ext cx="3520440" cy="1463040"/>
          </a:xfrm>
          <a:prstGeom prst="rect">
            <a:avLst/>
          </a:prstGeom>
          <a:noFill/>
          <a:ln/>
        </p:spPr>
        <p:txBody>
          <a:bodyPr wrap="square" rtlCol="0" anchor="ctr">
            <a:normAutofit/>
          </a:bodyPr>
          <a:lstStyle/>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CAP-cAMP复合物结合启动子(P)</a:t>
            </a:r>
            <a:endParaRPr lang="en-US" sz="1100" dirty="0"/>
          </a:p>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增强RNA聚合酶结合启动子效率</a:t>
            </a:r>
            <a:endParaRPr lang="en-US" sz="1100" dirty="0"/>
          </a:p>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葡萄糖缺乏时：cAMP升高 → CAP激活</a:t>
            </a:r>
            <a:endParaRPr lang="en-US" sz="1100" dirty="0"/>
          </a:p>
          <a:p>
            <a:pPr marL="342900" indent="-342900">
              <a:lnSpc>
                <a:spcPct val="115000"/>
              </a:lnSpc>
              <a:buSzPct val="100000"/>
              <a:buChar char="•"/>
            </a:pPr>
            <a:r>
              <a:rPr lang="en-US" sz="1100" dirty="0">
                <a:solidFill>
                  <a:srgbClr val="333333"/>
                </a:solidFill>
                <a:latin typeface="Calibri" pitchFamily="34" charset="0"/>
                <a:ea typeface="Calibri" pitchFamily="34" charset="-122"/>
                <a:cs typeface="Calibri" pitchFamily="34" charset="-120"/>
              </a:rPr>
              <a:t>双重保证：葡萄糖优先，乳糖备用</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320040"/>
            <a:ext cx="73152" cy="594360"/>
          </a:xfrm>
          <a:prstGeom prst="rect">
            <a:avLst/>
          </a:prstGeom>
          <a:solidFill>
            <a:srgbClr val="D4A843"/>
          </a:solidFill>
          <a:ln/>
        </p:spPr>
      </p:sp>
      <p:sp>
        <p:nvSpPr>
          <p:cNvPr id="4" name="Text 1"/>
          <p:cNvSpPr/>
          <p:nvPr/>
        </p:nvSpPr>
        <p:spPr>
          <a:xfrm>
            <a:off x="640080" y="274320"/>
            <a:ext cx="8046720" cy="502920"/>
          </a:xfrm>
          <a:prstGeom prst="rect">
            <a:avLst/>
          </a:prstGeom>
          <a:noFill/>
          <a:ln/>
        </p:spPr>
        <p:txBody>
          <a:bodyPr wrap="square" rtlCol="0" anchor="ctr">
            <a:normAutofit/>
          </a:bodyPr>
          <a:lstStyle/>
          <a:p>
            <a:pPr indent="0" marL="0">
              <a:buNone/>
            </a:pPr>
            <a:r>
              <a:rPr lang="en-US" sz="2600" b="1" spc="150" kern="0" dirty="0">
                <a:solidFill>
                  <a:srgbClr val="2C5F2D"/>
                </a:solidFill>
                <a:latin typeface="Georgia" pitchFamily="34" charset="0"/>
                <a:ea typeface="Georgia" pitchFamily="34" charset="-122"/>
                <a:cs typeface="Georgia" pitchFamily="34" charset="-120"/>
              </a:rPr>
              <a:t>重组DNA与PCR技术  /  Recombinant DNA &amp; PCR</a:t>
            </a:r>
            <a:endParaRPr lang="en-US" sz="2600" dirty="0"/>
          </a:p>
        </p:txBody>
      </p:sp>
      <p:sp>
        <p:nvSpPr>
          <p:cNvPr id="5" name="Text 2"/>
          <p:cNvSpPr/>
          <p:nvPr/>
        </p:nvSpPr>
        <p:spPr>
          <a:xfrm>
            <a:off x="640080" y="777240"/>
            <a:ext cx="8046720" cy="274320"/>
          </a:xfrm>
          <a:prstGeom prst="rect">
            <a:avLst/>
          </a:prstGeom>
          <a:noFill/>
          <a:ln/>
        </p:spPr>
        <p:txBody>
          <a:bodyPr wrap="square" rtlCol="0" anchor="ctr">
            <a:normAutofit/>
          </a:bodyPr>
          <a:lstStyle/>
          <a:p>
            <a:pPr indent="0" marL="0">
              <a:buNone/>
            </a:pPr>
            <a:r>
              <a:rPr lang="en-US" sz="1300" i="1" dirty="0">
                <a:solidFill>
                  <a:srgbClr val="97BC62"/>
                </a:solidFill>
                <a:latin typeface="Calibri" pitchFamily="34" charset="0"/>
                <a:ea typeface="Calibri" pitchFamily="34" charset="-122"/>
                <a:cs typeface="Calibri" pitchFamily="34" charset="-120"/>
              </a:rPr>
              <a:t>1970s Recombinant DNA  ·  1983 PCR  ·  Sanger Sequencing</a:t>
            </a:r>
            <a:endParaRPr lang="en-US" sz="1300" dirty="0"/>
          </a:p>
        </p:txBody>
      </p:sp>
      <p:sp>
        <p:nvSpPr>
          <p:cNvPr id="6" name="Shape 3"/>
          <p:cNvSpPr/>
          <p:nvPr/>
        </p:nvSpPr>
        <p:spPr>
          <a:xfrm>
            <a:off x="457200" y="1188720"/>
            <a:ext cx="4000500" cy="1691640"/>
          </a:xfrm>
          <a:prstGeom prst="roundRect">
            <a:avLst>
              <a:gd name="adj" fmla="val 4324"/>
            </a:avLst>
          </a:prstGeom>
          <a:solidFill>
            <a:srgbClr val="FFFFFF"/>
          </a:solidFill>
          <a:ln/>
          <a:effectLst>
            <a:outerShdw sx="100000" sy="100000" kx="0" ky="0" algn="bl" rotWithShape="0" blurRad="152400" dist="50800" dir="8100000">
              <a:srgbClr val="000000">
                <a:alpha val="28000"/>
              </a:srgbClr>
            </a:outerShdw>
          </a:effectLst>
        </p:spPr>
      </p:sp>
      <p:sp>
        <p:nvSpPr>
          <p:cNvPr id="7" name="Shape 4"/>
          <p:cNvSpPr/>
          <p:nvPr/>
        </p:nvSpPr>
        <p:spPr>
          <a:xfrm>
            <a:off x="457200" y="1188720"/>
            <a:ext cx="4000500" cy="54864"/>
          </a:xfrm>
          <a:prstGeom prst="rect">
            <a:avLst/>
          </a:prstGeom>
          <a:solidFill>
            <a:srgbClr val="2C5F2D"/>
          </a:solidFill>
          <a:ln/>
        </p:spPr>
      </p:sp>
      <p:sp>
        <p:nvSpPr>
          <p:cNvPr id="8" name="Text 5"/>
          <p:cNvSpPr/>
          <p:nvPr/>
        </p:nvSpPr>
        <p:spPr>
          <a:xfrm>
            <a:off x="640080" y="1325880"/>
            <a:ext cx="363474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重组DNA技术</a:t>
            </a:r>
            <a:endParaRPr lang="en-US" sz="1300" dirty="0"/>
          </a:p>
        </p:txBody>
      </p:sp>
      <p:sp>
        <p:nvSpPr>
          <p:cNvPr id="9" name="Text 6"/>
          <p:cNvSpPr/>
          <p:nvPr/>
        </p:nvSpPr>
        <p:spPr>
          <a:xfrm>
            <a:off x="640080" y="1572768"/>
            <a:ext cx="363474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Recombinant DNA</a:t>
            </a:r>
            <a:endParaRPr lang="en-US" sz="900" dirty="0"/>
          </a:p>
        </p:txBody>
      </p:sp>
      <p:sp>
        <p:nvSpPr>
          <p:cNvPr id="10" name="Text 7"/>
          <p:cNvSpPr/>
          <p:nvPr/>
        </p:nvSpPr>
        <p:spPr>
          <a:xfrm>
            <a:off x="640080" y="1828800"/>
            <a:ext cx="3634740" cy="914400"/>
          </a:xfrm>
          <a:prstGeom prst="rect">
            <a:avLst/>
          </a:prstGeom>
          <a:noFill/>
          <a:ln/>
        </p:spPr>
        <p:txBody>
          <a:bodyPr wrap="square" rtlCol="0" anchor="t">
            <a:normAutofit/>
          </a:bodyP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Berg, Boyer, Cohen(1970s)：限制性内切酶切割DNA，DNA连接酶拼接，质粒载体导入宿主，开启基因工程时代</a:t>
            </a:r>
            <a:endParaRPr lang="en-US" sz="1000" dirty="0"/>
          </a:p>
        </p:txBody>
      </p:sp>
      <p:sp>
        <p:nvSpPr>
          <p:cNvPr id="11" name="Shape 8"/>
          <p:cNvSpPr/>
          <p:nvPr/>
        </p:nvSpPr>
        <p:spPr>
          <a:xfrm>
            <a:off x="4686300" y="1188720"/>
            <a:ext cx="4000500" cy="1691640"/>
          </a:xfrm>
          <a:prstGeom prst="roundRect">
            <a:avLst>
              <a:gd name="adj" fmla="val 4324"/>
            </a:avLst>
          </a:prstGeom>
          <a:solidFill>
            <a:srgbClr val="FFFFFF"/>
          </a:solidFill>
          <a:ln/>
          <a:effectLst>
            <a:outerShdw sx="100000" sy="100000" kx="0" ky="0" algn="bl" rotWithShape="0" blurRad="152400" dist="50800" dir="8100000">
              <a:srgbClr val="000000">
                <a:alpha val="28000"/>
              </a:srgbClr>
            </a:outerShdw>
          </a:effectLst>
        </p:spPr>
      </p:sp>
      <p:sp>
        <p:nvSpPr>
          <p:cNvPr id="12" name="Shape 9"/>
          <p:cNvSpPr/>
          <p:nvPr/>
        </p:nvSpPr>
        <p:spPr>
          <a:xfrm>
            <a:off x="4686300" y="1188720"/>
            <a:ext cx="4000500" cy="54864"/>
          </a:xfrm>
          <a:prstGeom prst="rect">
            <a:avLst/>
          </a:prstGeom>
          <a:solidFill>
            <a:srgbClr val="97BC62"/>
          </a:solidFill>
          <a:ln/>
        </p:spPr>
      </p:sp>
      <p:sp>
        <p:nvSpPr>
          <p:cNvPr id="13" name="Text 10"/>
          <p:cNvSpPr/>
          <p:nvPr/>
        </p:nvSpPr>
        <p:spPr>
          <a:xfrm>
            <a:off x="4869180" y="1325880"/>
            <a:ext cx="363474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PCR技术</a:t>
            </a:r>
            <a:endParaRPr lang="en-US" sz="1300" dirty="0"/>
          </a:p>
        </p:txBody>
      </p:sp>
      <p:sp>
        <p:nvSpPr>
          <p:cNvPr id="14" name="Text 11"/>
          <p:cNvSpPr/>
          <p:nvPr/>
        </p:nvSpPr>
        <p:spPr>
          <a:xfrm>
            <a:off x="4869180" y="1572768"/>
            <a:ext cx="363474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Polymerase Chain Reaction</a:t>
            </a:r>
            <a:endParaRPr lang="en-US" sz="900" dirty="0"/>
          </a:p>
        </p:txBody>
      </p:sp>
      <p:sp>
        <p:nvSpPr>
          <p:cNvPr id="15" name="Text 12"/>
          <p:cNvSpPr/>
          <p:nvPr/>
        </p:nvSpPr>
        <p:spPr>
          <a:xfrm>
            <a:off x="4869180" y="1828800"/>
            <a:ext cx="3634740" cy="914400"/>
          </a:xfrm>
          <a:prstGeom prst="rect">
            <a:avLst/>
          </a:prstGeom>
          <a:noFill/>
          <a:ln/>
        </p:spPr>
        <p:txBody>
          <a:bodyPr wrap="square" rtlCol="0" anchor="t">
            <a:normAutofit/>
          </a:bodyP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Mullis(1983)：变性-退火-延伸三步循环，指数扩增DNA。Taq酶耐高温。1993年诺贝尔化学奖</a:t>
            </a:r>
            <a:endParaRPr lang="en-US" sz="1000" dirty="0"/>
          </a:p>
        </p:txBody>
      </p:sp>
      <p:sp>
        <p:nvSpPr>
          <p:cNvPr id="16" name="Shape 13"/>
          <p:cNvSpPr/>
          <p:nvPr/>
        </p:nvSpPr>
        <p:spPr>
          <a:xfrm>
            <a:off x="457200" y="3063240"/>
            <a:ext cx="4000500" cy="1691640"/>
          </a:xfrm>
          <a:prstGeom prst="roundRect">
            <a:avLst>
              <a:gd name="adj" fmla="val 4324"/>
            </a:avLst>
          </a:prstGeom>
          <a:solidFill>
            <a:srgbClr val="FFFFFF"/>
          </a:solidFill>
          <a:ln/>
          <a:effectLst>
            <a:outerShdw sx="100000" sy="100000" kx="0" ky="0" algn="bl" rotWithShape="0" blurRad="152400" dist="50800" dir="8100000">
              <a:srgbClr val="000000">
                <a:alpha val="28000"/>
              </a:srgbClr>
            </a:outerShdw>
          </a:effectLst>
        </p:spPr>
      </p:sp>
      <p:sp>
        <p:nvSpPr>
          <p:cNvPr id="17" name="Shape 14"/>
          <p:cNvSpPr/>
          <p:nvPr/>
        </p:nvSpPr>
        <p:spPr>
          <a:xfrm>
            <a:off x="457200" y="3063240"/>
            <a:ext cx="4000500" cy="54864"/>
          </a:xfrm>
          <a:prstGeom prst="rect">
            <a:avLst/>
          </a:prstGeom>
          <a:solidFill>
            <a:srgbClr val="2C5F2D"/>
          </a:solidFill>
          <a:ln/>
        </p:spPr>
      </p:sp>
      <p:sp>
        <p:nvSpPr>
          <p:cNvPr id="18" name="Text 15"/>
          <p:cNvSpPr/>
          <p:nvPr/>
        </p:nvSpPr>
        <p:spPr>
          <a:xfrm>
            <a:off x="640080" y="3200400"/>
            <a:ext cx="363474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Sanger测序</a:t>
            </a:r>
            <a:endParaRPr lang="en-US" sz="1300" dirty="0"/>
          </a:p>
        </p:txBody>
      </p:sp>
      <p:sp>
        <p:nvSpPr>
          <p:cNvPr id="19" name="Text 16"/>
          <p:cNvSpPr/>
          <p:nvPr/>
        </p:nvSpPr>
        <p:spPr>
          <a:xfrm>
            <a:off x="640080" y="3447288"/>
            <a:ext cx="363474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Sanger Sequencing</a:t>
            </a:r>
            <a:endParaRPr lang="en-US" sz="900" dirty="0"/>
          </a:p>
        </p:txBody>
      </p:sp>
      <p:sp>
        <p:nvSpPr>
          <p:cNvPr id="20" name="Text 17"/>
          <p:cNvSpPr/>
          <p:nvPr/>
        </p:nvSpPr>
        <p:spPr>
          <a:xfrm>
            <a:off x="640080" y="3703320"/>
            <a:ext cx="3634740" cy="914400"/>
          </a:xfrm>
          <a:prstGeom prst="rect">
            <a:avLst/>
          </a:prstGeom>
          <a:noFill/>
          <a:ln/>
        </p:spPr>
        <p:txBody>
          <a:bodyPr wrap="square" rtlCol="0" anchor="t">
            <a:normAutofit/>
          </a:bodyP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Sanger(1977)：双脱氧链终止法(ddNTP)，测定DNA碱基序列。一代测序金标准，1980年诺奖</a:t>
            </a:r>
            <a:endParaRPr lang="en-US" sz="1000" dirty="0"/>
          </a:p>
        </p:txBody>
      </p:sp>
      <p:sp>
        <p:nvSpPr>
          <p:cNvPr id="21" name="Shape 18"/>
          <p:cNvSpPr/>
          <p:nvPr/>
        </p:nvSpPr>
        <p:spPr>
          <a:xfrm>
            <a:off x="4686300" y="3063240"/>
            <a:ext cx="4000500" cy="1691640"/>
          </a:xfrm>
          <a:prstGeom prst="roundRect">
            <a:avLst>
              <a:gd name="adj" fmla="val 4324"/>
            </a:avLst>
          </a:prstGeom>
          <a:solidFill>
            <a:srgbClr val="FFFFFF"/>
          </a:solidFill>
          <a:ln/>
          <a:effectLst>
            <a:outerShdw sx="100000" sy="100000" kx="0" ky="0" algn="bl" rotWithShape="0" blurRad="152400" dist="50800" dir="8100000">
              <a:srgbClr val="000000">
                <a:alpha val="28000"/>
              </a:srgbClr>
            </a:outerShdw>
          </a:effectLst>
        </p:spPr>
      </p:sp>
      <p:sp>
        <p:nvSpPr>
          <p:cNvPr id="22" name="Shape 19"/>
          <p:cNvSpPr/>
          <p:nvPr/>
        </p:nvSpPr>
        <p:spPr>
          <a:xfrm>
            <a:off x="4686300" y="3063240"/>
            <a:ext cx="4000500" cy="54864"/>
          </a:xfrm>
          <a:prstGeom prst="rect">
            <a:avLst/>
          </a:prstGeom>
          <a:solidFill>
            <a:srgbClr val="97BC62"/>
          </a:solidFill>
          <a:ln/>
        </p:spPr>
      </p:sp>
      <p:sp>
        <p:nvSpPr>
          <p:cNvPr id="23" name="Text 20"/>
          <p:cNvSpPr/>
          <p:nvPr/>
        </p:nvSpPr>
        <p:spPr>
          <a:xfrm>
            <a:off x="4869180" y="3200400"/>
            <a:ext cx="363474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工具标准化</a:t>
            </a:r>
            <a:endParaRPr lang="en-US" sz="1300" dirty="0"/>
          </a:p>
        </p:txBody>
      </p:sp>
      <p:sp>
        <p:nvSpPr>
          <p:cNvPr id="24" name="Text 21"/>
          <p:cNvSpPr/>
          <p:nvPr/>
        </p:nvSpPr>
        <p:spPr>
          <a:xfrm>
            <a:off x="4869180" y="3447288"/>
            <a:ext cx="363474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Tool Standardization</a:t>
            </a:r>
            <a:endParaRPr lang="en-US" sz="900" dirty="0"/>
          </a:p>
        </p:txBody>
      </p:sp>
      <p:sp>
        <p:nvSpPr>
          <p:cNvPr id="25" name="Text 22"/>
          <p:cNvSpPr/>
          <p:nvPr/>
        </p:nvSpPr>
        <p:spPr>
          <a:xfrm>
            <a:off x="4869180" y="3703320"/>
            <a:ext cx="3634740" cy="914400"/>
          </a:xfrm>
          <a:prstGeom prst="rect">
            <a:avLst/>
          </a:prstGeom>
          <a:noFill/>
          <a:ln/>
        </p:spPr>
        <p:txBody>
          <a:bodyPr wrap="square" rtlCol="0" anchor="t">
            <a:normAutofit/>
          </a:bodyP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限制酶、连接酶、Taq聚合酶、ddNTP等成为分子生物学标准工具箱，推动研究效率飞跃</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320040"/>
            <a:ext cx="73152" cy="594360"/>
          </a:xfrm>
          <a:prstGeom prst="rect">
            <a:avLst/>
          </a:prstGeom>
          <a:solidFill>
            <a:srgbClr val="D4A843"/>
          </a:solidFill>
          <a:ln/>
        </p:spPr>
      </p:sp>
      <p:sp>
        <p:nvSpPr>
          <p:cNvPr id="4" name="Text 1"/>
          <p:cNvSpPr/>
          <p:nvPr/>
        </p:nvSpPr>
        <p:spPr>
          <a:xfrm>
            <a:off x="640080" y="274320"/>
            <a:ext cx="8046720" cy="502920"/>
          </a:xfrm>
          <a:prstGeom prst="rect">
            <a:avLst/>
          </a:prstGeom>
          <a:noFill/>
          <a:ln/>
        </p:spPr>
        <p:txBody>
          <a:bodyPr wrap="square" rtlCol="0" anchor="ctr">
            <a:normAutofit/>
          </a:bodyPr>
          <a:lstStyle/>
          <a:p>
            <a:pPr indent="0" marL="0">
              <a:buNone/>
            </a:pPr>
            <a:r>
              <a:rPr lang="en-US" sz="2600" b="1" spc="150" kern="0" dirty="0">
                <a:solidFill>
                  <a:srgbClr val="2C5F2D"/>
                </a:solidFill>
                <a:latin typeface="Georgia" pitchFamily="34" charset="0"/>
                <a:ea typeface="Georgia" pitchFamily="34" charset="-122"/>
                <a:cs typeface="Georgia" pitchFamily="34" charset="-120"/>
              </a:rPr>
              <a:t>人类基因组计划  /  Human Genome Project</a:t>
            </a:r>
            <a:endParaRPr lang="en-US" sz="2600" dirty="0"/>
          </a:p>
        </p:txBody>
      </p:sp>
      <p:sp>
        <p:nvSpPr>
          <p:cNvPr id="5" name="Text 2"/>
          <p:cNvSpPr/>
          <p:nvPr/>
        </p:nvSpPr>
        <p:spPr>
          <a:xfrm>
            <a:off x="640080" y="777240"/>
            <a:ext cx="8046720" cy="274320"/>
          </a:xfrm>
          <a:prstGeom prst="rect">
            <a:avLst/>
          </a:prstGeom>
          <a:noFill/>
          <a:ln/>
        </p:spPr>
        <p:txBody>
          <a:bodyPr wrap="square" rtlCol="0" anchor="ctr">
            <a:normAutofit/>
          </a:bodyPr>
          <a:lstStyle/>
          <a:p>
            <a:pPr indent="0" marL="0">
              <a:buNone/>
            </a:pPr>
            <a:r>
              <a:rPr lang="en-US" sz="1300" i="1" dirty="0">
                <a:solidFill>
                  <a:srgbClr val="97BC62"/>
                </a:solidFill>
                <a:latin typeface="Calibri" pitchFamily="34" charset="0"/>
                <a:ea typeface="Calibri" pitchFamily="34" charset="-122"/>
                <a:cs typeface="Calibri" pitchFamily="34" charset="-120"/>
              </a:rPr>
              <a:t>1990-2003  ·  30亿碱基对  ·  约20000-25000个基因</a:t>
            </a:r>
            <a:endParaRPr lang="en-US" sz="1300" dirty="0"/>
          </a:p>
        </p:txBody>
      </p:sp>
      <p:sp>
        <p:nvSpPr>
          <p:cNvPr id="6" name="Shape 3"/>
          <p:cNvSpPr/>
          <p:nvPr/>
        </p:nvSpPr>
        <p:spPr>
          <a:xfrm>
            <a:off x="457200" y="1188720"/>
            <a:ext cx="2590800" cy="1051560"/>
          </a:xfrm>
          <a:prstGeom prst="roundRect">
            <a:avLst>
              <a:gd name="adj" fmla="val 6957"/>
            </a:avLst>
          </a:prstGeom>
          <a:solidFill>
            <a:srgbClr val="FFFFFF"/>
          </a:solidFill>
          <a:ln/>
          <a:effectLst>
            <a:outerShdw sx="100000" sy="100000" kx="0" ky="0" algn="bl" rotWithShape="0" blurRad="152400" dist="50800" dir="8100000">
              <a:srgbClr val="000000">
                <a:alpha val="28000"/>
              </a:srgbClr>
            </a:outerShdw>
          </a:effectLst>
        </p:spPr>
      </p:sp>
      <p:sp>
        <p:nvSpPr>
          <p:cNvPr id="7" name="Shape 4"/>
          <p:cNvSpPr/>
          <p:nvPr/>
        </p:nvSpPr>
        <p:spPr>
          <a:xfrm>
            <a:off x="457200" y="1188720"/>
            <a:ext cx="2590800" cy="54864"/>
          </a:xfrm>
          <a:prstGeom prst="rect">
            <a:avLst/>
          </a:prstGeom>
          <a:solidFill>
            <a:srgbClr val="D4A843"/>
          </a:solidFill>
          <a:ln/>
        </p:spPr>
      </p:sp>
      <p:sp>
        <p:nvSpPr>
          <p:cNvPr id="8" name="Text 5"/>
          <p:cNvSpPr/>
          <p:nvPr/>
        </p:nvSpPr>
        <p:spPr>
          <a:xfrm>
            <a:off x="548640" y="1371600"/>
            <a:ext cx="2407920" cy="457200"/>
          </a:xfrm>
          <a:prstGeom prst="rect">
            <a:avLst/>
          </a:prstGeom>
          <a:noFill/>
          <a:ln/>
        </p:spPr>
        <p:txBody>
          <a:bodyPr wrap="square" rtlCol="0" anchor="ctr">
            <a:normAutofit/>
          </a:bodyPr>
          <a:lstStyle/>
          <a:p>
            <a:pPr algn="ctr" indent="0" marL="0">
              <a:buNone/>
            </a:pPr>
            <a:r>
              <a:rPr lang="en-US" sz="2800" b="1" dirty="0">
                <a:solidFill>
                  <a:srgbClr val="2C5F2D"/>
                </a:solidFill>
                <a:latin typeface="Georgia" pitchFamily="34" charset="0"/>
                <a:ea typeface="Georgia" pitchFamily="34" charset="-122"/>
                <a:cs typeface="Georgia" pitchFamily="34" charset="-120"/>
              </a:rPr>
              <a:t>30亿</a:t>
            </a:r>
            <a:endParaRPr lang="en-US" sz="2800" dirty="0"/>
          </a:p>
        </p:txBody>
      </p:sp>
      <p:sp>
        <p:nvSpPr>
          <p:cNvPr id="9" name="Text 6"/>
          <p:cNvSpPr/>
          <p:nvPr/>
        </p:nvSpPr>
        <p:spPr>
          <a:xfrm>
            <a:off x="548640" y="1847088"/>
            <a:ext cx="2407920" cy="274320"/>
          </a:xfrm>
          <a:prstGeom prst="rect">
            <a:avLst/>
          </a:prstGeom>
          <a:noFill/>
          <a:ln/>
        </p:spPr>
        <p:txBody>
          <a:bodyPr wrap="square" rtlCol="0" anchor="ctr">
            <a:normAutofit/>
          </a:bodyPr>
          <a:lstStyle/>
          <a:p>
            <a:pPr algn="ctr" indent="0" marL="0">
              <a:buNone/>
            </a:pPr>
            <a:r>
              <a:rPr lang="en-US" sz="1000" dirty="0">
                <a:solidFill>
                  <a:srgbClr val="333333"/>
                </a:solidFill>
                <a:latin typeface="Calibri" pitchFamily="34" charset="0"/>
                <a:ea typeface="Calibri" pitchFamily="34" charset="-122"/>
                <a:cs typeface="Calibri" pitchFamily="34" charset="-120"/>
              </a:rPr>
              <a:t>碱基对 / Base Pairs</a:t>
            </a:r>
            <a:endParaRPr lang="en-US" sz="1000" dirty="0"/>
          </a:p>
        </p:txBody>
      </p:sp>
      <p:sp>
        <p:nvSpPr>
          <p:cNvPr id="10" name="Shape 7"/>
          <p:cNvSpPr/>
          <p:nvPr/>
        </p:nvSpPr>
        <p:spPr>
          <a:xfrm>
            <a:off x="3276600" y="1188720"/>
            <a:ext cx="2590800" cy="1051560"/>
          </a:xfrm>
          <a:prstGeom prst="roundRect">
            <a:avLst>
              <a:gd name="adj" fmla="val 6957"/>
            </a:avLst>
          </a:prstGeom>
          <a:solidFill>
            <a:srgbClr val="FFFFFF"/>
          </a:solidFill>
          <a:ln/>
          <a:effectLst>
            <a:outerShdw sx="100000" sy="100000" kx="0" ky="0" algn="bl" rotWithShape="0" blurRad="152400" dist="50800" dir="8100000">
              <a:srgbClr val="000000">
                <a:alpha val="28000"/>
              </a:srgbClr>
            </a:outerShdw>
          </a:effectLst>
        </p:spPr>
      </p:sp>
      <p:sp>
        <p:nvSpPr>
          <p:cNvPr id="11" name="Shape 8"/>
          <p:cNvSpPr/>
          <p:nvPr/>
        </p:nvSpPr>
        <p:spPr>
          <a:xfrm>
            <a:off x="3276600" y="1188720"/>
            <a:ext cx="2590800" cy="54864"/>
          </a:xfrm>
          <a:prstGeom prst="rect">
            <a:avLst/>
          </a:prstGeom>
          <a:solidFill>
            <a:srgbClr val="D4A843"/>
          </a:solidFill>
          <a:ln/>
        </p:spPr>
      </p:sp>
      <p:sp>
        <p:nvSpPr>
          <p:cNvPr id="12" name="Text 9"/>
          <p:cNvSpPr/>
          <p:nvPr/>
        </p:nvSpPr>
        <p:spPr>
          <a:xfrm>
            <a:off x="3368040" y="1371600"/>
            <a:ext cx="2407920" cy="457200"/>
          </a:xfrm>
          <a:prstGeom prst="rect">
            <a:avLst/>
          </a:prstGeom>
          <a:noFill/>
          <a:ln/>
        </p:spPr>
        <p:txBody>
          <a:bodyPr wrap="square" rtlCol="0" anchor="ctr">
            <a:normAutofit/>
          </a:bodyPr>
          <a:lstStyle/>
          <a:p>
            <a:pPr algn="ctr" indent="0" marL="0">
              <a:buNone/>
            </a:pPr>
            <a:r>
              <a:rPr lang="en-US" sz="2800" b="1" dirty="0">
                <a:solidFill>
                  <a:srgbClr val="2C5F2D"/>
                </a:solidFill>
                <a:latin typeface="Georgia" pitchFamily="34" charset="0"/>
                <a:ea typeface="Georgia" pitchFamily="34" charset="-122"/>
                <a:cs typeface="Georgia" pitchFamily="34" charset="-120"/>
              </a:rPr>
              <a:t>~25K</a:t>
            </a:r>
            <a:endParaRPr lang="en-US" sz="2800" dirty="0"/>
          </a:p>
        </p:txBody>
      </p:sp>
      <p:sp>
        <p:nvSpPr>
          <p:cNvPr id="13" name="Text 10"/>
          <p:cNvSpPr/>
          <p:nvPr/>
        </p:nvSpPr>
        <p:spPr>
          <a:xfrm>
            <a:off x="3368040" y="1847088"/>
            <a:ext cx="2407920" cy="274320"/>
          </a:xfrm>
          <a:prstGeom prst="rect">
            <a:avLst/>
          </a:prstGeom>
          <a:noFill/>
          <a:ln/>
        </p:spPr>
        <p:txBody>
          <a:bodyPr wrap="square" rtlCol="0" anchor="ctr">
            <a:normAutofit/>
          </a:bodyPr>
          <a:lstStyle/>
          <a:p>
            <a:pPr algn="ctr" indent="0" marL="0">
              <a:buNone/>
            </a:pPr>
            <a:r>
              <a:rPr lang="en-US" sz="1000" dirty="0">
                <a:solidFill>
                  <a:srgbClr val="333333"/>
                </a:solidFill>
                <a:latin typeface="Calibri" pitchFamily="34" charset="0"/>
                <a:ea typeface="Calibri" pitchFamily="34" charset="-122"/>
                <a:cs typeface="Calibri" pitchFamily="34" charset="-120"/>
              </a:rPr>
              <a:t>基因数 / Genes</a:t>
            </a:r>
            <a:endParaRPr lang="en-US" sz="1000" dirty="0"/>
          </a:p>
        </p:txBody>
      </p:sp>
      <p:sp>
        <p:nvSpPr>
          <p:cNvPr id="14" name="Shape 11"/>
          <p:cNvSpPr/>
          <p:nvPr/>
        </p:nvSpPr>
        <p:spPr>
          <a:xfrm>
            <a:off x="6096000" y="1188720"/>
            <a:ext cx="2590800" cy="1051560"/>
          </a:xfrm>
          <a:prstGeom prst="roundRect">
            <a:avLst>
              <a:gd name="adj" fmla="val 6957"/>
            </a:avLst>
          </a:prstGeom>
          <a:solidFill>
            <a:srgbClr val="FFFFFF"/>
          </a:solidFill>
          <a:ln/>
          <a:effectLst>
            <a:outerShdw sx="100000" sy="100000" kx="0" ky="0" algn="bl" rotWithShape="0" blurRad="152400" dist="50800" dir="8100000">
              <a:srgbClr val="000000">
                <a:alpha val="28000"/>
              </a:srgbClr>
            </a:outerShdw>
          </a:effectLst>
        </p:spPr>
      </p:sp>
      <p:sp>
        <p:nvSpPr>
          <p:cNvPr id="15" name="Shape 12"/>
          <p:cNvSpPr/>
          <p:nvPr/>
        </p:nvSpPr>
        <p:spPr>
          <a:xfrm>
            <a:off x="6096000" y="1188720"/>
            <a:ext cx="2590800" cy="54864"/>
          </a:xfrm>
          <a:prstGeom prst="rect">
            <a:avLst/>
          </a:prstGeom>
          <a:solidFill>
            <a:srgbClr val="D4A843"/>
          </a:solidFill>
          <a:ln/>
        </p:spPr>
      </p:sp>
      <p:sp>
        <p:nvSpPr>
          <p:cNvPr id="16" name="Text 13"/>
          <p:cNvSpPr/>
          <p:nvPr/>
        </p:nvSpPr>
        <p:spPr>
          <a:xfrm>
            <a:off x="6187440" y="1371600"/>
            <a:ext cx="2407920" cy="457200"/>
          </a:xfrm>
          <a:prstGeom prst="rect">
            <a:avLst/>
          </a:prstGeom>
          <a:noFill/>
          <a:ln/>
        </p:spPr>
        <p:txBody>
          <a:bodyPr wrap="square" rtlCol="0" anchor="ctr">
            <a:normAutofit/>
          </a:bodyPr>
          <a:lstStyle/>
          <a:p>
            <a:pPr algn="ctr" indent="0" marL="0">
              <a:buNone/>
            </a:pPr>
            <a:r>
              <a:rPr lang="en-US" sz="2800" b="1" dirty="0">
                <a:solidFill>
                  <a:srgbClr val="2C5F2D"/>
                </a:solidFill>
                <a:latin typeface="Georgia" pitchFamily="34" charset="0"/>
                <a:ea typeface="Georgia" pitchFamily="34" charset="-122"/>
                <a:cs typeface="Georgia" pitchFamily="34" charset="-120"/>
              </a:rPr>
              <a:t>$3B</a:t>
            </a:r>
            <a:endParaRPr lang="en-US" sz="2800" dirty="0"/>
          </a:p>
        </p:txBody>
      </p:sp>
      <p:sp>
        <p:nvSpPr>
          <p:cNvPr id="17" name="Text 14"/>
          <p:cNvSpPr/>
          <p:nvPr/>
        </p:nvSpPr>
        <p:spPr>
          <a:xfrm>
            <a:off x="6187440" y="1847088"/>
            <a:ext cx="2407920" cy="274320"/>
          </a:xfrm>
          <a:prstGeom prst="rect">
            <a:avLst/>
          </a:prstGeom>
          <a:noFill/>
          <a:ln/>
        </p:spPr>
        <p:txBody>
          <a:bodyPr wrap="square" rtlCol="0" anchor="ctr">
            <a:normAutofit/>
          </a:bodyPr>
          <a:lstStyle/>
          <a:p>
            <a:pPr algn="ctr" indent="0" marL="0">
              <a:buNone/>
            </a:pPr>
            <a:r>
              <a:rPr lang="en-US" sz="1000" dirty="0">
                <a:solidFill>
                  <a:srgbClr val="333333"/>
                </a:solidFill>
                <a:latin typeface="Calibri" pitchFamily="34" charset="0"/>
                <a:ea typeface="Calibri" pitchFamily="34" charset="-122"/>
                <a:cs typeface="Calibri" pitchFamily="34" charset="-120"/>
              </a:rPr>
              <a:t>耗资 / Total Cost</a:t>
            </a:r>
            <a:endParaRPr lang="en-US" sz="1000" dirty="0"/>
          </a:p>
        </p:txBody>
      </p:sp>
      <p:sp>
        <p:nvSpPr>
          <p:cNvPr id="18" name="Shape 15"/>
          <p:cNvSpPr/>
          <p:nvPr/>
        </p:nvSpPr>
        <p:spPr>
          <a:xfrm>
            <a:off x="457200" y="2423160"/>
            <a:ext cx="3977640" cy="2011680"/>
          </a:xfrm>
          <a:prstGeom prst="roundRect">
            <a:avLst>
              <a:gd name="adj" fmla="val 3636"/>
            </a:avLst>
          </a:prstGeom>
          <a:solidFill>
            <a:srgbClr val="FFFFFF"/>
          </a:solidFill>
          <a:ln/>
          <a:effectLst>
            <a:outerShdw sx="100000" sy="100000" kx="0" ky="0" algn="bl" rotWithShape="0" blurRad="152400" dist="50800" dir="8100000">
              <a:srgbClr val="000000">
                <a:alpha val="28000"/>
              </a:srgbClr>
            </a:outerShdw>
          </a:effectLst>
        </p:spPr>
      </p:sp>
      <p:sp>
        <p:nvSpPr>
          <p:cNvPr id="19" name="Shape 16"/>
          <p:cNvSpPr/>
          <p:nvPr/>
        </p:nvSpPr>
        <p:spPr>
          <a:xfrm>
            <a:off x="457200" y="2423160"/>
            <a:ext cx="3977640" cy="54864"/>
          </a:xfrm>
          <a:prstGeom prst="rect">
            <a:avLst/>
          </a:prstGeom>
          <a:solidFill>
            <a:srgbClr val="2C5F2D"/>
          </a:solidFill>
          <a:ln/>
        </p:spPr>
      </p:sp>
      <p:sp>
        <p:nvSpPr>
          <p:cNvPr id="20" name="Text 17"/>
          <p:cNvSpPr/>
          <p:nvPr/>
        </p:nvSpPr>
        <p:spPr>
          <a:xfrm>
            <a:off x="685800" y="2560320"/>
            <a:ext cx="3520440" cy="274320"/>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项目概况 / Project Overview</a:t>
            </a:r>
            <a:endParaRPr lang="en-US" sz="1400" dirty="0"/>
          </a:p>
        </p:txBody>
      </p:sp>
      <p:sp>
        <p:nvSpPr>
          <p:cNvPr id="21" name="Text 18"/>
          <p:cNvSpPr/>
          <p:nvPr/>
        </p:nvSpPr>
        <p:spPr>
          <a:xfrm>
            <a:off x="685800" y="2926080"/>
            <a:ext cx="3520440" cy="1371600"/>
          </a:xfrm>
          <a:prstGeom prst="rect">
            <a:avLst/>
          </a:prstGeom>
          <a:noFill/>
          <a:ln/>
        </p:spPr>
        <p:txBody>
          <a:bodyPr wrap="square" rtlCol="0" anchor="ctr">
            <a:normAutofit/>
          </a:bodyPr>
          <a:lstStyle/>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1990年启动，2003年完成（提前2年）</a:t>
            </a:r>
            <a:endParaRPr lang="en-US" sz="1100" dirty="0"/>
          </a:p>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美国、英国、日本、法国、德国、中国六国合作</a:t>
            </a:r>
            <a:endParaRPr lang="en-US" sz="1100" dirty="0"/>
          </a:p>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中国承担1%（3号染色体部分区域）</a:t>
            </a:r>
            <a:endParaRPr lang="en-US" sz="1100" dirty="0"/>
          </a:p>
          <a:p>
            <a:pPr marL="342900" indent="-342900">
              <a:lnSpc>
                <a:spcPct val="115000"/>
              </a:lnSpc>
              <a:buSzPct val="100000"/>
              <a:buChar char="•"/>
            </a:pPr>
            <a:r>
              <a:rPr lang="en-US" sz="1100" dirty="0">
                <a:solidFill>
                  <a:srgbClr val="333333"/>
                </a:solidFill>
                <a:latin typeface="Calibri" pitchFamily="34" charset="0"/>
                <a:ea typeface="Calibri" pitchFamily="34" charset="-122"/>
                <a:cs typeface="Calibri" pitchFamily="34" charset="-120"/>
              </a:rPr>
              <a:t>被誉为"生命科学的登月计划"</a:t>
            </a:r>
            <a:endParaRPr lang="en-US" sz="1100" dirty="0"/>
          </a:p>
        </p:txBody>
      </p:sp>
      <p:sp>
        <p:nvSpPr>
          <p:cNvPr id="22" name="Shape 19"/>
          <p:cNvSpPr/>
          <p:nvPr/>
        </p:nvSpPr>
        <p:spPr>
          <a:xfrm>
            <a:off x="4709160" y="2423160"/>
            <a:ext cx="3977640" cy="2011680"/>
          </a:xfrm>
          <a:prstGeom prst="roundRect">
            <a:avLst>
              <a:gd name="adj" fmla="val 3636"/>
            </a:avLst>
          </a:prstGeom>
          <a:solidFill>
            <a:srgbClr val="FFFFFF"/>
          </a:solidFill>
          <a:ln/>
          <a:effectLst>
            <a:outerShdw sx="100000" sy="100000" kx="0" ky="0" algn="bl" rotWithShape="0" blurRad="152400" dist="50800" dir="8100000">
              <a:srgbClr val="000000">
                <a:alpha val="28000"/>
              </a:srgbClr>
            </a:outerShdw>
          </a:effectLst>
        </p:spPr>
      </p:sp>
      <p:sp>
        <p:nvSpPr>
          <p:cNvPr id="23" name="Shape 20"/>
          <p:cNvSpPr/>
          <p:nvPr/>
        </p:nvSpPr>
        <p:spPr>
          <a:xfrm>
            <a:off x="4709160" y="2423160"/>
            <a:ext cx="3977640" cy="54864"/>
          </a:xfrm>
          <a:prstGeom prst="rect">
            <a:avLst/>
          </a:prstGeom>
          <a:solidFill>
            <a:srgbClr val="97BC62"/>
          </a:solidFill>
          <a:ln/>
        </p:spPr>
      </p:sp>
      <p:sp>
        <p:nvSpPr>
          <p:cNvPr id="24" name="Text 21"/>
          <p:cNvSpPr/>
          <p:nvPr/>
        </p:nvSpPr>
        <p:spPr>
          <a:xfrm>
            <a:off x="4937760" y="2560320"/>
            <a:ext cx="3520440" cy="274320"/>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深远影响 / Profound Impact</a:t>
            </a:r>
            <a:endParaRPr lang="en-US" sz="1400" dirty="0"/>
          </a:p>
        </p:txBody>
      </p:sp>
      <p:sp>
        <p:nvSpPr>
          <p:cNvPr id="25" name="Text 22"/>
          <p:cNvSpPr/>
          <p:nvPr/>
        </p:nvSpPr>
        <p:spPr>
          <a:xfrm>
            <a:off x="4937760" y="2926080"/>
            <a:ext cx="3520440" cy="1371600"/>
          </a:xfrm>
          <a:prstGeom prst="rect">
            <a:avLst/>
          </a:prstGeom>
          <a:noFill/>
          <a:ln/>
        </p:spPr>
        <p:txBody>
          <a:bodyPr wrap="square" rtlCol="0" anchor="ctr">
            <a:normAutofit/>
          </a:bodyPr>
          <a:lstStyle/>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开启基因组学(Genomics)时代</a:t>
            </a:r>
            <a:endParaRPr lang="en-US" sz="1100" dirty="0"/>
          </a:p>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推动精准医学和个体化治疗</a:t>
            </a:r>
            <a:endParaRPr lang="en-US" sz="1100" dirty="0"/>
          </a:p>
          <a:p>
            <a:pPr marL="342900" indent="-342900">
              <a:lnSpc>
                <a:spcPct val="115000"/>
              </a:lnSpc>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测序成本从$3B降至&lt;$1000（20年）</a:t>
            </a:r>
            <a:endParaRPr lang="en-US" sz="1100" dirty="0"/>
          </a:p>
          <a:p>
            <a:pPr marL="342900" indent="-342900">
              <a:lnSpc>
                <a:spcPct val="115000"/>
              </a:lnSpc>
              <a:buSzPct val="100000"/>
              <a:buChar char="•"/>
            </a:pPr>
            <a:r>
              <a:rPr lang="en-US" sz="1100" dirty="0">
                <a:solidFill>
                  <a:srgbClr val="333333"/>
                </a:solidFill>
                <a:latin typeface="Calibri" pitchFamily="34" charset="0"/>
                <a:ea typeface="Calibri" pitchFamily="34" charset="-122"/>
                <a:cs typeface="Calibri" pitchFamily="34" charset="-120"/>
              </a:rPr>
              <a:t>比较基因组学揭示进化关系</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320040"/>
            <a:ext cx="73152" cy="594360"/>
          </a:xfrm>
          <a:prstGeom prst="rect">
            <a:avLst/>
          </a:prstGeom>
          <a:solidFill>
            <a:srgbClr val="D4A843"/>
          </a:solidFill>
          <a:ln/>
        </p:spPr>
      </p:sp>
      <p:sp>
        <p:nvSpPr>
          <p:cNvPr id="4" name="Text 1"/>
          <p:cNvSpPr/>
          <p:nvPr/>
        </p:nvSpPr>
        <p:spPr>
          <a:xfrm>
            <a:off x="640080" y="274320"/>
            <a:ext cx="8046720" cy="502920"/>
          </a:xfrm>
          <a:prstGeom prst="rect">
            <a:avLst/>
          </a:prstGeom>
          <a:noFill/>
          <a:ln/>
        </p:spPr>
        <p:txBody>
          <a:bodyPr wrap="square" rtlCol="0" anchor="ctr">
            <a:normAutofit/>
          </a:bodyPr>
          <a:lstStyle/>
          <a:p>
            <a:pPr indent="0" marL="0">
              <a:buNone/>
            </a:pPr>
            <a:r>
              <a:rPr lang="en-US" sz="2600" b="1" spc="150" kern="0" dirty="0">
                <a:solidFill>
                  <a:srgbClr val="2C5F2D"/>
                </a:solidFill>
                <a:latin typeface="Georgia" pitchFamily="34" charset="0"/>
                <a:ea typeface="Georgia" pitchFamily="34" charset="-122"/>
                <a:cs typeface="Georgia" pitchFamily="34" charset="-120"/>
              </a:rPr>
              <a:t>CRISPR-Cas9基因编辑  /  CRISPR-Cas9 Gene Editing</a:t>
            </a:r>
            <a:endParaRPr lang="en-US" sz="2600" dirty="0"/>
          </a:p>
        </p:txBody>
      </p:sp>
      <p:sp>
        <p:nvSpPr>
          <p:cNvPr id="5" name="Text 2"/>
          <p:cNvSpPr/>
          <p:nvPr/>
        </p:nvSpPr>
        <p:spPr>
          <a:xfrm>
            <a:off x="640080" y="777240"/>
            <a:ext cx="8046720" cy="274320"/>
          </a:xfrm>
          <a:prstGeom prst="rect">
            <a:avLst/>
          </a:prstGeom>
          <a:noFill/>
          <a:ln/>
        </p:spPr>
        <p:txBody>
          <a:bodyPr wrap="square" rtlCol="0" anchor="ctr">
            <a:normAutofit/>
          </a:bodyPr>
          <a:lstStyle/>
          <a:p>
            <a:pPr indent="0" marL="0">
              <a:buNone/>
            </a:pPr>
            <a:r>
              <a:rPr lang="en-US" sz="1300" i="1" dirty="0">
                <a:solidFill>
                  <a:srgbClr val="97BC62"/>
                </a:solidFill>
                <a:latin typeface="Calibri" pitchFamily="34" charset="0"/>
                <a:ea typeface="Calibri" pitchFamily="34" charset="-122"/>
                <a:cs typeface="Calibri" pitchFamily="34" charset="-120"/>
              </a:rPr>
              <a:t>Doudna &amp; Charpentier (2012)  ·  2020 Nobel Prize</a:t>
            </a:r>
            <a:endParaRPr lang="en-US" sz="1300" dirty="0"/>
          </a:p>
        </p:txBody>
      </p:sp>
      <p:sp>
        <p:nvSpPr>
          <p:cNvPr id="6" name="Shape 3"/>
          <p:cNvSpPr/>
          <p:nvPr/>
        </p:nvSpPr>
        <p:spPr>
          <a:xfrm>
            <a:off x="411480" y="1234440"/>
            <a:ext cx="1371600" cy="594360"/>
          </a:xfrm>
          <a:prstGeom prst="roundRect">
            <a:avLst>
              <a:gd name="adj" fmla="val 15385"/>
            </a:avLst>
          </a:prstGeom>
          <a:solidFill>
            <a:srgbClr val="2C5F2D"/>
          </a:solidFill>
          <a:ln/>
          <a:effectLst>
            <a:outerShdw sx="100000" sy="100000" kx="0" ky="0" algn="bl" rotWithShape="0" blurRad="152400" dist="50800" dir="8100000">
              <a:srgbClr val="000000">
                <a:alpha val="28000"/>
              </a:srgbClr>
            </a:outerShdw>
          </a:effectLst>
        </p:spPr>
      </p:sp>
      <p:sp>
        <p:nvSpPr>
          <p:cNvPr id="7" name="Text 4"/>
          <p:cNvSpPr/>
          <p:nvPr/>
        </p:nvSpPr>
        <p:spPr>
          <a:xfrm>
            <a:off x="411480" y="1234440"/>
            <a:ext cx="1371600" cy="594360"/>
          </a:xfrm>
          <a:prstGeom prst="rect">
            <a:avLst/>
          </a:prstGeom>
          <a:noFill/>
          <a:ln/>
        </p:spPr>
        <p:txBody>
          <a:bodyPr wrap="square" rtlCol="0" anchor="ctr">
            <a:normAutofit/>
          </a:bodyPr>
          <a:lstStyle/>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sgRNA</a:t>
            </a:r>
            <a:endParaRPr lang="en-US" sz="900" dirty="0"/>
          </a:p>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设计引导</a:t>
            </a:r>
            <a:endParaRPr lang="en-US" sz="900" dirty="0"/>
          </a:p>
        </p:txBody>
      </p:sp>
      <p:sp>
        <p:nvSpPr>
          <p:cNvPr id="8" name="Shape 5"/>
          <p:cNvSpPr/>
          <p:nvPr/>
        </p:nvSpPr>
        <p:spPr>
          <a:xfrm>
            <a:off x="1783080" y="1531620"/>
            <a:ext cx="365760" cy="0"/>
          </a:xfrm>
          <a:prstGeom prst="line">
            <a:avLst/>
          </a:prstGeom>
          <a:noFill/>
          <a:ln w="19050">
            <a:solidFill>
              <a:srgbClr val="999999"/>
            </a:solidFill>
            <a:prstDash val="solid"/>
            <a:tailEnd type="triangle"/>
          </a:ln>
        </p:spPr>
      </p:sp>
      <p:sp>
        <p:nvSpPr>
          <p:cNvPr id="9" name="Shape 6"/>
          <p:cNvSpPr/>
          <p:nvPr/>
        </p:nvSpPr>
        <p:spPr>
          <a:xfrm>
            <a:off x="2148840" y="1234440"/>
            <a:ext cx="1371600" cy="594360"/>
          </a:xfrm>
          <a:prstGeom prst="roundRect">
            <a:avLst>
              <a:gd name="adj" fmla="val 15385"/>
            </a:avLst>
          </a:prstGeom>
          <a:solidFill>
            <a:srgbClr val="3D7A3E"/>
          </a:solidFill>
          <a:ln/>
          <a:effectLst>
            <a:outerShdw sx="100000" sy="100000" kx="0" ky="0" algn="bl" rotWithShape="0" blurRad="152400" dist="50800" dir="8100000">
              <a:srgbClr val="000000">
                <a:alpha val="28000"/>
              </a:srgbClr>
            </a:outerShdw>
          </a:effectLst>
        </p:spPr>
      </p:sp>
      <p:sp>
        <p:nvSpPr>
          <p:cNvPr id="10" name="Text 7"/>
          <p:cNvSpPr/>
          <p:nvPr/>
        </p:nvSpPr>
        <p:spPr>
          <a:xfrm>
            <a:off x="2148840" y="1234440"/>
            <a:ext cx="1371600" cy="594360"/>
          </a:xfrm>
          <a:prstGeom prst="rect">
            <a:avLst/>
          </a:prstGeom>
          <a:noFill/>
          <a:ln/>
        </p:spPr>
        <p:txBody>
          <a:bodyPr wrap="square" rtlCol="0" anchor="ctr">
            <a:normAutofit/>
          </a:bodyPr>
          <a:lstStyle/>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Cas9</a:t>
            </a:r>
            <a:endParaRPr lang="en-US" sz="900" dirty="0"/>
          </a:p>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结合sgRNA</a:t>
            </a:r>
            <a:endParaRPr lang="en-US" sz="900" dirty="0"/>
          </a:p>
        </p:txBody>
      </p:sp>
      <p:sp>
        <p:nvSpPr>
          <p:cNvPr id="11" name="Shape 8"/>
          <p:cNvSpPr/>
          <p:nvPr/>
        </p:nvSpPr>
        <p:spPr>
          <a:xfrm>
            <a:off x="3520440" y="1531620"/>
            <a:ext cx="365760" cy="0"/>
          </a:xfrm>
          <a:prstGeom prst="line">
            <a:avLst/>
          </a:prstGeom>
          <a:noFill/>
          <a:ln w="19050">
            <a:solidFill>
              <a:srgbClr val="999999"/>
            </a:solidFill>
            <a:prstDash val="solid"/>
            <a:tailEnd type="triangle"/>
          </a:ln>
        </p:spPr>
      </p:sp>
      <p:sp>
        <p:nvSpPr>
          <p:cNvPr id="12" name="Shape 9"/>
          <p:cNvSpPr/>
          <p:nvPr/>
        </p:nvSpPr>
        <p:spPr>
          <a:xfrm>
            <a:off x="3886200" y="1234440"/>
            <a:ext cx="1371600" cy="594360"/>
          </a:xfrm>
          <a:prstGeom prst="roundRect">
            <a:avLst>
              <a:gd name="adj" fmla="val 15385"/>
            </a:avLst>
          </a:prstGeom>
          <a:solidFill>
            <a:srgbClr val="97BC62"/>
          </a:solidFill>
          <a:ln/>
          <a:effectLst>
            <a:outerShdw sx="100000" sy="100000" kx="0" ky="0" algn="bl" rotWithShape="0" blurRad="152400" dist="50800" dir="8100000">
              <a:srgbClr val="000000">
                <a:alpha val="28000"/>
              </a:srgbClr>
            </a:outerShdw>
          </a:effectLst>
        </p:spPr>
      </p:sp>
      <p:sp>
        <p:nvSpPr>
          <p:cNvPr id="13" name="Text 10"/>
          <p:cNvSpPr/>
          <p:nvPr/>
        </p:nvSpPr>
        <p:spPr>
          <a:xfrm>
            <a:off x="3886200" y="1234440"/>
            <a:ext cx="1371600" cy="594360"/>
          </a:xfrm>
          <a:prstGeom prst="rect">
            <a:avLst/>
          </a:prstGeom>
          <a:noFill/>
          <a:ln/>
        </p:spPr>
        <p:txBody>
          <a:bodyPr wrap="square" rtlCol="0" anchor="ctr">
            <a:normAutofit/>
          </a:bodyPr>
          <a:lstStyle/>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PAM识别</a:t>
            </a:r>
            <a:endParaRPr lang="en-US" sz="900" dirty="0"/>
          </a:p>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定位靶点</a:t>
            </a:r>
            <a:endParaRPr lang="en-US" sz="900" dirty="0"/>
          </a:p>
        </p:txBody>
      </p:sp>
      <p:sp>
        <p:nvSpPr>
          <p:cNvPr id="14" name="Shape 11"/>
          <p:cNvSpPr/>
          <p:nvPr/>
        </p:nvSpPr>
        <p:spPr>
          <a:xfrm>
            <a:off x="5257800" y="1531620"/>
            <a:ext cx="365760" cy="0"/>
          </a:xfrm>
          <a:prstGeom prst="line">
            <a:avLst/>
          </a:prstGeom>
          <a:noFill/>
          <a:ln w="19050">
            <a:solidFill>
              <a:srgbClr val="999999"/>
            </a:solidFill>
            <a:prstDash val="solid"/>
            <a:tailEnd type="triangle"/>
          </a:ln>
        </p:spPr>
      </p:sp>
      <p:sp>
        <p:nvSpPr>
          <p:cNvPr id="15" name="Shape 12"/>
          <p:cNvSpPr/>
          <p:nvPr/>
        </p:nvSpPr>
        <p:spPr>
          <a:xfrm>
            <a:off x="5623560" y="1234440"/>
            <a:ext cx="1371600" cy="594360"/>
          </a:xfrm>
          <a:prstGeom prst="roundRect">
            <a:avLst>
              <a:gd name="adj" fmla="val 15385"/>
            </a:avLst>
          </a:prstGeom>
          <a:solidFill>
            <a:srgbClr val="D4A843"/>
          </a:solidFill>
          <a:ln/>
          <a:effectLst>
            <a:outerShdw sx="100000" sy="100000" kx="0" ky="0" algn="bl" rotWithShape="0" blurRad="152400" dist="50800" dir="8100000">
              <a:srgbClr val="000000">
                <a:alpha val="28000"/>
              </a:srgbClr>
            </a:outerShdw>
          </a:effectLst>
        </p:spPr>
      </p:sp>
      <p:sp>
        <p:nvSpPr>
          <p:cNvPr id="16" name="Text 13"/>
          <p:cNvSpPr/>
          <p:nvPr/>
        </p:nvSpPr>
        <p:spPr>
          <a:xfrm>
            <a:off x="5623560" y="1234440"/>
            <a:ext cx="1371600" cy="594360"/>
          </a:xfrm>
          <a:prstGeom prst="rect">
            <a:avLst/>
          </a:prstGeom>
          <a:noFill/>
          <a:ln/>
        </p:spPr>
        <p:txBody>
          <a:bodyPr wrap="square" rtlCol="0" anchor="ctr">
            <a:normAutofit/>
          </a:bodyPr>
          <a:lstStyle/>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DNA切割</a:t>
            </a:r>
            <a:endParaRPr lang="en-US" sz="900" dirty="0"/>
          </a:p>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双链断裂</a:t>
            </a:r>
            <a:endParaRPr lang="en-US" sz="900" dirty="0"/>
          </a:p>
        </p:txBody>
      </p:sp>
      <p:sp>
        <p:nvSpPr>
          <p:cNvPr id="17" name="Shape 14"/>
          <p:cNvSpPr/>
          <p:nvPr/>
        </p:nvSpPr>
        <p:spPr>
          <a:xfrm>
            <a:off x="6995160" y="1531620"/>
            <a:ext cx="365760" cy="0"/>
          </a:xfrm>
          <a:prstGeom prst="line">
            <a:avLst/>
          </a:prstGeom>
          <a:noFill/>
          <a:ln w="19050">
            <a:solidFill>
              <a:srgbClr val="999999"/>
            </a:solidFill>
            <a:prstDash val="solid"/>
            <a:tailEnd type="triangle"/>
          </a:ln>
        </p:spPr>
      </p:sp>
      <p:sp>
        <p:nvSpPr>
          <p:cNvPr id="18" name="Shape 15"/>
          <p:cNvSpPr/>
          <p:nvPr/>
        </p:nvSpPr>
        <p:spPr>
          <a:xfrm>
            <a:off x="7360920" y="1234440"/>
            <a:ext cx="1371600" cy="594360"/>
          </a:xfrm>
          <a:prstGeom prst="roundRect">
            <a:avLst>
              <a:gd name="adj" fmla="val 15385"/>
            </a:avLst>
          </a:prstGeom>
          <a:solidFill>
            <a:srgbClr val="3D7A3E"/>
          </a:solidFill>
          <a:ln/>
          <a:effectLst>
            <a:outerShdw sx="100000" sy="100000" kx="0" ky="0" algn="bl" rotWithShape="0" blurRad="152400" dist="50800" dir="8100000">
              <a:srgbClr val="000000">
                <a:alpha val="28000"/>
              </a:srgbClr>
            </a:outerShdw>
          </a:effectLst>
        </p:spPr>
      </p:sp>
      <p:sp>
        <p:nvSpPr>
          <p:cNvPr id="19" name="Text 16"/>
          <p:cNvSpPr/>
          <p:nvPr/>
        </p:nvSpPr>
        <p:spPr>
          <a:xfrm>
            <a:off x="7360920" y="1234440"/>
            <a:ext cx="1371600" cy="594360"/>
          </a:xfrm>
          <a:prstGeom prst="rect">
            <a:avLst/>
          </a:prstGeom>
          <a:noFill/>
          <a:ln/>
        </p:spPr>
        <p:txBody>
          <a:bodyPr wrap="square" rtlCol="0" anchor="ctr">
            <a:normAutofit/>
          </a:bodyPr>
          <a:lstStyle/>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修复</a:t>
            </a:r>
            <a:endParaRPr lang="en-US" sz="900" dirty="0"/>
          </a:p>
          <a:p>
            <a:pPr algn="ctr" indent="0" marL="0">
              <a:lnSpc>
                <a:spcPct val="90000"/>
              </a:lnSpc>
              <a:buNone/>
            </a:pPr>
            <a:r>
              <a:rPr lang="en-US" sz="900" b="1" dirty="0">
                <a:solidFill>
                  <a:srgbClr val="FFFFFF"/>
                </a:solidFill>
                <a:latin typeface="Georgia" pitchFamily="34" charset="0"/>
                <a:ea typeface="Georgia" pitchFamily="34" charset="-122"/>
                <a:cs typeface="Georgia" pitchFamily="34" charset="-120"/>
              </a:rPr>
              <a:t>NHEJ/HDR</a:t>
            </a:r>
            <a:endParaRPr lang="en-US" sz="900" dirty="0"/>
          </a:p>
        </p:txBody>
      </p:sp>
      <p:sp>
        <p:nvSpPr>
          <p:cNvPr id="20" name="Shape 17"/>
          <p:cNvSpPr/>
          <p:nvPr/>
        </p:nvSpPr>
        <p:spPr>
          <a:xfrm>
            <a:off x="457200" y="2103120"/>
            <a:ext cx="2621280" cy="2286000"/>
          </a:xfrm>
          <a:prstGeom prst="roundRect">
            <a:avLst>
              <a:gd name="adj" fmla="val 3200"/>
            </a:avLst>
          </a:prstGeom>
          <a:solidFill>
            <a:srgbClr val="FFFFFF"/>
          </a:solidFill>
          <a:ln/>
          <a:effectLst>
            <a:outerShdw sx="100000" sy="100000" kx="0" ky="0" algn="bl" rotWithShape="0" blurRad="152400" dist="50800" dir="8100000">
              <a:srgbClr val="000000">
                <a:alpha val="28000"/>
              </a:srgbClr>
            </a:outerShdw>
          </a:effectLst>
        </p:spPr>
      </p:sp>
      <p:sp>
        <p:nvSpPr>
          <p:cNvPr id="21" name="Shape 18"/>
          <p:cNvSpPr/>
          <p:nvPr/>
        </p:nvSpPr>
        <p:spPr>
          <a:xfrm>
            <a:off x="457200" y="2103120"/>
            <a:ext cx="2621280" cy="54864"/>
          </a:xfrm>
          <a:prstGeom prst="rect">
            <a:avLst/>
          </a:prstGeom>
          <a:solidFill>
            <a:srgbClr val="D4A843"/>
          </a:solidFill>
          <a:ln/>
        </p:spPr>
      </p:sp>
      <p:sp>
        <p:nvSpPr>
          <p:cNvPr id="22" name="Text 19"/>
          <p:cNvSpPr/>
          <p:nvPr/>
        </p:nvSpPr>
        <p:spPr>
          <a:xfrm>
            <a:off x="594360" y="2240280"/>
            <a:ext cx="2346960" cy="27432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奠基论文</a:t>
            </a:r>
            <a:endParaRPr lang="en-US" sz="1200" dirty="0"/>
          </a:p>
        </p:txBody>
      </p:sp>
      <p:sp>
        <p:nvSpPr>
          <p:cNvPr id="23" name="Text 20"/>
          <p:cNvSpPr/>
          <p:nvPr/>
        </p:nvSpPr>
        <p:spPr>
          <a:xfrm>
            <a:off x="594360" y="2487168"/>
            <a:ext cx="234696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Foundational Paper</a:t>
            </a:r>
            <a:endParaRPr lang="en-US" sz="900" dirty="0"/>
          </a:p>
        </p:txBody>
      </p:sp>
      <p:sp>
        <p:nvSpPr>
          <p:cNvPr id="24" name="Text 21"/>
          <p:cNvSpPr/>
          <p:nvPr/>
        </p:nvSpPr>
        <p:spPr>
          <a:xfrm>
            <a:off x="594360" y="2743200"/>
            <a:ext cx="2346960" cy="1508760"/>
          </a:xfrm>
          <a:prstGeom prst="rect">
            <a:avLst/>
          </a:prstGeom>
          <a:noFill/>
          <a:ln/>
        </p:spPr>
        <p:txBody>
          <a:bodyPr wrap="square" rtlCol="0" anchor="t">
            <a:normAutofit/>
          </a:bodyPr>
          <a:lstStyle/>
          <a:p>
            <a:pPr indent="0" marL="0">
              <a:lnSpc>
                <a:spcPct val="120000"/>
              </a:lnSpc>
              <a:buNone/>
            </a:pPr>
            <a:r>
              <a:rPr lang="en-US" sz="900" dirty="0">
                <a:solidFill>
                  <a:srgbClr val="333333"/>
                </a:solidFill>
                <a:latin typeface="Calibri" pitchFamily="34" charset="0"/>
                <a:ea typeface="Calibri" pitchFamily="34" charset="-122"/>
                <a:cs typeface="Calibri" pitchFamily="34" charset="-120"/>
              </a:rPr>
              <a:t>2012年Doudna和Charpentier在Science发表，证明Cas9可被重新编程切割任意DNA序列。张锋团队2013年率先在哺乳动物细胞中应用</a:t>
            </a:r>
            <a:endParaRPr lang="en-US" sz="900" dirty="0"/>
          </a:p>
        </p:txBody>
      </p:sp>
      <p:sp>
        <p:nvSpPr>
          <p:cNvPr id="25" name="Shape 22"/>
          <p:cNvSpPr/>
          <p:nvPr/>
        </p:nvSpPr>
        <p:spPr>
          <a:xfrm>
            <a:off x="3261360" y="2103120"/>
            <a:ext cx="2621280" cy="2286000"/>
          </a:xfrm>
          <a:prstGeom prst="roundRect">
            <a:avLst>
              <a:gd name="adj" fmla="val 3200"/>
            </a:avLst>
          </a:prstGeom>
          <a:solidFill>
            <a:srgbClr val="FFFFFF"/>
          </a:solidFill>
          <a:ln/>
          <a:effectLst>
            <a:outerShdw sx="100000" sy="100000" kx="0" ky="0" algn="bl" rotWithShape="0" blurRad="152400" dist="50800" dir="8100000">
              <a:srgbClr val="000000">
                <a:alpha val="28000"/>
              </a:srgbClr>
            </a:outerShdw>
          </a:effectLst>
        </p:spPr>
      </p:sp>
      <p:sp>
        <p:nvSpPr>
          <p:cNvPr id="26" name="Shape 23"/>
          <p:cNvSpPr/>
          <p:nvPr/>
        </p:nvSpPr>
        <p:spPr>
          <a:xfrm>
            <a:off x="3261360" y="2103120"/>
            <a:ext cx="2621280" cy="54864"/>
          </a:xfrm>
          <a:prstGeom prst="rect">
            <a:avLst/>
          </a:prstGeom>
          <a:solidFill>
            <a:srgbClr val="2C5F2D"/>
          </a:solidFill>
          <a:ln/>
        </p:spPr>
      </p:sp>
      <p:sp>
        <p:nvSpPr>
          <p:cNvPr id="27" name="Text 24"/>
          <p:cNvSpPr/>
          <p:nvPr/>
        </p:nvSpPr>
        <p:spPr>
          <a:xfrm>
            <a:off x="3398520" y="2240280"/>
            <a:ext cx="2346960" cy="27432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技术原理</a:t>
            </a:r>
            <a:endParaRPr lang="en-US" sz="1200" dirty="0"/>
          </a:p>
        </p:txBody>
      </p:sp>
      <p:sp>
        <p:nvSpPr>
          <p:cNvPr id="28" name="Text 25"/>
          <p:cNvSpPr/>
          <p:nvPr/>
        </p:nvSpPr>
        <p:spPr>
          <a:xfrm>
            <a:off x="3398520" y="2487168"/>
            <a:ext cx="234696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Mechanism</a:t>
            </a:r>
            <a:endParaRPr lang="en-US" sz="900" dirty="0"/>
          </a:p>
        </p:txBody>
      </p:sp>
      <p:sp>
        <p:nvSpPr>
          <p:cNvPr id="29" name="Text 26"/>
          <p:cNvSpPr/>
          <p:nvPr/>
        </p:nvSpPr>
        <p:spPr>
          <a:xfrm>
            <a:off x="3398520" y="2743200"/>
            <a:ext cx="2346960" cy="1508760"/>
          </a:xfrm>
          <a:prstGeom prst="rect">
            <a:avLst/>
          </a:prstGeom>
          <a:noFill/>
          <a:ln/>
        </p:spPr>
        <p:txBody>
          <a:bodyPr wrap="square" rtlCol="0" anchor="t">
            <a:normAutofit/>
          </a:bodyPr>
          <a:lstStyle/>
          <a:p>
            <a:pPr indent="0" marL="0">
              <a:lnSpc>
                <a:spcPct val="120000"/>
              </a:lnSpc>
              <a:buNone/>
            </a:pPr>
            <a:r>
              <a:rPr lang="en-US" sz="900" dirty="0">
                <a:solidFill>
                  <a:srgbClr val="333333"/>
                </a:solidFill>
                <a:latin typeface="Calibri" pitchFamily="34" charset="0"/>
                <a:ea typeface="Calibri" pitchFamily="34" charset="-122"/>
                <a:cs typeface="Calibri" pitchFamily="34" charset="-120"/>
              </a:rPr>
              <a:t>sgRNA引导Cas9核酸酶精准定位目标DNA序列，在PAM序列旁切割双链。细胞通过NHEJ(插入/缺失)或HDR(精确替换)修复</a:t>
            </a:r>
            <a:endParaRPr lang="en-US" sz="900" dirty="0"/>
          </a:p>
        </p:txBody>
      </p:sp>
      <p:sp>
        <p:nvSpPr>
          <p:cNvPr id="30" name="Shape 27"/>
          <p:cNvSpPr/>
          <p:nvPr/>
        </p:nvSpPr>
        <p:spPr>
          <a:xfrm>
            <a:off x="6065520" y="2103120"/>
            <a:ext cx="2621280" cy="2286000"/>
          </a:xfrm>
          <a:prstGeom prst="roundRect">
            <a:avLst>
              <a:gd name="adj" fmla="val 3200"/>
            </a:avLst>
          </a:prstGeom>
          <a:solidFill>
            <a:srgbClr val="FFFFFF"/>
          </a:solidFill>
          <a:ln/>
          <a:effectLst>
            <a:outerShdw sx="100000" sy="100000" kx="0" ky="0" algn="bl" rotWithShape="0" blurRad="152400" dist="50800" dir="8100000">
              <a:srgbClr val="000000">
                <a:alpha val="28000"/>
              </a:srgbClr>
            </a:outerShdw>
          </a:effectLst>
        </p:spPr>
      </p:sp>
      <p:sp>
        <p:nvSpPr>
          <p:cNvPr id="31" name="Shape 28"/>
          <p:cNvSpPr/>
          <p:nvPr/>
        </p:nvSpPr>
        <p:spPr>
          <a:xfrm>
            <a:off x="6065520" y="2103120"/>
            <a:ext cx="2621280" cy="54864"/>
          </a:xfrm>
          <a:prstGeom prst="rect">
            <a:avLst/>
          </a:prstGeom>
          <a:solidFill>
            <a:srgbClr val="2C5F2D"/>
          </a:solidFill>
          <a:ln/>
        </p:spPr>
      </p:sp>
      <p:sp>
        <p:nvSpPr>
          <p:cNvPr id="32" name="Text 29"/>
          <p:cNvSpPr/>
          <p:nvPr/>
        </p:nvSpPr>
        <p:spPr>
          <a:xfrm>
            <a:off x="6202680" y="2240280"/>
            <a:ext cx="2346960" cy="27432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应用领域</a:t>
            </a:r>
            <a:endParaRPr lang="en-US" sz="1200" dirty="0"/>
          </a:p>
        </p:txBody>
      </p:sp>
      <p:sp>
        <p:nvSpPr>
          <p:cNvPr id="33" name="Text 30"/>
          <p:cNvSpPr/>
          <p:nvPr/>
        </p:nvSpPr>
        <p:spPr>
          <a:xfrm>
            <a:off x="6202680" y="2487168"/>
            <a:ext cx="234696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Applications</a:t>
            </a:r>
            <a:endParaRPr lang="en-US" sz="900" dirty="0"/>
          </a:p>
        </p:txBody>
      </p:sp>
      <p:sp>
        <p:nvSpPr>
          <p:cNvPr id="34" name="Text 31"/>
          <p:cNvSpPr/>
          <p:nvPr/>
        </p:nvSpPr>
        <p:spPr>
          <a:xfrm>
            <a:off x="6202680" y="2743200"/>
            <a:ext cx="2346960" cy="1508760"/>
          </a:xfrm>
          <a:prstGeom prst="rect">
            <a:avLst/>
          </a:prstGeom>
          <a:noFill/>
          <a:ln/>
        </p:spPr>
        <p:txBody>
          <a:bodyPr wrap="square" rtlCol="0" anchor="t">
            <a:normAutofit/>
          </a:bodyPr>
          <a:lstStyle/>
          <a:p>
            <a:pPr indent="0" marL="0">
              <a:lnSpc>
                <a:spcPct val="120000"/>
              </a:lnSpc>
              <a:buNone/>
            </a:pPr>
            <a:r>
              <a:rPr lang="en-US" sz="900" dirty="0">
                <a:solidFill>
                  <a:srgbClr val="333333"/>
                </a:solidFill>
                <a:latin typeface="Calibri" pitchFamily="34" charset="0"/>
                <a:ea typeface="Calibri" pitchFamily="34" charset="-122"/>
                <a:cs typeface="Calibri" pitchFamily="34" charset="-120"/>
              </a:rPr>
              <a:t>基因治疗(镰刀贫血、遗传性失明)、农业育种(抗病作物)、基础研究(基因功能敲除)、诊断(CRISPR-based diagnostics)</a:t>
            </a:r>
            <a:endParaRPr lang="en-US" sz="900" dirty="0"/>
          </a:p>
        </p:txBody>
      </p:sp>
      <p:sp>
        <p:nvSpPr>
          <p:cNvPr id="35" name="Text 32"/>
          <p:cNvSpPr/>
          <p:nvPr/>
        </p:nvSpPr>
        <p:spPr>
          <a:xfrm>
            <a:off x="457200" y="4480560"/>
            <a:ext cx="8229600" cy="365760"/>
          </a:xfrm>
          <a:prstGeom prst="rect">
            <a:avLst/>
          </a:prstGeom>
          <a:noFill/>
          <a:ln/>
        </p:spPr>
        <p:txBody>
          <a:bodyPr wrap="square" rtlCol="0" anchor="ctr">
            <a:normAutofit/>
          </a:bodyPr>
          <a:lstStyle/>
          <a:p>
            <a:pPr algn="ctr" indent="0" marL="0">
              <a:buNone/>
            </a:pPr>
            <a:r>
              <a:rPr lang="en-US" sz="1200" i="1" dirty="0">
                <a:solidFill>
                  <a:srgbClr val="D4A843"/>
                </a:solidFill>
                <a:latin typeface="Georgia" pitchFamily="34" charset="0"/>
                <a:ea typeface="Georgia" pitchFamily="34" charset="-122"/>
                <a:cs typeface="Georgia" pitchFamily="34" charset="-120"/>
              </a:rPr>
              <a:t>革命性意义：首次实现精准、简便、低成本的基因组编辑 —— "基因手术刀"</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320040"/>
            <a:ext cx="73152" cy="594360"/>
          </a:xfrm>
          <a:prstGeom prst="rect">
            <a:avLst/>
          </a:prstGeom>
          <a:solidFill>
            <a:srgbClr val="D4A843"/>
          </a:solidFill>
          <a:ln/>
        </p:spPr>
      </p:sp>
      <p:sp>
        <p:nvSpPr>
          <p:cNvPr id="4" name="Text 1"/>
          <p:cNvSpPr/>
          <p:nvPr/>
        </p:nvSpPr>
        <p:spPr>
          <a:xfrm>
            <a:off x="640080" y="274320"/>
            <a:ext cx="8046720" cy="502920"/>
          </a:xfrm>
          <a:prstGeom prst="rect">
            <a:avLst/>
          </a:prstGeom>
          <a:noFill/>
          <a:ln/>
        </p:spPr>
        <p:txBody>
          <a:bodyPr wrap="square" rtlCol="0" anchor="ctr">
            <a:normAutofit/>
          </a:bodyPr>
          <a:lstStyle/>
          <a:p>
            <a:pPr indent="0" marL="0">
              <a:buNone/>
            </a:pPr>
            <a:r>
              <a:rPr lang="en-US" sz="2600" b="1" spc="150" kern="0" dirty="0">
                <a:solidFill>
                  <a:srgbClr val="2C5F2D"/>
                </a:solidFill>
                <a:latin typeface="Georgia" pitchFamily="34" charset="0"/>
                <a:ea typeface="Georgia" pitchFamily="34" charset="-122"/>
                <a:cs typeface="Georgia" pitchFamily="34" charset="-120"/>
              </a:rPr>
              <a:t>关键科学家  /  Key Scientists Through History</a:t>
            </a:r>
            <a:endParaRPr lang="en-US" sz="2600" dirty="0"/>
          </a:p>
        </p:txBody>
      </p:sp>
      <p:sp>
        <p:nvSpPr>
          <p:cNvPr id="5" name="Text 2"/>
          <p:cNvSpPr/>
          <p:nvPr/>
        </p:nvSpPr>
        <p:spPr>
          <a:xfrm>
            <a:off x="640080" y="777240"/>
            <a:ext cx="8046720" cy="274320"/>
          </a:xfrm>
          <a:prstGeom prst="rect">
            <a:avLst/>
          </a:prstGeom>
          <a:noFill/>
          <a:ln/>
        </p:spPr>
        <p:txBody>
          <a:bodyPr wrap="square" rtlCol="0" anchor="ctr">
            <a:normAutofit/>
          </a:bodyPr>
          <a:lstStyle/>
          <a:p>
            <a:pPr indent="0" marL="0">
              <a:buNone/>
            </a:pPr>
            <a:r>
              <a:rPr lang="en-US" sz="1300" i="1" dirty="0">
                <a:solidFill>
                  <a:srgbClr val="97BC62"/>
                </a:solidFill>
                <a:latin typeface="Calibri" pitchFamily="34" charset="0"/>
                <a:ea typeface="Calibri" pitchFamily="34" charset="-122"/>
                <a:cs typeface="Calibri" pitchFamily="34" charset="-120"/>
              </a:rPr>
              <a:t>四位塑造遗传学的科学家 / Four Scientists Who Shaped Genetics</a:t>
            </a:r>
            <a:endParaRPr lang="en-US" sz="1300" dirty="0"/>
          </a:p>
        </p:txBody>
      </p:sp>
      <p:sp>
        <p:nvSpPr>
          <p:cNvPr id="6" name="Shape 3"/>
          <p:cNvSpPr/>
          <p:nvPr/>
        </p:nvSpPr>
        <p:spPr>
          <a:xfrm>
            <a:off x="457200" y="1188720"/>
            <a:ext cx="4000500" cy="1691640"/>
          </a:xfrm>
          <a:prstGeom prst="roundRect">
            <a:avLst>
              <a:gd name="adj" fmla="val 4324"/>
            </a:avLst>
          </a:prstGeom>
          <a:solidFill>
            <a:srgbClr val="FFFFFF"/>
          </a:solidFill>
          <a:ln/>
          <a:effectLst>
            <a:outerShdw sx="100000" sy="100000" kx="0" ky="0" algn="bl" rotWithShape="0" blurRad="152400" dist="50800" dir="8100000">
              <a:srgbClr val="000000">
                <a:alpha val="28000"/>
              </a:srgbClr>
            </a:outerShdw>
          </a:effectLst>
        </p:spPr>
      </p:sp>
      <p:sp>
        <p:nvSpPr>
          <p:cNvPr id="7" name="Shape 4"/>
          <p:cNvSpPr/>
          <p:nvPr/>
        </p:nvSpPr>
        <p:spPr>
          <a:xfrm>
            <a:off x="457200" y="1188720"/>
            <a:ext cx="4000500" cy="73152"/>
          </a:xfrm>
          <a:prstGeom prst="rect">
            <a:avLst/>
          </a:prstGeom>
          <a:solidFill>
            <a:srgbClr val="2C5F2D"/>
          </a:solidFill>
          <a:ln/>
        </p:spPr>
      </p:sp>
      <p:sp>
        <p:nvSpPr>
          <p:cNvPr id="8" name="Shape 5"/>
          <p:cNvSpPr/>
          <p:nvPr/>
        </p:nvSpPr>
        <p:spPr>
          <a:xfrm>
            <a:off x="640080" y="1417320"/>
            <a:ext cx="640080" cy="640080"/>
          </a:xfrm>
          <a:prstGeom prst="ellipse">
            <a:avLst/>
          </a:prstGeom>
          <a:solidFill>
            <a:srgbClr val="2C5F2D"/>
          </a:solidFill>
          <a:ln/>
        </p:spPr>
      </p:sp>
      <p:sp>
        <p:nvSpPr>
          <p:cNvPr id="9" name="Text 6"/>
          <p:cNvSpPr/>
          <p:nvPr/>
        </p:nvSpPr>
        <p:spPr>
          <a:xfrm>
            <a:off x="640080" y="1417320"/>
            <a:ext cx="640080" cy="640080"/>
          </a:xfrm>
          <a:prstGeom prst="rect">
            <a:avLst/>
          </a:prstGeom>
          <a:noFill/>
          <a:ln/>
        </p:spPr>
        <p:txBody>
          <a:bodyPr wrap="square" rtlCol="0" anchor="ctr">
            <a:normAutofit/>
          </a:bodyPr>
          <a:lstStyle/>
          <a:p>
            <a:pPr algn="ctr" indent="0" marL="0">
              <a:buNone/>
            </a:pPr>
            <a:r>
              <a:rPr lang="en-US" sz="2400" b="1" dirty="0">
                <a:solidFill>
                  <a:srgbClr val="FFFFFF"/>
                </a:solidFill>
                <a:latin typeface="Georgia" pitchFamily="34" charset="0"/>
                <a:ea typeface="Georgia" pitchFamily="34" charset="-122"/>
                <a:cs typeface="Georgia" pitchFamily="34" charset="-120"/>
              </a:rPr>
              <a:t>M</a:t>
            </a:r>
            <a:endParaRPr lang="en-US" sz="2400" dirty="0"/>
          </a:p>
        </p:txBody>
      </p:sp>
      <p:sp>
        <p:nvSpPr>
          <p:cNvPr id="10" name="Text 7"/>
          <p:cNvSpPr/>
          <p:nvPr/>
        </p:nvSpPr>
        <p:spPr>
          <a:xfrm>
            <a:off x="1417320" y="1371600"/>
            <a:ext cx="2857500" cy="320040"/>
          </a:xfrm>
          <a:prstGeom prst="rect">
            <a:avLst/>
          </a:prstGeom>
          <a:noFill/>
          <a:ln/>
        </p:spPr>
        <p:txBody>
          <a:bodyPr wrap="square" rtlCol="0" anchor="ctr">
            <a:normAutofit/>
          </a:bodyPr>
          <a:lstStyle/>
          <a:p>
            <a:pPr indent="0" marL="0">
              <a:buNone/>
            </a:pPr>
            <a:r>
              <a:rPr lang="en-US" sz="1500" b="1" dirty="0">
                <a:solidFill>
                  <a:srgbClr val="2C5F2D"/>
                </a:solidFill>
                <a:latin typeface="Georgia" pitchFamily="34" charset="0"/>
                <a:ea typeface="Georgia" pitchFamily="34" charset="-122"/>
                <a:cs typeface="Georgia" pitchFamily="34" charset="-120"/>
              </a:rPr>
              <a:t>孟德尔</a:t>
            </a:r>
            <a:endParaRPr lang="en-US" sz="1500" dirty="0"/>
          </a:p>
        </p:txBody>
      </p:sp>
      <p:sp>
        <p:nvSpPr>
          <p:cNvPr id="11" name="Text 8"/>
          <p:cNvSpPr/>
          <p:nvPr/>
        </p:nvSpPr>
        <p:spPr>
          <a:xfrm>
            <a:off x="1417320" y="1664208"/>
            <a:ext cx="2857500" cy="201168"/>
          </a:xfrm>
          <a:prstGeom prst="rect">
            <a:avLst/>
          </a:prstGeom>
          <a:noFill/>
          <a:ln/>
        </p:spPr>
        <p:txBody>
          <a:bodyPr wrap="square" rtlCol="0" anchor="ctr">
            <a:normAutofit/>
          </a:bodyPr>
          <a:lstStyle/>
          <a:p>
            <a:pPr indent="0" marL="0">
              <a:buNone/>
            </a:pPr>
            <a:r>
              <a:rPr lang="en-US" sz="1000" i="1" dirty="0">
                <a:solidFill>
                  <a:srgbClr val="888888"/>
                </a:solidFill>
                <a:latin typeface="Calibri" pitchFamily="34" charset="0"/>
                <a:ea typeface="Calibri" pitchFamily="34" charset="-122"/>
                <a:cs typeface="Calibri" pitchFamily="34" charset="-120"/>
              </a:rPr>
              <a:t>Mendel  (1822-1884)</a:t>
            </a:r>
            <a:endParaRPr lang="en-US" sz="1000" dirty="0"/>
          </a:p>
        </p:txBody>
      </p:sp>
      <p:sp>
        <p:nvSpPr>
          <p:cNvPr id="12" name="Shape 9"/>
          <p:cNvSpPr/>
          <p:nvPr/>
        </p:nvSpPr>
        <p:spPr>
          <a:xfrm>
            <a:off x="1417320" y="1901952"/>
            <a:ext cx="2857500" cy="256032"/>
          </a:xfrm>
          <a:prstGeom prst="roundRect">
            <a:avLst>
              <a:gd name="adj" fmla="val 14286"/>
            </a:avLst>
          </a:prstGeom>
          <a:solidFill>
            <a:srgbClr val="E8EFE0"/>
          </a:solidFill>
          <a:ln/>
        </p:spPr>
      </p:sp>
      <p:sp>
        <p:nvSpPr>
          <p:cNvPr id="13" name="Text 10"/>
          <p:cNvSpPr/>
          <p:nvPr/>
        </p:nvSpPr>
        <p:spPr>
          <a:xfrm>
            <a:off x="1463040" y="1901952"/>
            <a:ext cx="2811780" cy="256032"/>
          </a:xfrm>
          <a:prstGeom prst="rect">
            <a:avLst/>
          </a:prstGeom>
          <a:noFill/>
          <a:ln/>
        </p:spPr>
        <p:txBody>
          <a:bodyPr wrap="square" rtlCol="0" anchor="ctr">
            <a:normAutofit/>
          </a:bodyPr>
          <a:lstStyle/>
          <a:p>
            <a:pPr indent="0" marL="0">
              <a:buNone/>
            </a:pPr>
            <a:r>
              <a:rPr lang="en-US" sz="1000" b="1" dirty="0">
                <a:solidFill>
                  <a:srgbClr val="2C5F2D"/>
                </a:solidFill>
                <a:latin typeface="Georgia" pitchFamily="34" charset="0"/>
                <a:ea typeface="Georgia" pitchFamily="34" charset="-122"/>
                <a:cs typeface="Georgia" pitchFamily="34" charset="-120"/>
              </a:rPr>
              <a:t>遗传学之父</a:t>
            </a:r>
            <a:endParaRPr lang="en-US" sz="1000" dirty="0"/>
          </a:p>
        </p:txBody>
      </p:sp>
      <p:sp>
        <p:nvSpPr>
          <p:cNvPr id="14" name="Text 11"/>
          <p:cNvSpPr/>
          <p:nvPr/>
        </p:nvSpPr>
        <p:spPr>
          <a:xfrm>
            <a:off x="640080" y="2240280"/>
            <a:ext cx="3634740" cy="502920"/>
          </a:xfrm>
          <a:prstGeom prst="rect">
            <a:avLst/>
          </a:prstGeom>
          <a:noFill/>
          <a:ln/>
        </p:spPr>
        <p:txBody>
          <a:bodyPr wrap="square" rtlCol="0" anchor="t">
            <a:normAutofit/>
          </a:bodyP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豌豆杂交实验发现遗传基本定律，将统计学引入生物学</a:t>
            </a:r>
            <a:endParaRPr lang="en-US" sz="1000" dirty="0"/>
          </a:p>
        </p:txBody>
      </p:sp>
      <p:sp>
        <p:nvSpPr>
          <p:cNvPr id="15" name="Shape 12"/>
          <p:cNvSpPr/>
          <p:nvPr/>
        </p:nvSpPr>
        <p:spPr>
          <a:xfrm>
            <a:off x="4686300" y="1188720"/>
            <a:ext cx="4000500" cy="1691640"/>
          </a:xfrm>
          <a:prstGeom prst="roundRect">
            <a:avLst>
              <a:gd name="adj" fmla="val 4324"/>
            </a:avLst>
          </a:prstGeom>
          <a:solidFill>
            <a:srgbClr val="FFFFFF"/>
          </a:solidFill>
          <a:ln/>
          <a:effectLst>
            <a:outerShdw sx="100000" sy="100000" kx="0" ky="0" algn="bl" rotWithShape="0" blurRad="152400" dist="50800" dir="8100000">
              <a:srgbClr val="000000">
                <a:alpha val="28000"/>
              </a:srgbClr>
            </a:outerShdw>
          </a:effectLst>
        </p:spPr>
      </p:sp>
      <p:sp>
        <p:nvSpPr>
          <p:cNvPr id="16" name="Shape 13"/>
          <p:cNvSpPr/>
          <p:nvPr/>
        </p:nvSpPr>
        <p:spPr>
          <a:xfrm>
            <a:off x="4686300" y="1188720"/>
            <a:ext cx="4000500" cy="73152"/>
          </a:xfrm>
          <a:prstGeom prst="rect">
            <a:avLst/>
          </a:prstGeom>
          <a:solidFill>
            <a:srgbClr val="3D7A3E"/>
          </a:solidFill>
          <a:ln/>
        </p:spPr>
      </p:sp>
      <p:sp>
        <p:nvSpPr>
          <p:cNvPr id="17" name="Shape 14"/>
          <p:cNvSpPr/>
          <p:nvPr/>
        </p:nvSpPr>
        <p:spPr>
          <a:xfrm>
            <a:off x="4869180" y="1417320"/>
            <a:ext cx="640080" cy="640080"/>
          </a:xfrm>
          <a:prstGeom prst="ellipse">
            <a:avLst/>
          </a:prstGeom>
          <a:solidFill>
            <a:srgbClr val="3D7A3E"/>
          </a:solidFill>
          <a:ln/>
        </p:spPr>
      </p:sp>
      <p:sp>
        <p:nvSpPr>
          <p:cNvPr id="18" name="Text 15"/>
          <p:cNvSpPr/>
          <p:nvPr/>
        </p:nvSpPr>
        <p:spPr>
          <a:xfrm>
            <a:off x="4869180" y="1417320"/>
            <a:ext cx="640080" cy="640080"/>
          </a:xfrm>
          <a:prstGeom prst="rect">
            <a:avLst/>
          </a:prstGeom>
          <a:noFill/>
          <a:ln/>
        </p:spPr>
        <p:txBody>
          <a:bodyPr wrap="square" rtlCol="0" anchor="ctr">
            <a:normAutofit/>
          </a:bodyPr>
          <a:lstStyle/>
          <a:p>
            <a:pPr algn="ctr" indent="0" marL="0">
              <a:buNone/>
            </a:pPr>
            <a:r>
              <a:rPr lang="en-US" sz="2400" b="1" dirty="0">
                <a:solidFill>
                  <a:srgbClr val="FFFFFF"/>
                </a:solidFill>
                <a:latin typeface="Georgia" pitchFamily="34" charset="0"/>
                <a:ea typeface="Georgia" pitchFamily="34" charset="-122"/>
                <a:cs typeface="Georgia" pitchFamily="34" charset="-120"/>
              </a:rPr>
              <a:t>M</a:t>
            </a:r>
            <a:endParaRPr lang="en-US" sz="2400" dirty="0"/>
          </a:p>
        </p:txBody>
      </p:sp>
      <p:sp>
        <p:nvSpPr>
          <p:cNvPr id="19" name="Text 16"/>
          <p:cNvSpPr/>
          <p:nvPr/>
        </p:nvSpPr>
        <p:spPr>
          <a:xfrm>
            <a:off x="5646420" y="1371600"/>
            <a:ext cx="2857500" cy="320040"/>
          </a:xfrm>
          <a:prstGeom prst="rect">
            <a:avLst/>
          </a:prstGeom>
          <a:noFill/>
          <a:ln/>
        </p:spPr>
        <p:txBody>
          <a:bodyPr wrap="square" rtlCol="0" anchor="ctr">
            <a:normAutofit/>
          </a:bodyPr>
          <a:lstStyle/>
          <a:p>
            <a:pPr indent="0" marL="0">
              <a:buNone/>
            </a:pPr>
            <a:r>
              <a:rPr lang="en-US" sz="1500" b="1" dirty="0">
                <a:solidFill>
                  <a:srgbClr val="2C5F2D"/>
                </a:solidFill>
                <a:latin typeface="Georgia" pitchFamily="34" charset="0"/>
                <a:ea typeface="Georgia" pitchFamily="34" charset="-122"/>
                <a:cs typeface="Georgia" pitchFamily="34" charset="-120"/>
              </a:rPr>
              <a:t>摩尔根</a:t>
            </a:r>
            <a:endParaRPr lang="en-US" sz="1500" dirty="0"/>
          </a:p>
        </p:txBody>
      </p:sp>
      <p:sp>
        <p:nvSpPr>
          <p:cNvPr id="20" name="Text 17"/>
          <p:cNvSpPr/>
          <p:nvPr/>
        </p:nvSpPr>
        <p:spPr>
          <a:xfrm>
            <a:off x="5646420" y="1664208"/>
            <a:ext cx="2857500" cy="201168"/>
          </a:xfrm>
          <a:prstGeom prst="rect">
            <a:avLst/>
          </a:prstGeom>
          <a:noFill/>
          <a:ln/>
        </p:spPr>
        <p:txBody>
          <a:bodyPr wrap="square" rtlCol="0" anchor="ctr">
            <a:normAutofit/>
          </a:bodyPr>
          <a:lstStyle/>
          <a:p>
            <a:pPr indent="0" marL="0">
              <a:buNone/>
            </a:pPr>
            <a:r>
              <a:rPr lang="en-US" sz="1000" i="1" dirty="0">
                <a:solidFill>
                  <a:srgbClr val="888888"/>
                </a:solidFill>
                <a:latin typeface="Calibri" pitchFamily="34" charset="0"/>
                <a:ea typeface="Calibri" pitchFamily="34" charset="-122"/>
                <a:cs typeface="Calibri" pitchFamily="34" charset="-120"/>
              </a:rPr>
              <a:t>Morgan  (1866-1945)</a:t>
            </a:r>
            <a:endParaRPr lang="en-US" sz="1000" dirty="0"/>
          </a:p>
        </p:txBody>
      </p:sp>
      <p:sp>
        <p:nvSpPr>
          <p:cNvPr id="21" name="Shape 18"/>
          <p:cNvSpPr/>
          <p:nvPr/>
        </p:nvSpPr>
        <p:spPr>
          <a:xfrm>
            <a:off x="5646420" y="1901952"/>
            <a:ext cx="2857500" cy="256032"/>
          </a:xfrm>
          <a:prstGeom prst="roundRect">
            <a:avLst>
              <a:gd name="adj" fmla="val 14286"/>
            </a:avLst>
          </a:prstGeom>
          <a:solidFill>
            <a:srgbClr val="E8EFE0"/>
          </a:solidFill>
          <a:ln/>
        </p:spPr>
      </p:sp>
      <p:sp>
        <p:nvSpPr>
          <p:cNvPr id="22" name="Text 19"/>
          <p:cNvSpPr/>
          <p:nvPr/>
        </p:nvSpPr>
        <p:spPr>
          <a:xfrm>
            <a:off x="5692140" y="1901952"/>
            <a:ext cx="2811780" cy="256032"/>
          </a:xfrm>
          <a:prstGeom prst="rect">
            <a:avLst/>
          </a:prstGeom>
          <a:noFill/>
          <a:ln/>
        </p:spPr>
        <p:txBody>
          <a:bodyPr wrap="square" rtlCol="0" anchor="ctr">
            <a:normAutofit/>
          </a:bodyPr>
          <a:lstStyle/>
          <a:p>
            <a:pPr indent="0" marL="0">
              <a:buNone/>
            </a:pPr>
            <a:r>
              <a:rPr lang="en-US" sz="1000" b="1" dirty="0">
                <a:solidFill>
                  <a:srgbClr val="3D7A3E"/>
                </a:solidFill>
                <a:latin typeface="Georgia" pitchFamily="34" charset="0"/>
                <a:ea typeface="Georgia" pitchFamily="34" charset="-122"/>
                <a:cs typeface="Georgia" pitchFamily="34" charset="-120"/>
              </a:rPr>
              <a:t>染色体遗传</a:t>
            </a:r>
            <a:endParaRPr lang="en-US" sz="1000" dirty="0"/>
          </a:p>
        </p:txBody>
      </p:sp>
      <p:sp>
        <p:nvSpPr>
          <p:cNvPr id="23" name="Text 20"/>
          <p:cNvSpPr/>
          <p:nvPr/>
        </p:nvSpPr>
        <p:spPr>
          <a:xfrm>
            <a:off x="4869180" y="2240280"/>
            <a:ext cx="3634740" cy="502920"/>
          </a:xfrm>
          <a:prstGeom prst="rect">
            <a:avLst/>
          </a:prstGeom>
          <a:noFill/>
          <a:ln/>
        </p:spPr>
        <p:txBody>
          <a:bodyPr wrap="square" rtlCol="0" anchor="t">
            <a:normAutofit/>
          </a:bodyP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果蝇实验证实基因在染色体上，1933年诺贝尔奖</a:t>
            </a:r>
            <a:endParaRPr lang="en-US" sz="1000" dirty="0"/>
          </a:p>
        </p:txBody>
      </p:sp>
      <p:sp>
        <p:nvSpPr>
          <p:cNvPr id="24" name="Shape 21"/>
          <p:cNvSpPr/>
          <p:nvPr/>
        </p:nvSpPr>
        <p:spPr>
          <a:xfrm>
            <a:off x="457200" y="3063240"/>
            <a:ext cx="4000500" cy="1691640"/>
          </a:xfrm>
          <a:prstGeom prst="roundRect">
            <a:avLst>
              <a:gd name="adj" fmla="val 4324"/>
            </a:avLst>
          </a:prstGeom>
          <a:solidFill>
            <a:srgbClr val="FFFFFF"/>
          </a:solidFill>
          <a:ln/>
          <a:effectLst>
            <a:outerShdw sx="100000" sy="100000" kx="0" ky="0" algn="bl" rotWithShape="0" blurRad="152400" dist="50800" dir="8100000">
              <a:srgbClr val="000000">
                <a:alpha val="28000"/>
              </a:srgbClr>
            </a:outerShdw>
          </a:effectLst>
        </p:spPr>
      </p:sp>
      <p:sp>
        <p:nvSpPr>
          <p:cNvPr id="25" name="Shape 22"/>
          <p:cNvSpPr/>
          <p:nvPr/>
        </p:nvSpPr>
        <p:spPr>
          <a:xfrm>
            <a:off x="457200" y="3063240"/>
            <a:ext cx="4000500" cy="73152"/>
          </a:xfrm>
          <a:prstGeom prst="rect">
            <a:avLst/>
          </a:prstGeom>
          <a:solidFill>
            <a:srgbClr val="97BC62"/>
          </a:solidFill>
          <a:ln/>
        </p:spPr>
      </p:sp>
      <p:sp>
        <p:nvSpPr>
          <p:cNvPr id="26" name="Shape 23"/>
          <p:cNvSpPr/>
          <p:nvPr/>
        </p:nvSpPr>
        <p:spPr>
          <a:xfrm>
            <a:off x="640080" y="3291840"/>
            <a:ext cx="640080" cy="640080"/>
          </a:xfrm>
          <a:prstGeom prst="ellipse">
            <a:avLst/>
          </a:prstGeom>
          <a:solidFill>
            <a:srgbClr val="97BC62"/>
          </a:solidFill>
          <a:ln/>
        </p:spPr>
      </p:sp>
      <p:sp>
        <p:nvSpPr>
          <p:cNvPr id="27" name="Text 24"/>
          <p:cNvSpPr/>
          <p:nvPr/>
        </p:nvSpPr>
        <p:spPr>
          <a:xfrm>
            <a:off x="640080" y="3291840"/>
            <a:ext cx="640080" cy="640080"/>
          </a:xfrm>
          <a:prstGeom prst="rect">
            <a:avLst/>
          </a:prstGeom>
          <a:noFill/>
          <a:ln/>
        </p:spPr>
        <p:txBody>
          <a:bodyPr wrap="square" rtlCol="0" anchor="ctr">
            <a:normAutofit/>
          </a:bodyPr>
          <a:lstStyle/>
          <a:p>
            <a:pPr algn="ctr" indent="0" marL="0">
              <a:buNone/>
            </a:pPr>
            <a:r>
              <a:rPr lang="en-US" sz="2400" b="1" dirty="0">
                <a:solidFill>
                  <a:srgbClr val="FFFFFF"/>
                </a:solidFill>
                <a:latin typeface="Georgia" pitchFamily="34" charset="0"/>
                <a:ea typeface="Georgia" pitchFamily="34" charset="-122"/>
                <a:cs typeface="Georgia" pitchFamily="34" charset="-120"/>
              </a:rPr>
              <a:t>W</a:t>
            </a:r>
            <a:endParaRPr lang="en-US" sz="2400" dirty="0"/>
          </a:p>
        </p:txBody>
      </p:sp>
      <p:sp>
        <p:nvSpPr>
          <p:cNvPr id="28" name="Text 25"/>
          <p:cNvSpPr/>
          <p:nvPr/>
        </p:nvSpPr>
        <p:spPr>
          <a:xfrm>
            <a:off x="1417320" y="3246120"/>
            <a:ext cx="2857500" cy="320040"/>
          </a:xfrm>
          <a:prstGeom prst="rect">
            <a:avLst/>
          </a:prstGeom>
          <a:noFill/>
          <a:ln/>
        </p:spPr>
        <p:txBody>
          <a:bodyPr wrap="square" rtlCol="0" anchor="ctr">
            <a:normAutofit/>
          </a:bodyPr>
          <a:lstStyle/>
          <a:p>
            <a:pPr indent="0" marL="0">
              <a:buNone/>
            </a:pPr>
            <a:r>
              <a:rPr lang="en-US" sz="1500" b="1" dirty="0">
                <a:solidFill>
                  <a:srgbClr val="2C5F2D"/>
                </a:solidFill>
                <a:latin typeface="Georgia" pitchFamily="34" charset="0"/>
                <a:ea typeface="Georgia" pitchFamily="34" charset="-122"/>
                <a:cs typeface="Georgia" pitchFamily="34" charset="-120"/>
              </a:rPr>
              <a:t>沃森&amp;克里克</a:t>
            </a:r>
            <a:endParaRPr lang="en-US" sz="1500" dirty="0"/>
          </a:p>
        </p:txBody>
      </p:sp>
      <p:sp>
        <p:nvSpPr>
          <p:cNvPr id="29" name="Text 26"/>
          <p:cNvSpPr/>
          <p:nvPr/>
        </p:nvSpPr>
        <p:spPr>
          <a:xfrm>
            <a:off x="1417320" y="3538728"/>
            <a:ext cx="2857500" cy="201168"/>
          </a:xfrm>
          <a:prstGeom prst="rect">
            <a:avLst/>
          </a:prstGeom>
          <a:noFill/>
          <a:ln/>
        </p:spPr>
        <p:txBody>
          <a:bodyPr wrap="square" rtlCol="0" anchor="ctr">
            <a:normAutofit/>
          </a:bodyPr>
          <a:lstStyle/>
          <a:p>
            <a:pPr indent="0" marL="0">
              <a:buNone/>
            </a:pPr>
            <a:r>
              <a:rPr lang="en-US" sz="1000" i="1" dirty="0">
                <a:solidFill>
                  <a:srgbClr val="888888"/>
                </a:solidFill>
                <a:latin typeface="Calibri" pitchFamily="34" charset="0"/>
                <a:ea typeface="Calibri" pitchFamily="34" charset="-122"/>
                <a:cs typeface="Calibri" pitchFamily="34" charset="-120"/>
              </a:rPr>
              <a:t>Watson &amp; Crick  (1953)</a:t>
            </a:r>
            <a:endParaRPr lang="en-US" sz="1000" dirty="0"/>
          </a:p>
        </p:txBody>
      </p:sp>
      <p:sp>
        <p:nvSpPr>
          <p:cNvPr id="30" name="Shape 27"/>
          <p:cNvSpPr/>
          <p:nvPr/>
        </p:nvSpPr>
        <p:spPr>
          <a:xfrm>
            <a:off x="1417320" y="3776472"/>
            <a:ext cx="2857500" cy="256032"/>
          </a:xfrm>
          <a:prstGeom prst="roundRect">
            <a:avLst>
              <a:gd name="adj" fmla="val 14286"/>
            </a:avLst>
          </a:prstGeom>
          <a:solidFill>
            <a:srgbClr val="E8EFE0"/>
          </a:solidFill>
          <a:ln/>
        </p:spPr>
      </p:sp>
      <p:sp>
        <p:nvSpPr>
          <p:cNvPr id="31" name="Text 28"/>
          <p:cNvSpPr/>
          <p:nvPr/>
        </p:nvSpPr>
        <p:spPr>
          <a:xfrm>
            <a:off x="1463040" y="3776472"/>
            <a:ext cx="2811780" cy="256032"/>
          </a:xfrm>
          <a:prstGeom prst="rect">
            <a:avLst/>
          </a:prstGeom>
          <a:noFill/>
          <a:ln/>
        </p:spPr>
        <p:txBody>
          <a:bodyPr wrap="square" rtlCol="0" anchor="ctr">
            <a:normAutofit/>
          </a:bodyPr>
          <a:lstStyle/>
          <a:p>
            <a:pPr indent="0" marL="0">
              <a:buNone/>
            </a:pPr>
            <a:r>
              <a:rPr lang="en-US" sz="1000" b="1" dirty="0">
                <a:solidFill>
                  <a:srgbClr val="97BC62"/>
                </a:solidFill>
                <a:latin typeface="Georgia" pitchFamily="34" charset="0"/>
                <a:ea typeface="Georgia" pitchFamily="34" charset="-122"/>
                <a:cs typeface="Georgia" pitchFamily="34" charset="-120"/>
              </a:rPr>
              <a:t>DNA双螺旋</a:t>
            </a:r>
            <a:endParaRPr lang="en-US" sz="1000" dirty="0"/>
          </a:p>
        </p:txBody>
      </p:sp>
      <p:sp>
        <p:nvSpPr>
          <p:cNvPr id="32" name="Text 29"/>
          <p:cNvSpPr/>
          <p:nvPr/>
        </p:nvSpPr>
        <p:spPr>
          <a:xfrm>
            <a:off x="640080" y="4114800"/>
            <a:ext cx="3634740" cy="502920"/>
          </a:xfrm>
          <a:prstGeom prst="rect">
            <a:avLst/>
          </a:prstGeom>
          <a:noFill/>
          <a:ln/>
        </p:spPr>
        <p:txBody>
          <a:bodyPr wrap="square" rtlCol="0" anchor="t">
            <a:normAutofit/>
          </a:bodyP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提出DNA双螺旋结构模型，开启分子遗传学时代</a:t>
            </a:r>
            <a:endParaRPr lang="en-US" sz="1000" dirty="0"/>
          </a:p>
        </p:txBody>
      </p:sp>
      <p:sp>
        <p:nvSpPr>
          <p:cNvPr id="33" name="Shape 30"/>
          <p:cNvSpPr/>
          <p:nvPr/>
        </p:nvSpPr>
        <p:spPr>
          <a:xfrm>
            <a:off x="4686300" y="3063240"/>
            <a:ext cx="4000500" cy="1691640"/>
          </a:xfrm>
          <a:prstGeom prst="roundRect">
            <a:avLst>
              <a:gd name="adj" fmla="val 4324"/>
            </a:avLst>
          </a:prstGeom>
          <a:solidFill>
            <a:srgbClr val="FFFFFF"/>
          </a:solidFill>
          <a:ln/>
          <a:effectLst>
            <a:outerShdw sx="100000" sy="100000" kx="0" ky="0" algn="bl" rotWithShape="0" blurRad="152400" dist="50800" dir="8100000">
              <a:srgbClr val="000000">
                <a:alpha val="28000"/>
              </a:srgbClr>
            </a:outerShdw>
          </a:effectLst>
        </p:spPr>
      </p:sp>
      <p:sp>
        <p:nvSpPr>
          <p:cNvPr id="34" name="Shape 31"/>
          <p:cNvSpPr/>
          <p:nvPr/>
        </p:nvSpPr>
        <p:spPr>
          <a:xfrm>
            <a:off x="4686300" y="3063240"/>
            <a:ext cx="4000500" cy="73152"/>
          </a:xfrm>
          <a:prstGeom prst="rect">
            <a:avLst/>
          </a:prstGeom>
          <a:solidFill>
            <a:srgbClr val="D4A843"/>
          </a:solidFill>
          <a:ln/>
        </p:spPr>
      </p:sp>
      <p:sp>
        <p:nvSpPr>
          <p:cNvPr id="35" name="Shape 32"/>
          <p:cNvSpPr/>
          <p:nvPr/>
        </p:nvSpPr>
        <p:spPr>
          <a:xfrm>
            <a:off x="4869180" y="3291840"/>
            <a:ext cx="640080" cy="640080"/>
          </a:xfrm>
          <a:prstGeom prst="ellipse">
            <a:avLst/>
          </a:prstGeom>
          <a:solidFill>
            <a:srgbClr val="D4A843"/>
          </a:solidFill>
          <a:ln/>
        </p:spPr>
      </p:sp>
      <p:sp>
        <p:nvSpPr>
          <p:cNvPr id="36" name="Text 33"/>
          <p:cNvSpPr/>
          <p:nvPr/>
        </p:nvSpPr>
        <p:spPr>
          <a:xfrm>
            <a:off x="4869180" y="3291840"/>
            <a:ext cx="640080" cy="640080"/>
          </a:xfrm>
          <a:prstGeom prst="rect">
            <a:avLst/>
          </a:prstGeom>
          <a:noFill/>
          <a:ln/>
        </p:spPr>
        <p:txBody>
          <a:bodyPr wrap="square" rtlCol="0" anchor="ctr">
            <a:normAutofit/>
          </a:bodyPr>
          <a:lstStyle/>
          <a:p>
            <a:pPr algn="ctr" indent="0" marL="0">
              <a:buNone/>
            </a:pPr>
            <a:r>
              <a:rPr lang="en-US" sz="2400" b="1" dirty="0">
                <a:solidFill>
                  <a:srgbClr val="FFFFFF"/>
                </a:solidFill>
                <a:latin typeface="Georgia" pitchFamily="34" charset="0"/>
                <a:ea typeface="Georgia" pitchFamily="34" charset="-122"/>
                <a:cs typeface="Georgia" pitchFamily="34" charset="-120"/>
              </a:rPr>
              <a:t>D</a:t>
            </a:r>
            <a:endParaRPr lang="en-US" sz="2400" dirty="0"/>
          </a:p>
        </p:txBody>
      </p:sp>
      <p:sp>
        <p:nvSpPr>
          <p:cNvPr id="37" name="Text 34"/>
          <p:cNvSpPr/>
          <p:nvPr/>
        </p:nvSpPr>
        <p:spPr>
          <a:xfrm>
            <a:off x="5646420" y="3246120"/>
            <a:ext cx="2857500" cy="320040"/>
          </a:xfrm>
          <a:prstGeom prst="rect">
            <a:avLst/>
          </a:prstGeom>
          <a:noFill/>
          <a:ln/>
        </p:spPr>
        <p:txBody>
          <a:bodyPr wrap="square" rtlCol="0" anchor="ctr">
            <a:normAutofit/>
          </a:bodyPr>
          <a:lstStyle/>
          <a:p>
            <a:pPr indent="0" marL="0">
              <a:buNone/>
            </a:pPr>
            <a:r>
              <a:rPr lang="en-US" sz="1500" b="1" dirty="0">
                <a:solidFill>
                  <a:srgbClr val="2C5F2D"/>
                </a:solidFill>
                <a:latin typeface="Georgia" pitchFamily="34" charset="0"/>
                <a:ea typeface="Georgia" pitchFamily="34" charset="-122"/>
                <a:cs typeface="Georgia" pitchFamily="34" charset="-120"/>
              </a:rPr>
              <a:t>杜德纳</a:t>
            </a:r>
            <a:endParaRPr lang="en-US" sz="1500" dirty="0"/>
          </a:p>
        </p:txBody>
      </p:sp>
      <p:sp>
        <p:nvSpPr>
          <p:cNvPr id="38" name="Text 35"/>
          <p:cNvSpPr/>
          <p:nvPr/>
        </p:nvSpPr>
        <p:spPr>
          <a:xfrm>
            <a:off x="5646420" y="3538728"/>
            <a:ext cx="2857500" cy="201168"/>
          </a:xfrm>
          <a:prstGeom prst="rect">
            <a:avLst/>
          </a:prstGeom>
          <a:noFill/>
          <a:ln/>
        </p:spPr>
        <p:txBody>
          <a:bodyPr wrap="square" rtlCol="0" anchor="ctr">
            <a:normAutofit/>
          </a:bodyPr>
          <a:lstStyle/>
          <a:p>
            <a:pPr indent="0" marL="0">
              <a:buNone/>
            </a:pPr>
            <a:r>
              <a:rPr lang="en-US" sz="1000" i="1" dirty="0">
                <a:solidFill>
                  <a:srgbClr val="888888"/>
                </a:solidFill>
                <a:latin typeface="Calibri" pitchFamily="34" charset="0"/>
                <a:ea typeface="Calibri" pitchFamily="34" charset="-122"/>
                <a:cs typeface="Calibri" pitchFamily="34" charset="-120"/>
              </a:rPr>
              <a:t>Doudna  (2020)</a:t>
            </a:r>
            <a:endParaRPr lang="en-US" sz="1000" dirty="0"/>
          </a:p>
        </p:txBody>
      </p:sp>
      <p:sp>
        <p:nvSpPr>
          <p:cNvPr id="39" name="Shape 36"/>
          <p:cNvSpPr/>
          <p:nvPr/>
        </p:nvSpPr>
        <p:spPr>
          <a:xfrm>
            <a:off x="5646420" y="3776472"/>
            <a:ext cx="2857500" cy="256032"/>
          </a:xfrm>
          <a:prstGeom prst="roundRect">
            <a:avLst>
              <a:gd name="adj" fmla="val 14286"/>
            </a:avLst>
          </a:prstGeom>
          <a:solidFill>
            <a:srgbClr val="E8EFE0"/>
          </a:solidFill>
          <a:ln/>
        </p:spPr>
      </p:sp>
      <p:sp>
        <p:nvSpPr>
          <p:cNvPr id="40" name="Text 37"/>
          <p:cNvSpPr/>
          <p:nvPr/>
        </p:nvSpPr>
        <p:spPr>
          <a:xfrm>
            <a:off x="5692140" y="3776472"/>
            <a:ext cx="2811780" cy="256032"/>
          </a:xfrm>
          <a:prstGeom prst="rect">
            <a:avLst/>
          </a:prstGeom>
          <a:noFill/>
          <a:ln/>
        </p:spPr>
        <p:txBody>
          <a:bodyPr wrap="square" rtlCol="0" anchor="ctr">
            <a:normAutofit/>
          </a:bodyPr>
          <a:lstStyle/>
          <a:p>
            <a:pPr indent="0" marL="0">
              <a:buNone/>
            </a:pPr>
            <a:r>
              <a:rPr lang="en-US" sz="1000" b="1" dirty="0">
                <a:solidFill>
                  <a:srgbClr val="D4A843"/>
                </a:solidFill>
                <a:latin typeface="Georgia" pitchFamily="34" charset="0"/>
                <a:ea typeface="Georgia" pitchFamily="34" charset="-122"/>
                <a:cs typeface="Georgia" pitchFamily="34" charset="-120"/>
              </a:rPr>
              <a:t>CRISPR编辑</a:t>
            </a:r>
            <a:endParaRPr lang="en-US" sz="1000" dirty="0"/>
          </a:p>
        </p:txBody>
      </p:sp>
      <p:sp>
        <p:nvSpPr>
          <p:cNvPr id="41" name="Text 38"/>
          <p:cNvSpPr/>
          <p:nvPr/>
        </p:nvSpPr>
        <p:spPr>
          <a:xfrm>
            <a:off x="4869180" y="4114800"/>
            <a:ext cx="3634740" cy="502920"/>
          </a:xfrm>
          <a:prstGeom prst="rect">
            <a:avLst/>
          </a:prstGeom>
          <a:noFill/>
          <a:ln/>
        </p:spPr>
        <p:txBody>
          <a:bodyPr wrap="square" rtlCol="0" anchor="t">
            <a:normAutofit/>
          </a:bodyPr>
          <a:lstStyle/>
          <a:p>
            <a:pPr indent="0" marL="0">
              <a:lnSpc>
                <a:spcPct val="120000"/>
              </a:lnSpc>
              <a:buNone/>
            </a:pPr>
            <a:r>
              <a:rPr lang="en-US" sz="1000" dirty="0">
                <a:solidFill>
                  <a:srgbClr val="333333"/>
                </a:solidFill>
                <a:latin typeface="Calibri" pitchFamily="34" charset="0"/>
                <a:ea typeface="Calibri" pitchFamily="34" charset="-122"/>
                <a:cs typeface="Calibri" pitchFamily="34" charset="-120"/>
              </a:rPr>
              <a:t>开发CRISPR-Cas9基因编辑技术，2020年诺贝尔化学奖</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320040"/>
            <a:ext cx="73152" cy="594360"/>
          </a:xfrm>
          <a:prstGeom prst="rect">
            <a:avLst/>
          </a:prstGeom>
          <a:solidFill>
            <a:srgbClr val="D4A843"/>
          </a:solidFill>
          <a:ln/>
        </p:spPr>
      </p:sp>
      <p:sp>
        <p:nvSpPr>
          <p:cNvPr id="4" name="Text 1"/>
          <p:cNvSpPr/>
          <p:nvPr/>
        </p:nvSpPr>
        <p:spPr>
          <a:xfrm>
            <a:off x="640080" y="274320"/>
            <a:ext cx="8046720" cy="502920"/>
          </a:xfrm>
          <a:prstGeom prst="rect">
            <a:avLst/>
          </a:prstGeom>
          <a:noFill/>
          <a:ln/>
        </p:spPr>
        <p:txBody>
          <a:bodyPr wrap="square" rtlCol="0" anchor="ctr">
            <a:normAutofit/>
          </a:bodyPr>
          <a:lstStyle/>
          <a:p>
            <a:pPr indent="0" marL="0">
              <a:buNone/>
            </a:pPr>
            <a:r>
              <a:rPr lang="en-US" sz="2600" b="1" spc="150" kern="0" dirty="0">
                <a:solidFill>
                  <a:srgbClr val="2C5F2D"/>
                </a:solidFill>
                <a:latin typeface="Georgia" pitchFamily="34" charset="0"/>
                <a:ea typeface="Georgia" pitchFamily="34" charset="-122"/>
                <a:cs typeface="Georgia" pitchFamily="34" charset="-120"/>
              </a:rPr>
              <a:t>历史的启示  /  Lessons from History</a:t>
            </a:r>
            <a:endParaRPr lang="en-US" sz="2600" dirty="0"/>
          </a:p>
        </p:txBody>
      </p:sp>
      <p:sp>
        <p:nvSpPr>
          <p:cNvPr id="5" name="Text 2"/>
          <p:cNvSpPr/>
          <p:nvPr/>
        </p:nvSpPr>
        <p:spPr>
          <a:xfrm>
            <a:off x="640080" y="777240"/>
            <a:ext cx="8046720" cy="274320"/>
          </a:xfrm>
          <a:prstGeom prst="rect">
            <a:avLst/>
          </a:prstGeom>
          <a:noFill/>
          <a:ln/>
        </p:spPr>
        <p:txBody>
          <a:bodyPr wrap="square" rtlCol="0" anchor="ctr">
            <a:normAutofit/>
          </a:bodyPr>
          <a:lstStyle/>
          <a:p>
            <a:pPr indent="0" marL="0">
              <a:buNone/>
            </a:pPr>
            <a:r>
              <a:rPr lang="en-US" sz="1300" i="1" dirty="0">
                <a:solidFill>
                  <a:srgbClr val="97BC62"/>
                </a:solidFill>
                <a:latin typeface="Calibri" pitchFamily="34" charset="0"/>
                <a:ea typeface="Calibri" pitchFamily="34" charset="-122"/>
                <a:cs typeface="Calibri" pitchFamily="34" charset="-120"/>
              </a:rPr>
              <a:t>遗传学发展史给我们的五点启示</a:t>
            </a:r>
            <a:endParaRPr lang="en-US" sz="1300" dirty="0"/>
          </a:p>
        </p:txBody>
      </p:sp>
      <p:sp>
        <p:nvSpPr>
          <p:cNvPr id="6" name="Shape 3"/>
          <p:cNvSpPr/>
          <p:nvPr/>
        </p:nvSpPr>
        <p:spPr>
          <a:xfrm>
            <a:off x="457200" y="1188720"/>
            <a:ext cx="2621280" cy="1463040"/>
          </a:xfrm>
          <a:prstGeom prst="roundRect">
            <a:avLst>
              <a:gd name="adj" fmla="val 5000"/>
            </a:avLst>
          </a:prstGeom>
          <a:solidFill>
            <a:srgbClr val="FFFFFF"/>
          </a:solidFill>
          <a:ln/>
          <a:effectLst>
            <a:outerShdw sx="100000" sy="100000" kx="0" ky="0" algn="bl" rotWithShape="0" blurRad="152400" dist="50800" dir="8100000">
              <a:srgbClr val="000000">
                <a:alpha val="28000"/>
              </a:srgbClr>
            </a:outerShdw>
          </a:effectLst>
        </p:spPr>
      </p:sp>
      <p:sp>
        <p:nvSpPr>
          <p:cNvPr id="7" name="Shape 4"/>
          <p:cNvSpPr/>
          <p:nvPr/>
        </p:nvSpPr>
        <p:spPr>
          <a:xfrm>
            <a:off x="457200" y="1188720"/>
            <a:ext cx="2621280" cy="54864"/>
          </a:xfrm>
          <a:prstGeom prst="rect">
            <a:avLst/>
          </a:prstGeom>
          <a:solidFill>
            <a:srgbClr val="2C5F2D"/>
          </a:solidFill>
          <a:ln/>
        </p:spPr>
      </p:sp>
      <p:sp>
        <p:nvSpPr>
          <p:cNvPr id="8" name="Shape 5"/>
          <p:cNvSpPr/>
          <p:nvPr/>
        </p:nvSpPr>
        <p:spPr>
          <a:xfrm>
            <a:off x="594360" y="1371600"/>
            <a:ext cx="365760" cy="365760"/>
          </a:xfrm>
          <a:prstGeom prst="ellipse">
            <a:avLst/>
          </a:prstGeom>
          <a:solidFill>
            <a:srgbClr val="D4A843"/>
          </a:solidFill>
          <a:ln/>
        </p:spPr>
      </p:sp>
      <p:sp>
        <p:nvSpPr>
          <p:cNvPr id="9" name="Text 6"/>
          <p:cNvSpPr/>
          <p:nvPr/>
        </p:nvSpPr>
        <p:spPr>
          <a:xfrm>
            <a:off x="594360" y="1371600"/>
            <a:ext cx="365760" cy="365760"/>
          </a:xfrm>
          <a:prstGeom prst="rect">
            <a:avLst/>
          </a:prstGeom>
          <a:noFill/>
          <a:ln/>
        </p:spPr>
        <p:txBody>
          <a:bodyPr wrap="square" rtlCol="0" anchor="ctr">
            <a:normAutofit/>
          </a:bodyP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10" name="Text 7"/>
          <p:cNvSpPr/>
          <p:nvPr/>
        </p:nvSpPr>
        <p:spPr>
          <a:xfrm>
            <a:off x="1051560" y="1353312"/>
            <a:ext cx="1889760" cy="22860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数学是基石</a:t>
            </a:r>
            <a:endParaRPr lang="en-US" sz="1200" dirty="0"/>
          </a:p>
        </p:txBody>
      </p:sp>
      <p:sp>
        <p:nvSpPr>
          <p:cNvPr id="11" name="Text 8"/>
          <p:cNvSpPr/>
          <p:nvPr/>
        </p:nvSpPr>
        <p:spPr>
          <a:xfrm>
            <a:off x="1051560" y="1572768"/>
            <a:ext cx="1889760" cy="182880"/>
          </a:xfrm>
          <a:prstGeom prst="rect">
            <a:avLst/>
          </a:prstGeom>
          <a:noFill/>
          <a:ln/>
        </p:spPr>
        <p:txBody>
          <a:bodyPr wrap="square" rtlCol="0" anchor="ctr">
            <a:normAutofit/>
          </a:bodyPr>
          <a:lstStyle/>
          <a:p>
            <a:pPr indent="0" marL="0">
              <a:buNone/>
            </a:pPr>
            <a:r>
              <a:rPr lang="en-US" sz="800" i="1" dirty="0">
                <a:solidFill>
                  <a:srgbClr val="888888"/>
                </a:solidFill>
                <a:latin typeface="Calibri" pitchFamily="34" charset="0"/>
                <a:ea typeface="Calibri" pitchFamily="34" charset="-122"/>
                <a:cs typeface="Calibri" pitchFamily="34" charset="-120"/>
              </a:rPr>
              <a:t>Mathematics is Foundation</a:t>
            </a:r>
            <a:endParaRPr lang="en-US" sz="800" dirty="0"/>
          </a:p>
        </p:txBody>
      </p:sp>
      <p:sp>
        <p:nvSpPr>
          <p:cNvPr id="12" name="Text 9"/>
          <p:cNvSpPr/>
          <p:nvPr/>
        </p:nvSpPr>
        <p:spPr>
          <a:xfrm>
            <a:off x="594360" y="1828800"/>
            <a:ext cx="2346960" cy="731520"/>
          </a:xfrm>
          <a:prstGeom prst="rect">
            <a:avLst/>
          </a:prstGeom>
          <a:noFill/>
          <a:ln/>
        </p:spPr>
        <p:txBody>
          <a:bodyPr wrap="square" rtlCol="0" anchor="t">
            <a:normAutofit/>
          </a:bodyPr>
          <a:lstStyle/>
          <a:p>
            <a:pPr indent="0" marL="0">
              <a:lnSpc>
                <a:spcPct val="115000"/>
              </a:lnSpc>
              <a:buNone/>
            </a:pPr>
            <a:r>
              <a:rPr lang="en-US" sz="900" dirty="0">
                <a:solidFill>
                  <a:srgbClr val="333333"/>
                </a:solidFill>
                <a:latin typeface="Calibri" pitchFamily="34" charset="0"/>
                <a:ea typeface="Calibri" pitchFamily="34" charset="-122"/>
                <a:cs typeface="Calibri" pitchFamily="34" charset="-120"/>
              </a:rPr>
              <a:t>孟德尔将概率论引入生物学，没有数学就没有遗传学</a:t>
            </a:r>
            <a:endParaRPr lang="en-US" sz="900" dirty="0"/>
          </a:p>
        </p:txBody>
      </p:sp>
      <p:sp>
        <p:nvSpPr>
          <p:cNvPr id="13" name="Shape 10"/>
          <p:cNvSpPr/>
          <p:nvPr/>
        </p:nvSpPr>
        <p:spPr>
          <a:xfrm>
            <a:off x="3261360" y="1188720"/>
            <a:ext cx="2621280" cy="1463040"/>
          </a:xfrm>
          <a:prstGeom prst="roundRect">
            <a:avLst>
              <a:gd name="adj" fmla="val 5000"/>
            </a:avLst>
          </a:prstGeom>
          <a:solidFill>
            <a:srgbClr val="FFFFFF"/>
          </a:solidFill>
          <a:ln/>
          <a:effectLst>
            <a:outerShdw sx="100000" sy="100000" kx="0" ky="0" algn="bl" rotWithShape="0" blurRad="152400" dist="50800" dir="8100000">
              <a:srgbClr val="000000">
                <a:alpha val="28000"/>
              </a:srgbClr>
            </a:outerShdw>
          </a:effectLst>
        </p:spPr>
      </p:sp>
      <p:sp>
        <p:nvSpPr>
          <p:cNvPr id="14" name="Shape 11"/>
          <p:cNvSpPr/>
          <p:nvPr/>
        </p:nvSpPr>
        <p:spPr>
          <a:xfrm>
            <a:off x="3261360" y="1188720"/>
            <a:ext cx="2621280" cy="54864"/>
          </a:xfrm>
          <a:prstGeom prst="rect">
            <a:avLst/>
          </a:prstGeom>
          <a:solidFill>
            <a:srgbClr val="2C5F2D"/>
          </a:solidFill>
          <a:ln/>
        </p:spPr>
      </p:sp>
      <p:sp>
        <p:nvSpPr>
          <p:cNvPr id="15" name="Shape 12"/>
          <p:cNvSpPr/>
          <p:nvPr/>
        </p:nvSpPr>
        <p:spPr>
          <a:xfrm>
            <a:off x="3398520" y="1371600"/>
            <a:ext cx="365760" cy="365760"/>
          </a:xfrm>
          <a:prstGeom prst="ellipse">
            <a:avLst/>
          </a:prstGeom>
          <a:solidFill>
            <a:srgbClr val="D4A843"/>
          </a:solidFill>
          <a:ln/>
        </p:spPr>
      </p:sp>
      <p:sp>
        <p:nvSpPr>
          <p:cNvPr id="16" name="Text 13"/>
          <p:cNvSpPr/>
          <p:nvPr/>
        </p:nvSpPr>
        <p:spPr>
          <a:xfrm>
            <a:off x="3398520" y="1371600"/>
            <a:ext cx="365760" cy="365760"/>
          </a:xfrm>
          <a:prstGeom prst="rect">
            <a:avLst/>
          </a:prstGeom>
          <a:noFill/>
          <a:ln/>
        </p:spPr>
        <p:txBody>
          <a:bodyPr wrap="square" rtlCol="0" anchor="ctr">
            <a:normAutofit/>
          </a:bodyP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7" name="Text 14"/>
          <p:cNvSpPr/>
          <p:nvPr/>
        </p:nvSpPr>
        <p:spPr>
          <a:xfrm>
            <a:off x="3855720" y="1353312"/>
            <a:ext cx="1889760" cy="22860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模式生物关键</a:t>
            </a:r>
            <a:endParaRPr lang="en-US" sz="1200" dirty="0"/>
          </a:p>
        </p:txBody>
      </p:sp>
      <p:sp>
        <p:nvSpPr>
          <p:cNvPr id="18" name="Text 15"/>
          <p:cNvSpPr/>
          <p:nvPr/>
        </p:nvSpPr>
        <p:spPr>
          <a:xfrm>
            <a:off x="3855720" y="1572768"/>
            <a:ext cx="1889760" cy="182880"/>
          </a:xfrm>
          <a:prstGeom prst="rect">
            <a:avLst/>
          </a:prstGeom>
          <a:noFill/>
          <a:ln/>
        </p:spPr>
        <p:txBody>
          <a:bodyPr wrap="square" rtlCol="0" anchor="ctr">
            <a:normAutofit/>
          </a:bodyPr>
          <a:lstStyle/>
          <a:p>
            <a:pPr indent="0" marL="0">
              <a:buNone/>
            </a:pPr>
            <a:r>
              <a:rPr lang="en-US" sz="800" i="1" dirty="0">
                <a:solidFill>
                  <a:srgbClr val="888888"/>
                </a:solidFill>
                <a:latin typeface="Calibri" pitchFamily="34" charset="0"/>
                <a:ea typeface="Calibri" pitchFamily="34" charset="-122"/>
                <a:cs typeface="Calibri" pitchFamily="34" charset="-120"/>
              </a:rPr>
              <a:t>Model Organisms Matter</a:t>
            </a:r>
            <a:endParaRPr lang="en-US" sz="800" dirty="0"/>
          </a:p>
        </p:txBody>
      </p:sp>
      <p:sp>
        <p:nvSpPr>
          <p:cNvPr id="19" name="Text 16"/>
          <p:cNvSpPr/>
          <p:nvPr/>
        </p:nvSpPr>
        <p:spPr>
          <a:xfrm>
            <a:off x="3398520" y="1828800"/>
            <a:ext cx="2346960" cy="731520"/>
          </a:xfrm>
          <a:prstGeom prst="rect">
            <a:avLst/>
          </a:prstGeom>
          <a:noFill/>
          <a:ln/>
        </p:spPr>
        <p:txBody>
          <a:bodyPr wrap="square" rtlCol="0" anchor="t">
            <a:normAutofit/>
          </a:bodyPr>
          <a:lstStyle/>
          <a:p>
            <a:pPr indent="0" marL="0">
              <a:lnSpc>
                <a:spcPct val="115000"/>
              </a:lnSpc>
              <a:buNone/>
            </a:pPr>
            <a:r>
              <a:rPr lang="en-US" sz="900" dirty="0">
                <a:solidFill>
                  <a:srgbClr val="333333"/>
                </a:solidFill>
                <a:latin typeface="Calibri" pitchFamily="34" charset="0"/>
                <a:ea typeface="Calibri" pitchFamily="34" charset="-122"/>
                <a:cs typeface="Calibri" pitchFamily="34" charset="-120"/>
              </a:rPr>
              <a:t>豌豆、果蝇、大肠杆菌——正确选择模式生物事半功倍</a:t>
            </a:r>
            <a:endParaRPr lang="en-US" sz="900" dirty="0"/>
          </a:p>
        </p:txBody>
      </p:sp>
      <p:sp>
        <p:nvSpPr>
          <p:cNvPr id="20" name="Shape 17"/>
          <p:cNvSpPr/>
          <p:nvPr/>
        </p:nvSpPr>
        <p:spPr>
          <a:xfrm>
            <a:off x="6065520" y="1188720"/>
            <a:ext cx="2621280" cy="1463040"/>
          </a:xfrm>
          <a:prstGeom prst="roundRect">
            <a:avLst>
              <a:gd name="adj" fmla="val 5000"/>
            </a:avLst>
          </a:prstGeom>
          <a:solidFill>
            <a:srgbClr val="FFFFFF"/>
          </a:solidFill>
          <a:ln/>
          <a:effectLst>
            <a:outerShdw sx="100000" sy="100000" kx="0" ky="0" algn="bl" rotWithShape="0" blurRad="152400" dist="50800" dir="8100000">
              <a:srgbClr val="000000">
                <a:alpha val="28000"/>
              </a:srgbClr>
            </a:outerShdw>
          </a:effectLst>
        </p:spPr>
      </p:sp>
      <p:sp>
        <p:nvSpPr>
          <p:cNvPr id="21" name="Shape 18"/>
          <p:cNvSpPr/>
          <p:nvPr/>
        </p:nvSpPr>
        <p:spPr>
          <a:xfrm>
            <a:off x="6065520" y="1188720"/>
            <a:ext cx="2621280" cy="54864"/>
          </a:xfrm>
          <a:prstGeom prst="rect">
            <a:avLst/>
          </a:prstGeom>
          <a:solidFill>
            <a:srgbClr val="2C5F2D"/>
          </a:solidFill>
          <a:ln/>
        </p:spPr>
      </p:sp>
      <p:sp>
        <p:nvSpPr>
          <p:cNvPr id="22" name="Shape 19"/>
          <p:cNvSpPr/>
          <p:nvPr/>
        </p:nvSpPr>
        <p:spPr>
          <a:xfrm>
            <a:off x="6202680" y="1371600"/>
            <a:ext cx="365760" cy="365760"/>
          </a:xfrm>
          <a:prstGeom prst="ellipse">
            <a:avLst/>
          </a:prstGeom>
          <a:solidFill>
            <a:srgbClr val="D4A843"/>
          </a:solidFill>
          <a:ln/>
        </p:spPr>
      </p:sp>
      <p:sp>
        <p:nvSpPr>
          <p:cNvPr id="23" name="Text 20"/>
          <p:cNvSpPr/>
          <p:nvPr/>
        </p:nvSpPr>
        <p:spPr>
          <a:xfrm>
            <a:off x="6202680" y="1371600"/>
            <a:ext cx="365760" cy="365760"/>
          </a:xfrm>
          <a:prstGeom prst="rect">
            <a:avLst/>
          </a:prstGeom>
          <a:noFill/>
          <a:ln/>
        </p:spPr>
        <p:txBody>
          <a:bodyPr wrap="square" rtlCol="0" anchor="ctr">
            <a:normAutofit/>
          </a:bodyP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4" name="Text 21"/>
          <p:cNvSpPr/>
          <p:nvPr/>
        </p:nvSpPr>
        <p:spPr>
          <a:xfrm>
            <a:off x="6659880" y="1353312"/>
            <a:ext cx="1889760" cy="22860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跨学科合作</a:t>
            </a:r>
            <a:endParaRPr lang="en-US" sz="1200" dirty="0"/>
          </a:p>
        </p:txBody>
      </p:sp>
      <p:sp>
        <p:nvSpPr>
          <p:cNvPr id="25" name="Text 22"/>
          <p:cNvSpPr/>
          <p:nvPr/>
        </p:nvSpPr>
        <p:spPr>
          <a:xfrm>
            <a:off x="6659880" y="1572768"/>
            <a:ext cx="1889760" cy="182880"/>
          </a:xfrm>
          <a:prstGeom prst="rect">
            <a:avLst/>
          </a:prstGeom>
          <a:noFill/>
          <a:ln/>
        </p:spPr>
        <p:txBody>
          <a:bodyPr wrap="square" rtlCol="0" anchor="ctr">
            <a:normAutofit/>
          </a:bodyPr>
          <a:lstStyle/>
          <a:p>
            <a:pPr indent="0" marL="0">
              <a:buNone/>
            </a:pPr>
            <a:r>
              <a:rPr lang="en-US" sz="800" i="1" dirty="0">
                <a:solidFill>
                  <a:srgbClr val="888888"/>
                </a:solidFill>
                <a:latin typeface="Calibri" pitchFamily="34" charset="0"/>
                <a:ea typeface="Calibri" pitchFamily="34" charset="-122"/>
                <a:cs typeface="Calibri" pitchFamily="34" charset="-120"/>
              </a:rPr>
              <a:t>Interdisciplinary Collaboration</a:t>
            </a:r>
            <a:endParaRPr lang="en-US" sz="800" dirty="0"/>
          </a:p>
        </p:txBody>
      </p:sp>
      <p:sp>
        <p:nvSpPr>
          <p:cNvPr id="26" name="Text 23"/>
          <p:cNvSpPr/>
          <p:nvPr/>
        </p:nvSpPr>
        <p:spPr>
          <a:xfrm>
            <a:off x="6202680" y="1828800"/>
            <a:ext cx="2346960" cy="731520"/>
          </a:xfrm>
          <a:prstGeom prst="rect">
            <a:avLst/>
          </a:prstGeom>
          <a:noFill/>
          <a:ln/>
        </p:spPr>
        <p:txBody>
          <a:bodyPr wrap="square" rtlCol="0" anchor="t">
            <a:normAutofit/>
          </a:bodyPr>
          <a:lstStyle/>
          <a:p>
            <a:pPr indent="0" marL="0">
              <a:lnSpc>
                <a:spcPct val="115000"/>
              </a:lnSpc>
              <a:buNone/>
            </a:pPr>
            <a:r>
              <a:rPr lang="en-US" sz="900" dirty="0">
                <a:solidFill>
                  <a:srgbClr val="333333"/>
                </a:solidFill>
                <a:latin typeface="Calibri" pitchFamily="34" charset="0"/>
                <a:ea typeface="Calibri" pitchFamily="34" charset="-122"/>
                <a:cs typeface="Calibri" pitchFamily="34" charset="-120"/>
              </a:rPr>
              <a:t>物理学家(Delbruck)+生物学家→分子生物学诞生</a:t>
            </a:r>
            <a:endParaRPr lang="en-US" sz="900" dirty="0"/>
          </a:p>
        </p:txBody>
      </p:sp>
      <p:sp>
        <p:nvSpPr>
          <p:cNvPr id="27" name="Shape 24"/>
          <p:cNvSpPr/>
          <p:nvPr/>
        </p:nvSpPr>
        <p:spPr>
          <a:xfrm>
            <a:off x="457200" y="2834640"/>
            <a:ext cx="4000500" cy="1463040"/>
          </a:xfrm>
          <a:prstGeom prst="roundRect">
            <a:avLst>
              <a:gd name="adj" fmla="val 5000"/>
            </a:avLst>
          </a:prstGeom>
          <a:solidFill>
            <a:srgbClr val="FFFFFF"/>
          </a:solidFill>
          <a:ln/>
          <a:effectLst>
            <a:outerShdw sx="100000" sy="100000" kx="0" ky="0" algn="bl" rotWithShape="0" blurRad="152400" dist="50800" dir="8100000">
              <a:srgbClr val="000000">
                <a:alpha val="28000"/>
              </a:srgbClr>
            </a:outerShdw>
          </a:effectLst>
        </p:spPr>
      </p:sp>
      <p:sp>
        <p:nvSpPr>
          <p:cNvPr id="28" name="Shape 25"/>
          <p:cNvSpPr/>
          <p:nvPr/>
        </p:nvSpPr>
        <p:spPr>
          <a:xfrm>
            <a:off x="457200" y="2834640"/>
            <a:ext cx="4000500" cy="54864"/>
          </a:xfrm>
          <a:prstGeom prst="rect">
            <a:avLst/>
          </a:prstGeom>
          <a:solidFill>
            <a:srgbClr val="97BC62"/>
          </a:solidFill>
          <a:ln/>
        </p:spPr>
      </p:sp>
      <p:sp>
        <p:nvSpPr>
          <p:cNvPr id="29" name="Shape 26"/>
          <p:cNvSpPr/>
          <p:nvPr/>
        </p:nvSpPr>
        <p:spPr>
          <a:xfrm>
            <a:off x="640080" y="3017520"/>
            <a:ext cx="411480" cy="411480"/>
          </a:xfrm>
          <a:prstGeom prst="ellipse">
            <a:avLst/>
          </a:prstGeom>
          <a:solidFill>
            <a:srgbClr val="D4A843"/>
          </a:solidFill>
          <a:ln/>
        </p:spPr>
      </p:sp>
      <p:sp>
        <p:nvSpPr>
          <p:cNvPr id="30" name="Text 27"/>
          <p:cNvSpPr/>
          <p:nvPr/>
        </p:nvSpPr>
        <p:spPr>
          <a:xfrm>
            <a:off x="640080" y="3017520"/>
            <a:ext cx="411480" cy="41148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31" name="Text 28"/>
          <p:cNvSpPr/>
          <p:nvPr/>
        </p:nvSpPr>
        <p:spPr>
          <a:xfrm>
            <a:off x="1143000" y="3017520"/>
            <a:ext cx="3131820" cy="22860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基础研究为先</a:t>
            </a:r>
            <a:endParaRPr lang="en-US" sz="1300" dirty="0"/>
          </a:p>
        </p:txBody>
      </p:sp>
      <p:sp>
        <p:nvSpPr>
          <p:cNvPr id="32" name="Text 29"/>
          <p:cNvSpPr/>
          <p:nvPr/>
        </p:nvSpPr>
        <p:spPr>
          <a:xfrm>
            <a:off x="1143000" y="3246120"/>
            <a:ext cx="313182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Basic Research First</a:t>
            </a:r>
            <a:endParaRPr lang="en-US" sz="900" dirty="0"/>
          </a:p>
        </p:txBody>
      </p:sp>
      <p:sp>
        <p:nvSpPr>
          <p:cNvPr id="33" name="Text 30"/>
          <p:cNvSpPr/>
          <p:nvPr/>
        </p:nvSpPr>
        <p:spPr>
          <a:xfrm>
            <a:off x="640080" y="3520440"/>
            <a:ext cx="3634740" cy="685800"/>
          </a:xfrm>
          <a:prstGeom prst="rect">
            <a:avLst/>
          </a:prstGeom>
          <a:noFill/>
          <a:ln/>
        </p:spPr>
        <p:txBody>
          <a:bodyPr wrap="square" rtlCol="0" anchor="t">
            <a:normAutofit/>
          </a:bodyPr>
          <a:lstStyle/>
          <a:p>
            <a:pPr indent="0" marL="0">
              <a:lnSpc>
                <a:spcPct val="115000"/>
              </a:lnSpc>
              <a:buNone/>
            </a:pPr>
            <a:r>
              <a:rPr lang="en-US" sz="1000" dirty="0">
                <a:solidFill>
                  <a:srgbClr val="333333"/>
                </a:solidFill>
                <a:latin typeface="Calibri" pitchFamily="34" charset="0"/>
                <a:ea typeface="Calibri" pitchFamily="34" charset="-122"/>
                <a:cs typeface="Calibri" pitchFamily="34" charset="-120"/>
              </a:rPr>
              <a:t>CRISPR的"偶然"发现源于细菌免疫的基础研究</a:t>
            </a:r>
            <a:endParaRPr lang="en-US" sz="1000" dirty="0"/>
          </a:p>
        </p:txBody>
      </p:sp>
      <p:sp>
        <p:nvSpPr>
          <p:cNvPr id="34" name="Shape 31"/>
          <p:cNvSpPr/>
          <p:nvPr/>
        </p:nvSpPr>
        <p:spPr>
          <a:xfrm>
            <a:off x="4686300" y="2834640"/>
            <a:ext cx="4000500" cy="1463040"/>
          </a:xfrm>
          <a:prstGeom prst="roundRect">
            <a:avLst>
              <a:gd name="adj" fmla="val 5000"/>
            </a:avLst>
          </a:prstGeom>
          <a:solidFill>
            <a:srgbClr val="FFFFFF"/>
          </a:solidFill>
          <a:ln/>
          <a:effectLst>
            <a:outerShdw sx="100000" sy="100000" kx="0" ky="0" algn="bl" rotWithShape="0" blurRad="152400" dist="50800" dir="8100000">
              <a:srgbClr val="000000">
                <a:alpha val="28000"/>
              </a:srgbClr>
            </a:outerShdw>
          </a:effectLst>
        </p:spPr>
      </p:sp>
      <p:sp>
        <p:nvSpPr>
          <p:cNvPr id="35" name="Shape 32"/>
          <p:cNvSpPr/>
          <p:nvPr/>
        </p:nvSpPr>
        <p:spPr>
          <a:xfrm>
            <a:off x="4686300" y="2834640"/>
            <a:ext cx="4000500" cy="54864"/>
          </a:xfrm>
          <a:prstGeom prst="rect">
            <a:avLst/>
          </a:prstGeom>
          <a:solidFill>
            <a:srgbClr val="97BC62"/>
          </a:solidFill>
          <a:ln/>
        </p:spPr>
      </p:sp>
      <p:sp>
        <p:nvSpPr>
          <p:cNvPr id="36" name="Shape 33"/>
          <p:cNvSpPr/>
          <p:nvPr/>
        </p:nvSpPr>
        <p:spPr>
          <a:xfrm>
            <a:off x="4869180" y="3017520"/>
            <a:ext cx="411480" cy="411480"/>
          </a:xfrm>
          <a:prstGeom prst="ellipse">
            <a:avLst/>
          </a:prstGeom>
          <a:solidFill>
            <a:srgbClr val="D4A843"/>
          </a:solidFill>
          <a:ln/>
        </p:spPr>
      </p:sp>
      <p:sp>
        <p:nvSpPr>
          <p:cNvPr id="37" name="Text 34"/>
          <p:cNvSpPr/>
          <p:nvPr/>
        </p:nvSpPr>
        <p:spPr>
          <a:xfrm>
            <a:off x="4869180" y="3017520"/>
            <a:ext cx="411480" cy="41148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38" name="Text 35"/>
          <p:cNvSpPr/>
          <p:nvPr/>
        </p:nvSpPr>
        <p:spPr>
          <a:xfrm>
            <a:off x="5372100" y="3017520"/>
            <a:ext cx="3131820" cy="22860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范式转变需时</a:t>
            </a:r>
            <a:endParaRPr lang="en-US" sz="1300" dirty="0"/>
          </a:p>
        </p:txBody>
      </p:sp>
      <p:sp>
        <p:nvSpPr>
          <p:cNvPr id="39" name="Text 36"/>
          <p:cNvSpPr/>
          <p:nvPr/>
        </p:nvSpPr>
        <p:spPr>
          <a:xfrm>
            <a:off x="5372100" y="3246120"/>
            <a:ext cx="3131820" cy="182880"/>
          </a:xfrm>
          <a:prstGeom prst="rect">
            <a:avLst/>
          </a:prstGeom>
          <a:noFill/>
          <a:ln/>
        </p:spPr>
        <p:txBody>
          <a:bodyPr wrap="square" rtlCol="0" anchor="ctr">
            <a:normAutofit/>
          </a:bodyPr>
          <a:lstStyle/>
          <a:p>
            <a:pPr indent="0" marL="0">
              <a:buNone/>
            </a:pPr>
            <a:r>
              <a:rPr lang="en-US" sz="900" i="1" dirty="0">
                <a:solidFill>
                  <a:srgbClr val="888888"/>
                </a:solidFill>
                <a:latin typeface="Calibri" pitchFamily="34" charset="0"/>
                <a:ea typeface="Calibri" pitchFamily="34" charset="-122"/>
                <a:cs typeface="Calibri" pitchFamily="34" charset="-120"/>
              </a:rPr>
              <a:t>Paradigm Shift Takes Time</a:t>
            </a:r>
            <a:endParaRPr lang="en-US" sz="900" dirty="0"/>
          </a:p>
        </p:txBody>
      </p:sp>
      <p:sp>
        <p:nvSpPr>
          <p:cNvPr id="40" name="Text 37"/>
          <p:cNvSpPr/>
          <p:nvPr/>
        </p:nvSpPr>
        <p:spPr>
          <a:xfrm>
            <a:off x="4869180" y="3520440"/>
            <a:ext cx="3634740" cy="685800"/>
          </a:xfrm>
          <a:prstGeom prst="rect">
            <a:avLst/>
          </a:prstGeom>
          <a:noFill/>
          <a:ln/>
        </p:spPr>
        <p:txBody>
          <a:bodyPr wrap="square" rtlCol="0" anchor="t">
            <a:normAutofit/>
          </a:bodyPr>
          <a:lstStyle/>
          <a:p>
            <a:pPr indent="0" marL="0">
              <a:lnSpc>
                <a:spcPct val="115000"/>
              </a:lnSpc>
              <a:buNone/>
            </a:pPr>
            <a:r>
              <a:rPr lang="en-US" sz="1000" dirty="0">
                <a:solidFill>
                  <a:srgbClr val="333333"/>
                </a:solidFill>
                <a:latin typeface="Calibri" pitchFamily="34" charset="0"/>
                <a:ea typeface="Calibri" pitchFamily="34" charset="-122"/>
                <a:cs typeface="Calibri" pitchFamily="34" charset="-120"/>
              </a:rPr>
              <a:t>DNA结构确定花了9年(1944→1953)，范式转变非一蹴而就</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000000">
              <a:alpha val="65000"/>
            </a:srgbClr>
          </a:solidFill>
          <a:ln/>
        </p:spPr>
      </p:sp>
      <p:sp>
        <p:nvSpPr>
          <p:cNvPr id="4" name="Shape 1"/>
          <p:cNvSpPr/>
          <p:nvPr/>
        </p:nvSpPr>
        <p:spPr>
          <a:xfrm>
            <a:off x="457200" y="320040"/>
            <a:ext cx="73152" cy="502920"/>
          </a:xfrm>
          <a:prstGeom prst="rect">
            <a:avLst/>
          </a:prstGeom>
          <a:solidFill>
            <a:srgbClr val="D4A843"/>
          </a:solidFill>
          <a:ln/>
        </p:spPr>
      </p:sp>
      <p:sp>
        <p:nvSpPr>
          <p:cNvPr id="5" name="Text 2"/>
          <p:cNvSpPr/>
          <p:nvPr/>
        </p:nvSpPr>
        <p:spPr>
          <a:xfrm>
            <a:off x="640080" y="274320"/>
            <a:ext cx="8046720" cy="502920"/>
          </a:xfrm>
          <a:prstGeom prst="rect">
            <a:avLst/>
          </a:prstGeom>
          <a:noFill/>
          <a:ln/>
        </p:spPr>
        <p:txBody>
          <a:bodyPr wrap="square" rtlCol="0" anchor="ctr">
            <a:normAutofit/>
          </a:bodyPr>
          <a:lstStyle/>
          <a:p>
            <a:pPr indent="0" marL="0">
              <a:buNone/>
            </a:pPr>
            <a:r>
              <a:rPr lang="en-US" sz="2400" b="1" spc="150" kern="0" dirty="0">
                <a:solidFill>
                  <a:srgbClr val="FFFFFF"/>
                </a:solidFill>
                <a:latin typeface="Georgia" pitchFamily="34" charset="0"/>
                <a:ea typeface="Georgia" pitchFamily="34" charset="-122"/>
                <a:cs typeface="Georgia" pitchFamily="34" charset="-120"/>
              </a:rPr>
              <a:t>总结与参考  /  Summary &amp; References</a:t>
            </a:r>
            <a:endParaRPr lang="en-US" sz="2400" dirty="0"/>
          </a:p>
        </p:txBody>
      </p:sp>
      <p:sp>
        <p:nvSpPr>
          <p:cNvPr id="6" name="Text 3"/>
          <p:cNvSpPr/>
          <p:nvPr/>
        </p:nvSpPr>
        <p:spPr>
          <a:xfrm>
            <a:off x="457200" y="914400"/>
            <a:ext cx="8229600" cy="274320"/>
          </a:xfrm>
          <a:prstGeom prst="rect">
            <a:avLst/>
          </a:prstGeom>
          <a:noFill/>
          <a:ln/>
        </p:spPr>
        <p:txBody>
          <a:bodyPr wrap="square" rtlCol="0" anchor="ctr">
            <a:normAutofit/>
          </a:bodyPr>
          <a:lstStyle/>
          <a:p>
            <a:pPr indent="0" marL="0">
              <a:buNone/>
            </a:pPr>
            <a:r>
              <a:rPr lang="en-US" sz="1300" b="1" dirty="0">
                <a:solidFill>
                  <a:srgbClr val="D4A843"/>
                </a:solidFill>
                <a:latin typeface="Georgia" pitchFamily="34" charset="0"/>
                <a:ea typeface="Georgia" pitchFamily="34" charset="-122"/>
                <a:cs typeface="Georgia" pitchFamily="34" charset="-120"/>
              </a:rPr>
              <a:t>遗传学发展脉络 / Development Timeline</a:t>
            </a:r>
            <a:endParaRPr lang="en-US" sz="1300" dirty="0"/>
          </a:p>
        </p:txBody>
      </p:sp>
      <p:sp>
        <p:nvSpPr>
          <p:cNvPr id="7" name="Shape 4"/>
          <p:cNvSpPr/>
          <p:nvPr/>
        </p:nvSpPr>
        <p:spPr>
          <a:xfrm>
            <a:off x="594360" y="1325880"/>
            <a:ext cx="1371600" cy="502920"/>
          </a:xfrm>
          <a:prstGeom prst="roundRect">
            <a:avLst>
              <a:gd name="adj" fmla="val 18182"/>
            </a:avLst>
          </a:prstGeom>
          <a:solidFill>
            <a:srgbClr val="2C5F2D"/>
          </a:solidFill>
          <a:ln/>
        </p:spPr>
      </p:sp>
      <p:sp>
        <p:nvSpPr>
          <p:cNvPr id="8" name="Text 5"/>
          <p:cNvSpPr/>
          <p:nvPr/>
        </p:nvSpPr>
        <p:spPr>
          <a:xfrm>
            <a:off x="594360" y="1325880"/>
            <a:ext cx="1371600" cy="274320"/>
          </a:xfrm>
          <a:prstGeom prst="rect">
            <a:avLst/>
          </a:prstGeom>
          <a:noFill/>
          <a:ln/>
        </p:spPr>
        <p:txBody>
          <a:bodyPr wrap="square" rtlCol="0" anchor="ctr">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1866</a:t>
            </a:r>
            <a:endParaRPr lang="en-US" sz="1300" dirty="0"/>
          </a:p>
        </p:txBody>
      </p:sp>
      <p:sp>
        <p:nvSpPr>
          <p:cNvPr id="9" name="Text 6"/>
          <p:cNvSpPr/>
          <p:nvPr/>
        </p:nvSpPr>
        <p:spPr>
          <a:xfrm>
            <a:off x="594360" y="1581912"/>
            <a:ext cx="1371600" cy="228600"/>
          </a:xfrm>
          <a:prstGeom prst="rect">
            <a:avLst/>
          </a:prstGeom>
          <a:noFill/>
          <a:ln/>
        </p:spPr>
        <p:txBody>
          <a:bodyPr wrap="square" rtlCol="0" anchor="ctr">
            <a:normAutofit/>
          </a:bodyPr>
          <a:lstStyle/>
          <a:p>
            <a:pPr algn="ctr" indent="0" marL="0">
              <a:buNone/>
            </a:pPr>
            <a:r>
              <a:rPr lang="en-US" sz="900" dirty="0">
                <a:solidFill>
                  <a:srgbClr val="D4A843"/>
                </a:solidFill>
                <a:latin typeface="Calibri" pitchFamily="34" charset="0"/>
                <a:ea typeface="Calibri" pitchFamily="34" charset="-122"/>
                <a:cs typeface="Calibri" pitchFamily="34" charset="-120"/>
              </a:rPr>
              <a:t>孟德尔</a:t>
            </a:r>
            <a:endParaRPr lang="en-US" sz="900" dirty="0"/>
          </a:p>
        </p:txBody>
      </p:sp>
      <p:sp>
        <p:nvSpPr>
          <p:cNvPr id="10" name="Shape 7"/>
          <p:cNvSpPr/>
          <p:nvPr/>
        </p:nvSpPr>
        <p:spPr>
          <a:xfrm>
            <a:off x="1965960" y="1577340"/>
            <a:ext cx="274320" cy="0"/>
          </a:xfrm>
          <a:prstGeom prst="line">
            <a:avLst/>
          </a:prstGeom>
          <a:noFill/>
          <a:ln w="19050">
            <a:solidFill>
              <a:srgbClr val="D4A843"/>
            </a:solidFill>
            <a:prstDash val="solid"/>
            <a:tailEnd type="triangle"/>
          </a:ln>
        </p:spPr>
      </p:sp>
      <p:sp>
        <p:nvSpPr>
          <p:cNvPr id="11" name="Shape 8"/>
          <p:cNvSpPr/>
          <p:nvPr/>
        </p:nvSpPr>
        <p:spPr>
          <a:xfrm>
            <a:off x="2240280" y="1325880"/>
            <a:ext cx="1371600" cy="502920"/>
          </a:xfrm>
          <a:prstGeom prst="roundRect">
            <a:avLst>
              <a:gd name="adj" fmla="val 18182"/>
            </a:avLst>
          </a:prstGeom>
          <a:solidFill>
            <a:srgbClr val="2C5F2D"/>
          </a:solidFill>
          <a:ln/>
        </p:spPr>
      </p:sp>
      <p:sp>
        <p:nvSpPr>
          <p:cNvPr id="12" name="Text 9"/>
          <p:cNvSpPr/>
          <p:nvPr/>
        </p:nvSpPr>
        <p:spPr>
          <a:xfrm>
            <a:off x="2240280" y="1325880"/>
            <a:ext cx="1371600" cy="274320"/>
          </a:xfrm>
          <a:prstGeom prst="rect">
            <a:avLst/>
          </a:prstGeom>
          <a:noFill/>
          <a:ln/>
        </p:spPr>
        <p:txBody>
          <a:bodyPr wrap="square" rtlCol="0" anchor="ctr">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1900</a:t>
            </a:r>
            <a:endParaRPr lang="en-US" sz="1300" dirty="0"/>
          </a:p>
        </p:txBody>
      </p:sp>
      <p:sp>
        <p:nvSpPr>
          <p:cNvPr id="13" name="Text 10"/>
          <p:cNvSpPr/>
          <p:nvPr/>
        </p:nvSpPr>
        <p:spPr>
          <a:xfrm>
            <a:off x="2240280" y="1581912"/>
            <a:ext cx="1371600" cy="228600"/>
          </a:xfrm>
          <a:prstGeom prst="rect">
            <a:avLst/>
          </a:prstGeom>
          <a:noFill/>
          <a:ln/>
        </p:spPr>
        <p:txBody>
          <a:bodyPr wrap="square" rtlCol="0" anchor="ctr">
            <a:normAutofit/>
          </a:bodyPr>
          <a:lstStyle/>
          <a:p>
            <a:pPr algn="ctr" indent="0" marL="0">
              <a:buNone/>
            </a:pPr>
            <a:r>
              <a:rPr lang="en-US" sz="900" dirty="0">
                <a:solidFill>
                  <a:srgbClr val="D4A843"/>
                </a:solidFill>
                <a:latin typeface="Calibri" pitchFamily="34" charset="0"/>
                <a:ea typeface="Calibri" pitchFamily="34" charset="-122"/>
                <a:cs typeface="Calibri" pitchFamily="34" charset="-120"/>
              </a:rPr>
              <a:t>重新发现</a:t>
            </a:r>
            <a:endParaRPr lang="en-US" sz="900" dirty="0"/>
          </a:p>
        </p:txBody>
      </p:sp>
      <p:sp>
        <p:nvSpPr>
          <p:cNvPr id="14" name="Shape 11"/>
          <p:cNvSpPr/>
          <p:nvPr/>
        </p:nvSpPr>
        <p:spPr>
          <a:xfrm>
            <a:off x="3611880" y="1577340"/>
            <a:ext cx="274320" cy="0"/>
          </a:xfrm>
          <a:prstGeom prst="line">
            <a:avLst/>
          </a:prstGeom>
          <a:noFill/>
          <a:ln w="19050">
            <a:solidFill>
              <a:srgbClr val="D4A843"/>
            </a:solidFill>
            <a:prstDash val="solid"/>
            <a:tailEnd type="triangle"/>
          </a:ln>
        </p:spPr>
      </p:sp>
      <p:sp>
        <p:nvSpPr>
          <p:cNvPr id="15" name="Shape 12"/>
          <p:cNvSpPr/>
          <p:nvPr/>
        </p:nvSpPr>
        <p:spPr>
          <a:xfrm>
            <a:off x="3886200" y="1325880"/>
            <a:ext cx="1371600" cy="502920"/>
          </a:xfrm>
          <a:prstGeom prst="roundRect">
            <a:avLst>
              <a:gd name="adj" fmla="val 18182"/>
            </a:avLst>
          </a:prstGeom>
          <a:solidFill>
            <a:srgbClr val="2C5F2D"/>
          </a:solidFill>
          <a:ln/>
        </p:spPr>
      </p:sp>
      <p:sp>
        <p:nvSpPr>
          <p:cNvPr id="16" name="Text 13"/>
          <p:cNvSpPr/>
          <p:nvPr/>
        </p:nvSpPr>
        <p:spPr>
          <a:xfrm>
            <a:off x="3886200" y="1325880"/>
            <a:ext cx="1371600" cy="274320"/>
          </a:xfrm>
          <a:prstGeom prst="rect">
            <a:avLst/>
          </a:prstGeom>
          <a:noFill/>
          <a:ln/>
        </p:spPr>
        <p:txBody>
          <a:bodyPr wrap="square" rtlCol="0" anchor="ctr">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1953</a:t>
            </a:r>
            <a:endParaRPr lang="en-US" sz="1300" dirty="0"/>
          </a:p>
        </p:txBody>
      </p:sp>
      <p:sp>
        <p:nvSpPr>
          <p:cNvPr id="17" name="Text 14"/>
          <p:cNvSpPr/>
          <p:nvPr/>
        </p:nvSpPr>
        <p:spPr>
          <a:xfrm>
            <a:off x="3886200" y="1581912"/>
            <a:ext cx="1371600" cy="228600"/>
          </a:xfrm>
          <a:prstGeom prst="rect">
            <a:avLst/>
          </a:prstGeom>
          <a:noFill/>
          <a:ln/>
        </p:spPr>
        <p:txBody>
          <a:bodyPr wrap="square" rtlCol="0" anchor="ctr">
            <a:normAutofit/>
          </a:bodyPr>
          <a:lstStyle/>
          <a:p>
            <a:pPr algn="ctr" indent="0" marL="0">
              <a:buNone/>
            </a:pPr>
            <a:r>
              <a:rPr lang="en-US" sz="900" dirty="0">
                <a:solidFill>
                  <a:srgbClr val="D4A843"/>
                </a:solidFill>
                <a:latin typeface="Calibri" pitchFamily="34" charset="0"/>
                <a:ea typeface="Calibri" pitchFamily="34" charset="-122"/>
                <a:cs typeface="Calibri" pitchFamily="34" charset="-120"/>
              </a:rPr>
              <a:t>双螺旋</a:t>
            </a:r>
            <a:endParaRPr lang="en-US" sz="900" dirty="0"/>
          </a:p>
        </p:txBody>
      </p:sp>
      <p:sp>
        <p:nvSpPr>
          <p:cNvPr id="18" name="Shape 15"/>
          <p:cNvSpPr/>
          <p:nvPr/>
        </p:nvSpPr>
        <p:spPr>
          <a:xfrm>
            <a:off x="5257800" y="1577340"/>
            <a:ext cx="274320" cy="0"/>
          </a:xfrm>
          <a:prstGeom prst="line">
            <a:avLst/>
          </a:prstGeom>
          <a:noFill/>
          <a:ln w="19050">
            <a:solidFill>
              <a:srgbClr val="D4A843"/>
            </a:solidFill>
            <a:prstDash val="solid"/>
            <a:tailEnd type="triangle"/>
          </a:ln>
        </p:spPr>
      </p:sp>
      <p:sp>
        <p:nvSpPr>
          <p:cNvPr id="19" name="Shape 16"/>
          <p:cNvSpPr/>
          <p:nvPr/>
        </p:nvSpPr>
        <p:spPr>
          <a:xfrm>
            <a:off x="5532120" y="1325880"/>
            <a:ext cx="1371600" cy="502920"/>
          </a:xfrm>
          <a:prstGeom prst="roundRect">
            <a:avLst>
              <a:gd name="adj" fmla="val 18182"/>
            </a:avLst>
          </a:prstGeom>
          <a:solidFill>
            <a:srgbClr val="2C5F2D"/>
          </a:solidFill>
          <a:ln/>
        </p:spPr>
      </p:sp>
      <p:sp>
        <p:nvSpPr>
          <p:cNvPr id="20" name="Text 17"/>
          <p:cNvSpPr/>
          <p:nvPr/>
        </p:nvSpPr>
        <p:spPr>
          <a:xfrm>
            <a:off x="5532120" y="1325880"/>
            <a:ext cx="1371600" cy="274320"/>
          </a:xfrm>
          <a:prstGeom prst="rect">
            <a:avLst/>
          </a:prstGeom>
          <a:noFill/>
          <a:ln/>
        </p:spPr>
        <p:txBody>
          <a:bodyPr wrap="square" rtlCol="0" anchor="ctr">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2003</a:t>
            </a:r>
            <a:endParaRPr lang="en-US" sz="1300" dirty="0"/>
          </a:p>
        </p:txBody>
      </p:sp>
      <p:sp>
        <p:nvSpPr>
          <p:cNvPr id="21" name="Text 18"/>
          <p:cNvSpPr/>
          <p:nvPr/>
        </p:nvSpPr>
        <p:spPr>
          <a:xfrm>
            <a:off x="5532120" y="1581912"/>
            <a:ext cx="1371600" cy="228600"/>
          </a:xfrm>
          <a:prstGeom prst="rect">
            <a:avLst/>
          </a:prstGeom>
          <a:noFill/>
          <a:ln/>
        </p:spPr>
        <p:txBody>
          <a:bodyPr wrap="square" rtlCol="0" anchor="ctr">
            <a:normAutofit/>
          </a:bodyPr>
          <a:lstStyle/>
          <a:p>
            <a:pPr algn="ctr" indent="0" marL="0">
              <a:buNone/>
            </a:pPr>
            <a:r>
              <a:rPr lang="en-US" sz="900" dirty="0">
                <a:solidFill>
                  <a:srgbClr val="D4A843"/>
                </a:solidFill>
                <a:latin typeface="Calibri" pitchFamily="34" charset="0"/>
                <a:ea typeface="Calibri" pitchFamily="34" charset="-122"/>
                <a:cs typeface="Calibri" pitchFamily="34" charset="-120"/>
              </a:rPr>
              <a:t>基因组</a:t>
            </a:r>
            <a:endParaRPr lang="en-US" sz="900" dirty="0"/>
          </a:p>
        </p:txBody>
      </p:sp>
      <p:sp>
        <p:nvSpPr>
          <p:cNvPr id="22" name="Shape 19"/>
          <p:cNvSpPr/>
          <p:nvPr/>
        </p:nvSpPr>
        <p:spPr>
          <a:xfrm>
            <a:off x="6903720" y="1577340"/>
            <a:ext cx="274320" cy="0"/>
          </a:xfrm>
          <a:prstGeom prst="line">
            <a:avLst/>
          </a:prstGeom>
          <a:noFill/>
          <a:ln w="19050">
            <a:solidFill>
              <a:srgbClr val="D4A843"/>
            </a:solidFill>
            <a:prstDash val="solid"/>
            <a:tailEnd type="triangle"/>
          </a:ln>
        </p:spPr>
      </p:sp>
      <p:sp>
        <p:nvSpPr>
          <p:cNvPr id="23" name="Shape 20"/>
          <p:cNvSpPr/>
          <p:nvPr/>
        </p:nvSpPr>
        <p:spPr>
          <a:xfrm>
            <a:off x="7178040" y="1325880"/>
            <a:ext cx="1371600" cy="502920"/>
          </a:xfrm>
          <a:prstGeom prst="roundRect">
            <a:avLst>
              <a:gd name="adj" fmla="val 18182"/>
            </a:avLst>
          </a:prstGeom>
          <a:solidFill>
            <a:srgbClr val="2C5F2D"/>
          </a:solidFill>
          <a:ln/>
        </p:spPr>
      </p:sp>
      <p:sp>
        <p:nvSpPr>
          <p:cNvPr id="24" name="Text 21"/>
          <p:cNvSpPr/>
          <p:nvPr/>
        </p:nvSpPr>
        <p:spPr>
          <a:xfrm>
            <a:off x="7178040" y="1325880"/>
            <a:ext cx="1371600" cy="274320"/>
          </a:xfrm>
          <a:prstGeom prst="rect">
            <a:avLst/>
          </a:prstGeom>
          <a:noFill/>
          <a:ln/>
        </p:spPr>
        <p:txBody>
          <a:bodyPr wrap="square" rtlCol="0" anchor="ctr">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2012</a:t>
            </a:r>
            <a:endParaRPr lang="en-US" sz="1300" dirty="0"/>
          </a:p>
        </p:txBody>
      </p:sp>
      <p:sp>
        <p:nvSpPr>
          <p:cNvPr id="25" name="Text 22"/>
          <p:cNvSpPr/>
          <p:nvPr/>
        </p:nvSpPr>
        <p:spPr>
          <a:xfrm>
            <a:off x="7178040" y="1581912"/>
            <a:ext cx="1371600" cy="228600"/>
          </a:xfrm>
          <a:prstGeom prst="rect">
            <a:avLst/>
          </a:prstGeom>
          <a:noFill/>
          <a:ln/>
        </p:spPr>
        <p:txBody>
          <a:bodyPr wrap="square" rtlCol="0" anchor="ctr">
            <a:normAutofit/>
          </a:bodyPr>
          <a:lstStyle/>
          <a:p>
            <a:pPr algn="ctr" indent="0" marL="0">
              <a:buNone/>
            </a:pPr>
            <a:r>
              <a:rPr lang="en-US" sz="900" dirty="0">
                <a:solidFill>
                  <a:srgbClr val="D4A843"/>
                </a:solidFill>
                <a:latin typeface="Calibri" pitchFamily="34" charset="0"/>
                <a:ea typeface="Calibri" pitchFamily="34" charset="-122"/>
                <a:cs typeface="Calibri" pitchFamily="34" charset="-120"/>
              </a:rPr>
              <a:t>CRISPR</a:t>
            </a:r>
            <a:endParaRPr lang="en-US" sz="900" dirty="0"/>
          </a:p>
        </p:txBody>
      </p:sp>
      <p:sp>
        <p:nvSpPr>
          <p:cNvPr id="26" name="Text 23"/>
          <p:cNvSpPr/>
          <p:nvPr/>
        </p:nvSpPr>
        <p:spPr>
          <a:xfrm>
            <a:off x="457200" y="2011680"/>
            <a:ext cx="8229600" cy="274320"/>
          </a:xfrm>
          <a:prstGeom prst="rect">
            <a:avLst/>
          </a:prstGeom>
          <a:noFill/>
          <a:ln/>
        </p:spPr>
        <p:txBody>
          <a:bodyPr wrap="square" rtlCol="0" anchor="ctr">
            <a:normAutofit/>
          </a:bodyPr>
          <a:lstStyle/>
          <a:p>
            <a:pPr algn="ctr" indent="0" marL="0">
              <a:buNone/>
            </a:pPr>
            <a:r>
              <a:rPr lang="en-US" sz="1300" i="1" dirty="0">
                <a:solidFill>
                  <a:srgbClr val="FFFFFF"/>
                </a:solidFill>
                <a:latin typeface="Georgia" pitchFamily="34" charset="0"/>
                <a:ea typeface="Georgia" pitchFamily="34" charset="-122"/>
                <a:cs typeface="Georgia" pitchFamily="34" charset="-120"/>
              </a:rPr>
              <a:t>经验  →  实验  →  分子  →  基因组  →  精准编辑</a:t>
            </a:r>
            <a:endParaRPr lang="en-US" sz="1300" dirty="0"/>
          </a:p>
        </p:txBody>
      </p:sp>
      <p:sp>
        <p:nvSpPr>
          <p:cNvPr id="27" name="Shape 24"/>
          <p:cNvSpPr/>
          <p:nvPr/>
        </p:nvSpPr>
        <p:spPr>
          <a:xfrm>
            <a:off x="457200" y="2468880"/>
            <a:ext cx="3977640" cy="1691640"/>
          </a:xfrm>
          <a:prstGeom prst="roundRect">
            <a:avLst>
              <a:gd name="adj" fmla="val 4324"/>
            </a:avLst>
          </a:prstGeom>
          <a:solidFill>
            <a:srgbClr val="FFFFFF"/>
          </a:solidFill>
          <a:ln/>
          <a:effectLst>
            <a:outerShdw sx="100000" sy="100000" kx="0" ky="0" algn="bl" rotWithShape="0" blurRad="152400" dist="50800" dir="8100000">
              <a:srgbClr val="000000">
                <a:alpha val="28000"/>
              </a:srgbClr>
            </a:outerShdw>
          </a:effectLst>
        </p:spPr>
      </p:sp>
      <p:sp>
        <p:nvSpPr>
          <p:cNvPr id="28" name="Shape 25"/>
          <p:cNvSpPr/>
          <p:nvPr/>
        </p:nvSpPr>
        <p:spPr>
          <a:xfrm>
            <a:off x="457200" y="2468880"/>
            <a:ext cx="3977640" cy="54864"/>
          </a:xfrm>
          <a:prstGeom prst="rect">
            <a:avLst/>
          </a:prstGeom>
          <a:solidFill>
            <a:srgbClr val="D4A843"/>
          </a:solidFill>
          <a:ln/>
        </p:spPr>
      </p:sp>
      <p:sp>
        <p:nvSpPr>
          <p:cNvPr id="29" name="Text 26"/>
          <p:cNvSpPr/>
          <p:nvPr/>
        </p:nvSpPr>
        <p:spPr>
          <a:xfrm>
            <a:off x="640080" y="2606040"/>
            <a:ext cx="361188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主要参考文献 / Key References</a:t>
            </a:r>
            <a:endParaRPr lang="en-US" sz="1300" dirty="0"/>
          </a:p>
        </p:txBody>
      </p:sp>
      <p:sp>
        <p:nvSpPr>
          <p:cNvPr id="30" name="Text 27"/>
          <p:cNvSpPr/>
          <p:nvPr/>
        </p:nvSpPr>
        <p:spPr>
          <a:xfrm>
            <a:off x="640080" y="2926080"/>
            <a:ext cx="3611880" cy="1143000"/>
          </a:xfrm>
          <a:prstGeom prst="rect">
            <a:avLst/>
          </a:prstGeom>
          <a:noFill/>
          <a:ln/>
        </p:spPr>
        <p:txBody>
          <a:bodyPr wrap="square" rtlCol="0" anchor="ctr">
            <a:normAutofit/>
          </a:bodyPr>
          <a:lstStyle/>
          <a:p>
            <a:pPr indent="0" marL="0">
              <a:lnSpc>
                <a:spcPct val="110000"/>
              </a:lnSpc>
              <a:spcAft>
                <a:spcPts val="400"/>
              </a:spcAft>
              <a:buNone/>
            </a:pPr>
            <a:r>
              <a:rPr lang="en-US" sz="900" dirty="0">
                <a:solidFill>
                  <a:srgbClr val="333333"/>
                </a:solidFill>
                <a:latin typeface="Calibri" pitchFamily="34" charset="0"/>
                <a:ea typeface="Calibri" pitchFamily="34" charset="-122"/>
                <a:cs typeface="Calibri" pitchFamily="34" charset="-120"/>
              </a:rPr>
              <a:t>Mendel G. (1866) Verhandlungen des naturforschenden Vereins</a:t>
            </a:r>
            <a:endParaRPr lang="en-US" sz="900" dirty="0"/>
          </a:p>
          <a:p>
            <a:pPr indent="0" marL="0">
              <a:lnSpc>
                <a:spcPct val="110000"/>
              </a:lnSpc>
              <a:spcAft>
                <a:spcPts val="400"/>
              </a:spcAft>
              <a:buNone/>
            </a:pPr>
            <a:r>
              <a:rPr lang="en-US" sz="900" dirty="0">
                <a:solidFill>
                  <a:srgbClr val="333333"/>
                </a:solidFill>
                <a:latin typeface="Calibri" pitchFamily="34" charset="0"/>
                <a:ea typeface="Calibri" pitchFamily="34" charset="-122"/>
                <a:cs typeface="Calibri" pitchFamily="34" charset="-120"/>
              </a:rPr>
              <a:t>Watson &amp; Crick (1953) Nature 171:737-738</a:t>
            </a:r>
            <a:endParaRPr lang="en-US" sz="900" dirty="0"/>
          </a:p>
          <a:p>
            <a:pPr indent="0" marL="0">
              <a:lnSpc>
                <a:spcPct val="110000"/>
              </a:lnSpc>
              <a:spcAft>
                <a:spcPts val="400"/>
              </a:spcAft>
              <a:buNone/>
            </a:pPr>
            <a:r>
              <a:rPr lang="en-US" sz="900" dirty="0">
                <a:solidFill>
                  <a:srgbClr val="333333"/>
                </a:solidFill>
                <a:latin typeface="Calibri" pitchFamily="34" charset="0"/>
                <a:ea typeface="Calibri" pitchFamily="34" charset="-122"/>
                <a:cs typeface="Calibri" pitchFamily="34" charset="-120"/>
              </a:rPr>
              <a:t>Jacob &amp; Monod (1961) J Mol Biol 3:318-356</a:t>
            </a:r>
            <a:endParaRPr lang="en-US" sz="900" dirty="0"/>
          </a:p>
          <a:p>
            <a:pPr indent="0" marL="0">
              <a:lnSpc>
                <a:spcPct val="110000"/>
              </a:lnSpc>
              <a:spcAft>
                <a:spcPts val="400"/>
              </a:spcAft>
              <a:buNone/>
            </a:pPr>
            <a:r>
              <a:rPr lang="en-US" sz="900" dirty="0">
                <a:solidFill>
                  <a:srgbClr val="333333"/>
                </a:solidFill>
                <a:latin typeface="Calibri" pitchFamily="34" charset="0"/>
                <a:ea typeface="Calibri" pitchFamily="34" charset="-122"/>
                <a:cs typeface="Calibri" pitchFamily="34" charset="-120"/>
              </a:rPr>
              <a:t>International HGSC (2001) Nature 409:860-921</a:t>
            </a:r>
            <a:endParaRPr lang="en-US" sz="900" dirty="0"/>
          </a:p>
          <a:p>
            <a:pPr indent="0" marL="0">
              <a:lnSpc>
                <a:spcPct val="110000"/>
              </a:lnSpc>
              <a:buNone/>
            </a:pPr>
            <a:r>
              <a:rPr lang="en-US" sz="900" dirty="0">
                <a:solidFill>
                  <a:srgbClr val="333333"/>
                </a:solidFill>
                <a:latin typeface="Calibri" pitchFamily="34" charset="0"/>
                <a:ea typeface="Calibri" pitchFamily="34" charset="-122"/>
                <a:cs typeface="Calibri" pitchFamily="34" charset="-120"/>
              </a:rPr>
              <a:t>Jinek et al. (2012) Science 337:816-821</a:t>
            </a:r>
            <a:endParaRPr lang="en-US" sz="900" dirty="0"/>
          </a:p>
        </p:txBody>
      </p:sp>
      <p:sp>
        <p:nvSpPr>
          <p:cNvPr id="31" name="Shape 28"/>
          <p:cNvSpPr/>
          <p:nvPr/>
        </p:nvSpPr>
        <p:spPr>
          <a:xfrm>
            <a:off x="4709160" y="2468880"/>
            <a:ext cx="3977640" cy="1691640"/>
          </a:xfrm>
          <a:prstGeom prst="roundRect">
            <a:avLst>
              <a:gd name="adj" fmla="val 4324"/>
            </a:avLst>
          </a:prstGeom>
          <a:solidFill>
            <a:srgbClr val="FFFFFF"/>
          </a:solidFill>
          <a:ln/>
          <a:effectLst>
            <a:outerShdw sx="100000" sy="100000" kx="0" ky="0" algn="bl" rotWithShape="0" blurRad="152400" dist="50800" dir="8100000">
              <a:srgbClr val="000000">
                <a:alpha val="28000"/>
              </a:srgbClr>
            </a:outerShdw>
          </a:effectLst>
        </p:spPr>
      </p:sp>
      <p:sp>
        <p:nvSpPr>
          <p:cNvPr id="32" name="Shape 29"/>
          <p:cNvSpPr/>
          <p:nvPr/>
        </p:nvSpPr>
        <p:spPr>
          <a:xfrm>
            <a:off x="4709160" y="2468880"/>
            <a:ext cx="3977640" cy="54864"/>
          </a:xfrm>
          <a:prstGeom prst="rect">
            <a:avLst/>
          </a:prstGeom>
          <a:solidFill>
            <a:srgbClr val="97BC62"/>
          </a:solidFill>
          <a:ln/>
        </p:spPr>
      </p:sp>
      <p:sp>
        <p:nvSpPr>
          <p:cNvPr id="33" name="Text 30"/>
          <p:cNvSpPr/>
          <p:nvPr/>
        </p:nvSpPr>
        <p:spPr>
          <a:xfrm>
            <a:off x="4892040" y="2606040"/>
            <a:ext cx="361188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下节预告 / Next Session</a:t>
            </a:r>
            <a:endParaRPr lang="en-US" sz="1300" dirty="0"/>
          </a:p>
        </p:txBody>
      </p:sp>
      <p:sp>
        <p:nvSpPr>
          <p:cNvPr id="34" name="Text 31"/>
          <p:cNvSpPr/>
          <p:nvPr/>
        </p:nvSpPr>
        <p:spPr>
          <a:xfrm>
            <a:off x="4892040" y="2926080"/>
            <a:ext cx="3611880" cy="320040"/>
          </a:xfrm>
          <a:prstGeom prst="rect">
            <a:avLst/>
          </a:prstGeom>
          <a:noFill/>
          <a:ln/>
        </p:spPr>
        <p:txBody>
          <a:bodyPr wrap="square" rtlCol="0" anchor="ctr">
            <a:normAutofit/>
          </a:bodyPr>
          <a:lstStyle/>
          <a:p>
            <a:pPr indent="0" marL="0">
              <a:buNone/>
            </a:pPr>
            <a:r>
              <a:rPr lang="en-US" sz="2000" b="1" dirty="0">
                <a:solidFill>
                  <a:srgbClr val="2C5F2D"/>
                </a:solidFill>
                <a:latin typeface="Georgia" pitchFamily="34" charset="0"/>
                <a:ea typeface="Georgia" pitchFamily="34" charset="-122"/>
                <a:cs typeface="Georgia" pitchFamily="34" charset="-120"/>
              </a:rPr>
              <a:t>Day 097</a:t>
            </a:r>
            <a:endParaRPr lang="en-US" sz="2000" dirty="0"/>
          </a:p>
        </p:txBody>
      </p:sp>
      <p:sp>
        <p:nvSpPr>
          <p:cNvPr id="35" name="Text 32"/>
          <p:cNvSpPr/>
          <p:nvPr/>
        </p:nvSpPr>
        <p:spPr>
          <a:xfrm>
            <a:off x="4892040" y="3291840"/>
            <a:ext cx="3611880" cy="274320"/>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遗传学与人类社会</a:t>
            </a:r>
            <a:endParaRPr lang="en-US" sz="1400" dirty="0"/>
          </a:p>
        </p:txBody>
      </p:sp>
      <p:sp>
        <p:nvSpPr>
          <p:cNvPr id="36" name="Text 33"/>
          <p:cNvSpPr/>
          <p:nvPr/>
        </p:nvSpPr>
        <p:spPr>
          <a:xfrm>
            <a:off x="4892040" y="3566160"/>
            <a:ext cx="3611880" cy="228600"/>
          </a:xfrm>
          <a:prstGeom prst="rect">
            <a:avLst/>
          </a:prstGeom>
          <a:noFill/>
          <a:ln/>
        </p:spPr>
        <p:txBody>
          <a:bodyPr wrap="square" rtlCol="0" anchor="ctr">
            <a:normAutofit/>
          </a:bodyPr>
          <a:lstStyle/>
          <a:p>
            <a:pPr indent="0" marL="0">
              <a:buNone/>
            </a:pPr>
            <a:r>
              <a:rPr lang="en-US" sz="1000" i="1" dirty="0">
                <a:solidFill>
                  <a:srgbClr val="3D7A3E"/>
                </a:solidFill>
                <a:latin typeface="Calibri" pitchFamily="34" charset="0"/>
                <a:ea typeface="Calibri" pitchFamily="34" charset="-122"/>
                <a:cs typeface="Calibri" pitchFamily="34" charset="-120"/>
              </a:rPr>
              <a:t>Genetics and Human Society</a:t>
            </a:r>
            <a:endParaRPr lang="en-US" sz="1000" dirty="0"/>
          </a:p>
        </p:txBody>
      </p:sp>
      <p:sp>
        <p:nvSpPr>
          <p:cNvPr id="37" name="Text 34"/>
          <p:cNvSpPr/>
          <p:nvPr/>
        </p:nvSpPr>
        <p:spPr>
          <a:xfrm>
            <a:off x="4892040" y="3794760"/>
            <a:ext cx="3611880" cy="228600"/>
          </a:xfrm>
          <a:prstGeom prst="rect">
            <a:avLst/>
          </a:prstGeom>
          <a:noFill/>
          <a:ln/>
        </p:spPr>
        <p:txBody>
          <a:bodyPr wrap="square" rtlCol="0" anchor="ctr">
            <a:normAutofit/>
          </a:bodyPr>
          <a:lstStyle/>
          <a:p>
            <a:pPr indent="0" marL="0">
              <a:buNone/>
            </a:pPr>
            <a:r>
              <a:rPr lang="en-US" sz="1000" dirty="0">
                <a:solidFill>
                  <a:srgbClr val="333333"/>
                </a:solidFill>
                <a:latin typeface="Calibri" pitchFamily="34" charset="0"/>
                <a:ea typeface="Calibri" pitchFamily="34" charset="-122"/>
                <a:cs typeface="Calibri" pitchFamily="34" charset="-120"/>
              </a:rPr>
              <a:t>伦理·法律·社会影响 (ELSI)</a:t>
            </a:r>
            <a:endParaRPr lang="en-US" sz="1000" dirty="0"/>
          </a:p>
        </p:txBody>
      </p:sp>
      <p:sp>
        <p:nvSpPr>
          <p:cNvPr id="38" name="Text 35"/>
          <p:cNvSpPr/>
          <p:nvPr/>
        </p:nvSpPr>
        <p:spPr>
          <a:xfrm>
            <a:off x="457200" y="4389120"/>
            <a:ext cx="8229600" cy="365760"/>
          </a:xfrm>
          <a:prstGeom prst="rect">
            <a:avLst/>
          </a:prstGeom>
          <a:noFill/>
          <a:ln/>
        </p:spPr>
        <p:txBody>
          <a:bodyPr wrap="square" rtlCol="0" anchor="ctr">
            <a:normAutofit/>
          </a:bodyPr>
          <a:lstStyle/>
          <a:p>
            <a:pPr algn="ctr" indent="0" marL="0">
              <a:buNone/>
            </a:pPr>
            <a:r>
              <a:rPr lang="en-US" sz="1200" dirty="0">
                <a:solidFill>
                  <a:srgbClr val="D4A843"/>
                </a:solidFill>
                <a:latin typeface="Calibri" pitchFamily="34" charset="0"/>
                <a:ea typeface="Calibri" pitchFamily="34" charset="-122"/>
                <a:cs typeface="Calibri" pitchFamily="34" charset="-120"/>
              </a:rPr>
              <a:t>遗传学100天学习计划  ·  Day 096  ·  完</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遗传学发展史回顾 - History of Genetics Development</dc:title>
  <dc:subject>PptxGenJS Presentation</dc:subject>
  <dc:creator>Genetics Learning Program</dc:creator>
  <cp:lastModifiedBy>Genetics Learning Program</cp:lastModifiedBy>
  <cp:revision>1</cp:revision>
  <dcterms:created xsi:type="dcterms:W3CDTF">2026-08-18T04:19:21Z</dcterms:created>
  <dcterms:modified xsi:type="dcterms:W3CDTF">2026-08-18T04:19:21Z</dcterms:modified>
</cp:coreProperties>
</file>