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各位参加今天的学术演讲。今天我们将回顾遗传学从孟德尔豌豆实验到CRISPR基因编辑的160年发展历程。这是一段充满创新、坚持与突破的科学探索之旅。本次演讲约15-20分钟，涵盖16页内容，分为四大历史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演讲将分为四个部分：首先回顾从孟德尔豌豆到CRISPR的四大发展阶段；其次聚焦关键里程碑发现；然后分析经典实验如何推动学科进步；最后讨论历史启示与未来展望。整个演讲适合15-20分钟，每页停留约1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孟德尔时代，人类对遗传的认识主要基于经验观察。从公元前8000年的选择性育种，到达尔文的泛生论，再到融合遗传理论，都缺乏严格的实验验证。这个阶段的核心问题是：遗传的机制是什么？性状是如何传递的？直到孟德尔的出现，这些问题才有了科学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孟德尔是现代遗传学之父。他在8年间研究了30,000株豌豆，追踪7对性状的遗传规律。他发现了3:1的分离比，提出了分离定律和自由组合定律。最重要的是，他首次将数学统计方法引入生物学研究。然而，他的工作在1866年发表后被遗忘了35年，直到1900年才被三位科学家重新发现。这提醒我们：重要的科学发现有时需要时间才能被认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世纪初，遗传学进入染色体时代。萨顿和鲍维里在1902年提出基因位于染色体上的假说。摩尔根通过果蝇白眼突变实验证实了这一假说，并发现了连锁与交换现象。这使遗传学从抽象的因子概念走向了具体的物理载体——染色体。基因不再是数学符号，而是染色体上的物理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典遗传学时期，突变论和群体遗传学的发展极大扩展了遗传学的理论框架。德弗里斯通过月见草实验提出突变是进化的驱动力。费舍尔、赖特和霍尔丹建立了群体遗传学的数学基础。哈迪-温伯格定律描述了理想群体中等位基因频率的平衡。数量遗传学则解释了多基因控制的连续变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世纪40-50年代，两个关键实验确立了DNA作为遗传物质的地位。1944年，艾弗里通过细菌转化实验证明DNA能改变细菌的遗传特性。1952年，赫尔希和蔡斯使用同位素标记技术，追踪到32P标记的DNA进入细菌内部，而蛋白质留在外面。这两个实验终结了当时关于蛋白质还是DNA是遗传物质的长期争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1953年，沃森和克里克在Nature上发表了DNA双螺旋结构论文，这被认为是20世纪最伟大的生物学发现。他们的工作建立在富兰克林的X射线衍射照片51号和查加夫的碱基配对法则之上。双螺旋结构不仅解释了DNA如何储存遗传信息，还暗示了半保留复制机制——DNA可以通过解链和互补配对精确复制自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1958年，克里克提出了中心法则，描述了遗传信息的流向：DNA转录为RNA，RNA翻译为蛋白质。这个简洁的框架成为分子生物学的核心范式。1960年代，尼伦伯格和霍拉纳等人破译了遗传密码——64个三联密码子对应20种氨基酸。这是理解生命信息传递的关键突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1970-80年代是分子生物学工具革命的时代。重组DNA技术利用限制酶和连接酶实现了基因的切割和拼接。1977年，Sanger发明了双脱氧测序法，使读取DNA序列成为可能。1983年，穆利斯发明了PCR技术，可以在体外快速扩增DNA片段。这些工具的标准化使基因工程从理论走向实践，为后续的生物技术产业奠定了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类基因组计划被誉为生命科学的登月计划。从1990年到2003年，历时13年，耗资30亿美元，由多国科学家合作完成。该项目测定了人类基因组约30亿个碱基对，发现了约22,000个基因。它不仅完成了人类基因组的测序，更重要的是开启了基因组学时代，为精准医学奠定了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R-Cas9是21世纪最重要的生物技术突破之一。2012年，杜德纳和沙尔庞捷发表了利用CRISPR系统进行基因组编辑的论文，他们因此获得2020年诺贝尔化学奖。张锋团队随后将此技术应用于哺乳动物细胞。CRISPR利用sgRNA引导Cas9核酸酶在特定位置切割DNA，实现了精准、高效的基因编辑。这项技术在基因治疗、作物育种和基础研究领域有广泛应用前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遗传学发展史，我们可以总结出四点重要启示。第一，数学是遗传学的基石，孟德尔的成功在于将定量分析引入生物学。第二，模式生物改变了研究范式，果蝇、豌豆、大肠杆菌等模式生物极大推进了遗传学研究。第三，跨学科合作推动突破，DNA结构的发现融合了物理学、化学和生物学的知识。第四，基础研究孕育应用，CRISPR技术源于对细菌免疫系统的基本研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随着遗传学技术的快速发展，一系列伦理问题也日益凸显。基因编辑人类胚胎引发了对设计婴儿的担忧；遗传信息的泄露可能导致就业和保险歧视；基因驱动技术可能对生态系统造成不可逆的影响；精准医学的高昂成本也引发了医疗公平性的讨论。这些问题需要科学家、伦理学家和全社会共同面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望未来，遗传学将在四个方向持续发展。合成生物学旨在设计和构建新的生物系统，从理解生命到创造生命。表观遗传学研究DNA序列之外的遗传信息，揭示了环境与基因的交互。精准医学将遗传信息用于个体化治疗。人工智能与遗传学的结合将开启数据驱动的新发现时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大家的聆听。从孟德尔在修道院花园中的豌豆实验，到今天CRISPR精准编辑基因，遗传学160年的发展历程是科学探索精神的最佳诠释。坚持、创新、跨学科合作，这些品质推动着科学不断向前。现在是提问环节，欢迎大家提问和讨论。参考资源已列在屏幕上，欢迎后续访问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1280160"/>
            <a:ext cx="9144000" cy="27432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遗传学发展史回顾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i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of Genetics: A Comprehensive Review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· Day 096</a:t>
            </a:r>
            <a:endParaRPr lang="en-US" sz="14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演讲概览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344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1417320"/>
            <a:ext cx="2948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从豌豆到CRISPR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80160" y="1737360"/>
            <a:ext cx="29489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Peas to CRISPR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2103120"/>
            <a:ext cx="35433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160年遗传学发展四大阶段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86300" y="12344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6300" y="1234440"/>
            <a:ext cx="54864" cy="1600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Shape 13"/>
          <p:cNvSpPr/>
          <p:nvPr/>
        </p:nvSpPr>
        <p:spPr>
          <a:xfrm>
            <a:off x="4914900" y="1463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4"/>
          <p:cNvSpPr/>
          <p:nvPr/>
        </p:nvSpPr>
        <p:spPr>
          <a:xfrm>
            <a:off x="49149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09260" y="1417320"/>
            <a:ext cx="2948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关键里程碑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509260" y="1737360"/>
            <a:ext cx="29489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14900" y="2103120"/>
            <a:ext cx="35433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孟德尔定律、DNA双螺旋、基因组计划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0632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063240"/>
            <a:ext cx="54864" cy="1600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80160" y="3246120"/>
            <a:ext cx="2948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实验与发现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80160" y="3566160"/>
            <a:ext cx="29489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Discoveries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5800" y="3931920"/>
            <a:ext cx="35433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豌豆杂交、果蝇实验、转化实验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686300" y="30632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86300" y="3063240"/>
            <a:ext cx="54864" cy="1600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Shape 27"/>
          <p:cNvSpPr/>
          <p:nvPr/>
        </p:nvSpPr>
        <p:spPr>
          <a:xfrm>
            <a:off x="4914900" y="3291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8"/>
          <p:cNvSpPr/>
          <p:nvPr/>
        </p:nvSpPr>
        <p:spPr>
          <a:xfrm>
            <a:off x="49149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509260" y="3246120"/>
            <a:ext cx="2948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启示与展望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509260" y="3566160"/>
            <a:ext cx="29489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&amp; Future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914900" y="3931920"/>
            <a:ext cx="35433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历史经验与未来发展方向</a:t>
            </a:r>
            <a:endParaRPr lang="en-US" sz="13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前孟德尔时代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Pre-Mendelian Era (Ancient — 1856)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3444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54864" cy="3429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508760"/>
            <a:ext cx="7589520" cy="2880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公元前8000年：选择性育种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breeding of plants and animals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达尔文泛生论 (1868)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Darwin's Pangenesis: gemmules from body cells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融合遗传理论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inheritance: traits mix like paint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核心缺陷：缺乏严格的实验验证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No rigorous experimental validation</a:t>
            </a:r>
            <a:endParaRPr lang="en-US" sz="15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孟德尔的革命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Mendel's Revolution (1856–1900)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34440"/>
            <a:ext cx="48463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54864" cy="3429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463040"/>
            <a:ext cx="4206240" cy="2971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30,000株豌豆 × 8年实验</a:t>
            </a:r>
            <a:endParaRPr lang="en-US" sz="15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pea plants over 8 years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7对性状的3:1分离比</a:t>
            </a:r>
            <a:endParaRPr lang="en-US" sz="15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traits with 3:1 phenotypic ratio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分离定律 + 自由组合定律</a:t>
            </a:r>
            <a:endParaRPr lang="en-US" sz="15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Segregation &amp; Independent Assortment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首次将数学引入生物学</a:t>
            </a:r>
            <a:endParaRPr lang="en-US" sz="15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apply mathematics to biology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35年被遗忘 → 1900年重新发现</a:t>
            </a:r>
            <a:endParaRPr lang="en-US" sz="15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35 years, rediscovered in 1900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532120" y="1234440"/>
            <a:ext cx="3154680" cy="3429000"/>
          </a:xfrm>
          <a:prstGeom prst="roundRect">
            <a:avLst>
              <a:gd name="adj" fmla="val 2899"/>
            </a:avLst>
          </a:prstGeom>
          <a:solidFill>
            <a:srgbClr val="EDF3E8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15000" y="150876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1866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5715000" y="21945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孟德尔定律发表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15000" y="24688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Mendel's Laws Published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292608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35040" y="3017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: 1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035040" y="36118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性状分离比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384048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Phenotypic Ratio</a:t>
            </a:r>
            <a:endParaRPr lang="en-US" sz="10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染色体理论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Chromosomal Theory (1900–1940)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3444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54864" cy="3429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508760"/>
            <a:ext cx="7589520" cy="2880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萨顿-鲍维里假说 (1902)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Sutton-Boveri: genes reside on chromosomes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摩尔根果蝇实验 (1910)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Morgan's Drosophila: white-eye mutant mapping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连锁与交换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&amp; crossing over: genetic recombination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 = 染色体上的物理位点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= physical loci on chromosomes</a:t>
            </a:r>
            <a:endParaRPr lang="en-US" sz="15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突变论与经典遗传学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&amp; Classical Genetics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344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40005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41732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德弗里斯突变论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1737360"/>
            <a:ext cx="35433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Vries Mutation Theory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2057400"/>
            <a:ext cx="35433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月见草实验 (1900)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Oenothera mutation studies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86300" y="12344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86300" y="1234440"/>
            <a:ext cx="40005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4914900" y="141732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群体遗传学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914900" y="1737360"/>
            <a:ext cx="35433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Genetics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14900" y="2057400"/>
            <a:ext cx="35433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费舍尔/赖特/霍尔丹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Fisher, Wright, Haldane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0632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06324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24612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哈迪-温伯格定律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5800" y="3566160"/>
            <a:ext cx="35433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Hardy-Weinberg Law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" y="3886200"/>
            <a:ext cx="35433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等位基因频率平衡 (1908)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Allele frequency equilibrium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86300" y="30632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86300" y="3063240"/>
            <a:ext cx="40005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4914900" y="324612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数量遗传学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914900" y="3566160"/>
            <a:ext cx="35433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Genetics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14900" y="3886200"/>
            <a:ext cx="35433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多基因遗传模型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Polygenic inheritance</a:t>
            </a:r>
            <a:endParaRPr lang="en-US" sz="12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DNA是遗传物质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as Genetic Material (1944–1952)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34440"/>
            <a:ext cx="48463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54864" cy="3429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55448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艾弗里转化实验 (1944)</a:t>
            </a:r>
            <a:endParaRPr lang="en-US" sz="15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Avery: DNA transforms bacteria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赫尔希-蔡斯实验 (1952)</a:t>
            </a:r>
            <a:endParaRPr lang="en-US" sz="15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Hershey-Chase: 32P enters bacteria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终结「蛋白质是遗传物质」的争论</a:t>
            </a:r>
            <a:endParaRPr lang="en-US" sz="15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 the protein-vs-DNA debate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532120" y="1234440"/>
            <a:ext cx="3154680" cy="3429000"/>
          </a:xfrm>
          <a:prstGeom prst="roundRect">
            <a:avLst>
              <a:gd name="adj" fmla="val 2899"/>
            </a:avLst>
          </a:prstGeom>
          <a:solidFill>
            <a:srgbClr val="EDF3E8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150876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1944 转化实验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109460" y="2057400"/>
            <a:ext cx="0" cy="36576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852160" y="246888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160" y="24688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1952 同位素标记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109460" y="3017520"/>
            <a:ext cx="0" cy="36576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852160" y="34290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D4A843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52160" y="342900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结论：DNA = 遗传物质</a:t>
            </a:r>
            <a:endParaRPr lang="en-US" sz="14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DNA双螺旋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 Helix (1953)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3444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54864" cy="3429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508760"/>
            <a:ext cx="5029200" cy="2880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沃森 &amp; 克里克：Nature论文 (1953)</a:t>
            </a:r>
            <a:endParaRPr lang="en-US" sz="15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&amp; Crick: Nature paper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富兰克林：照片51号 (Photo 51)</a:t>
            </a:r>
            <a:endParaRPr lang="en-US" sz="15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Franklin's X-ray diffraction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查加夫法则：A=T, G=C</a:t>
            </a:r>
            <a:endParaRPr lang="en-US" sz="15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Chargaff's rules: base pairing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半保留复制机制</a:t>
            </a:r>
            <a:endParaRPr lang="en-US" sz="15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Semi-conservative replication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26480" y="1508760"/>
            <a:ext cx="2743200" cy="2880360"/>
          </a:xfrm>
          <a:prstGeom prst="roundRect">
            <a:avLst>
              <a:gd name="adj" fmla="val 2667"/>
            </a:avLst>
          </a:prstGeom>
          <a:solidFill>
            <a:srgbClr val="EDF3E8"/>
          </a:solidFill>
          <a:ln/>
        </p:spPr>
      </p:sp>
      <p:sp>
        <p:nvSpPr>
          <p:cNvPr id="11" name="Shape 8"/>
          <p:cNvSpPr/>
          <p:nvPr/>
        </p:nvSpPr>
        <p:spPr>
          <a:xfrm>
            <a:off x="7178040" y="173736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Shape 9"/>
          <p:cNvSpPr/>
          <p:nvPr/>
        </p:nvSpPr>
        <p:spPr>
          <a:xfrm>
            <a:off x="7543800" y="173736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1897380"/>
            <a:ext cx="36576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40420" y="224028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Shape 12"/>
          <p:cNvSpPr/>
          <p:nvPr/>
        </p:nvSpPr>
        <p:spPr>
          <a:xfrm>
            <a:off x="7281420" y="224028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Shape 13"/>
          <p:cNvSpPr/>
          <p:nvPr/>
        </p:nvSpPr>
        <p:spPr>
          <a:xfrm>
            <a:off x="7760460" y="2400300"/>
            <a:ext cx="-15900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644" y="274320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Shape 15"/>
          <p:cNvSpPr/>
          <p:nvPr/>
        </p:nvSpPr>
        <p:spPr>
          <a:xfrm>
            <a:off x="7178196" y="274320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Shape 16"/>
          <p:cNvSpPr/>
          <p:nvPr/>
        </p:nvSpPr>
        <p:spPr>
          <a:xfrm>
            <a:off x="7863684" y="2903220"/>
            <a:ext cx="-365448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25097" y="324612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Shape 18"/>
          <p:cNvSpPr/>
          <p:nvPr/>
        </p:nvSpPr>
        <p:spPr>
          <a:xfrm>
            <a:off x="7296743" y="324612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2" name="Shape 19"/>
          <p:cNvSpPr/>
          <p:nvPr/>
        </p:nvSpPr>
        <p:spPr>
          <a:xfrm>
            <a:off x="7745137" y="3406140"/>
            <a:ext cx="-128355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56689" y="374904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Shape 21"/>
          <p:cNvSpPr/>
          <p:nvPr/>
        </p:nvSpPr>
        <p:spPr>
          <a:xfrm>
            <a:off x="7565151" y="374904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5" name="Shape 22"/>
          <p:cNvSpPr/>
          <p:nvPr/>
        </p:nvSpPr>
        <p:spPr>
          <a:xfrm>
            <a:off x="7476729" y="3909060"/>
            <a:ext cx="408462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2648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A-T  G-C</a:t>
            </a:r>
            <a:endParaRPr lang="en-US" sz="14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中心法则与遗传密码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Dogma &amp; Genetic Code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554480"/>
            <a:ext cx="2194560" cy="82296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脱氧核糖核酸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34640" y="1965960"/>
            <a:ext cx="64008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74720" y="1554480"/>
            <a:ext cx="2194560" cy="82296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7472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RNA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47472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核糖核酸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0" y="1965960"/>
            <a:ext cx="64008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309360" y="1554480"/>
            <a:ext cx="2194560" cy="822960"/>
          </a:xfrm>
          <a:prstGeom prst="roundRect">
            <a:avLst>
              <a:gd name="adj" fmla="val 13333"/>
            </a:avLst>
          </a:prstGeom>
          <a:solidFill>
            <a:srgbClr val="D4A843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936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蛋白质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274320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743200"/>
            <a:ext cx="54864" cy="1920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292608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克里克 (1958) 提出中心法则</a:t>
            </a:r>
            <a:endParaRPr lang="en-US" sz="14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 proposed the Central Dogma in 1958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64个三联密码子 → 20种氨基酸</a:t>
            </a:r>
            <a:endParaRPr lang="en-US" sz="14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codons encode 20 amino acids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1960年代密码子破译：Nirenberg &amp; Khorana</a:t>
            </a:r>
            <a:endParaRPr lang="en-US" sz="14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deciphering: Nirenberg &amp; Khorana</a:t>
            </a:r>
            <a:endParaRPr lang="en-US" sz="14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分子工具革命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Tools Revolution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80160"/>
            <a:ext cx="2590800" cy="30175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80160"/>
            <a:ext cx="25908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6"/>
          <p:cNvSpPr/>
          <p:nvPr/>
        </p:nvSpPr>
        <p:spPr>
          <a:xfrm>
            <a:off x="1203960" y="15087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1203960" y="1508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205740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重组DNA技术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" y="2377440"/>
            <a:ext cx="231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Recombinant DNA (1970s)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2743200"/>
            <a:ext cx="23164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限制酶 + 连接酶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 enzymes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ligases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76600" y="1280160"/>
            <a:ext cx="2590800" cy="30175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76600" y="1280160"/>
            <a:ext cx="25908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Shape 13"/>
          <p:cNvSpPr/>
          <p:nvPr/>
        </p:nvSpPr>
        <p:spPr>
          <a:xfrm>
            <a:off x="4023360" y="15087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4023360" y="1508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13760" y="205740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DNA测序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413760" y="2377440"/>
            <a:ext cx="231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Sequencing (1977)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413760" y="2743200"/>
            <a:ext cx="23164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Sanger双脱氧法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 dideoxy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96000" y="1280160"/>
            <a:ext cx="2590800" cy="30175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96000" y="1280160"/>
            <a:ext cx="2590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Shape 20"/>
          <p:cNvSpPr/>
          <p:nvPr/>
        </p:nvSpPr>
        <p:spPr>
          <a:xfrm>
            <a:off x="6842760" y="15087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D4A843"/>
          </a:solidFill>
          <a:ln/>
        </p:spPr>
      </p:sp>
      <p:sp>
        <p:nvSpPr>
          <p:cNvPr id="24" name="Text 21"/>
          <p:cNvSpPr/>
          <p:nvPr/>
        </p:nvSpPr>
        <p:spPr>
          <a:xfrm>
            <a:off x="6842760" y="1508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33160" y="205740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PCR技术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233160" y="2377440"/>
            <a:ext cx="231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(1983)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33160" y="2743200"/>
            <a:ext cx="23164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穆利斯发明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Mullis: polymerase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reaction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基因工程标准化 · Genetic engineering standardized</a:t>
            </a:r>
            <a:endParaRPr lang="en-US" sz="13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人类基因组计划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Genome Project (1990–2003)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8016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3B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碱基对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331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pairs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280160"/>
            <a:ext cx="192024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0" y="1417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22K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5603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560320" y="2331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28016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1417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66344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663440" y="2331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6656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66560" y="128016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6766560" y="1417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$3B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76656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美元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66560" y="2331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15468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DF3E8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77240" y="3337560"/>
            <a:ext cx="758952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「生命科学的登月计划」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Moonshot of Life Sciences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多国合作 · 开启基因组学时代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collaboration · Dawn of genomics era</a:t>
            </a:r>
            <a:endParaRPr lang="en-US" sz="16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CRISPR-Cas9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CRISPR Revolution (2012)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34440"/>
            <a:ext cx="48463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54864" cy="3429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508760"/>
            <a:ext cx="4206240" cy="2880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杜德纳 &amp; 沙尔庞捷</a:t>
            </a:r>
            <a:endParaRPr lang="en-US" sz="15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Doudna &amp; Charpentier: 2020 Nobel Prize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张锋：哺乳动物细胞编辑</a:t>
            </a:r>
            <a:endParaRPr lang="en-US" sz="15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Feng: mammalian cell editing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sgRNA引导精准切割</a:t>
            </a:r>
            <a:endParaRPr lang="en-US" sz="15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 guides precise DNA cleavage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应用：基因治疗 / 育种 / 基础研究</a:t>
            </a:r>
            <a:endParaRPr lang="en-US" sz="15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therapy / breeding / basic research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532120" y="1234440"/>
            <a:ext cx="3154680" cy="3429000"/>
          </a:xfrm>
          <a:prstGeom prst="roundRect">
            <a:avLst>
              <a:gd name="adj" fmla="val 2899"/>
            </a:avLst>
          </a:prstGeom>
          <a:solidFill>
            <a:srgbClr val="EDF3E8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150876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15087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 引导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109460" y="2011680"/>
            <a:ext cx="0" cy="2743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852160" y="233172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160" y="23317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Cas9 切割酶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109460" y="2834640"/>
            <a:ext cx="0" cy="27432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852160" y="315468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D4A843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52160" y="3154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精准切割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46520" y="3840480"/>
            <a:ext cx="1325880" cy="54864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46520" y="38404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 Nobel</a:t>
            </a:r>
            <a:endParaRPr lang="en-US" sz="13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历史的启示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History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344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1417320"/>
            <a:ext cx="2948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数学是遗传学的基石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1737360"/>
            <a:ext cx="29489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is foundational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2103120"/>
            <a:ext cx="35433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孟德尔首次将数学引入生物学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 introduced math to biology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86300" y="12344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6300" y="1234440"/>
            <a:ext cx="54864" cy="1600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Shape 13"/>
          <p:cNvSpPr/>
          <p:nvPr/>
        </p:nvSpPr>
        <p:spPr>
          <a:xfrm>
            <a:off x="4914900" y="14630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49149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09260" y="1417320"/>
            <a:ext cx="2948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模式生物改变范式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509260" y="1737360"/>
            <a:ext cx="29489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organisms shift paradigms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14900" y="2103120"/>
            <a:ext cx="35433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果蝇、豌豆、大肠杆菌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Drosophila, pea, E. coli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0632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063240"/>
            <a:ext cx="54864" cy="1600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80160" y="3246120"/>
            <a:ext cx="2948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跨学科合作推动突破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280160" y="3566160"/>
            <a:ext cx="29489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collaboration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5800" y="3931920"/>
            <a:ext cx="35433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物理+化学+生物学交叉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+ chemistry + biology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86300" y="3063240"/>
            <a:ext cx="40005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86300" y="3063240"/>
            <a:ext cx="54864" cy="1600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Shape 27"/>
          <p:cNvSpPr/>
          <p:nvPr/>
        </p:nvSpPr>
        <p:spPr>
          <a:xfrm>
            <a:off x="4914900" y="3291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8"/>
          <p:cNvSpPr/>
          <p:nvPr/>
        </p:nvSpPr>
        <p:spPr>
          <a:xfrm>
            <a:off x="49149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509260" y="3246120"/>
            <a:ext cx="2948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基础研究孕育应用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509260" y="3566160"/>
            <a:ext cx="29489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research enables applications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914900" y="3931920"/>
            <a:ext cx="35433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CRISPR源于细菌免疫研究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 from bacterial immunity</a:t>
            </a:r>
            <a:endParaRPr lang="en-US" sz="12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伦理与挑战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Challenges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3444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54864" cy="3429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508760"/>
            <a:ext cx="7589520" cy="2880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基因编辑人类胚胎的伦理边界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boundaries of human embryo editing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遗传信息歧视与隐私保护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discrimination &amp; privacy protection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基因驱动与环境风险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drives &amp; environmental risks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精准医学的可及性与公平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equity in precision medicine</a:t>
            </a:r>
            <a:endParaRPr lang="en-US" sz="15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未来展望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8016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6"/>
          <p:cNvSpPr/>
          <p:nvPr/>
        </p:nvSpPr>
        <p:spPr>
          <a:xfrm>
            <a:off x="960120" y="150876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1508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合成生物学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2331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Biology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设计生命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life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6032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60320" y="1280160"/>
            <a:ext cx="192024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Shape 13"/>
          <p:cNvSpPr/>
          <p:nvPr/>
        </p:nvSpPr>
        <p:spPr>
          <a:xfrm>
            <a:off x="3063240" y="150876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3063240" y="1508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65176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表观遗传学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651760" y="2331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65176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超越DNA序列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DNA sequence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128016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Shape 20"/>
          <p:cNvSpPr/>
          <p:nvPr/>
        </p:nvSpPr>
        <p:spPr>
          <a:xfrm>
            <a:off x="5166360" y="150876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D4A843"/>
          </a:solidFill>
          <a:ln/>
        </p:spPr>
      </p:sp>
      <p:sp>
        <p:nvSpPr>
          <p:cNvPr id="24" name="Text 21"/>
          <p:cNvSpPr/>
          <p:nvPr/>
        </p:nvSpPr>
        <p:spPr>
          <a:xfrm>
            <a:off x="5166360" y="1508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75488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精准医学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54880" y="2331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5488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个体化治疗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therapy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76656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766560" y="128016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Shape 27"/>
          <p:cNvSpPr/>
          <p:nvPr/>
        </p:nvSpPr>
        <p:spPr>
          <a:xfrm>
            <a:off x="7269480" y="150876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/>
        </p:spPr>
      </p:sp>
      <p:sp>
        <p:nvSpPr>
          <p:cNvPr id="31" name="Text 28"/>
          <p:cNvSpPr/>
          <p:nvPr/>
        </p:nvSpPr>
        <p:spPr>
          <a:xfrm>
            <a:off x="7269480" y="1508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85800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AI+遗传学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858000" y="2331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Genetics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85800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数据驱动发现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discovery</a:t>
            </a:r>
            <a:endParaRPr lang="en-US" sz="12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1097280"/>
            <a:ext cx="9144000" cy="32004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265176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从孟德尔的豌豆园到CRISPR的分子剪刀，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遗传学的故事是科学探索精神的最佳注脚。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参考资源 / Reference: github.com/lijianguoa/genetics-learning-100-days</a:t>
            </a:r>
            <a:endParaRPr lang="en-US" sz="11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遗传学发展史回顾 - History of Genetics</dc:title>
  <dc:subject>PptxGenJS Presentation</dc:subject>
  <dc:creator>Genetics Learning</dc:creator>
  <cp:lastModifiedBy>Genetics Learning</cp:lastModifiedBy>
  <cp:revision>1</cp:revision>
  <dcterms:created xsi:type="dcterms:W3CDTF">2026-08-18T04:12:57Z</dcterms:created>
  <dcterms:modified xsi:type="dcterms:W3CDTF">2026-08-18T04:12:57Z</dcterms:modified>
</cp:coreProperties>
</file>