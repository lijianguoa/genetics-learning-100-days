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孟德尔遗传的验证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7BC62"/>
                </a:solidFill>
                <a:latin typeface="Microsoft YaHei"/>
              </a:defRPr>
            </a:pPr>
            <a:r>
              <a:t>Verification of Mendelian Inheritance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4A843"/>
                </a:solidFill>
                <a:latin typeface="Microsoft YaHei"/>
              </a:defRPr>
            </a:pPr>
            <a:r>
              <a:t>Day 14 · 遗传学100天学习计划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C5F2D"/>
                </a:solidFill>
                <a:latin typeface="Microsoft YaHei"/>
              </a:defRPr>
            </a:pPr>
            <a:r>
              <a:t>📋 今日内容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Microsoft YaHei"/>
              </a:defRPr>
            </a:pPr>
            <a:r>
              <a:t>• 历史背景：孟德尔定律验证的起源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Microsoft YaHei"/>
              </a:defRPr>
            </a:pPr>
            <a:r>
              <a:t>• 贝特森：从植物到动物的跨越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Microsoft YaHei"/>
              </a:defRPr>
            </a:pPr>
            <a:r>
              <a:t>• 德弗里斯的突变论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Microsoft YaHei"/>
              </a:defRPr>
            </a:pPr>
            <a:r>
              <a:t>• 约翰森与现代遗传学概念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Microsoft YaHei"/>
              </a:defRPr>
            </a:pPr>
            <a:r>
              <a:t>• 科学论战与历史启示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❓ 核心问题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D4A843"/>
                </a:solidFill>
                <a:latin typeface="Microsoft YaHei"/>
              </a:defRPr>
            </a:pPr>
            <a:r>
              <a:t>孟德尔定律是否具有普遍性？</a:t>
            </a:r>
            <a:br/>
            <a:r>
              <a:t>这些定律是否只适用于豌豆，还是所有生物的通用遗传规律？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C5F2D"/>
                </a:solidFill>
                <a:latin typeface="Microsoft YaHei"/>
              </a:defRPr>
            </a:pPr>
            <a:r>
              <a:t>🧬 从植物到动物的跨越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3291840" cy="22860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C5F2D"/>
                </a:solidFill>
                <a:latin typeface="Microsoft YaHei"/>
              </a:defRPr>
            </a:pPr>
            <a:r>
              <a:t>🐔 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C3E50"/>
                </a:solidFill>
                <a:latin typeface="Microsoft YaHei"/>
              </a:defRPr>
            </a:pPr>
            <a:r>
              <a:t>羽毛颜色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843"/>
                </a:solidFill>
                <a:latin typeface="Microsoft YaHei"/>
              </a:defRPr>
            </a:pPr>
            <a:r>
              <a:t>3:1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463040"/>
            <a:ext cx="3291840" cy="22860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7373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C5F2D"/>
                </a:solidFill>
                <a:latin typeface="Microsoft YaHei"/>
              </a:defRPr>
            </a:pPr>
            <a:r>
              <a:t>🐭 小鼠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468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C3E50"/>
                </a:solidFill>
                <a:latin typeface="Microsoft YaHei"/>
              </a:defRPr>
            </a:pPr>
            <a:r>
              <a:t>毛色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108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843"/>
                </a:solidFill>
                <a:latin typeface="Microsoft YaHei"/>
              </a:defRPr>
            </a:pPr>
            <a:r>
              <a:t>3:1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291840" cy="22860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7373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C5F2D"/>
                </a:solidFill>
                <a:latin typeface="Microsoft YaHei"/>
              </a:defRPr>
            </a:pPr>
            <a:r>
              <a:t>🌸 甜豌豆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68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C3E50"/>
                </a:solidFill>
                <a:latin typeface="Microsoft YaHei"/>
              </a:defRPr>
            </a:pPr>
            <a:r>
              <a:t>花色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108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843"/>
                </a:solidFill>
                <a:latin typeface="Microsoft YaHei"/>
              </a:defRPr>
            </a:pPr>
            <a:r>
              <a:t>3:1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Microsoft YaHei"/>
              </a:defRPr>
            </a:pPr>
            <a:r>
              <a:t>所有验证结果均符合孟德尔预言的3:1分离比例，证明了遗传定律的普遍性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C5F2D"/>
                </a:solidFill>
                <a:latin typeface="Microsoft YaHei"/>
              </a:defRPr>
            </a:pPr>
            <a:r>
              <a:t>👨‍🔬 威廉·贝特森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7BC62"/>
                </a:solidFill>
                <a:latin typeface="Microsoft YaHei"/>
              </a:defRPr>
            </a:pPr>
            <a:r>
              <a:t>1861-1926 | 英国剑桥大学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2C3E50"/>
                </a:solidFill>
                <a:latin typeface="Microsoft YaHei"/>
              </a:defRPr>
            </a:pPr>
            <a:r>
              <a:t>• 1900年认识到孟德尔论文的价值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2C3E50"/>
                </a:solidFill>
                <a:latin typeface="Microsoft YaHei"/>
              </a:defRPr>
            </a:pPr>
            <a:r>
              <a:t>• 1901年将孟德尔论文译成英文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2C3E50"/>
                </a:solidFill>
                <a:latin typeface="Microsoft YaHei"/>
              </a:defRPr>
            </a:pPr>
            <a:r>
              <a:t>• 在鸡、小鼠中验证孟德尔定律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2C3E50"/>
                </a:solidFill>
                <a:latin typeface="Microsoft YaHei"/>
              </a:defRPr>
            </a:pPr>
            <a:r>
              <a:t>• 1906年提出"Genetics"一词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C5F2D"/>
                </a:solidFill>
                <a:latin typeface="Microsoft YaHei"/>
              </a:defRPr>
            </a:pPr>
            <a:r>
              <a:t>💡 德弗里斯与突变论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560320" cy="109728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C5F2D"/>
                </a:solidFill>
                <a:latin typeface="Microsoft YaHei"/>
              </a:defRPr>
            </a:pPr>
            <a:r>
              <a:t>矮生型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1371600"/>
            <a:ext cx="2560320" cy="109728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645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C5F2D"/>
                </a:solidFill>
                <a:latin typeface="Microsoft YaHei"/>
              </a:defRPr>
            </a:pPr>
            <a:r>
              <a:t>巨型型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2560320" cy="109728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645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C5F2D"/>
                </a:solidFill>
                <a:latin typeface="Microsoft YaHei"/>
              </a:defRPr>
            </a:pPr>
            <a:r>
              <a:t>斑叶型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1371600"/>
            <a:ext cx="2560320" cy="109728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645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C5F2D"/>
                </a:solidFill>
                <a:latin typeface="Microsoft YaHei"/>
              </a:defRPr>
            </a:pPr>
            <a:r>
              <a:t>早花型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Microsoft YaHei"/>
              </a:defRPr>
            </a:pPr>
            <a:r>
              <a:t>月见草实验发现大量遗传变异</a:t>
            </a:r>
            <a:br/>
            <a:r>
              <a:t>突变频率约3.5%</a:t>
            </a:r>
            <a:br/>
            <a:r>
              <a:t>基因可以突然产生稳定的新性状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C5F2D"/>
                </a:solidFill>
                <a:latin typeface="Microsoft YaHei"/>
              </a:defRPr>
            </a:pPr>
            <a:r>
              <a:t>📚 约翰森 (1909)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303520" cy="109728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基因 (Gene)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5303520" cy="109728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基因型 (Genotype)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34640"/>
            <a:ext cx="5303520" cy="109728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表型 (Phenotype)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834640"/>
            <a:ext cx="5303520" cy="109728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31089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纯系学说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💡 突变论核心观点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97BC62"/>
                </a:solidFill>
                <a:latin typeface="Microsoft YaHei"/>
              </a:defRPr>
            </a:pPr>
            <a:r>
              <a:t>→ 生物体内存在可变化的"泛基因"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97BC62"/>
                </a:solidFill>
                <a:latin typeface="Microsoft YaHei"/>
              </a:defRPr>
            </a:pPr>
            <a:r>
              <a:t>→ 基因可以突然产生稳定的新性状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97BC62"/>
                </a:solidFill>
                <a:latin typeface="Microsoft YaHei"/>
              </a:defRPr>
            </a:pPr>
            <a:r>
              <a:t>→ 突变是进化变异的主要来源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59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97BC62"/>
                </a:solidFill>
                <a:latin typeface="Microsoft YaHei"/>
              </a:defRPr>
            </a:pPr>
            <a:r>
              <a:t>→ 新物种可以通过突变快速产生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C5F2D"/>
                </a:solidFill>
                <a:latin typeface="Microsoft YaHei"/>
              </a:defRPr>
            </a:pPr>
            <a:r>
              <a:t>⚖️ 世纪论战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97BC62"/>
                </a:solidFill>
                <a:latin typeface="Microsoft YaHei"/>
              </a:defRPr>
            </a:pPr>
            <a:r>
              <a:t>贝特森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C3E50"/>
                </a:solidFill>
                <a:latin typeface="Microsoft YaHei"/>
              </a:defRPr>
            </a:pPr>
            <a:r>
              <a:t>• 孟德尔定律具有普遍性</a:t>
            </a:r>
            <a:br/>
            <a:r>
              <a:t>• 颗粒遗传是遗传的本质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843"/>
                </a:solidFill>
                <a:latin typeface="Microsoft YaHei"/>
              </a:defRPr>
            </a:pPr>
            <a:r>
              <a:t>皮尔逊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9202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C3E50"/>
                </a:solidFill>
                <a:latin typeface="Microsoft YaHei"/>
              </a:defRPr>
            </a:pPr>
            <a:r>
              <a:t>• 遗传变异是连续的</a:t>
            </a:r>
            <a:br/>
            <a:r>
              <a:t>• 统计方法是研究基础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C5F2D"/>
                </a:solidFill>
                <a:latin typeface="Microsoft YaHei"/>
              </a:defRPr>
            </a:pPr>
            <a:r>
              <a:t>历史结论：孟德尔定律被证明是遗传的基本规律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🤔 思考题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solidFill>
            <a:srgbClr val="305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为什么贝特森要在动物中验证孟德尔定律？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657600"/>
            <a:ext cx="10515600" cy="1371600"/>
          </a:xfrm>
          <a:prstGeom prst="rect">
            <a:avLst/>
          </a:prstGeom>
          <a:solidFill>
            <a:srgbClr val="305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德弗里斯发现的突变现象与孟德尔定律是否矛盾？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5F2D"/>
                </a:solidFill>
                <a:latin typeface="Microsoft YaHei"/>
              </a:defRPr>
            </a:pPr>
            <a:r>
              <a:t>🐔 鸡杂交实验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Microsoft YaHei"/>
              </a:defRPr>
            </a:pPr>
            <a:r>
              <a:t>白羽 × 有色羽 → F1全有色 → F2 3:1</a:t>
            </a:r>
            <a:br/>
            <a:r>
              <a:t>白色为隐性，有色为显性</a:t>
            </a:r>
            <a:br/>
            <a:r>
              <a:t>证明孟德尔定律适用于鸟类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5F2D"/>
                </a:solidFill>
                <a:latin typeface="Microsoft YaHei"/>
              </a:defRPr>
            </a:pPr>
            <a:r>
              <a:t>🌿 月见草突变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Microsoft YaHei"/>
              </a:defRPr>
            </a:pPr>
            <a:r>
              <a:t>矮生型、巨型型、斑叶型、早花型</a:t>
            </a:r>
            <a:br/>
            <a:r>
              <a:t>突变频率约3.5%</a:t>
            </a:r>
            <a:br/>
            <a:r>
              <a:t>新性状可以稳定遗传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5F2D"/>
                </a:solidFill>
                <a:latin typeface="Microsoft YaHei"/>
              </a:defRPr>
            </a:pPr>
            <a:r>
              <a:t>📊 约翰森贡献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Microsoft YaHei"/>
              </a:defRPr>
            </a:pPr>
            <a:r>
              <a:t>1909年创造"基因"术语</a:t>
            </a:r>
            <a:br/>
            <a:r>
              <a:t>提出基因型与表型的区分</a:t>
            </a:r>
            <a:br/>
            <a:r>
              <a:t>奠定现代遗传学基础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5F2D"/>
                </a:solidFill>
                <a:latin typeface="Microsoft YaHei"/>
              </a:defRPr>
            </a:pPr>
            <a:r>
              <a:t>🔬 历史启示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Microsoft YaHei"/>
              </a:defRPr>
            </a:pPr>
            <a:r>
              <a:t>验证确立了孟德尔定律的地位</a:t>
            </a:r>
            <a:br/>
            <a:r>
              <a:t>推动了遗传学快速发展</a:t>
            </a:r>
            <a:br/>
            <a:r>
              <a:t>催生了新的遗传学理论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🔜 下节预告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D4A843"/>
                </a:solidFill>
                <a:latin typeface="Microsoft YaHei"/>
              </a:defRPr>
            </a:pPr>
            <a:r>
              <a:t>孟德尔定律的扩展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→ 人类遗传病研究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→ 多基因遗传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→ 基因互作与连锁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77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→ 现代遗传学发展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  <a:latin typeface="Microsoft YaHei"/>
              </a:defRPr>
            </a:pPr>
            <a:r>
              <a:t>感谢聆听！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97BC62"/>
                </a:solidFill>
                <a:latin typeface="Microsoft YaHei"/>
              </a:defRPr>
            </a:pPr>
            <a:r>
              <a:t>Day 14: 孟德尔遗传的验证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D4A843"/>
                </a:solidFill>
                <a:latin typeface="Microsoft YaHei"/>
              </a:defRPr>
            </a:pPr>
            <a:r>
              <a:t>遗传学100天学习计划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