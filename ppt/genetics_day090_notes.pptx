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 Day 90 学习笔记封面。
讲解要点：
1) 主题定位：基因治疗是现代遗传学最具转化价值的应用之一，从1960s的概念到2023年Casgevy获批，横跨约六十年。
2) 本日属于遗传学100天计划的第七模块（现代遗传学，Day 81-95），承接Day 89基因编辑基础，引出Day 91转基因技术。
3) 学习目标：掌握基因治疗的分类、递送策略、载体系统；理解历史转折点（1990首例、1999格尔辛格悲剧、2012复兴）；熟悉代表性临床试验与已批准药物。
4) 建议结合配图（AAV机制总图、六十年时间线）建立整体认知框架后再深入各小节。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目录页讲解要点：
本日笔记共 20 页，分六部分。
1) 历史背景（Slides 3-7）：莱德伯格/弗里德曼的早期构想 → 1990 ADA-SCID 首例 → 1999 格尔辛格悲剧 → 2012 复兴。
2) 核心概念（Slides 8-12）：基因增强/编辑/沉默三分类；ex vivo vs in vivo 递送；AAV/慢病毒/逆转录病毒/腺病毒载体；LNP、碱基编辑、先导编辑等新兴技术。
3) 科学家故事（Slides 13-15）：杜德纳与卡彭蒂耶（CRISPR 诺奖）、威尔逊（AAV 先驱）。
4) 经典实验（Slides 16-17）：Casgevy 的 CTX001 试验、Luxturna III 期试验。
5) 已批准药物总览（Slide 18）：Casgevy/Luxturna/Zolgensma/Elevidys/Hemgenix/Roctavian 等。
6) 思考与总结（Slides 19-20）：6 道思辨题 + 术语表 + Day 91 转基因技术预告。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第一部分：历史背景。
讲解要点：基因治疗并非一蹴而就，其历史可分四个阶段——
① 概念孕育（1960s-1980s）：莱德伯格首次提出外源DNA纠正遗传缺陷，弗里德曼1972年《科学》论文奠定概念框架；逆转录病毒载体技术成熟为工具。
② 突破（1990）：安德森团队完成首例 ADA-SCID 基因治疗。
③ 挫折（1999）：格尔辛格之死引发安全监管全面反思。
④ 复兴（2012至今）：Glybera、Luxturna、Zolgensma、Casgevy 相继获批。
本节用5页梳理这条曲折上升的脉络，理解每一次起伏背后的技术与社会因素。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基因治疗起源讲解要点：
1) 莱德伯格（Joshua Lederberg，诺贝尔奖得主）1963年设想“外源DNA纠正遗传缺陷”，是基因治疗最早的概念源头。
2) 1972年弗里德曼（Theodore Friedmann）与罗布林（Richard Roblin）在《Science》发表 "Gene Therapy for Human Genetic Disease?"，首次系统提出概念框架与伦理考量。
3) 1980s 逆转录病毒载体技术成熟：将病毒致病基因删除、保留感染能力，装入治疗基因，成为第一代“分子快递盒”。
4) 启示：科学突破常需“概念—工具—临床”三步走，工具的成熟往往是转化的关键瓶颈。
5) 弗里德曼因此被尊称为“基因治疗之父”之一。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1990 首例基因治疗讲解要点：
1) 时间地点：1990年9月14日，美国国立卫生研究院（NIH）。
2) 团队：威廉·弗伦奇·安德森（W. French Anderson）、迈克尔·布莱斯（Michael Blaese）、肯尼斯·卡尔弗（Kenneth Culver）。
3) 患者：4岁女孩阿珊蒂·德席尔瓦（Ashanti DeSilva），患 ADA-SCID（腺苷脱氨酶缺陷重症联合免疫缺陷，又称“泡泡男孩病”）。
4) 策略：ex vivo，提取 T 细胞 → 逆转录病毒载体导入正常 ADA 基因 → 扩增 → 静脉回输。
5) 结果：免疫功显著改善，但需配合 PEG-ADA 酶替代治疗，非“一次性治愈”。
6) 意义：人类医学史里程碑，首次证明基因操作可治疗遗传病；1995年《Science》正式报告（Blaese et al., 270:475-480）。
7) 局限：逆转录病毒载体仅感染分裂细胞，且存在插入突变风险——这为后来的副作用（如2002年SCID试验发生白血病）埋下伏笔。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格尔辛格悲剧讲解要点：
1) 事件：1999年9月，18岁的 Jesse Gelsinger 因 OTC 缺乏症参加宾大腺病毒载体基因治疗 I 期试验，注射后发生 SIRS，4天后多器官衰竭死亡——基因治疗首例致死事件。
2) 原因：腺病毒载体引发强烈免疫反应；动物实验未能预测；知情同意与中止机制失灵。
3) 处罚：首席研究员詹姆斯·威尔逊被禁领导临床试验5年；宾大试验暂停。
4) 影响：①行业进入寒冬；②FDA/NIH 全面改革监管（强化知情同意、不良事件报告、剂量审查）；③推动 AAV 取代腺病毒。
5) 伦理启示：受试者保护、知情同意的实质而非形式、利益冲突管理。
6) 转折意义：悲剧倒逼安全升级，反而为2010年代基因治疗的复兴奠定基础——“失败中重生”。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基因治疗复兴讲解要点（2012至今）：
1) 2012 Glybera（alipogene tiparvovec）：EMA 批准，治疗脂蛋白脂肪酶缺乏症（LPLD），全球首个基因治疗药物；但因商业失败已于2017退市，说明“技术成功≠商业成功”。
2) 2017 Luxturna（voretigene neparvovec）：FDA 批准首个 in vivo 基因治疗，治疗 RPE65 突变致 Leber 先天性黑矇。
3) 2019 Zolgensma（onasemnogene abeparvovec）：治疗脊髓性肌萎缩症（SMA），AAV9 载体，定价210万美元一度为全球最贵药物。
4) 2023 Casgevy（exagamglogene autotemcel, CTX001）：全球首个 CRISPR 基因编辑疗法，治疗镰状细胞病/β-地中海贫血；2026年7月扩展至2岁以上儿童。
5) 趋势：AAV 主导 in vivo；ex vivo + CRISPR 用于血液病；非病毒载体与体内编辑比例上升。截至2025年12月全球136项 CRISPR 试验进行中，其中36项体内递送。
6) 时间线图（img2）已含主要里程碑文字，本页重点在于理解“复兴”的节奏与代表药物。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第二部分：核心概念。
讲解要点：本节建立基因治疗的知识骨架——
① 分类：基因增强（增补正常拷贝）、基因编辑（CRISPR精确修改）、基因沉默（RNAi/反义寡核苷酸抑制有害基因）。
② 递送策略：ex vivo（体外改造后回输，如Casgevy/CAR-T）vs in vivo（直接体内注射，如AAV药物Luxturna/Zolgensma）。
③ 病毒载体：AAV（低免疫原性、长期表达，容量~4.7kb）、慢病毒（~8kb，感染分裂与非分裂细胞）、逆转录病毒（仅分裂细胞）、腺病毒（高滴度但少用）。
④ 新兴技术：LNP 非病毒递送、碱基编辑（不产生双链断裂）、先导编辑（搜索-替换式）。
掌握这四个维度，就能对任何基因治疗药物进行“定位”。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基因治疗分类讲解要点：
1) 基因增强（Gene Augmentation）：向细胞导入正常基因拷贝，补偿缺陷基因功能缺失。最成熟，适用隐性遗传病（Luxturna、Zolgensma、Elevidys 均）。
2) 基因编辑（Gene Editing）：CRISPR-Cas9 等工具直接在基因组精确修改——敲除致病基因、纠正点突变、插入正常序列。Casgevy 是首个获批的 CRISPR 疗法。
3) 基因沉默（Gene Silencing）：RNAi 或反义寡核苷酸（ASO）抑制有害基因表达，适用显性遗传病或由有毒蛋白引起的疾病（如 Patisiran 治疗 TTR 淀粉样变）。
4) 选择逻辑：功能缺失型突变→增强；需精确改写→编辑；有毒功能获得型→沉默。
5) 右侧机制总图展示 AAV 三步：①工程化载体 ②递送至靶细胞 ③治疗性表达（DNA→蛋白）。
6) 注意：基因治疗通常指体细胞治疗，不改变生殖细胞（生殖细胞编辑涉及伦理，见思考题4）。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vivo vs in vivo 讲解要点：
1) ex vivo：取出患者细胞（常为造血干细胞 HSC 或 T 细胞）→实验室基因改造→回输。Casgevy、CAR-T 细胞疗法。优势：可精确控制编辑效率、质检；局限：流程复杂、成本高、需清淋预处理（白消安）。
2) in vivo：携带治疗基因的载体直接注射体内，自行寻找靶细胞。AAV 是主力载体。Luxturna（视网膜下注射）、Zolgensma（静脉注射）。优势：简便、适用广；挑战：组织特异性靶向、避免免疫反应。
3) Casgevy 选 ex vivo：HSC 可取出、体外 CRISPR 编辑 BCL11A 增强子、质检后回输。
4) Luxturna 选 in vivo：视网膜色素上皮细胞无法取出，AAV2 直接视网膜下注射递送 RPE65。
5) 肝脏遗传病：可两选——ex vivo 肝细胞移植（少见）或 in vivo AAV-LVP 静脉递送（如 Hemgenix/Roctavian，主选 in vivo）。血液病主选 ex vivo。
6) 趋势：体内编辑（in vivo CRISPR）正兴起，如 NTLA-2001（治疗转甲状腺素蛋白淀粉样变）。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病毒载体系统讲解要点：
1) AAV（腺相关病毒）：~4.7kb 单链DNA，免疫原性低、可长期表达、组织嗜性多样（不同血清型 AAV2/5/8/9 等靶向不同组织）。代表：Luxturna(AAV2)、Zolgensma(AAV9)、Elevidys。容量小是主要限制。
2) 慢病毒（源自HIV改造）：~8kb，可感染分裂与非分裂细胞，整合到基因组。主要用于 CAR-T（慢病毒转导 T 细胞表达 CAR）。
3) 逆转录病毒：~8kb，仅感染分裂细胞，整合基因组。用于早期 SCID 试验，但发生过插入突变致白血病（2002年法国SCID试验）。
4) 腺病毒：~36kb 容量大、高滴度、不整合、瞬时表达。因免疫原性强（格尔辛格事件）已少用于基因治疗，现多用于疫苗载体。
5) 选择原则：需长期表达+小基因→AAV；需整合+ex vivo改造→慢病毒；大基因→腺病毒或非病毒。
6) AAV 衣壳工程（如 James Wilson 团队发现多种血清型）是拓展组织靶向的关键。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非病毒载体与新兴技术讲解要点：
1) LNP（脂质纳米颗粒）：非病毒递送系统，因 mRNA 疫苗（COVID-19）成功而备受关注。优势：可重复给药、规模化生产、低免疫原性；挑战：递送效率、靶向特异性（目前主聚肝脏）。
2) 碱基编辑（Base Editing，刘如谦 David Liu）：不产生 DNA 双链断裂（DSB），由 Cas9-nickase 融合脱氨酶实现单碱基转换（C→T 或 A→G），降低脱靶与染色体重排风险。
3) 先导编辑（Prime Editing，刘如谦）：搜索-替换式，由 Cas9-nickase-逆转录酶融合 + pegRNA，可实现所有12种碱基替换及小片段插入/缺失，被誉为“最精确的基因编辑器”。
4) 截至2025年12月：全球136项 CRISPR 临床试验进行中，36项体内递送，非病毒载体使用比例显著上升。
5) 趋势：从“切割”到“改写”，从体外到体内，从病毒到非病毒——安全性、精确性、可及性三方向并进。
6) 右图 CRISPR-Cas9 三要素：DNA 双螺旋（靶点）、Cas9 蛋白（剪刀）、向导 RNA gRNA（定位）。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第三部分：科学家故事。
讲解要点：通过人物故事理解科学突破的人性维度——
① 杜德纳与卡彭蒂耶：2012年《Science》论文将 CRISPR-Cas9 重新编程为通用基因编辑工具；2020年诺贝尔化学奖，史上首次两位女性单独共享诺贝尔科学奖；从基础发现到临床（Casgevy 2023）仅11年。
② 詹姆斯·威尔逊：AAV 载体技术奠基人之一；1999年格尔辛格悲剧后承受重压、被禁5年，但转向 AAV 研究，发现数十种新血清型、开发组织特异性载体，为今天绝大多数 in vivo 基因治疗药物奠基——失败中重生的经典。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杜德纳与卡彭蒂耶讲解要点：
1) 詹妮弗·杜德纳（Jennifer Doudna）：加州大学伯克利分校，RNA 生物学家。
2) 艾曼纽·卡彭蒂耶（Emmanuelle Charpentier）：瑞典于默奥大学（后任马普所所长），研究细菌 CRISPR-Cas 免疫系统，发现 tracrRNA。
3) 2012年6月《Science》（Jinek et al., 337:816-821）：证明 Cas9 可被向导 RNA 重编程，在体外精确切割任意 DNA 序列——把细菌免疫机制变为通用基因编辑工具。
4) 2020年诺贝尔化学奖：首次由两位女性科学家单独共享一项诺贝尔科学奖。
5) 从基础发现（2012）到临床获批（Casgevy 2023）仅11年，医学史上前所未有的速度。
6) 启示：基础研究（看似无用的细菌免疫）可能是革命性应用的源头；跨学科合作（RNA+细菌遗传学）催生突破。
7) 争议：CRISPR 专利之争（杜德纳团队 vs 张锋团队）持续多年，凸显技术转化的复杂性。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詹姆斯·威尔逊讲解要点：
1) 身份：宾夕法尼亚大学遗传学家，AAV 载体技术奠基人之一。
2) 1999年格尔辛格悲剧：作为该腺病毒载体临床试验负责人，承受巨大压力与指责，被禁止领导临床试验5年。
3) 转折：没有被击倒，深刻反思腺病毒安全问题，转向免疫原性更低的 AAV 载体研究。
4) 贡献：团队系统性发现数十种新型 AAV 血清型（如 AAV8、AAV9 等），开发组织特异性定向载体（如靶向肝脏、肌肉、中枢神经），极大拓展 AAV 应用范围。
5) 历史地位：今天绝大多数获批的 in vivo 基因治疗药物（Luxturna、Zolgensma、Hemgenix、Roctavian、Elevidys）都使用 AAV 载体，威尔逊的贡献功不可没。
6) 启示：科学史上“从失败中重生”的经典——悲剧倒逼安全升级，个人逆境转化为领域进步。
7) 伦理反思：科学家需对受试者安全负最终责任；监管与自我约束同样重要。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Casgevy CTX001 临床试验讲解要点：
1) 研发：Vertex Pharmaceuticals 与 CRISPR Therapeutics 联合开发；产品名 exagamglogene autotemcel。
2) 对象：镰状细胞病（SCD）与输血依赖型β-地中海贫血（TDT）患者。
3) 设计（ex vivo）：①采集 HSC ②CRISPR-Cas9 编辑 BCL11A 增强子 ③解除 HbF 抑制 ④清淋预处理（白消安）⑤回输编辑后 HSC。
4) 机制：BCL11A 是抑制胎儿血红蛋白（HbF）表达的转录因子；编辑其增强子使 HbF 重新表达，替代缺陷的成人血红蛋白（HbS/HbA缺陷）。
5) 结果：SCD 患者 94.1% 12个月内无血管闭塞危象（VOC）；TDT 患者 91.4% 摆脱输血依赖。发表 NEJM 384:252-260。
6) 意义：全球首个基于 CRISPR 的获批疗法；2023年12月 FDA 批准 SCD 与 TDT；2026年7月扩展至2岁以上儿童（约5500名患者首次有机会治疗）。
7) 局限：需清淋预处理（白消安有致癌/不育风险）、成本约220万美元、长期安全性待跟踪。
8) 启示：从概念（2012 CRISPR）到治愈（2023 Casgevy）仅11年，精准医学新纪元。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Luxturna III 期临床试验讲解要点：
1) 研发：Spark Therapeutics 团队；通用名 voretigene neparvovec。
2) 对象：RPE65 基因双等位基因突变导致的 Leber 先天性黑矇（LCA）患者——遗传性视网膜营养不良，导致严重视力丧失。
3) 设计（in vivo）：视网膜下注射 AAV2-RPE65 载体，直接递送至视网膜色素上皮（RPE）细胞。
4) 结果：多亮度迷宫测试（MLMT）显著改善，患者能在更低亮度下通过迷宫，视觉功能可测量提升。截至2025全球已帮助超400名患者改善视力。
5) 意义：①FDA 2017批准，首个直接给药的遗传性失明基因治疗；②首个 in vivo 基因治疗药物；③证明 AAV 载体体内递送的安全性与有效性。
6) 对比 Casgevy：Luxturna（in vivo, AAV, 增强）vs Casgevy（ex vivo, CRISPR, 编辑）——代表两类策略的里程碑。
7) 局限：需外科手术（视网膜下注射）、价格约85万美元/眼（双眼）、对已有视网膜结构损伤者效果有限。
8) 启示：组织特异性递送（AAV2 嗜视网膜）是 in vivo 治疗成功的关键。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已批准基因治疗药物总览讲解要点：
1) Luxturna（2017）：RPE65 遗传性失明，AAV2，in vivo 增强——首个 in vivo 基因治疗。
2) Zolgensma（2019）：SMA，AAV9，in vivo 增强；定价210万美元，一次性治疗 vs Spinraza 终身治疗的经济性争议。
3) Hemgenix（2022）：血友病B，AAV5，in vivo 增强；etranacogene dezaparvovec。
4) Casgevy（2023）：SCD/TDT，ex vivo CRISPR 编辑；首个 CRISPR 疗法，定价约220万美元。
5) Elevidys（2023）：杜氏肌营养不良 DMD，AAV，in vivo 增强；delandistrogene moxeparvovec。
6) Roctavian（2023）：血友病A，AAV5，in vivo 增强；valoctocogene roxaparvovec。
7) 格局：AAV 主导 in vivo 递送（5/6为AAV）；ex vivo + CRISPR 用于血液病（Casgevy）；2017-2023 为临床应用黄金期。
8) 共同挑战：高昂定价（85万-220万美元）、长期安全性跟踪、免疫原性（预存中和抗体）、可及性与公平。
9) Glybera（2012 EMA）虽为首药但因商业失败2017退市，未列入——技术成功不等于商业成功。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思考题与术语讲解要点：
思考题答案要点（非标准答案，供思辨）：
Q1 ex vivo vs in vivo：血液病选 ex vivo（HSC可取出、质检、编辑效率可控，如Casgevy）；肝脏遗传病选 in vivo（肝脏是AAV天然靶器官、可静脉递送，如Hemgenix/Roctavian）。
Q2 AAV免疫原性：筛选无预存中和抗体患者；免疫抑制剂（利妥昔单抗等）短期使用；衣壳工程降低免疫识别；开发非病毒替代（LNP）。
Q3 脱靶：碱基编辑不产生DSB降低大片段缺失/重排；先导编辑依赖pegRNA配对更精确；临床可接受脱靶率应远低于自然突变率，需全基因组测序验证。
Q4 生殖细胞编辑：目前国际共识禁止（贺建奎事件）；理论上仅限严重致死性遗传病、无替代方案、充分知情同意+社会共识后才可讨论。
Q5 可及性：分期付款/基于疗效支付、政府/保险分担、专利池、发展中国家定价机制、公益赠药（如Zolgensma抽奖）。
Q6 未来：体内编辑（in vivo CRISPR）、先导编辑临床转化、新载体（LNP/工程化AAV）、扩展到多基因疾病与获得性疾病。
术语表完整版见 Day 90 学习笔记第九节，本页精选12个最关键术语。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90 总结讲解要点：
三大核心收获：
1) 六十年征程：1963莱德伯格构想 → 1972弗里德曼框架 → 1990首例ADA-SCID → 1999格尔辛格悲剧 → 2012复兴 → 2023 Casgevy。从概念到治愈，曲折上升。
2) 载体与策略：AAV主导in vivo（Luxturna/Zolgensma/Hemgenix/Roctavian/Elevidys）；ex vivo + CRISPR攻克血液病（Casgevy）；LNP非病毒递送与碱基/先导编辑代表未来方向。截至2025年12月136项CRISPR试验进行中。
3) 挑战与希望：安全（格尔辛格教训推动监管与AAV转向）、定价（85万-220万美元）、可及性与公平、脱靶效应——技术突破需匹配社会共识与制度设计。
下节预告（Day 91 · 转基因技术）：
基因治疗是将基因导入人体细胞治病，转基因技术则是将外源基因导入生物体赋予新性状。涵盖：农杆菌介导法、基因枪法、CRISPR精准转基因；转基因作物（抗虫棉、黄金大米）安全性争议；转基因动物在异种器官移植中的前景；伦理与监管框架。从治病到改物，基因技术正以前所未有的广度重塑生命世界。
学习建议：回顾本节所有术语表，重点理解ex vivo vs in vivo的选择逻辑、AAV载体优势、CRISPR从发现到临床的11年速度。为Day 91做好知识衔接。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5669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F3D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 / 100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58368" y="10789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遗传学100天学习计划 · 现代遗传学模块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基因治疗的进展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58368" y="257860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i="1" spc="1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从概念验证到临床现实的六十年征程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76656" y="3200400"/>
            <a:ext cx="4572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33832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Six-Decade Journey from Proof of Concept to Clinical Reality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F3D2A">
              <a:alpha val="6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模块七 · 现代遗传学（Day 81–95）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0" y="4754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2026.08.12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11480"/>
            <a:ext cx="82296" cy="43708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82296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  Contents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六个部分 · 由历史到现实，由概念到药物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310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207008"/>
            <a:ext cx="8046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1298448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80160" y="1261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80160" y="150876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从1960s构想到六十年的复兴征程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583680" y="1371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Slides 03 – 07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1796796"/>
            <a:ext cx="8046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1888236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" y="18882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80160" y="18516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80160" y="209854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 · 递送策略 · 载体系统 · 新兴技术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83680" y="19613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Slides 08 – 12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" y="2386584"/>
            <a:ext cx="8046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9808" y="2478024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19"/>
          <p:cNvSpPr/>
          <p:nvPr/>
        </p:nvSpPr>
        <p:spPr>
          <a:xfrm>
            <a:off x="749808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280160" y="2441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280160" y="268833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杜德纳 / 卡彭蒂耶 / 威尔逊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583680" y="25511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Slides 13 – 15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40080" y="2976372"/>
            <a:ext cx="8046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49808" y="3067812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Text 25"/>
          <p:cNvSpPr/>
          <p:nvPr/>
        </p:nvSpPr>
        <p:spPr>
          <a:xfrm>
            <a:off x="749808" y="30678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280160" y="30312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280160" y="327812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Casgevy(CTX001) 与 Luxturna III 期临床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583680" y="31409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Slides 16 – 17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40080" y="3566160"/>
            <a:ext cx="8046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9808" y="365760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4" name="Text 31"/>
          <p:cNvSpPr/>
          <p:nvPr/>
        </p:nvSpPr>
        <p:spPr>
          <a:xfrm>
            <a:off x="749808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280160" y="36210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已批准药物总览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280160" y="386791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全球基因治疗版图与载体格局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583680" y="37307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Slide 18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40080" y="4155948"/>
            <a:ext cx="8046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49808" y="4247388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0" name="Text 37"/>
          <p:cNvSpPr/>
          <p:nvPr/>
        </p:nvSpPr>
        <p:spPr>
          <a:xfrm>
            <a:off x="749808" y="42473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1280160" y="42108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思考与总结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1280160" y="44577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题思辨 · 术语精选 · Day 91 预告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6583680" y="43205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Slides 19 – 20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4008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遗传学100天 · 现代遗传学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7772400" y="48280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7772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0" b="1" spc="25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Shape 1"/>
          <p:cNvSpPr/>
          <p:nvPr/>
        </p:nvSpPr>
        <p:spPr>
          <a:xfrm>
            <a:off x="676656" y="2148840"/>
            <a:ext cx="64008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3317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58368" y="3072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i="1" spc="100" kern="0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 &amp; Background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8368" y="349300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从1960年代的科学构想，到1990年首例临床，再到1999年悲剧后的反思与复兴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11480"/>
            <a:ext cx="82296" cy="43708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82296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基因治疗的起源（1960s–1990）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Concept · Framework · Enabling Tools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310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25880"/>
            <a:ext cx="250545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325880"/>
            <a:ext cx="2505456" cy="3108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32588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1963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1709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莱德伯格设想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200253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乔舒亚·莱德伯格首次提出通过外源DNA纠正人类遗传缺陷的可能。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054096" y="2011680"/>
            <a:ext cx="265176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319272" y="1325880"/>
            <a:ext cx="250545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19272" y="1325880"/>
            <a:ext cx="2505456" cy="3108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3"/>
          <p:cNvSpPr/>
          <p:nvPr/>
        </p:nvSpPr>
        <p:spPr>
          <a:xfrm>
            <a:off x="3319272" y="132588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429000" y="1709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弗里德曼论文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429000" y="200253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弗里德曼与罗布林在《科学》发文，正式提出基因治疗概念框架。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824728" y="2011680"/>
            <a:ext cx="265176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089904" y="1325880"/>
            <a:ext cx="250545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089904" y="1325880"/>
            <a:ext cx="2505456" cy="3108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Text 19"/>
          <p:cNvSpPr/>
          <p:nvPr/>
        </p:nvSpPr>
        <p:spPr>
          <a:xfrm>
            <a:off x="6089904" y="132588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1980s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199632" y="1709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载体技术成熟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199632" y="200253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逆转录病毒载体发展，使治疗基因可被高效装入细胞。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40080" y="2926080"/>
            <a:ext cx="804672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2926080"/>
            <a:ext cx="73152" cy="16276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3035808"/>
            <a:ext cx="7635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关键脉络：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基因治疗的构想可追溯到20世纪60年代。1972年弗里德曼与罗布林在《科学》(Science, 175:949-955) 发表里程碑论文，呼吁科学界严肃对待这一</a:t>
            </a:r>
            <a:pPr indent="0" marL="0">
              <a:spcAft>
                <a:spcPts val="400"/>
              </a:spcAft>
              <a:buNone/>
            </a:pPr>
            <a:r>
              <a:rPr lang="en-US" sz="1200" b="1" i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“从根本上治疗遗传病”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的新思路。然而真正的突破需要等待重组DNA技术与逆转录病毒载体的成熟——科学家学会将治疗基因装入改造过的病毒“快递盒”，使其高效进入人体细胞，为1990年首例临床铺平道路。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理论先于技术：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莱德伯格1963年的设想在当时缺乏工具无法实现；直到1980s载体技术成熟，概念才转化为可操作的临床方案。这一“构想—工具—临床”的三步节奏贯穿整个基因治疗六十年史。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4008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遗传学100天 · 现代遗传学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772400" y="48280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11480"/>
            <a:ext cx="82296" cy="43708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82296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1990：人类第一例基因治疗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Anderson 团队 · ADA-SCID 患儿阿珊蒂·德席尔瓦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310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280160"/>
            <a:ext cx="26974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280160"/>
            <a:ext cx="73152" cy="8412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135331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1990.09.14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4672" y="16916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历史性一刻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4672" y="18836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NIH 完成首例基因治疗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0080" y="2231136"/>
            <a:ext cx="26974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" y="2231136"/>
            <a:ext cx="73152" cy="8412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2"/>
          <p:cNvSpPr/>
          <p:nvPr/>
        </p:nvSpPr>
        <p:spPr>
          <a:xfrm>
            <a:off x="804672" y="23042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岁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04672" y="26426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患儿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4672" y="28346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阿珊蒂·德席尔瓦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0080" y="3182112"/>
            <a:ext cx="26974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" y="3182112"/>
            <a:ext cx="73152" cy="8412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32552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ADA-SCID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04672" y="35935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适应症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04672" y="37856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腺苷脱氨酶缺陷重症联合免疫缺陷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611880" y="1207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实验流程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611880" y="1517904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721608" y="1636776"/>
            <a:ext cx="329184" cy="32918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6" name="Text 23"/>
          <p:cNvSpPr/>
          <p:nvPr/>
        </p:nvSpPr>
        <p:spPr>
          <a:xfrm>
            <a:off x="3721608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160520" y="15727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 T 淋巴细胞 — 从患者外周血分离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3886200" y="2084832"/>
            <a:ext cx="0" cy="109728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611880" y="2194560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721608" y="2313432"/>
            <a:ext cx="329184" cy="32918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1" name="Text 28"/>
          <p:cNvSpPr/>
          <p:nvPr/>
        </p:nvSpPr>
        <p:spPr>
          <a:xfrm>
            <a:off x="3721608" y="2313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160520" y="224942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逆转录病毒载体导入正常 ADA 基因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3886200" y="2761488"/>
            <a:ext cx="0" cy="109728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611880" y="2871216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721608" y="2990088"/>
            <a:ext cx="329184" cy="32918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6" name="Text 33"/>
          <p:cNvSpPr/>
          <p:nvPr/>
        </p:nvSpPr>
        <p:spPr>
          <a:xfrm>
            <a:off x="3721608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4160520" y="29260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体外扩增培养基因修饰后的 T 细胞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3886200" y="3438144"/>
            <a:ext cx="0" cy="109728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611880" y="3547872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721608" y="3666744"/>
            <a:ext cx="329184" cy="32918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41" name="Text 38"/>
          <p:cNvSpPr/>
          <p:nvPr/>
        </p:nvSpPr>
        <p:spPr>
          <a:xfrm>
            <a:off x="3721608" y="3666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4160520" y="360273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静脉回输 — 修饰细胞重返患者体内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640080" y="4224528"/>
            <a:ext cx="8046720" cy="5120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4" name="Text 41"/>
          <p:cNvSpPr/>
          <p:nvPr/>
        </p:nvSpPr>
        <p:spPr>
          <a:xfrm>
            <a:off x="822960" y="422452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结果与意义：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 酶活性显著升高、T 细胞数量与功能改善；虽仍需配合 PEG-ADA 替代治疗，但首次证明基因操作可治疗遗传病，开辟全新医学领域。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64008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遗传学100天 · 现代遗传学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7772400" y="48280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11480"/>
            <a:ext cx="82296" cy="43708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82296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1999：格尔辛格悲剧与基因治疗的挫折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Jesse Gelsinger · 腺病毒载体 · 安全转折点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310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280160"/>
            <a:ext cx="3886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280160"/>
            <a:ext cx="3886200" cy="457200"/>
          </a:xfrm>
          <a:prstGeom prst="rect">
            <a:avLst/>
          </a:prstGeom>
          <a:solidFill>
            <a:srgbClr val="1F3D2A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事件回顾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18288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岁的杰西·格尔辛格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患温和型鸟氨酸氨甲酰转移酶（OTC）缺乏症，自愿参加宾夕法尼亚大学腺病毒载体基因治疗 I 期临床试验，希望帮助更严重的患者。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1999 年 9 月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接受注射后出现剧烈免疫反应——全身炎症反应综合征（SIRS），四天后因多器官衰竭去世。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调查发现：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知情同意未充分告知风险；肝功能异常时未及时中止；另一受试者曾出现类似先兆。FDA 严厉处罚，首席研究员詹姆斯·威尔逊被禁领导临床试验五年。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70916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对领域的深远影响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09160" y="1417320"/>
            <a:ext cx="39776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09160" y="1417320"/>
            <a:ext cx="73152" cy="78638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2"/>
          <p:cNvSpPr/>
          <p:nvPr/>
        </p:nvSpPr>
        <p:spPr>
          <a:xfrm>
            <a:off x="4873752" y="14721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临床试验暂停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73752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基因治疗试验大面积暂停，多项研究计划被迫搁置，行业进入“寒冬”。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09160" y="2313432"/>
            <a:ext cx="39776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2313432"/>
            <a:ext cx="73152" cy="78638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6"/>
          <p:cNvSpPr/>
          <p:nvPr/>
        </p:nvSpPr>
        <p:spPr>
          <a:xfrm>
            <a:off x="4873752" y="23682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监管全面收紧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73752" y="25877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FDA/NIH 强化知情同意、安全监测与不良事件报告，建立更严格的审查框架。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09160" y="3209544"/>
            <a:ext cx="39776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09160" y="3209544"/>
            <a:ext cx="73152" cy="78638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0"/>
          <p:cNvSpPr/>
          <p:nvPr/>
        </p:nvSpPr>
        <p:spPr>
          <a:xfrm>
            <a:off x="4873752" y="32644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载体安全转向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73752" y="34838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加速更安全的 AAV 载体取代腺病毒，为后续 in vivo 治疗的成功铺路。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40080" y="4206240"/>
            <a:ext cx="8046720" cy="530352"/>
          </a:xfrm>
          <a:prstGeom prst="rect">
            <a:avLst/>
          </a:prstGeom>
          <a:solidFill>
            <a:srgbClr val="1F3D2A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42062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“我不希望杰西的死毫无意义。”</a:t>
            </a:r>
            <a:pPr indent="0" marL="0">
              <a:buNone/>
            </a:pPr>
            <a:r>
              <a:rPr lang="en-US" sz="105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—— 杰西·格尔辛格之父，后成为基因治疗安全监管的积极推动者。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4008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遗传学100天 · 现代遗传学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772400" y="48280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11480"/>
            <a:ext cx="82296" cy="43708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82296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 至今：基因治疗的复兴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Glybera → Luxturna → Zolgensma → Casgevy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310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773936" y="1152144"/>
            <a:ext cx="5596128" cy="31958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pic>
        <p:nvPicPr>
          <p:cNvPr id="9" name="Image 0" descr="/workspace/genetics_learning/genetics_day090_img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0" y="1207008"/>
            <a:ext cx="5486400" cy="30861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04088" y="4407408"/>
            <a:ext cx="246888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7"/>
          <p:cNvSpPr/>
          <p:nvPr/>
        </p:nvSpPr>
        <p:spPr>
          <a:xfrm>
            <a:off x="777240" y="440740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Glybera </a:t>
            </a:r>
            <a:pPr indent="0" marL="0">
              <a:buNone/>
            </a:pPr>
            <a:r>
              <a:rPr lang="en-US" sz="95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首个基因治疗药物（EMA）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337560" y="4407408"/>
            <a:ext cx="246888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9"/>
          <p:cNvSpPr/>
          <p:nvPr/>
        </p:nvSpPr>
        <p:spPr>
          <a:xfrm>
            <a:off x="3410712" y="440740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Luxturna </a:t>
            </a:r>
            <a:pPr indent="0" marL="0">
              <a:buNone/>
            </a:pPr>
            <a:r>
              <a:rPr lang="en-US" sz="95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 in vivo 基因治疗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71032" y="4407408"/>
            <a:ext cx="246888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1"/>
          <p:cNvSpPr/>
          <p:nvPr/>
        </p:nvSpPr>
        <p:spPr>
          <a:xfrm>
            <a:off x="6044184" y="440740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Casgevy </a:t>
            </a:r>
            <a:pPr indent="0" marL="0">
              <a:buNone/>
            </a:pPr>
            <a:r>
              <a:rPr lang="en-US" sz="95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 CRISPR 疗法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008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遗传学100天 · 现代遗传学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772400" y="48280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7772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0" b="1" spc="25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Shape 1"/>
          <p:cNvSpPr/>
          <p:nvPr/>
        </p:nvSpPr>
        <p:spPr>
          <a:xfrm>
            <a:off x="676656" y="2148840"/>
            <a:ext cx="64008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3317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58368" y="3072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i="1" spc="100" kern="0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Concepts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8368" y="349300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 · 递送策略 · 病毒载体 · 非病毒与新兴技术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11480"/>
            <a:ext cx="82296" cy="43708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82296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基因治疗的分类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 Augmentation · Gene Editing · Gene Silencing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310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280160"/>
            <a:ext cx="38862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280160"/>
            <a:ext cx="91440" cy="1005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1353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基因增强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41248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 Augmentation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41248" y="1810512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导入正常基因拷贝补偿缺陷功能；最成熟策略，适用隐性遗传病。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41248" y="2103120"/>
            <a:ext cx="3575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Luxturna · Zolgensma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0080" y="2395728"/>
            <a:ext cx="38862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2395728"/>
            <a:ext cx="91440" cy="10058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" y="2468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基因编辑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41248" y="27157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 Editing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41248" y="2926080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CRISPR-Cas9 等在基因组层面精确修改：敲除、纠错、插入。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41248" y="3218688"/>
            <a:ext cx="3575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Casgevy（首个 CRISPR 疗法）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0080" y="3511296"/>
            <a:ext cx="38862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0080" y="3511296"/>
            <a:ext cx="91440" cy="10058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19"/>
          <p:cNvSpPr/>
          <p:nvPr/>
        </p:nvSpPr>
        <p:spPr>
          <a:xfrm>
            <a:off x="841248" y="3584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基因沉默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841248" y="38313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 Silencing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41248" y="4041648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RNAi 或反义寡核苷酸抑制有害基因表达，适用显性遗传病。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41248" y="4334256"/>
            <a:ext cx="3575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Patisiran（RNAi）等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91456" y="1225296"/>
            <a:ext cx="3858768" cy="2218563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pic>
        <p:nvPicPr>
          <p:cNvPr id="27" name="Image 0" descr="/workspace/genetics_learning/genetics_day090_img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280160"/>
            <a:ext cx="3749040" cy="210883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846320" y="3480435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图：AAV 介导的基因治疗机制总图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846320" y="3657600"/>
            <a:ext cx="3749040" cy="1078992"/>
          </a:xfrm>
          <a:prstGeom prst="rect">
            <a:avLst/>
          </a:prstGeom>
          <a:solidFill>
            <a:srgbClr val="1F3D2A"/>
          </a:solidFill>
          <a:ln/>
        </p:spPr>
      </p:sp>
      <p:sp>
        <p:nvSpPr>
          <p:cNvPr id="30" name="Text 26"/>
          <p:cNvSpPr/>
          <p:nvPr/>
        </p:nvSpPr>
        <p:spPr>
          <a:xfrm>
            <a:off x="4983480" y="3730752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定义：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基因治疗是通过将遗传物质导入患者细胞来治疗或预防疾病的技术。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三策略对应不同遗传机制：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功能缺失→增强；需要精确改写→编辑；有毒蛋白→沉默。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4008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遗传学100天 · 现代遗传学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7772400" y="48280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11480"/>
            <a:ext cx="82296" cy="43708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82296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递送策略：ex vivo vs in vivo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体外改造回输 · 体内直接递送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310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280160"/>
            <a:ext cx="19659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280160"/>
            <a:ext cx="1965960" cy="42062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28016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 vivo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8096" y="1783080"/>
            <a:ext cx="17190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流程：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取细胞→体外改造→回输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Casgevy · CAR-T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可控、可质检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流程繁、成本高、需清淋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15768" y="1280160"/>
            <a:ext cx="19659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15768" y="1280160"/>
            <a:ext cx="1965960" cy="42062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1"/>
          <p:cNvSpPr/>
          <p:nvPr/>
        </p:nvSpPr>
        <p:spPr>
          <a:xfrm>
            <a:off x="2715768" y="128016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vivo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843784" y="1783080"/>
            <a:ext cx="17190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流程：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载体直接注射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Luxturna · Zolgensma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简便、适用面广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挑战：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靶向性、免疫原性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45736" y="1225296"/>
            <a:ext cx="3767328" cy="2852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pic>
        <p:nvPicPr>
          <p:cNvPr id="17" name="Image 0" descr="/workspace/genetics_learning/ppt/images/image-exvivo-invivo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00600" y="1280160"/>
            <a:ext cx="3657600" cy="27432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40080" y="4315968"/>
            <a:ext cx="8046720" cy="420624"/>
          </a:xfrm>
          <a:prstGeom prst="rect">
            <a:avLst/>
          </a:prstGeom>
          <a:solidFill>
            <a:srgbClr val="1F3D2A"/>
          </a:solidFill>
          <a:ln/>
        </p:spPr>
      </p:sp>
      <p:sp>
        <p:nvSpPr>
          <p:cNvPr id="19" name="Text 15"/>
          <p:cNvSpPr/>
          <p:nvPr/>
        </p:nvSpPr>
        <p:spPr>
          <a:xfrm>
            <a:off x="822960" y="431596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选择逻辑：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血液病/可取出改造的细胞 → ex vivo；实体器官/不可取出组织 → in vivo。Casgevy 选 ex vivo 因 HSC 可体外编辑质检；Luxturna 选 in vivo 因视网膜无法取出。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008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遗传学100天 · 现代遗传学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772400" y="48280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11480"/>
            <a:ext cx="82296" cy="43708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82296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病毒载体系统对比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AAV · 慢病毒 · 逆转录病毒 · 腺病毒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310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45720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182880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载体类型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包装容量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特点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代表药物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5F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AAV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~4.7 kb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免疫原性低、长期表达、组织嗜性多样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Luxturna / Zolgensma / Elevidys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5F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慢病毒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~8 kb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感染分裂与非分裂细胞、整合基因组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CAR-T 疗法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5F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逆转录病毒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~8 kb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仅感染分裂细胞、整合基因组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早期 SCID 试验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5F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腺病毒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~36 kb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高滴度、不整合、瞬时表达（已少用）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早期试验（格尔辛格）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568696" y="1271016"/>
            <a:ext cx="3035808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pic>
        <p:nvPicPr>
          <p:cNvPr id="10" name="Image 0" descr="/workspace/genetics_learning/ppt/images/image-aav-vector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23560" y="1325880"/>
            <a:ext cx="2926080" cy="21945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23560" y="3593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图：AAV 载体结构（衣壳 + ssDNA）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640080" y="4160520"/>
            <a:ext cx="8046720" cy="576072"/>
          </a:xfrm>
          <a:prstGeom prst="rect">
            <a:avLst/>
          </a:prstGeom>
          <a:solidFill>
            <a:srgbClr val="1F3D2A"/>
          </a:solidFill>
          <a:ln/>
        </p:spPr>
      </p:sp>
      <p:sp>
        <p:nvSpPr>
          <p:cNvPr id="13" name="Text 8"/>
          <p:cNvSpPr/>
          <p:nvPr/>
        </p:nvSpPr>
        <p:spPr>
          <a:xfrm>
            <a:off x="822960" y="4160520"/>
            <a:ext cx="7680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关键点：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病毒载体去致病基因、保留感染与递送能力。AAV 因低免疫原性与长期表达成为 in vivo 主力；慢病毒适合需要整合的 ex vivo 改造；腺病毒因免疫风险已少用。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64008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遗传学100天 · 现代遗传学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7772400" y="48280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11480"/>
            <a:ext cx="82296" cy="43708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82296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非病毒载体与新兴技术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LNP · 碱基编辑 · 先导编辑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310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280160"/>
            <a:ext cx="39319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280160"/>
            <a:ext cx="91440" cy="8686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13441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LNP 脂质纳米颗粒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11880" y="1353312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97BC62"/>
          </a:solidFill>
          <a:ln/>
        </p:spPr>
      </p:sp>
      <p:sp>
        <p:nvSpPr>
          <p:cNvPr id="12" name="Text 9"/>
          <p:cNvSpPr/>
          <p:nvPr/>
        </p:nvSpPr>
        <p:spPr>
          <a:xfrm>
            <a:off x="3611880" y="135331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非病毒递送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41248" y="1591056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非病毒递送，mRNA 疫苗成功后受关注；可重复给药、易规模化、低免疫原性；递送效率与靶向性待提升。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2258568"/>
            <a:ext cx="39319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2258568"/>
            <a:ext cx="91440" cy="8686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" y="23225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碱基编辑 Base Editing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11880" y="2331720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97BC62"/>
          </a:solidFill>
          <a:ln/>
        </p:spPr>
      </p:sp>
      <p:sp>
        <p:nvSpPr>
          <p:cNvPr id="18" name="Text 15"/>
          <p:cNvSpPr/>
          <p:nvPr/>
        </p:nvSpPr>
        <p:spPr>
          <a:xfrm>
            <a:off x="3611880" y="233172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CRISPR 升级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41248" y="2569464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不产生 DNA 双链断裂即可单碱基转换，降低脱靶与染色体重排风险。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" y="3236976"/>
            <a:ext cx="39319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0080" y="3236976"/>
            <a:ext cx="91440" cy="8686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19"/>
          <p:cNvSpPr/>
          <p:nvPr/>
        </p:nvSpPr>
        <p:spPr>
          <a:xfrm>
            <a:off x="841248" y="33009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先导编辑 Prime Editing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611880" y="3310128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97BC62"/>
          </a:solidFill>
          <a:ln/>
        </p:spPr>
      </p:sp>
      <p:sp>
        <p:nvSpPr>
          <p:cNvPr id="24" name="Text 21"/>
          <p:cNvSpPr/>
          <p:nvPr/>
        </p:nvSpPr>
        <p:spPr>
          <a:xfrm>
            <a:off x="3611880" y="331012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CRISPR 升级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41248" y="3547872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“搜索-替换”式编辑，可实现所有 12 种碱基替换及小片段插入缺失。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837176" y="1225296"/>
            <a:ext cx="3675888" cy="27843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pic>
        <p:nvPicPr>
          <p:cNvPr id="27" name="Image 0" descr="/workspace/genetics_learning/ppt/images/image-crispr-mechanism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280160"/>
            <a:ext cx="3566160" cy="26746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892040" y="40279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图：CRISPR-Cas9 编辑机制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892040" y="4224528"/>
            <a:ext cx="3566160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0" name="Text 26"/>
          <p:cNvSpPr/>
          <p:nvPr/>
        </p:nvSpPr>
        <p:spPr>
          <a:xfrm>
            <a:off x="5029200" y="42519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136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 CRISPR 试验进行中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 36 项体内递送，非病毒载体比例上升（截至 2025.12）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64008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遗传学100天 · 现代遗传学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7772400" y="48280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7772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0" b="1" spc="25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Shape 1"/>
          <p:cNvSpPr/>
          <p:nvPr/>
        </p:nvSpPr>
        <p:spPr>
          <a:xfrm>
            <a:off x="676656" y="2148840"/>
            <a:ext cx="64008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3317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58368" y="3072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i="1" spc="100" kern="0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Scientists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8368" y="34930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杜德纳 / 卡彭蒂耶 — CRISPR 的发现者    ·    詹姆斯·威尔逊 — AAV 载体的先驱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11480"/>
            <a:ext cx="82296" cy="43708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82296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杜德纳与卡彭蒂耶：CRISPR 的发现者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Doudna &amp; Charpentier · 2020 诺贝尔化学奖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310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280160"/>
            <a:ext cx="3886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1481328"/>
            <a:ext cx="868680" cy="8686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4813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82880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詹妮弗·杜德纳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828800" y="17373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加州大学伯克利分校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828800" y="197510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RNA结构与功能专家，与卡彭蒂耶合作证明 Cas9 可重编程为通用编辑工具。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09160" y="1280160"/>
            <a:ext cx="3886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92040" y="1481328"/>
            <a:ext cx="868680" cy="8686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3"/>
          <p:cNvSpPr/>
          <p:nvPr/>
        </p:nvSpPr>
        <p:spPr>
          <a:xfrm>
            <a:off x="4892040" y="14813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89788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艾曼纽·卡彭蒂耶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897880" y="17373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瑞典于默奥大学 / 马普所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897880" y="197510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细菌 CRISPR 免疫机制研究者，解析 tracrRNA 与 Cas9 协同切割机制。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" y="28803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0080" y="29535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40080" y="32644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Science 论文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31520" y="35021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可编程 CRISPR-Cas9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017520" y="3337560"/>
            <a:ext cx="36576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383280" y="28803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383280" y="29535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383280" y="32644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诺贝尔化学奖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474720" y="35021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首次两位女性单独共享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760720" y="3337560"/>
            <a:ext cx="36576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6126480" y="28803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126480" y="29535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126480" y="32644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Casgevy 获批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217920" y="35021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基础→临床仅 11 年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40080" y="4069080"/>
            <a:ext cx="8046720" cy="658368"/>
          </a:xfrm>
          <a:prstGeom prst="rect">
            <a:avLst/>
          </a:prstGeom>
          <a:solidFill>
            <a:srgbClr val="1F3D2A"/>
          </a:solidFill>
          <a:ln/>
        </p:spPr>
      </p:sp>
      <p:sp>
        <p:nvSpPr>
          <p:cNvPr id="35" name="Text 32"/>
          <p:cNvSpPr/>
          <p:nvPr/>
        </p:nvSpPr>
        <p:spPr>
          <a:xfrm>
            <a:off x="822960" y="406908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杜德纳回忆：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“那一刻，我们都知道世界将从此改变。”—— 当她们首次在试管中看到 Cas9 精确切割 DNA 时。从基础细菌免疫研究到治愈遗传病，CRISPR 是“基础科学改变世界”的典范。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008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遗传学100天 · 现代遗传学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772400" y="48280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11480"/>
            <a:ext cx="82296" cy="43708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82296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詹姆斯·威尔逊：AAV 载体的先驱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James M. Wilson · 从失败中重生的典范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310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280160"/>
            <a:ext cx="246888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417320" y="1508760"/>
            <a:ext cx="914400" cy="9144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141732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008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詹姆斯·威尔逊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27889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James M. Wilson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0175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宾夕法尼亚大学 遗传学家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143000" y="333756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D4A843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D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AAV 载体奠基人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37033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“从失败中重生”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39776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 → 转向 → 重建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291840" y="1207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人生与贡献三阶段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91840" y="1517904"/>
            <a:ext cx="539496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91840" y="1517904"/>
            <a:ext cx="73152" cy="9875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1" name="Shape 18"/>
          <p:cNvSpPr/>
          <p:nvPr/>
        </p:nvSpPr>
        <p:spPr>
          <a:xfrm>
            <a:off x="3456432" y="1664208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19"/>
          <p:cNvSpPr/>
          <p:nvPr/>
        </p:nvSpPr>
        <p:spPr>
          <a:xfrm>
            <a:off x="3456432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1999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86200" y="16093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悲剧与重压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3886200" y="19019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作为格尔辛格试验负责人承受巨大指责，被禁止领导临床试验五年。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602736" y="2505456"/>
            <a:ext cx="0" cy="9144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91840" y="2596896"/>
            <a:ext cx="539496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91840" y="2596896"/>
            <a:ext cx="73152" cy="9875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8" name="Shape 25"/>
          <p:cNvSpPr/>
          <p:nvPr/>
        </p:nvSpPr>
        <p:spPr>
          <a:xfrm>
            <a:off x="3456432" y="2743200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9" name="Text 26"/>
          <p:cNvSpPr/>
          <p:nvPr/>
        </p:nvSpPr>
        <p:spPr>
          <a:xfrm>
            <a:off x="3456432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2000s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3886200" y="26883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转向 AAV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3886200" y="298094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深刻反思腺病毒安全问题，投入 AAV 载体研究，系统性发现数十种新型血清型。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602736" y="3584448"/>
            <a:ext cx="0" cy="9144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91840" y="3675888"/>
            <a:ext cx="539496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291840" y="3675888"/>
            <a:ext cx="73152" cy="9875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5" name="Shape 32"/>
          <p:cNvSpPr/>
          <p:nvPr/>
        </p:nvSpPr>
        <p:spPr>
          <a:xfrm>
            <a:off x="3456432" y="3822192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6" name="Text 33"/>
          <p:cNvSpPr/>
          <p:nvPr/>
        </p:nvSpPr>
        <p:spPr>
          <a:xfrm>
            <a:off x="3456432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至今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886200" y="37673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奠基今日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3886200" y="405993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开发组织特异性定向载体，今天绝大多数获批 in vivo 基因治疗使用 AAV。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64008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遗传学100天 · 现代遗传学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772400" y="48280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11480"/>
            <a:ext cx="82296" cy="43708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82296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经典实验：Casgevy (CTX001) 临床试验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Vertex × CRISPR Therapeutics · 2019–2023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310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207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实验设计（ex vivo + CRISPR）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1517904"/>
            <a:ext cx="4572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1563624"/>
            <a:ext cx="256032" cy="25603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6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97280" y="151790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采集患者造血干细胞（HSC）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59536" y="1865376"/>
            <a:ext cx="0" cy="4572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1911096"/>
            <a:ext cx="4572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1520" y="1956816"/>
            <a:ext cx="256032" cy="25603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97280" y="19110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CRISPR-Cas9 编辑 BCL11A 增强子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59536" y="2258568"/>
            <a:ext cx="0" cy="4572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" y="2304288"/>
            <a:ext cx="4572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" y="2350008"/>
            <a:ext cx="256032" cy="25603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97280" y="23042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解除对胎儿血红蛋白 HbF 的抑制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59536" y="2651760"/>
            <a:ext cx="0" cy="4572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0080" y="2697480"/>
            <a:ext cx="4572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1520" y="2743200"/>
            <a:ext cx="256032" cy="25603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97280" y="26974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患者接受清淋预处理（白消安）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59536" y="3044952"/>
            <a:ext cx="0" cy="4572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0080" y="3090672"/>
            <a:ext cx="4572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31520" y="3136392"/>
            <a:ext cx="256032" cy="25603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1" name="Text 28"/>
          <p:cNvSpPr/>
          <p:nvPr/>
        </p:nvSpPr>
        <p:spPr>
          <a:xfrm>
            <a:off x="731520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097280" y="30906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回输编辑后 HSC，重启 HbF 产生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486400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关键结果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5486400" y="1517904"/>
            <a:ext cx="3200400" cy="82296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577840" y="1572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94.1%</a:t>
            </a:r>
            <a:endParaRPr lang="en-US" sz="3000" dirty="0"/>
          </a:p>
        </p:txBody>
      </p:sp>
      <p:sp>
        <p:nvSpPr>
          <p:cNvPr id="36" name="Text 33"/>
          <p:cNvSpPr/>
          <p:nvPr/>
        </p:nvSpPr>
        <p:spPr>
          <a:xfrm>
            <a:off x="7086600" y="16276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镰状细胞病患者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7086600" y="18836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个月内无血管闭塞危象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486400" y="2432304"/>
            <a:ext cx="3200400" cy="82296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5577840" y="24871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91.4%</a:t>
            </a:r>
            <a:endParaRPr lang="en-US" sz="3000" dirty="0"/>
          </a:p>
        </p:txBody>
      </p:sp>
      <p:sp>
        <p:nvSpPr>
          <p:cNvPr id="40" name="Text 37"/>
          <p:cNvSpPr/>
          <p:nvPr/>
        </p:nvSpPr>
        <p:spPr>
          <a:xfrm>
            <a:off x="7086600" y="2542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β-地中海贫血患者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086600" y="27980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摆脱输血依赖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40080" y="3474720"/>
            <a:ext cx="8046720" cy="365760"/>
          </a:xfrm>
          <a:prstGeom prst="rect">
            <a:avLst/>
          </a:prstGeom>
          <a:solidFill>
            <a:srgbClr val="1F3D2A"/>
          </a:solidFill>
          <a:ln/>
        </p:spPr>
      </p:sp>
      <p:sp>
        <p:nvSpPr>
          <p:cNvPr id="43" name="Text 40"/>
          <p:cNvSpPr/>
          <p:nvPr/>
        </p:nvSpPr>
        <p:spPr>
          <a:xfrm>
            <a:off x="82296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全球首个基于 CRISPR 的获批疗法（2023.12 FDA），标志基因编辑从实验室走向临床；2026.07 扩展至 2 岁以上儿童（约 5500 名患者受益）。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40080" y="3950208"/>
            <a:ext cx="80467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40080" y="3950208"/>
            <a:ext cx="73152" cy="7772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6" name="Text 43"/>
          <p:cNvSpPr/>
          <p:nvPr/>
        </p:nvSpPr>
        <p:spPr>
          <a:xfrm>
            <a:off x="868680" y="4023360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机制核心：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 BCL11A 增强子 → 解除胎儿血红蛋白（HbF）抑制 → HbF 替代缺陷的成人血红蛋白，从根本上纠正镰状细胞病与β-地中海贫血的病理。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发表：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Frangoul et al., NEJM 384(3):252-260 (2021)。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64008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遗传学100天 · 现代遗传学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7772400" y="48280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11480"/>
            <a:ext cx="82296" cy="43708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82296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经典实验：Luxturna III 期临床试验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Spark Therapeutics · RPE65 · Leber 先天性黑矇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310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8076" y="1261872"/>
            <a:ext cx="189280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08076" y="1261872"/>
            <a:ext cx="1892808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608076" y="138988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99516" y="1792224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FDA 批准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99516" y="1993392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首个直接给药遗传性失明疗法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619756" y="1261872"/>
            <a:ext cx="189280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19756" y="1261872"/>
            <a:ext cx="1892808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2"/>
          <p:cNvSpPr/>
          <p:nvPr/>
        </p:nvSpPr>
        <p:spPr>
          <a:xfrm>
            <a:off x="2619756" y="138988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AAV2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711196" y="1792224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载体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711196" y="1993392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视网膜下注射递送 RPE65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631436" y="1261872"/>
            <a:ext cx="189280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31436" y="1261872"/>
            <a:ext cx="1892808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7"/>
          <p:cNvSpPr/>
          <p:nvPr/>
        </p:nvSpPr>
        <p:spPr>
          <a:xfrm>
            <a:off x="4631436" y="138988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400+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722876" y="1792224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患者受益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22876" y="1993392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截至 2025 全球累计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643116" y="1261872"/>
            <a:ext cx="189280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643116" y="1261872"/>
            <a:ext cx="1892808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Text 22"/>
          <p:cNvSpPr/>
          <p:nvPr/>
        </p:nvSpPr>
        <p:spPr>
          <a:xfrm>
            <a:off x="6643116" y="138988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vivo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6734556" y="1792224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策略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734556" y="1993392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 in vivo 基因治疗药物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40080" y="2432304"/>
            <a:ext cx="80467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0080" y="2432304"/>
            <a:ext cx="73152" cy="14173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0" name="Text 27"/>
          <p:cNvSpPr/>
          <p:nvPr/>
        </p:nvSpPr>
        <p:spPr>
          <a:xfrm>
            <a:off x="868680" y="2523744"/>
            <a:ext cx="7635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实验设计：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通过视网膜下注射将携带正常 RPE65 基因的 AAV2 载体直接递送至视网膜色素上皮细胞——in vivo 基因治疗经典案例。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接受治疗的患者在多亮度迷宫测试中表现显著改善，视觉功能获得可测量的提升。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意义：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批准的首个直接给药遗传性失明基因治疗药物，也是首个 in vivo 基因治疗药物，证明 AAV 载体体内递送的安全性与有效性。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40080" y="39502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治疗路径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99516" y="4224528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/>
        </p:spPr>
      </p:sp>
      <p:sp>
        <p:nvSpPr>
          <p:cNvPr id="33" name="Text 30"/>
          <p:cNvSpPr/>
          <p:nvPr/>
        </p:nvSpPr>
        <p:spPr>
          <a:xfrm>
            <a:off x="699516" y="42245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RPE65 突变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2116836" y="4416552"/>
            <a:ext cx="164592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2281428" y="4224528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/>
        </p:spPr>
      </p:sp>
      <p:sp>
        <p:nvSpPr>
          <p:cNvPr id="36" name="Text 33"/>
          <p:cNvSpPr/>
          <p:nvPr/>
        </p:nvSpPr>
        <p:spPr>
          <a:xfrm>
            <a:off x="2281428" y="42245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AAV2 载体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3698748" y="4416552"/>
            <a:ext cx="164592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3863340" y="4224528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/>
        </p:spPr>
      </p:sp>
      <p:sp>
        <p:nvSpPr>
          <p:cNvPr id="39" name="Text 36"/>
          <p:cNvSpPr/>
          <p:nvPr/>
        </p:nvSpPr>
        <p:spPr>
          <a:xfrm>
            <a:off x="3863340" y="42245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视网膜下注射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280660" y="4416552"/>
            <a:ext cx="164592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5445252" y="4224528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/>
        </p:spPr>
      </p:sp>
      <p:sp>
        <p:nvSpPr>
          <p:cNvPr id="42" name="Text 39"/>
          <p:cNvSpPr/>
          <p:nvPr/>
        </p:nvSpPr>
        <p:spPr>
          <a:xfrm>
            <a:off x="5445252" y="42245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RPE 表达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862572" y="4416552"/>
            <a:ext cx="164592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7027164" y="4224528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D4A843"/>
          </a:solidFill>
          <a:ln/>
        </p:spPr>
      </p:sp>
      <p:sp>
        <p:nvSpPr>
          <p:cNvPr id="45" name="Text 42"/>
          <p:cNvSpPr/>
          <p:nvPr/>
        </p:nvSpPr>
        <p:spPr>
          <a:xfrm>
            <a:off x="7027164" y="42245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D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视觉改善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64008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遗传学100天 · 现代遗传学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7772400" y="48280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11480"/>
            <a:ext cx="82296" cy="43708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82296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已批准基因治疗药物总览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全球基因治疗版图 · 2017–2023 黄金期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310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880360"/>
                <a:gridCol w="914400"/>
                <a:gridCol w="155448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药物名称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适应症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批准年份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载体类型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策略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5F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Luxturna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Leber 先天性黑矇 (RPE65)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AAV2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 vivo · 增强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5F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Zolgensma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脊髓性肌萎缩症 (SMA)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AAV9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 vivo · 增强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5F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Hemgenix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血友病 B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AAV5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 vivo · 增强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4A8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Casgevy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镰状细胞病 / β-地中海贫血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 vivo · CRISPR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 vivo · 编辑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5F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Elevidys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杜氏肌营养不良 (DMD)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AAV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 vivo · 增强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5F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Roctavian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血友病 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AAV5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 vivo · 增强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8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0080" y="4160520"/>
            <a:ext cx="2587752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4160520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6+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77240" y="4471416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获批基因治疗药物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364992" y="4160520"/>
            <a:ext cx="2587752" cy="5486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9"/>
          <p:cNvSpPr/>
          <p:nvPr/>
        </p:nvSpPr>
        <p:spPr>
          <a:xfrm>
            <a:off x="3502152" y="4160520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AAV 主导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02152" y="4471416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 vivo 递送载体主力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089904" y="4160520"/>
            <a:ext cx="2587752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2"/>
          <p:cNvSpPr/>
          <p:nvPr/>
        </p:nvSpPr>
        <p:spPr>
          <a:xfrm>
            <a:off x="6227064" y="4160520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3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2017–2023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227064" y="4471416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F3D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临床应用黄金期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4008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遗传学100天 · 现代遗传学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772400" y="48280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11480"/>
            <a:ext cx="82296" cy="43708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82296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思考题与术语精选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题思辨 · 关键术语回顾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310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思考题（6）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1517904"/>
            <a:ext cx="4937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1609344"/>
            <a:ext cx="237744" cy="23774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609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60704" y="1517904"/>
            <a:ext cx="4443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 vivo vs in vivo：肝脏遗传病与血液病分别选哪种？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0080" y="2002536"/>
            <a:ext cx="4937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2093976"/>
            <a:ext cx="237744" cy="23774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20939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60704" y="2002536"/>
            <a:ext cx="4443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如何解决 AAV 预存中和抗体的免疫原性问题？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40080" y="2487168"/>
            <a:ext cx="4937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2578608"/>
            <a:ext cx="237744" cy="23774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2578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60704" y="2487168"/>
            <a:ext cx="4443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碱基/先导编辑如何降低脱靶？可接受脱靶率？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40080" y="2971800"/>
            <a:ext cx="4937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" y="3063240"/>
            <a:ext cx="237744" cy="23774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063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60704" y="2971800"/>
            <a:ext cx="4443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生殖细胞基因编辑在何种条件下可接受？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40080" y="3456432"/>
            <a:ext cx="4937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1520" y="3547872"/>
            <a:ext cx="237744" cy="23774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060704" y="3456432"/>
            <a:ext cx="4443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如何平衡 220 万美元疗法的创新激励与可及性？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40080" y="3941064"/>
            <a:ext cx="4937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D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31520" y="4032504"/>
            <a:ext cx="237744" cy="23774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8"/>
          <p:cNvSpPr/>
          <p:nvPr/>
        </p:nvSpPr>
        <p:spPr>
          <a:xfrm>
            <a:off x="731520" y="40325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Q6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060704" y="3941064"/>
            <a:ext cx="4443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未来10年最大突破：递送、编辑工具还是新适应症？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806440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术语精选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5806440" y="1517904"/>
            <a:ext cx="2880360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D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97880" y="1517904"/>
            <a:ext cx="2734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AAV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腺相关病毒，低免疫原性载体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806440" y="1749247"/>
            <a:ext cx="2880360" cy="214884"/>
          </a:xfrm>
          <a:prstGeom prst="rect">
            <a:avLst/>
          </a:prstGeom>
          <a:solidFill>
            <a:srgbClr val="F1F4E8"/>
          </a:solidFill>
          <a:ln w="6350">
            <a:solidFill>
              <a:srgbClr val="E3E6D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97880" y="1749247"/>
            <a:ext cx="2734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 vivo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体外改造细胞后回输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806440" y="1980590"/>
            <a:ext cx="2880360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D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897880" y="1980590"/>
            <a:ext cx="2734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vivo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载体直接体内注射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806440" y="2211934"/>
            <a:ext cx="2880360" cy="214884"/>
          </a:xfrm>
          <a:prstGeom prst="rect">
            <a:avLst/>
          </a:prstGeom>
          <a:solidFill>
            <a:srgbClr val="F1F4E8"/>
          </a:solidFill>
          <a:ln w="6350">
            <a:solidFill>
              <a:srgbClr val="E3E6D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897880" y="2211934"/>
            <a:ext cx="2734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HSC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造血干细胞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2443277"/>
            <a:ext cx="2880360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D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897880" y="2443277"/>
            <a:ext cx="2734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HbF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胎儿血红蛋白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2674620"/>
            <a:ext cx="2880360" cy="214884"/>
          </a:xfrm>
          <a:prstGeom prst="rect">
            <a:avLst/>
          </a:prstGeom>
          <a:solidFill>
            <a:srgbClr val="F1F4E8"/>
          </a:solidFill>
          <a:ln w="6350">
            <a:solidFill>
              <a:srgbClr val="E3E6D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897880" y="2674620"/>
            <a:ext cx="2734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CAR-T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嵌合抗原受体 T 细胞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5806440" y="2905963"/>
            <a:ext cx="2880360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D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897880" y="2905963"/>
            <a:ext cx="2734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碱基编辑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无双链断裂单碱基转换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137306"/>
            <a:ext cx="2880360" cy="214884"/>
          </a:xfrm>
          <a:prstGeom prst="rect">
            <a:avLst/>
          </a:prstGeom>
          <a:solidFill>
            <a:srgbClr val="F1F4E8"/>
          </a:solidFill>
          <a:ln w="6350">
            <a:solidFill>
              <a:srgbClr val="E3E6D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897880" y="3137306"/>
            <a:ext cx="2734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先导编辑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“搜索-替换”式编辑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368650"/>
            <a:ext cx="2880360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D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897880" y="3368650"/>
            <a:ext cx="2734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LNP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脂质纳米颗粒（非病毒）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5806440" y="3599993"/>
            <a:ext cx="2880360" cy="214884"/>
          </a:xfrm>
          <a:prstGeom prst="rect">
            <a:avLst/>
          </a:prstGeom>
          <a:solidFill>
            <a:srgbClr val="F1F4E8"/>
          </a:solidFill>
          <a:ln w="6350">
            <a:solidFill>
              <a:srgbClr val="E3E6D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897880" y="3599993"/>
            <a:ext cx="2734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脱靶效应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非目标位点意外编辑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5806440" y="3831336"/>
            <a:ext cx="2880360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D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897880" y="3831336"/>
            <a:ext cx="2734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清淋预处理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移植前清除原骨髓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5806440" y="4062679"/>
            <a:ext cx="2880360" cy="214884"/>
          </a:xfrm>
          <a:prstGeom prst="rect">
            <a:avLst/>
          </a:prstGeom>
          <a:solidFill>
            <a:srgbClr val="F1F4E8"/>
          </a:solidFill>
          <a:ln w="6350">
            <a:solidFill>
              <a:srgbClr val="E3E6D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897880" y="4062679"/>
            <a:ext cx="2734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ADA-SCID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腺苷脱氨酶缺陷重症免疫缺陷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64008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遗传学100天 · 现代遗传学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7772400" y="48280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总结与下节预告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76656" y="1078992"/>
            <a:ext cx="64008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1371600"/>
            <a:ext cx="2587752" cy="1051560"/>
          </a:xfrm>
          <a:prstGeom prst="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71600"/>
            <a:ext cx="258775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" y="1536192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六十年征程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1865376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从1963年莱德伯格构想到2023年Casgevy获批，基因治疗完成从概念到治愈的跨越。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74136" y="1371600"/>
            <a:ext cx="2587752" cy="1051560"/>
          </a:xfrm>
          <a:prstGeom prst="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74136" y="1371600"/>
            <a:ext cx="258775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8"/>
          <p:cNvSpPr/>
          <p:nvPr/>
        </p:nvSpPr>
        <p:spPr>
          <a:xfrm>
            <a:off x="3538728" y="1536192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载体与策略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38728" y="1865376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AAV主导 in vivo 递送；ex vivo + CRISPR 攻克血液病；LNP与碱基/先导编辑代表未来。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08192" y="1371600"/>
            <a:ext cx="2587752" cy="1051560"/>
          </a:xfrm>
          <a:prstGeom prst="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E3E6D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08192" y="1371600"/>
            <a:ext cx="258775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2"/>
          <p:cNvSpPr/>
          <p:nvPr/>
        </p:nvSpPr>
        <p:spPr>
          <a:xfrm>
            <a:off x="6272784" y="1536192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挑战与希望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72784" y="1865376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安全（格尔辛格教训）、定价（220万美元）、可及性、脱靶——技术突破仍需社会共识。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" y="2697480"/>
            <a:ext cx="7863840" cy="1417320"/>
          </a:xfrm>
          <a:prstGeom prst="rect">
            <a:avLst/>
          </a:prstGeom>
          <a:solidFill>
            <a:srgbClr val="1F3D2A">
              <a:alpha val="88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2296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22960" y="3063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91 · 转基因技术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822960" y="3493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从治病到改物 — 基因技术正以前所未有的广度重塑生命世界。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2960" y="37673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农杆菌介导法 · 基因枪法 · CRISPR 精准转基因 · 转基因作物争议 · 异种器官移植 · 伦理与监管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0080" y="4343400"/>
            <a:ext cx="7863840" cy="146304"/>
          </a:xfrm>
          <a:prstGeom prst="rect">
            <a:avLst/>
          </a:prstGeom>
          <a:solidFill>
            <a:srgbClr val="E3E6DA"/>
          </a:solidFill>
          <a:ln/>
        </p:spPr>
      </p:sp>
      <p:sp>
        <p:nvSpPr>
          <p:cNvPr id="23" name="Shape 20"/>
          <p:cNvSpPr/>
          <p:nvPr/>
        </p:nvSpPr>
        <p:spPr>
          <a:xfrm>
            <a:off x="640080" y="4343400"/>
            <a:ext cx="7077456" cy="14630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 / 100  ·  离完成还有 10 天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90 · 基因治疗的进展 (Notes)</dc:title>
  <dc:subject>PptxGenJS Presentation</dc:subject>
  <dc:creator>Genetics 100-Day Learning Plan</dc:creator>
  <cp:lastModifiedBy>Genetics 100-Day Learning Plan</cp:lastModifiedBy>
  <cp:revision>1</cp:revision>
  <dcterms:created xsi:type="dcterms:W3CDTF">2026-08-12T04:37:47Z</dcterms:created>
  <dcterms:modified xsi:type="dcterms:W3CDTF">2026-08-12T04:37:47Z</dcterms:modified>
</cp:coreProperties>
</file>