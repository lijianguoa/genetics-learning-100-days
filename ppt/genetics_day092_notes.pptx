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是遗传学100天学习计划的第92天，主题是基因工程的应用。基因工程自1972年诞生以来，已经深刻改变了医药、农业、工业和环保四大领域。本节课将系统回顾基因工程50多年的发展历程、核心概念、关键科学家和经典实验，并思考其伦理与社会影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节课分为9个部分。我们将从历史背景出发，了解基因工程从1972年至今的发展脉络；然后深入四大应用领域的核心概念；接着通过科学家故事和经典实验理解关键突破；最后通过思考题和术语表巩固所学，并预告下节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1972年至1975年是基因工程的奠基期。Paul Berg首先在体外构建了重组DNA分子；Mertz和Davis发现EcoRI酶产生粘性末端，为DNA拼接提供了工具；1973年Cohen和Boyer构建了首个功能性重组质粒，标志着基因工程的正式诞生；1974年Chang和Cohen将真核生物基因导入细菌；同年Jaenisch和Mintz创造了首个转基因动物；1975年的Asilomar会议则讨论了重组DNA技术的安全性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1976年至2018年是基因工程的快速发展期。Genentech的成立标志着生物技术产业的诞生；1982年重组人胰岛素Humulin上市，成为首个基因工程药物；1994年Flavr Savr番茄成为首个转基因食品；2012年CRISPR-Cas9技术的发表开启了精准基因编辑时代；2018年基因编辑婴儿事件则引发了全球伦理讨论。此外，1977年首次在细菌中表达生长抑素，2000年黄金大米开发成功。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因工程在医药领域的应用最为深远。重组蛋白药物如人胰岛素、生长激素和EPO已经挽救了无数生命；基因治疗特别是CRISPR技术正在治愈遗传性疾病如镰状细胞贫血；疫苗开发从乙肝疫苗到mRNA疫苗都依赖基因工程技术；单克隆抗体则革命性地改变了癌症治疗。右侧图片展示了基因工程的四大应用领域全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农业是基因工程最早的大规模应用领域。Bt作物通过表达苏云金芽孢杆菌毒素蛋白实现抗虫；抗除草剂作物通过转EPSPS基因耐受草甘膦；黄金大米通过合成β-胡萝卜素解决维生素A缺乏问题；Flavr Savr番茄利用反义RNA技术延缓成熟，延长保鲜期。这些技术显著提高了作物产量和营养价值。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业应用展示了基因工程的广泛价值。工业酶制剂如淀粉酶和蛋白酶大量用于食品和洗涤剂行业；基因工程微生物可以将纤维素降解为乙醇生产生物燃料；PHA等生物可降解塑料为环保提供了新选择；合成生物学使酵母能够生产青蒿素前体，解决了抗疟药物的供应问题。这些应用体现了基因工程向可持续发展的贡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环境保护是基因工程的重要应用方向。基因工程微生物可以高效降解石油、塑料等污染物；在废水处理中，改造微生物可以提高处理效率；生物传感器利用基因工程微生物实时监测环境污染物；基因技术还可以用于濒危物种的保护和生态恢复。这些应用为解决全球环境问题提供了创新的生物学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Stanley Cohen和Herbert Boyer是基因工程的共同奠基人。Cohen在斯坦福大学开发了质粒转化技术，Boyer在UCSF发现了EcoRI限制酶。1973年他们的合作创造了历史——首次构建了功能性重组质粒。Boyer后来与风险投资家Swanson创办了Genentech，开创了生物技术产业；Cohen则始终留在学术界，继续基础研究。两人分别代表了科学发现和产业化的两条道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Paul Berg是重组DNA技术的开创者。1972年他首次在体外将SV40病毒DNA和λ噬菌体DNA拼接在一起，创造了首个重组DNA分子。令人敬佩的是，Berg主动暂停了将重组DNA导入细菌的实验，担心可能存在的生物安全风险。他组织了1975年的Asilomar会议，推动科学界讨论重组DNA技术的安全性。这种科学自律精神成为科学史上的典范。Berg因此获得1980年诺贝尔化学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Jennifer Doudna和Emmanuelle Charpentier是CRISPR-Cas9基因编辑技术的开创者。2012年他们在Science发表里程碑论文，将天然的crRNA和tracrRNA融合为单引导RNA（sgRNA），简化了CRISPR系统的操作。这一突破使精准基因组编辑变得简单高效，迅速应用于医学、农业和合成生物学等领域。两人因此获得2020年诺贝尔化学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这5篇文献代表了基因工程发展的关键节点。Cohen等人1973年的PNAS论文标志着基因工程的诞生；Jackson和Berg 1972年的论文描述了首个重组DNA分子的构建；Jinek和Doudna等人2012年的Science论文开启了CRISPR时代；1975年的Asilomar声明体现了科学界对新兴技术的审慎态度；Cohen 2013年的回顾文章总结了基因工程40年的发展历程。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Paul Berg 1972年的实验是基因工程的开端。他使用末端转移酶在SV40病毒DNA和λ噬菌体DNA的3端添加同聚尾（如poly-A和poly-T），然后通过互补配对将两种DNA连接在一起。这是首次证明来自不同物种的DNA可以在体外重组。虽然Berg没有将重组DNA导入活细胞，但这一实验为后续的基因工程奠定了基础。Berg因此获得1980年诺贝尔化学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Cohen和Boyer 1973年的实验标志着基因工程的正式诞生。他们使用EcoRI限制酶切割pSC101质粒和另一个携带抗药基因的质粒，产生的粘性末端互补配对后用DNA连接酶连接。然后将重组质粒转化到钙离子处理的大肠杆菌中，在双抗培养基上筛选成功的转化子。这一实验首次实现了跨物种基因的功能性表达，开创了基因工程时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PR-Cas9技术革命性地改变了基因编辑领域。sgRNA引导Cas9核酸酶到DNA特定位点，Cas9精确切割DNA双链。细胞通过非同源末端连接（NHEJ）或同源定向修复（HDR）修复切割，从而实现基因敲除或精确编辑。这项技术已广泛应用于医学（治疗遗传病）、农业（改良作物）和合成生物学（构建新生物系统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小故事展示了基因工程发展中的有趣片段。Swanson原本只预约了Boyer10分钟，但两人的谈话持续了一整天，最终促成了Genentech的创立。Berg主动暂停实验展现了科学家的社会责任感。Cohen和Boyer的专利之争反映了学术与商业的复杂关系。黄金大米从开发到批准历时20年，反映了转基因食品面临的社会阻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思考题涉及基因工程的伦理和社会维度。生殖系编辑会改变人类基因池，其伦理边界何在？转基因食品虽然科学上安全，但公众认知如何弥合？Asilomar的自律精神在CRISPR时代是否仍然适用？基因驱动可能改变整个生态系统，风险如何评估？专利保护激励创新但也影响药物可及性。基因增强与治疗的边界如何界定？这些问题没有简单答案，需要全社会共同思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术语是理解基因工程的基础。基因工程是通过人工操作DNA来改造生物的技术；重组DNA技术是基因工程的核心方法；限制性内切酶是切割DNA的分子剪刀；粘性末端使DNA片段可以互补连接；质粒和载体是携带外源基因的工具；转化是将DNA导入细菌的过程；CRISPR-Cas9是最新的基因编辑工具；sgRNA引导Cas9到目标位点；基因治疗通过修复基因治疗疾病；转基因生物含有外源基因；生物修复利用微生物降解污染物；异种器官移植通过基因改造动物提供移植器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因工程经过50多年的发展，已经从实验室技术成长为改变世界的力量。四大应用领域——医药、农业、工业、环保——都取得了巨大成就。从重组DNA到CRISPR，关键技术的不断突破推动着领域前进。在追求创新的同时，伦理和社会责任同样重要。未来，精准医学和合成生物学将继续拓展基因工程的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节课我们将进入生物信息学与遗传学的世界。生物信息学利用计算方法分析基因组数据，是现代遗传学不可或缺的工具。我们将学习序列比对、基因预测、系统发育分析等内容，并探讨精准医学和进化生物学中的应用。请提前预习相关基础知识，了解BLAST等常用工具的基本原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genetics_learning/ppt/images/cover_b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D2E">
              <a:alpha val="7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724248" y="1828800"/>
            <a:ext cx="27432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210312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基因工程的应用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 of Genetic Engineering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724248" y="3657600"/>
            <a:ext cx="27432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 ·  Day 92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2026年8月14日  |  August 14, 2026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457200"/>
            <a:ext cx="914400" cy="91440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0820095" y="5486400"/>
            <a:ext cx="1097280" cy="1097280"/>
          </a:xfrm>
          <a:prstGeom prst="ellipse">
            <a:avLst/>
          </a:prstGeom>
          <a:solidFill>
            <a:srgbClr val="97BC62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137160"/>
            <a:ext cx="914400" cy="9144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85855" y="5669280"/>
            <a:ext cx="822960" cy="82296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3891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100297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565392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54864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28016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历史背景</a:t>
            </a:r>
            <a:endParaRPr lang="en-US" sz="14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Background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096512" y="13716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96512" y="1371600"/>
            <a:ext cx="54864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4279392" y="1600200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4279392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828032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4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44384" y="13716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44384" y="1371600"/>
            <a:ext cx="54864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Shape 20"/>
          <p:cNvSpPr/>
          <p:nvPr/>
        </p:nvSpPr>
        <p:spPr>
          <a:xfrm>
            <a:off x="7827264" y="1600200"/>
            <a:ext cx="411480" cy="4114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7827264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375904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科学家故事</a:t>
            </a:r>
            <a:endParaRPr lang="en-US" sz="14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Stories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2907792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2907792"/>
            <a:ext cx="54864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3136392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136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280160" y="309067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重要文献</a:t>
            </a:r>
            <a:endParaRPr lang="en-US" sz="14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Literature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096512" y="2907792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96512" y="2907792"/>
            <a:ext cx="54864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2" name="Shape 30"/>
          <p:cNvSpPr/>
          <p:nvPr/>
        </p:nvSpPr>
        <p:spPr>
          <a:xfrm>
            <a:off x="4279392" y="3136392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3" name="Text 31"/>
          <p:cNvSpPr/>
          <p:nvPr/>
        </p:nvSpPr>
        <p:spPr>
          <a:xfrm>
            <a:off x="4279392" y="3136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828032" y="309067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经典实验</a:t>
            </a:r>
            <a:endParaRPr lang="en-US" sz="14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Experiments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644384" y="2907792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44384" y="2907792"/>
            <a:ext cx="54864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7" name="Shape 35"/>
          <p:cNvSpPr/>
          <p:nvPr/>
        </p:nvSpPr>
        <p:spPr>
          <a:xfrm>
            <a:off x="7827264" y="3136392"/>
            <a:ext cx="411480" cy="4114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8" name="Text 36"/>
          <p:cNvSpPr/>
          <p:nvPr/>
        </p:nvSpPr>
        <p:spPr>
          <a:xfrm>
            <a:off x="7827264" y="3136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375904" y="309067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小故事</a:t>
            </a:r>
            <a:endParaRPr lang="en-US" sz="14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Anecdotes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48640" y="4443984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4443984"/>
            <a:ext cx="54864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2" name="Shape 40"/>
          <p:cNvSpPr/>
          <p:nvPr/>
        </p:nvSpPr>
        <p:spPr>
          <a:xfrm>
            <a:off x="731520" y="4672584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46725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280160" y="4626864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思考题</a:t>
            </a:r>
            <a:endParaRPr lang="en-US" sz="14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096512" y="4443984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96512" y="4443984"/>
            <a:ext cx="54864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7" name="Shape 45"/>
          <p:cNvSpPr/>
          <p:nvPr/>
        </p:nvSpPr>
        <p:spPr>
          <a:xfrm>
            <a:off x="4279392" y="4672584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8" name="Text 46"/>
          <p:cNvSpPr/>
          <p:nvPr/>
        </p:nvSpPr>
        <p:spPr>
          <a:xfrm>
            <a:off x="4279392" y="46725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828032" y="4626864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术语表</a:t>
            </a:r>
            <a:endParaRPr lang="en-US" sz="14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644384" y="4443984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44384" y="4443984"/>
            <a:ext cx="54864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2" name="Shape 50"/>
          <p:cNvSpPr/>
          <p:nvPr/>
        </p:nvSpPr>
        <p:spPr>
          <a:xfrm>
            <a:off x="7827264" y="4672584"/>
            <a:ext cx="411480" cy="4114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53" name="Text 51"/>
          <p:cNvSpPr/>
          <p:nvPr/>
        </p:nvSpPr>
        <p:spPr>
          <a:xfrm>
            <a:off x="7827264" y="46725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375904" y="4626864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下节预告</a:t>
            </a:r>
            <a:endParaRPr lang="en-US" sz="14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 Preview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137160"/>
            <a:ext cx="914400" cy="9144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85855" y="5669280"/>
            <a:ext cx="822960" cy="82296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历史背景（上）1972—1975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Background (Part 1): The Foundation Years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3891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100297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565392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54864" cy="7132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499616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49961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1463040"/>
            <a:ext cx="9811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Berg构建首个重组DNA分子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SV40-λ DNA recombinant molecule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157984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157984"/>
            <a:ext cx="54864" cy="7132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2860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2860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249424"/>
            <a:ext cx="9811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Mertz与Davis发现EcoRI产生粘性末端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EcoRI creates sticky ends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944368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944368"/>
            <a:ext cx="54864" cy="7132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3072384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07238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035808"/>
            <a:ext cx="9811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 &amp; Boyer构建首个重组质粒pSC101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of genetic engineering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730752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730752"/>
            <a:ext cx="54864" cy="7132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858768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85876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91640" y="3822192"/>
            <a:ext cx="9811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 &amp; Cohen将爪蟾基因转入大肠杆菌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Frog genes expressed in E. coli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517136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517136"/>
            <a:ext cx="54864" cy="7132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4645152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97BC62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64515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691640" y="4608576"/>
            <a:ext cx="9811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Jaenisch &amp; Mintz创造首个转基因动物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transgenic animal (mouse)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3035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303520"/>
            <a:ext cx="54864" cy="7132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" y="5431536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D4A843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543153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691640" y="5394960"/>
            <a:ext cx="9811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Asilomar会议讨论重组DNA安全性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Asilomar Conference on safety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137160"/>
            <a:ext cx="914400" cy="9144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85855" y="5669280"/>
            <a:ext cx="822960" cy="82296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历史背景（下）1976—2018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Background (Part 2): Rapid Development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3891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100297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565392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54864" cy="10515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554480"/>
            <a:ext cx="777240" cy="6858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55448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150876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Genentech成立——首家生物技术公司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biotech company founded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514600"/>
            <a:ext cx="54864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697480"/>
            <a:ext cx="777240" cy="685800"/>
          </a:xfrm>
          <a:prstGeom prst="roundRect">
            <a:avLst>
              <a:gd name="adj" fmla="val 8000"/>
            </a:avLst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69748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265176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Humulin重组人胰岛素上市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recombinant drug approved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657600"/>
            <a:ext cx="54864" cy="10515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3840480"/>
            <a:ext cx="777240" cy="685800"/>
          </a:xfrm>
          <a:prstGeom prst="roundRect">
            <a:avLst>
              <a:gd name="adj" fmla="val 8000"/>
            </a:avLst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84048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45920" y="379476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Flavr Savr番茄——首个转基因食品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GMO food on market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800600"/>
            <a:ext cx="54864" cy="10515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983480"/>
            <a:ext cx="777240" cy="6858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98348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45920" y="493776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CRISPR-Cas9技术发表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gene editing era begins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0" y="1371600"/>
            <a:ext cx="4754880" cy="4754880"/>
          </a:xfrm>
          <a:prstGeom prst="roundRect">
            <a:avLst>
              <a:gd name="adj" fmla="val 1538"/>
            </a:avLst>
          </a:prstGeom>
          <a:solidFill>
            <a:srgbClr val="1A3D2E"/>
          </a:solidFill>
          <a:ln/>
        </p:spPr>
      </p:sp>
      <p:pic>
        <p:nvPicPr>
          <p:cNvPr id="31" name="Image 0" descr="/workspace/genetics_learning/ppt/images/genetics_day092_image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463040"/>
            <a:ext cx="4572000" cy="34747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949440" y="5029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基因工程发展时间线</a:t>
            </a:r>
            <a:endParaRPr lang="en-US" sz="11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C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of Genetic Engineering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949440" y="5760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1977: 生长抑素表达  ·  2000: 黄金大米  ·  2018: 基因编辑婴儿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137160"/>
            <a:ext cx="914400" cy="9144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85855" y="5669280"/>
            <a:ext cx="822960" cy="82296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核心概念—医药应用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Concepts: Medical Applications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3891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100297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565392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3108960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54864" cy="2148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481328"/>
            <a:ext cx="2688336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重组蛋白药物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Recombinant Protein Drugs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人胰岛素、生长激素、干扰素、EPO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1371600"/>
            <a:ext cx="3108960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371600"/>
            <a:ext cx="54864" cy="21488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1481328"/>
            <a:ext cx="2688336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基因治疗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Therapy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CRISPR治疗镰状细胞贫血等遗传病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108960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57600"/>
            <a:ext cx="54864" cy="21488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67328"/>
            <a:ext cx="2688336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疫苗开发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Development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乙肝疫苗、mRNA疫苗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40480" y="3657600"/>
            <a:ext cx="3108960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3657600"/>
            <a:ext cx="54864" cy="2148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0" y="3767328"/>
            <a:ext cx="2688336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抗体工程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Engineering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单克隆抗体治疗癌症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0" y="1554480"/>
            <a:ext cx="4297680" cy="4389120"/>
          </a:xfrm>
          <a:prstGeom prst="roundRect">
            <a:avLst>
              <a:gd name="adj" fmla="val 1702"/>
            </a:avLst>
          </a:prstGeom>
          <a:solidFill>
            <a:srgbClr val="1A3D2E"/>
          </a:solidFill>
          <a:ln/>
        </p:spPr>
      </p:sp>
      <p:pic>
        <p:nvPicPr>
          <p:cNvPr id="23" name="Image 0" descr="/workspace/genetics_learning/ppt/images/genetics_day092_image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06640" y="1645920"/>
            <a:ext cx="4114800" cy="3657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06640" y="5394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基因工程四大应用领域</a:t>
            </a:r>
            <a:endParaRPr lang="en-US" sz="11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C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Application Domains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137160"/>
            <a:ext cx="914400" cy="9144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85855" y="5669280"/>
            <a:ext cx="822960" cy="82296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核心概念—农业应用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Concepts: Agricultural Applications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3891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100297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565392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54864" cy="2148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481328"/>
            <a:ext cx="4988052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抗虫作物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Insect-Resistant Crops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Bt棉花、Bt玉米（表达杀虫蛋白）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17236" y="1554480"/>
            <a:ext cx="457200" cy="457200"/>
          </a:xfrm>
          <a:prstGeom prst="ellipse">
            <a:avLst/>
          </a:prstGeom>
          <a:solidFill>
            <a:srgbClr val="2C5F2D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317236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31636" y="137160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1636" y="1371600"/>
            <a:ext cx="54864" cy="21488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6414516" y="1481328"/>
            <a:ext cx="4988052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抗除草剂作物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Herbicide-Resistant Crops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转EPSPS基因大豆（耐受草甘膦）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000232" y="1554480"/>
            <a:ext cx="457200" cy="457200"/>
          </a:xfrm>
          <a:prstGeom prst="ellipse">
            <a:avLst/>
          </a:prstGeom>
          <a:solidFill>
            <a:srgbClr val="D4A843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000232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703320"/>
            <a:ext cx="54864" cy="21488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813048"/>
            <a:ext cx="4988052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营养强化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Nutritional Enhancement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黄金大米（β-胡萝卜素合成）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17236" y="3886200"/>
            <a:ext cx="457200" cy="457200"/>
          </a:xfrm>
          <a:prstGeom prst="ellipse">
            <a:avLst/>
          </a:prstGeom>
          <a:solidFill>
            <a:srgbClr val="97BC62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317236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31636" y="370332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1636" y="3703320"/>
            <a:ext cx="54864" cy="2148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6414516" y="3813048"/>
            <a:ext cx="4988052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延熟保鲜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Ripening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Flavr Savr番茄（反义RNA技术）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1000232" y="3886200"/>
            <a:ext cx="457200" cy="457200"/>
          </a:xfrm>
          <a:prstGeom prst="ellipse">
            <a:avLst/>
          </a:prstGeom>
          <a:solidFill>
            <a:srgbClr val="2C5F2D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000232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137160"/>
            <a:ext cx="914400" cy="9144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85855" y="5669280"/>
            <a:ext cx="822960" cy="82296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核心概念—工业应用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Concepts: Industrial Applications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3891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100297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565392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54864" cy="21488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481328"/>
            <a:ext cx="4988052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工业酶制剂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Enzymes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淀粉酶、蛋白酶、脂肪酶（食品与洗涤剂）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17236" y="1554480"/>
            <a:ext cx="457200" cy="457200"/>
          </a:xfrm>
          <a:prstGeom prst="ellipse">
            <a:avLst/>
          </a:prstGeom>
          <a:solidFill>
            <a:srgbClr val="D4A843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317236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31636" y="137160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1636" y="1371600"/>
            <a:ext cx="54864" cy="2148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414516" y="1481328"/>
            <a:ext cx="4988052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生物燃料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Biofuels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纤维素降解生产乙醇（可再生能源）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000232" y="1554480"/>
            <a:ext cx="457200" cy="457200"/>
          </a:xfrm>
          <a:prstGeom prst="ellipse">
            <a:avLst/>
          </a:prstGeom>
          <a:solidFill>
            <a:srgbClr val="2C5F2D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000232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703320"/>
            <a:ext cx="54864" cy="21488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813048"/>
            <a:ext cx="4988052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生物材料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Biomaterials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可降解塑料PHA（环保替代品）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17236" y="3886200"/>
            <a:ext cx="457200" cy="457200"/>
          </a:xfrm>
          <a:prstGeom prst="ellipse">
            <a:avLst/>
          </a:prstGeom>
          <a:solidFill>
            <a:srgbClr val="97BC62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317236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31636" y="370332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1636" y="3703320"/>
            <a:ext cx="54864" cy="2148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6414516" y="3813048"/>
            <a:ext cx="4988052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合成生物学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Biology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酵母生产青蒿素前体（抗疟药）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1000232" y="3886200"/>
            <a:ext cx="457200" cy="457200"/>
          </a:xfrm>
          <a:prstGeom prst="ellipse">
            <a:avLst/>
          </a:prstGeom>
          <a:solidFill>
            <a:srgbClr val="2C5F2D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000232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137160"/>
            <a:ext cx="914400" cy="9144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85855" y="5669280"/>
            <a:ext cx="822960" cy="82296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核心概念—环保应用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Concepts: Environmental Applications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3891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100297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565392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54864" cy="21488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481328"/>
            <a:ext cx="4988052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生物修复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Bioremediation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基因工程微生物降解石油、塑料等污染物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17236" y="1554480"/>
            <a:ext cx="457200" cy="457200"/>
          </a:xfrm>
          <a:prstGeom prst="ellipse">
            <a:avLst/>
          </a:prstGeom>
          <a:solidFill>
            <a:srgbClr val="97BC62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317236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31636" y="137160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1636" y="1371600"/>
            <a:ext cx="54864" cy="2148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414516" y="1481328"/>
            <a:ext cx="4988052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废水处理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Treatment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改造微生物提高处理效率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000232" y="1554480"/>
            <a:ext cx="457200" cy="457200"/>
          </a:xfrm>
          <a:prstGeom prst="ellipse">
            <a:avLst/>
          </a:prstGeom>
          <a:solidFill>
            <a:srgbClr val="2C5F2D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000232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703320"/>
            <a:ext cx="54864" cy="21488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813048"/>
            <a:ext cx="4988052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环境监测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Monitoring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生物传感器实时检测污染物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17236" y="3886200"/>
            <a:ext cx="457200" cy="457200"/>
          </a:xfrm>
          <a:prstGeom prst="ellipse">
            <a:avLst/>
          </a:prstGeom>
          <a:solidFill>
            <a:srgbClr val="D4A843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317236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31636" y="370332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1636" y="3703320"/>
            <a:ext cx="54864" cy="2148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6414516" y="3813048"/>
            <a:ext cx="4988052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濒危物种保护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Conservation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基因技术辅助生态恢复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1000232" y="3886200"/>
            <a:ext cx="457200" cy="457200"/>
          </a:xfrm>
          <a:prstGeom prst="ellipse">
            <a:avLst/>
          </a:prstGeom>
          <a:solidFill>
            <a:srgbClr val="2C5F2D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000232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137160"/>
            <a:ext cx="914400" cy="9144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85855" y="5669280"/>
            <a:ext cx="822960" cy="82296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科学家故事—Cohen &amp; Boyer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Stories: Cohen &amp; Boyer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3891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100297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565392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5408676" cy="2286000"/>
          </a:xfrm>
          <a:prstGeom prst="roundRect">
            <a:avLst>
              <a:gd name="adj" fmla="val 3200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54864" cy="2286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7360" y="1554480"/>
            <a:ext cx="40370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Cohen (1935—)</a:t>
            </a:r>
            <a:endParaRPr lang="en-US" sz="1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University</a:t>
            </a:r>
            <a:endParaRPr lang="en-US" sz="1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质粒转化技术开创者</a:t>
            </a:r>
            <a:endParaRPr lang="en-US" sz="1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Pioneered plasmid transformation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31636" y="1371600"/>
            <a:ext cx="5408676" cy="2286000"/>
          </a:xfrm>
          <a:prstGeom prst="roundRect">
            <a:avLst>
              <a:gd name="adj" fmla="val 3200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1636" y="1371600"/>
            <a:ext cx="54864" cy="2286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Shape 15"/>
          <p:cNvSpPr/>
          <p:nvPr/>
        </p:nvSpPr>
        <p:spPr>
          <a:xfrm>
            <a:off x="6505956" y="1600200"/>
            <a:ext cx="731520" cy="7315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505956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HB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20356" y="1554480"/>
            <a:ext cx="40370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Herbert Boyer (1936—)</a:t>
            </a:r>
            <a:endParaRPr lang="en-US" sz="1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UCSF</a:t>
            </a:r>
            <a:endParaRPr lang="en-US" sz="1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发现EcoRI限制性内切酶</a:t>
            </a:r>
            <a:endParaRPr lang="en-US" sz="1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EcoRI restriction enzyme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3514344" cy="1508760"/>
          </a:xfrm>
          <a:prstGeom prst="roundRect">
            <a:avLst>
              <a:gd name="adj" fmla="val 4848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31920"/>
            <a:ext cx="54864" cy="1508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41648"/>
            <a:ext cx="3093720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1973年合作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 Collaboration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开创重组DNA技术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37304" y="3931920"/>
            <a:ext cx="3514344" cy="1508760"/>
          </a:xfrm>
          <a:prstGeom prst="roundRect">
            <a:avLst>
              <a:gd name="adj" fmla="val 4848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7304" y="3931920"/>
            <a:ext cx="54864" cy="1508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4520184" y="4041648"/>
            <a:ext cx="3093720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Genentech创办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Genentech Founded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Boyer与Swanson合作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25968" y="3931920"/>
            <a:ext cx="3514344" cy="1508760"/>
          </a:xfrm>
          <a:prstGeom prst="roundRect">
            <a:avLst>
              <a:gd name="adj" fmla="val 4848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25968" y="3931920"/>
            <a:ext cx="54864" cy="15087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8308848" y="4041648"/>
            <a:ext cx="3093720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学术坚守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Dedication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Cohen始终留在学术界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137160"/>
            <a:ext cx="914400" cy="9144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85855" y="5669280"/>
            <a:ext cx="822960" cy="82296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科学家故事—Paul Berg与Asilomar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Stories: Paul Berg &amp; Asilomar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3891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100297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565392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3931920" cy="4754880"/>
          </a:xfrm>
          <a:prstGeom prst="roundRect">
            <a:avLst>
              <a:gd name="adj" fmla="val 1860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54864" cy="47548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Shape 10"/>
          <p:cNvSpPr/>
          <p:nvPr/>
        </p:nvSpPr>
        <p:spPr>
          <a:xfrm>
            <a:off x="1783080" y="1737360"/>
            <a:ext cx="1463040" cy="1463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1783080" y="17373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PB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22960" y="338328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Berg (1926—2023)</a:t>
            </a:r>
            <a:endParaRPr lang="en-US" sz="16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University</a:t>
            </a:r>
            <a:endParaRPr lang="en-US" sz="16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诺贝尔化学奖 (1980)</a:t>
            </a:r>
            <a:endParaRPr lang="en-US" sz="16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 in Chemistry</a:t>
            </a:r>
            <a:endParaRPr lang="en-US" sz="16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重组DNA技术开创者</a:t>
            </a:r>
            <a:endParaRPr lang="en-US" sz="16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of recombinant DNA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371600"/>
            <a:ext cx="54864" cy="2286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481328"/>
            <a:ext cx="2871216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首个重组DNA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Recombinant DNA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1972年SV40-λ DNA体外拼接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35240" y="150876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8321040" y="137160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1371600"/>
            <a:ext cx="54864" cy="2286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1481328"/>
            <a:ext cx="2871216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主动暂停实验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Pause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担忧生物安全风险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1109960" y="150876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1110996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4846320" y="384048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840480"/>
            <a:ext cx="54864" cy="2286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950208"/>
            <a:ext cx="2871216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Asilomar会议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Asilomar Conference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1975年组织讨论安全性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35240" y="397764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9" name="Text 27"/>
          <p:cNvSpPr/>
          <p:nvPr/>
        </p:nvSpPr>
        <p:spPr>
          <a:xfrm>
            <a:off x="763524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8321040" y="384048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3840480"/>
            <a:ext cx="54864" cy="2286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3950208"/>
            <a:ext cx="2871216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科学自律典范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Self-Regulation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科学界责任感的象征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1109960" y="397764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1110996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137160"/>
            <a:ext cx="914400" cy="9144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85855" y="5669280"/>
            <a:ext cx="822960" cy="82296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科学家故事—Doudna &amp; Charpentier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Stories: Doudna &amp; Charpentier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3891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100297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565392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5408676" cy="2286000"/>
          </a:xfrm>
          <a:prstGeom prst="roundRect">
            <a:avLst>
              <a:gd name="adj" fmla="val 3200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54864" cy="2286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7360" y="1554480"/>
            <a:ext cx="40370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Jennifer Doudna (1964—)</a:t>
            </a:r>
            <a:endParaRPr lang="en-US" sz="1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Berkeley</a:t>
            </a:r>
            <a:endParaRPr lang="en-US" sz="1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CRISPR-Cas9共同开发者</a:t>
            </a:r>
            <a:endParaRPr lang="en-US" sz="1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Co-developer of CRISPR-Cas9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31636" y="1371600"/>
            <a:ext cx="5408676" cy="2286000"/>
          </a:xfrm>
          <a:prstGeom prst="roundRect">
            <a:avLst>
              <a:gd name="adj" fmla="val 3200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1636" y="1371600"/>
            <a:ext cx="54864" cy="2286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Shape 15"/>
          <p:cNvSpPr/>
          <p:nvPr/>
        </p:nvSpPr>
        <p:spPr>
          <a:xfrm>
            <a:off x="6505956" y="1600200"/>
            <a:ext cx="731520" cy="7315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505956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20356" y="1554480"/>
            <a:ext cx="40370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Emmanuelle Charpentier (1968—)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Planck Institute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CRISPR机制揭示者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Revealed CRISPR mechanism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3514344" cy="1508760"/>
          </a:xfrm>
          <a:prstGeom prst="roundRect">
            <a:avLst>
              <a:gd name="adj" fmla="val 4848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31920"/>
            <a:ext cx="54864" cy="1508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41648"/>
            <a:ext cx="3093720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2012年Science论文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Science Paper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CRISPR-Cas9里程碑发表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37304" y="3931920"/>
            <a:ext cx="3514344" cy="1508760"/>
          </a:xfrm>
          <a:prstGeom prst="roundRect">
            <a:avLst>
              <a:gd name="adj" fmla="val 4848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7304" y="3931920"/>
            <a:ext cx="54864" cy="1508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4520184" y="4041648"/>
            <a:ext cx="3093720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sgRNA融合创新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sgRNA Innovation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crRNA+tracrRNA融合为sgRNA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25968" y="3931920"/>
            <a:ext cx="3514344" cy="1508760"/>
          </a:xfrm>
          <a:prstGeom prst="roundRect">
            <a:avLst>
              <a:gd name="adj" fmla="val 4848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25968" y="3931920"/>
            <a:ext cx="54864" cy="15087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8308848" y="4041648"/>
            <a:ext cx="3093720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2020年诺贝尔奖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Nobel Prize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开启精准基因组编辑时代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137160"/>
            <a:ext cx="914400" cy="9144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85855" y="5669280"/>
            <a:ext cx="822960" cy="82296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重要文献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Literature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3891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100297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565392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54864" cy="8412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71600" y="1463040"/>
            <a:ext cx="10085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 et al. (1973) PNAS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基因工程诞生论文 — Construction of biologically functional bacterial plasmids in vitro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30428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304288"/>
            <a:ext cx="54864" cy="84124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487168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71600" y="2395728"/>
            <a:ext cx="10085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 &amp; Berg (1972) PNAS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首个重组DNA分子 — Biochemical method for inserting new genetic information into DNA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236976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236976"/>
            <a:ext cx="54864" cy="84124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419856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419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371600" y="3328416"/>
            <a:ext cx="10085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Jinek, Doudna et al. (2012) Science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CRISPR-Cas9技术 — A programmable dual-RNA-guided DNA endonuclease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169664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169664"/>
            <a:ext cx="54864" cy="8412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435254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352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371600" y="4261104"/>
            <a:ext cx="10085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Asilomar声明 (1975) PNAS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安全性讨论里程碑 — Guidelines for research involving recombinant DNA molecules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10235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102352"/>
            <a:ext cx="54864" cy="84124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5285232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285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371600" y="5193792"/>
            <a:ext cx="10085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 (2013) PNAS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40周年回顾 — DNA cloning: A personal view after 40 years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137160"/>
            <a:ext cx="914400" cy="9144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85855" y="5669280"/>
            <a:ext cx="822960" cy="82296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经典实验—首个重组DNA (Berg 1972)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Experiment: First Recombinant DNA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3891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100297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565392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54864" cy="2148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1508760"/>
            <a:ext cx="431139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DNA来源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Sources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SV40病毒DNA + λ噬菌体DNA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11596" y="22631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31636" y="137160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1636" y="1371600"/>
            <a:ext cx="54864" cy="21488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Shape 16"/>
          <p:cNvSpPr/>
          <p:nvPr/>
        </p:nvSpPr>
        <p:spPr>
          <a:xfrm>
            <a:off x="6414516" y="1554480"/>
            <a:ext cx="548640" cy="5486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6414516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46036" y="1508760"/>
            <a:ext cx="431139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同聚尾添加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Homopolymer Tails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末端转移酶添加poly-A/poly-T尾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03320"/>
            <a:ext cx="54864" cy="21488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88620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63040" y="3840480"/>
            <a:ext cx="431139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体外重组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Vitro Recombination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互补配对连接不同来源DNA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11596" y="45948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231636" y="370332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31636" y="3703320"/>
            <a:ext cx="54864" cy="2148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9" name="Shape 27"/>
          <p:cNvSpPr/>
          <p:nvPr/>
        </p:nvSpPr>
        <p:spPr>
          <a:xfrm>
            <a:off x="6414516" y="38862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6414516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46036" y="3840480"/>
            <a:ext cx="431139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历史意义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Significance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证明跨物种DNA可体外重组，获1980诺奖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137160"/>
            <a:ext cx="914400" cy="9144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85855" y="5669280"/>
            <a:ext cx="822960" cy="82296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经典实验—首个转基因细菌 (Cohen &amp; Boyer 1973)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Experiment: First Transgenic Bacteria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3891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100297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565392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54864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53619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17320" y="1444752"/>
            <a:ext cx="100401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EcoRI切割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EcoRI Digestion — 切割pSC101质粒和另一抗药质粒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267712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267712"/>
            <a:ext cx="54864" cy="8229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432304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432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2340864"/>
            <a:ext cx="100401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粘性末端连接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End Ligation — 互补配对 + DNA连接酶连接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163824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163824"/>
            <a:ext cx="54864" cy="8229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328416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328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17320" y="3236976"/>
            <a:ext cx="100401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转化大肠杆菌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coli Transformation — 钙离子处理使细菌摄取DNA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059936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059936"/>
            <a:ext cx="54864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422452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224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17320" y="4133088"/>
            <a:ext cx="100401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双抗筛选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Antibiotic Selection — 双抗培养基筛选成功转化子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95604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956048"/>
            <a:ext cx="54864" cy="8229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512064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417320" y="5029200"/>
            <a:ext cx="100401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基因工程诞生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of Genetic Engineering — 首次实现跨物种基因功能性表达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137160"/>
            <a:ext cx="914400" cy="9144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85855" y="5669280"/>
            <a:ext cx="822960" cy="82296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经典实验—CRISPR-Cas9 (2012)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Experiment: CRISPR-Cas9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3891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100297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565392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54864" cy="2148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1508760"/>
            <a:ext cx="431139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sgRNA引导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sgRNA Guidance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sgRNA引导Cas9到特定位点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11596" y="22631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31636" y="137160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1636" y="1371600"/>
            <a:ext cx="54864" cy="21488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Shape 16"/>
          <p:cNvSpPr/>
          <p:nvPr/>
        </p:nvSpPr>
        <p:spPr>
          <a:xfrm>
            <a:off x="6414516" y="1554480"/>
            <a:ext cx="548640" cy="5486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6414516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46036" y="1508760"/>
            <a:ext cx="431139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精确切割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Cleavage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Cas9在靶位点切割DNA双链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03320"/>
            <a:ext cx="54864" cy="21488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88620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63040" y="3840480"/>
            <a:ext cx="431139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基因编辑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Editing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NHEJ敲除或HDR精确修复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11596" y="45948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231636" y="370332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31636" y="3703320"/>
            <a:ext cx="54864" cy="2148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9" name="Shape 27"/>
          <p:cNvSpPr/>
          <p:nvPr/>
        </p:nvSpPr>
        <p:spPr>
          <a:xfrm>
            <a:off x="6414516" y="38862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6414516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46036" y="3840480"/>
            <a:ext cx="431139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广泛应用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Applications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医学、农业、合成生物学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137160"/>
            <a:ext cx="914400" cy="9144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85855" y="5669280"/>
            <a:ext cx="822960" cy="82296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小故事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Anecdotes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3891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100297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565392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54864" cy="2148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481328"/>
            <a:ext cx="4988052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"十分钟变成一整天"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to a Full Day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Swanson与Boyer的会面促成了Genentech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54396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6231636" y="137160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1636" y="1371600"/>
            <a:ext cx="54864" cy="21488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6414516" y="1481328"/>
            <a:ext cx="4988052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Berg的自我约束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Berg's Self-Restraint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主动暂停实验，呼吁讨论安全性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3739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703320"/>
            <a:ext cx="54864" cy="21488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13048"/>
            <a:ext cx="4988052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专利之争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Story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Cohen和Boyer的专利改变了学术界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54396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6231636" y="370332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1636" y="3703320"/>
            <a:ext cx="54864" cy="2148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6414516" y="3813048"/>
            <a:ext cx="4988052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黄金大米的20年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Rice: 20 Years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从开发到批准的漫长争议之路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137392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137160"/>
            <a:ext cx="914400" cy="9144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85855" y="5669280"/>
            <a:ext cx="822960" cy="82296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3891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100297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565392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5408676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54864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17320" y="1508760"/>
            <a:ext cx="435711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生殖系基因编辑的伦理边界</a:t>
            </a:r>
            <a:endParaRPr lang="en-US" sz="12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of germline editing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1636" y="1371600"/>
            <a:ext cx="5408676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1636" y="1371600"/>
            <a:ext cx="54864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Shape 15"/>
          <p:cNvSpPr/>
          <p:nvPr/>
        </p:nvSpPr>
        <p:spPr>
          <a:xfrm>
            <a:off x="6414516" y="16459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00316" y="1508760"/>
            <a:ext cx="435711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转基因食品安全性与公众认知</a:t>
            </a:r>
            <a:endParaRPr lang="en-US" sz="12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GMO safety &amp; public perception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2880360"/>
            <a:ext cx="5408676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880360"/>
            <a:ext cx="54864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17320" y="3017520"/>
            <a:ext cx="435711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Asilomar精神在现代的适用性</a:t>
            </a:r>
            <a:endParaRPr lang="en-US" sz="12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Asilomar spirit today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31636" y="2880360"/>
            <a:ext cx="5408676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1636" y="2880360"/>
            <a:ext cx="54864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Shape 25"/>
          <p:cNvSpPr/>
          <p:nvPr/>
        </p:nvSpPr>
        <p:spPr>
          <a:xfrm>
            <a:off x="6414516" y="31546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6414516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100316" y="3017520"/>
            <a:ext cx="435711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基因驱动与生态系统</a:t>
            </a:r>
            <a:endParaRPr lang="en-US" sz="12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drives &amp; ecosystems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389120"/>
            <a:ext cx="5408676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389120"/>
            <a:ext cx="54864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66344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417320" y="4526280"/>
            <a:ext cx="435711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专利保护与药物可及性</a:t>
            </a:r>
            <a:endParaRPr lang="en-US" sz="12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vs. drug accessibility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231636" y="4389120"/>
            <a:ext cx="5408676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31636" y="4389120"/>
            <a:ext cx="54864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4516" y="466344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8" name="Text 36"/>
          <p:cNvSpPr/>
          <p:nvPr/>
        </p:nvSpPr>
        <p:spPr>
          <a:xfrm>
            <a:off x="6414516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100316" y="4526280"/>
            <a:ext cx="435711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基因增强vs治疗的边界</a:t>
            </a:r>
            <a:endParaRPr lang="en-US" sz="12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vs. therapy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137160"/>
            <a:ext cx="914400" cy="9144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85855" y="5669280"/>
            <a:ext cx="822960" cy="82296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3891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100297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565392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2567178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54864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508760"/>
            <a:ext cx="229285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基因工程</a:t>
            </a:r>
            <a:endParaRPr lang="en-US" sz="12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Engineering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90138" y="1371600"/>
            <a:ext cx="2567178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0138" y="1371600"/>
            <a:ext cx="54864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3527298" y="1508760"/>
            <a:ext cx="229285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重组DNA技术</a:t>
            </a:r>
            <a:endParaRPr lang="en-US" sz="12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Recombinant DNA Tech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1371600"/>
            <a:ext cx="2567178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1636" y="1371600"/>
            <a:ext cx="54864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6368796" y="1508760"/>
            <a:ext cx="229285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限制性内切酶</a:t>
            </a:r>
            <a:endParaRPr lang="en-US" sz="12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 Enzymes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73134" y="1371600"/>
            <a:ext cx="2567178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3134" y="1371600"/>
            <a:ext cx="54864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9210294" y="1508760"/>
            <a:ext cx="229285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粘性末端</a:t>
            </a:r>
            <a:endParaRPr lang="en-US" sz="12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Ends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880360"/>
            <a:ext cx="2567178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880360"/>
            <a:ext cx="54864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017520"/>
            <a:ext cx="229285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质粒与载体</a:t>
            </a:r>
            <a:endParaRPr lang="en-US" sz="12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Plasmid &amp; Vector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90138" y="2880360"/>
            <a:ext cx="2567178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90138" y="2880360"/>
            <a:ext cx="54864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7" name="Text 25"/>
          <p:cNvSpPr/>
          <p:nvPr/>
        </p:nvSpPr>
        <p:spPr>
          <a:xfrm>
            <a:off x="3527298" y="3017520"/>
            <a:ext cx="229285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转化</a:t>
            </a:r>
            <a:endParaRPr lang="en-US" sz="12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31636" y="2880360"/>
            <a:ext cx="2567178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1636" y="2880360"/>
            <a:ext cx="54864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6368796" y="3017520"/>
            <a:ext cx="229285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CRISPR-Cas9</a:t>
            </a:r>
            <a:endParaRPr lang="en-US" sz="12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Editing Tool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073134" y="2880360"/>
            <a:ext cx="2567178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73134" y="2880360"/>
            <a:ext cx="54864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3" name="Text 31"/>
          <p:cNvSpPr/>
          <p:nvPr/>
        </p:nvSpPr>
        <p:spPr>
          <a:xfrm>
            <a:off x="9210294" y="3017520"/>
            <a:ext cx="229285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sgRNA</a:t>
            </a:r>
            <a:endParaRPr lang="en-US" sz="12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Guide RNA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389120"/>
            <a:ext cx="2567178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4389120"/>
            <a:ext cx="54864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526280"/>
            <a:ext cx="229285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基因治疗</a:t>
            </a:r>
            <a:endParaRPr lang="en-US" sz="12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Therapy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90138" y="4389120"/>
            <a:ext cx="2567178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90138" y="4389120"/>
            <a:ext cx="54864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9" name="Text 37"/>
          <p:cNvSpPr/>
          <p:nvPr/>
        </p:nvSpPr>
        <p:spPr>
          <a:xfrm>
            <a:off x="3527298" y="4526280"/>
            <a:ext cx="229285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转基因生物</a:t>
            </a:r>
            <a:endParaRPr lang="en-US" sz="12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31636" y="4389120"/>
            <a:ext cx="2567178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1636" y="4389120"/>
            <a:ext cx="54864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2" name="Text 40"/>
          <p:cNvSpPr/>
          <p:nvPr/>
        </p:nvSpPr>
        <p:spPr>
          <a:xfrm>
            <a:off x="6368796" y="4526280"/>
            <a:ext cx="229285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生物修复</a:t>
            </a:r>
            <a:endParaRPr lang="en-US" sz="12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Bioremediation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73134" y="4389120"/>
            <a:ext cx="2567178" cy="1371600"/>
          </a:xfrm>
          <a:prstGeom prst="roundRect">
            <a:avLst>
              <a:gd name="adj" fmla="val 5333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73134" y="4389120"/>
            <a:ext cx="54864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5" name="Text 43"/>
          <p:cNvSpPr/>
          <p:nvPr/>
        </p:nvSpPr>
        <p:spPr>
          <a:xfrm>
            <a:off x="9210294" y="4526280"/>
            <a:ext cx="229285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异种器官移植</a:t>
            </a:r>
            <a:endParaRPr lang="en-US" sz="12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Xenotransplantation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genetics_learning/ppt/images/section_divid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D2E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" y="43891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371600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2A4A35">
              <a:alpha val="85000"/>
            </a:srgbClr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371600"/>
            <a:ext cx="54864" cy="80467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1527048"/>
            <a:ext cx="493776" cy="49377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2704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417320" y="1444752"/>
            <a:ext cx="10040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50年发展历程  </a:t>
            </a:r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Development</a:t>
            </a:r>
            <a:endParaRPr lang="en-US" sz="13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从1972年首个重组DNA到CRISPR时代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267712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2A4A35">
              <a:alpha val="85000"/>
            </a:srgbClr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2267712"/>
            <a:ext cx="54864" cy="80467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Shape 12"/>
          <p:cNvSpPr/>
          <p:nvPr/>
        </p:nvSpPr>
        <p:spPr>
          <a:xfrm>
            <a:off x="731520" y="2423160"/>
            <a:ext cx="493776" cy="49377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242316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417320" y="2340864"/>
            <a:ext cx="10040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四大应用领域  </a:t>
            </a:r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Application Domains</a:t>
            </a:r>
            <a:endParaRPr lang="en-US" sz="13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医药、农业、工业、环保全面覆盖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163824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2A4A35">
              <a:alpha val="85000"/>
            </a:srgbClr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3163824"/>
            <a:ext cx="54864" cy="80467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Shape 17"/>
          <p:cNvSpPr/>
          <p:nvPr/>
        </p:nvSpPr>
        <p:spPr>
          <a:xfrm>
            <a:off x="731520" y="3319272"/>
            <a:ext cx="493776" cy="49377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331927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417320" y="3236976"/>
            <a:ext cx="10040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关键技术演进  </a:t>
            </a:r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Technology Evolution</a:t>
            </a:r>
            <a:endParaRPr lang="en-US" sz="13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重组DNA → CRISPR-Cas9精准编辑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4059936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2A4A35">
              <a:alpha val="85000"/>
            </a:srgbClr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4059936"/>
            <a:ext cx="54864" cy="80467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Shape 22"/>
          <p:cNvSpPr/>
          <p:nvPr/>
        </p:nvSpPr>
        <p:spPr>
          <a:xfrm>
            <a:off x="731520" y="4215384"/>
            <a:ext cx="493776" cy="49377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421538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417320" y="4133088"/>
            <a:ext cx="10040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伦理与社会责任  </a:t>
            </a:r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Responsibility</a:t>
            </a:r>
            <a:endParaRPr lang="en-US" sz="13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科学创新与伦理约束并重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4956048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2A4A35">
              <a:alpha val="85000"/>
            </a:srgbClr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640" y="4956048"/>
            <a:ext cx="54864" cy="80467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0" name="Shape 27"/>
          <p:cNvSpPr/>
          <p:nvPr/>
        </p:nvSpPr>
        <p:spPr>
          <a:xfrm>
            <a:off x="731520" y="5111496"/>
            <a:ext cx="493776" cy="49377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1" name="Text 28"/>
          <p:cNvSpPr/>
          <p:nvPr/>
        </p:nvSpPr>
        <p:spPr>
          <a:xfrm>
            <a:off x="731520" y="511149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1417320" y="5029200"/>
            <a:ext cx="10040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未来展望  </a:t>
            </a:r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Outlook</a:t>
            </a:r>
            <a:endParaRPr lang="en-US" sz="13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精准医学与合成生物学的新前沿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00297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137160"/>
            <a:ext cx="914400" cy="9144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85855" y="5669280"/>
            <a:ext cx="822960" cy="82296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 Preview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43891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100297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565392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11091672" cy="2286000"/>
          </a:xfrm>
          <a:prstGeom prst="roundRect">
            <a:avLst>
              <a:gd name="adj" fmla="val 3200"/>
            </a:avLst>
          </a:prstGeom>
          <a:solidFill>
            <a:srgbClr val="1A3D2E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371600"/>
            <a:ext cx="54864" cy="2286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54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02336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生物信息学与遗传学</a:t>
            </a:r>
            <a:endParaRPr lang="en-US" sz="2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4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&amp; Genetics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68712" y="1554480"/>
            <a:ext cx="914400" cy="914400"/>
          </a:xfrm>
          <a:prstGeom prst="ellipse">
            <a:avLst/>
          </a:prstGeom>
          <a:solidFill>
            <a:srgbClr val="D4A843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68712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2567178" cy="2103120"/>
          </a:xfrm>
          <a:prstGeom prst="roundRect">
            <a:avLst>
              <a:gd name="adj" fmla="val 3478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31920"/>
            <a:ext cx="54864" cy="21031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3629" y="41605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1603629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4709160"/>
            <a:ext cx="22928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基因组数据</a:t>
            </a:r>
            <a:endParaRPr lang="en-US" sz="13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Data</a:t>
            </a:r>
            <a:endParaRPr lang="en-US" sz="13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计算分析大规模数据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90138" y="3931920"/>
            <a:ext cx="2567178" cy="2103120"/>
          </a:xfrm>
          <a:prstGeom prst="roundRect">
            <a:avLst>
              <a:gd name="adj" fmla="val 3478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90138" y="3931920"/>
            <a:ext cx="54864" cy="21031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Shape 21"/>
          <p:cNvSpPr/>
          <p:nvPr/>
        </p:nvSpPr>
        <p:spPr>
          <a:xfrm>
            <a:off x="4445127" y="416052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4445127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27298" y="4709160"/>
            <a:ext cx="22928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序列比对</a:t>
            </a:r>
            <a:endParaRPr lang="en-US" sz="13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Alignment</a:t>
            </a:r>
            <a:endParaRPr lang="en-US" sz="13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BLAST与比对算法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31636" y="3931920"/>
            <a:ext cx="2567178" cy="2103120"/>
          </a:xfrm>
          <a:prstGeom prst="roundRect">
            <a:avLst>
              <a:gd name="adj" fmla="val 3478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31636" y="3931920"/>
            <a:ext cx="54864" cy="21031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8" name="Shape 26"/>
          <p:cNvSpPr/>
          <p:nvPr/>
        </p:nvSpPr>
        <p:spPr>
          <a:xfrm>
            <a:off x="7286625" y="41605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9" name="Text 27"/>
          <p:cNvSpPr/>
          <p:nvPr/>
        </p:nvSpPr>
        <p:spPr>
          <a:xfrm>
            <a:off x="7286625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68796" y="4709160"/>
            <a:ext cx="22928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系统发育</a:t>
            </a:r>
            <a:endParaRPr lang="en-US" sz="13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Phylogenetics</a:t>
            </a:r>
            <a:endParaRPr lang="en-US" sz="13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进化树构建与分析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073134" y="3931920"/>
            <a:ext cx="2567178" cy="2103120"/>
          </a:xfrm>
          <a:prstGeom prst="roundRect">
            <a:avLst>
              <a:gd name="adj" fmla="val 3478"/>
            </a:avLst>
          </a:prstGeom>
          <a:solidFill>
            <a:srgbClr val="F5F2E8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73134" y="3931920"/>
            <a:ext cx="54864" cy="21031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28123" y="41605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10128123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210294" y="4709160"/>
            <a:ext cx="22928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精准医学</a:t>
            </a:r>
            <a:endParaRPr lang="en-US" sz="13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Medicine</a:t>
            </a:r>
            <a:endParaRPr lang="en-US" sz="13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基因数据指导治疗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基因工程的应用 - Applications of Genetic Engineering</dc:title>
  <dc:subject>Day 92</dc:subject>
  <dc:creator>Genetics Learning Plan</dc:creator>
  <cp:lastModifiedBy>Genetics Learning Plan</cp:lastModifiedBy>
  <cp:revision>1</cp:revision>
  <dcterms:created xsi:type="dcterms:W3CDTF">2026-08-14T04:27:30Z</dcterms:created>
  <dcterms:modified xsi:type="dcterms:W3CDTF">2026-08-14T04:27:30Z</dcterms:modified>
</cp:coreProperties>
</file>