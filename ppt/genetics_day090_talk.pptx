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0"/>
            <a:ext cx="9144000" cy="2880360"/>
          </a:xfrm>
          <a:prstGeom prst="rect">
            <a:avLst/>
          </a:prstGeom>
          <a:solidFill>
            <a:srgbClr val="0A2812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114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8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90 / 100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遗传学100天学习计划 · 现代遗传学模块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基因治疗的进展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383280" y="3310128"/>
            <a:ext cx="23774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015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从概念验证到临床现实的六十年征程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2026年8月12日    ·    讲者版（Talk Mode）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· Contents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本讲将沿五条线索展开基因治疗的全景图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2 /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8720" y="1371600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371600"/>
            <a:ext cx="73152" cy="6035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37160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历史背景概述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从1960s构想到2026年临床现实的六十年征程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2020824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2020824"/>
            <a:ext cx="73152" cy="6035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0208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94560" y="202082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核心概念与递送策略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0208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治疗分类 · ex vivo/in vivo · 病毒载体 · 新兴编辑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88720" y="2670048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670048"/>
            <a:ext cx="73152" cy="6035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67004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194560" y="26700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26700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杜德纳、卡彭蒂耶与詹姆斯·威尔逊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88720" y="3319272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319272"/>
            <a:ext cx="73152" cy="6035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31927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194560" y="331927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经典实验与获批药物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33192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Casgevy · Luxturna · 六种已批准药物总览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188720" y="3968496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3968496"/>
            <a:ext cx="73152" cy="6035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96849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194560" y="39684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挑战与未来展望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46320" y="39684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免疫原性、脱靶、成本与可及性 · 通向精准医学</a:t>
            </a:r>
            <a:endParaRPr lang="en-US" sz="11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历史背景：从1960s构想到2026年临床现实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六十年间，基因治疗历经构想、突破、悲剧与复兴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3 / 16</a:t>
            </a:r>
            <a:endParaRPr lang="en-US" sz="850" dirty="0"/>
          </a:p>
        </p:txBody>
      </p:sp>
      <p:pic>
        <p:nvPicPr>
          <p:cNvPr id="7" name="Image 0" descr="/workspace/genetics_learning/genetics_day090_img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76072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5537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图：基因治疗六十年发展里程碑（1990–2026）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1280160"/>
            <a:ext cx="2286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280160"/>
            <a:ext cx="2286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6565392" y="138988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关键里程碑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47104" y="17830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14032" y="1783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莱德伯格构想外源DNA纠错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47104" y="2231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14032" y="2231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Friedmann 提出概念框架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47104" y="2679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14032" y="2679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首例 ADA-SCID 基因治疗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47104" y="31272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14032" y="31272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格尔辛格悲剧 · 安全警钟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47104" y="35753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14032" y="35753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Glybera 首个获批基因药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47104" y="4023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14032" y="4023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Casgevy 首个 CRISPR 疗法</a:t>
            </a:r>
            <a:endParaRPr lang="en-US" sz="9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基因治疗的三大策略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· 编辑 · 沉默 — 对应不同遗传病类型的解决思路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4 /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90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59080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27632"/>
            <a:ext cx="640080" cy="64008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基因增强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2688336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Augmentation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999232"/>
            <a:ext cx="213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导入正常基因拷贝，补偿缺陷基因功能缺失。最成熟策略，适用隐性遗传病。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2133600" cy="292608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4160520"/>
            <a:ext cx="206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代表：Luxturna · Zolgensma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6600" y="1371600"/>
            <a:ext cx="2590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6600" y="1371600"/>
            <a:ext cx="2590800" cy="8229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3505200" y="1627632"/>
            <a:ext cx="640080" cy="640080"/>
          </a:xfrm>
          <a:prstGeom prst="ellipse">
            <a:avLst/>
          </a:prstGeom>
          <a:solidFill>
            <a:srgbClr val="97BC62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52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</a:t>
            </a:r>
            <a:endParaRPr lang="en-US" sz="1820" dirty="0"/>
          </a:p>
        </p:txBody>
      </p:sp>
      <p:sp>
        <p:nvSpPr>
          <p:cNvPr id="20" name="Text 18"/>
          <p:cNvSpPr/>
          <p:nvPr/>
        </p:nvSpPr>
        <p:spPr>
          <a:xfrm>
            <a:off x="3505200" y="2359152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05200" y="2688336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Editing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05200" y="2999232"/>
            <a:ext cx="213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CRISPR-Cas9 等工具在基因组层面精确修改：敲除、纠正或插入序列。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05200" y="4160520"/>
            <a:ext cx="2133600" cy="292608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24" name="Text 22"/>
          <p:cNvSpPr/>
          <p:nvPr/>
        </p:nvSpPr>
        <p:spPr>
          <a:xfrm>
            <a:off x="3578352" y="4160520"/>
            <a:ext cx="206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代表：Casgevy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96000" y="1371600"/>
            <a:ext cx="2590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6000" y="1371600"/>
            <a:ext cx="2590800" cy="8229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4600" y="1627632"/>
            <a:ext cx="640080" cy="6400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46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6324600" y="2359152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基因沉默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24600" y="2688336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 Silencing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4600" y="2999232"/>
            <a:ext cx="213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RNAi 或反义寡核苷酸抑制有害基因表达，适用显性遗传病或毒性蛋白病。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24600" y="4160520"/>
            <a:ext cx="2133600" cy="292608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33" name="Text 31"/>
          <p:cNvSpPr/>
          <p:nvPr/>
        </p:nvSpPr>
        <p:spPr>
          <a:xfrm>
            <a:off x="6397752" y="4160520"/>
            <a:ext cx="206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代表：Patisiran (Onpattro)</a:t>
            </a:r>
            <a:endParaRPr lang="en-US" sz="10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递送策略：ex vivo vs in vivo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体外改造再回输 · 体内直接注射 — 两条路径各有所长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5 / 16</a:t>
            </a:r>
            <a:endParaRPr lang="en-US" sz="850" dirty="0"/>
          </a:p>
        </p:txBody>
      </p:sp>
      <p:pic>
        <p:nvPicPr>
          <p:cNvPr id="7" name="Image 0" descr="/workspace/genetics_learning/ppt/images/image-exvivo-invivo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749040" cy="2811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206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图：两种递送策略流程对比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371600"/>
            <a:ext cx="82296" cy="14813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4636008" y="1463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vivo · 体外策略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36008" y="181051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取出细胞（HSC/T细胞）→ 体外基因改造 → 回输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优势：可质控编辑效率、可检测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局限：流程复杂、需清淋预处理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36008" y="25420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代表：Casgevy · CAR-T 细胞疗法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34840" y="3017520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3017520"/>
            <a:ext cx="82296" cy="14813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3"/>
          <p:cNvSpPr/>
          <p:nvPr/>
        </p:nvSpPr>
        <p:spPr>
          <a:xfrm>
            <a:off x="4636008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vivo · 体内策略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36008" y="34564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载体直接注射 → 自寻靶细胞释放基因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优势：操作简便、适用面广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挑战：组织特异性靶向与免疫反应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36008" y="41879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代表：Luxturna（视网膜下注射）· Zolgensma（静脉）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病毒载体系统对比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经改造的病毒保留高效递送能力，是基因治疗的核心工具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6 / 16</a:t>
            </a:r>
            <a:endParaRPr lang="en-US" sz="850" dirty="0"/>
          </a:p>
        </p:txBody>
      </p:sp>
      <p:pic>
        <p:nvPicPr>
          <p:cNvPr id="7" name="Image 0" descr="/workspace/genetics_learning/ppt/images/image-aav-vector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200400" cy="2400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221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图：AAV 载体介导的基因递送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078224"/>
            <a:ext cx="3200400" cy="502920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07822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 主导 in vivo 递送：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免疫原性低、可长期表达、组织嗜性多样。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371600"/>
          <a:ext cx="4800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18745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载体类型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包装容量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代表药物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~4.7 kb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免疫原性低、长期表达、组织嗜性多样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Luxturna / Zolgensma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慢病毒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 kb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感染分裂与非分裂细胞、整合基因组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CAR-T 疗法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逆转录病毒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 kb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仅感染分裂细胞、整合基因组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 SCID 治疗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腺病毒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~36 kb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高滴度、不整合、瞬时表达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早期试验（已少用）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886200" y="4069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腺病毒因 1999 年格尔辛格事件后逐步被 AAV 取代；非病毒 LNP 载体正快速崛起。</a:t>
            </a:r>
            <a:endParaRPr lang="en-US" sz="95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新兴编辑技术：碱基编辑与先导编辑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CRISPR-Cas9 的升级版 — 更精准、更低脱靶风险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7 / 16</a:t>
            </a:r>
            <a:endParaRPr lang="en-US" sz="850" dirty="0"/>
          </a:p>
        </p:txBody>
      </p:sp>
      <p:pic>
        <p:nvPicPr>
          <p:cNvPr id="7" name="Image 0" descr="/workspace/genetics_learning/ppt/images/image-crispr-mechanism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474720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图：CRISPR-Cas9 基因编辑机制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60520" y="1371600"/>
            <a:ext cx="4526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371600"/>
            <a:ext cx="82296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4630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  Base Editing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79222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DNA 双链断裂即可实现单碱基转换（如 C→T、A→G），显著降低脱靶与染色体重排风险。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60520" y="2926080"/>
            <a:ext cx="4526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2926080"/>
            <a:ext cx="82296" cy="1417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4361688" y="3017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先导编辑  Prime Editing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334670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“搜索-替换”式编辑：可实现所有 12 种碱基替换及小片段插入/缺失，被誉为基因编辑的“文字处理器”。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60520" y="4370832"/>
            <a:ext cx="4526280" cy="2926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4270248" y="437083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28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2025.12：全球 136 项 CRISPR 临床试验 · 其中 36 项为体内递送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科学家：杜德纳与卡彭蒂耶 — CRISPR 的发现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从细菌免疫机制到通用基因编辑工具，11 年走到临床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8 /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97764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664208"/>
            <a:ext cx="868680" cy="86868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642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JD</a:t>
            </a:r>
            <a:endParaRPr lang="en-US" sz="2470" dirty="0"/>
          </a:p>
        </p:txBody>
      </p:sp>
      <p:sp>
        <p:nvSpPr>
          <p:cNvPr id="11" name="Text 9"/>
          <p:cNvSpPr/>
          <p:nvPr/>
        </p:nvSpPr>
        <p:spPr>
          <a:xfrm>
            <a:off x="1783080" y="16824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詹妮弗·杜德纳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0299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Jennifer Doudna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83080" y="22677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加州大学伯克利分校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743200"/>
            <a:ext cx="3465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与卡彭蒂耶合作，2012 年于《科学》发表划时代论文，证明 CRISPR-Cas9 可重编程为通用基因编辑工具。2020 年共同获诺贝尔化学奖。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371600"/>
            <a:ext cx="397764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965192" y="1664208"/>
            <a:ext cx="868680" cy="86868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6642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</a:t>
            </a:r>
            <a:endParaRPr lang="en-US" sz="2470" dirty="0"/>
          </a:p>
        </p:txBody>
      </p:sp>
      <p:sp>
        <p:nvSpPr>
          <p:cNvPr id="19" name="Text 17"/>
          <p:cNvSpPr/>
          <p:nvPr/>
        </p:nvSpPr>
        <p:spPr>
          <a:xfrm>
            <a:off x="6035040" y="16824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艾曼纽·卡彭蒂耶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20299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Emmanuelle Charpentier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22677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瑞典于默奥大学 / MPI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5192" y="2743200"/>
            <a:ext cx="3465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源于细菌免疫系统基础研究，发现 Cas9 可精确切割匹配 DNA。从基础发现到 Casgevy 获批仅 11 年——医学史上前所未有的速度。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solidFill>
            <a:srgbClr val="F6ECC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159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8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科学史上首次由两位女性科学家单独共享一项诺贝尔科学奖  ·  2012 发现 → 2023 Casgevy 获批 = 11 年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科学家：詹姆斯·威尔逊 — AAV 载体的先驱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“从失败中重生” — 科学史上反思与救赎的经典案例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9 / 16</a:t>
            </a:r>
            <a:endParaRPr lang="en-US" sz="850" dirty="0"/>
          </a:p>
        </p:txBody>
      </p:sp>
      <p:pic>
        <p:nvPicPr>
          <p:cNvPr id="7" name="Image 0" descr="/workspace/genetics_learning/ppt/images/image-aav-vector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474720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图：AAV 载体（威尔逊团队的奠基性贡献）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60520" y="1371600"/>
            <a:ext cx="4526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371600"/>
            <a:ext cx="82296" cy="2331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宾夕法尼亚大学遗传学家 · AAV 技术奠基人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1792224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 年格尔辛格悲剧：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作为试验负责人，被禁领导临床试验五年。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反思与转向：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转投 AAV，系统性发现数十种新型血清型，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开发组织特异性定向载体。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A28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今日绝大多数 in vivo 获批药物均依赖 AAV。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60520" y="3822192"/>
            <a:ext cx="4526280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3858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“我不希望杰西的死毫无意义。”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89120" y="4261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格尔辛格之父，推动基因治疗安全监管全面改革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经典实验：Casgevy — CRISPR 治疗镰状细胞病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全球首个基于 CRISPR 基因编辑的获批疗法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10 / 16</a:t>
            </a:r>
            <a:endParaRPr lang="en-US" sz="850" dirty="0"/>
          </a:p>
        </p:txBody>
      </p:sp>
      <p:pic>
        <p:nvPicPr>
          <p:cNvPr id="7" name="Image 0" descr="/workspace/genetics_learning/genetics_day090_img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988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图：AAV 载体介导的基因治疗机制（载体工程→细胞递送→蛋白表达）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13716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21792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镰状细胞病患者 12 个月内无 VOC 发作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2395728"/>
            <a:ext cx="2560320" cy="91440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2395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8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91.4%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A28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β-地中海贫血患者摆脱输血依赖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26480" y="3419856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机制 · ex vivo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37307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BCL11A 增强子 → 解除胎儿血红蛋白（HbF）抑制 → 替代缺陷成人血红蛋白</a:t>
            </a:r>
            <a:endParaRPr lang="en-US" sz="95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经典实验：Luxturna — AAV 治疗遗传性失明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批准的首个 in vivo 基因治疗药物（2017）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11 / 16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 RPE65 基因突变导致的 Leber 先天性黑矇（LCA），通过视网膜下注射递送正常基因。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AAV2 载体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携带正常 RPE65 基因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1448" y="2286000"/>
            <a:ext cx="29260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34056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34056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视网膜下注射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07208" y="230428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vivo 直接给药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25696" y="2286000"/>
            <a:ext cx="29260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RPE 细胞摄取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230428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靶向视网膜色素上皮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9944" y="2286000"/>
            <a:ext cx="29260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02552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02552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8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RPE65 表达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75704" y="230428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A28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恢复视觉循环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2606040" cy="64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741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" y="38496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批准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in vivo 基因治疗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8980" y="324612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68980" y="3246120"/>
            <a:ext cx="260604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3268980" y="33741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360420" y="38496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全球累计改善视力的患者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（截至 2025）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324612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246120"/>
            <a:ext cx="260604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3741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AAV2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72200" y="38496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首个直接给药的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遗传性失明基因药</a:t>
            </a:r>
            <a:endParaRPr lang="en-US" sz="95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已批准基因治疗药物总览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六种代表性获批药物 — 覆盖血液、神经、眼科、肌肉与凝血系统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12 / 16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292608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适应症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载体 / 策略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Casgevy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镰状细胞病 / β-地中海贫血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 vivo · CRISPR-Cas9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Luxturna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Leber 先天性黑矇 (RPE65)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AAV2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Zolgensma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脊髓性肌萎缩症 (SMA)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AAV9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Elevidys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杜氏肌营养不良 (DMD)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AAV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Hemgenix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血友病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AAV5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Roctavian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血友病 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 vivo · AAV5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07408"/>
            <a:ext cx="8229600" cy="310896"/>
          </a:xfrm>
          <a:prstGeom prst="rect">
            <a:avLst/>
          </a:prstGeom>
          <a:solidFill>
            <a:srgbClr val="F6ECC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4074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8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趋势：AAV 主导 in vivo 递送；CRISPR 开启 ex vivo 治愈时代；2017 年后获批节奏明显加快。</a:t>
            </a:r>
            <a:endParaRPr lang="en-US" sz="105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挑战与局限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技术突破之外，基因治疗仍面临四重现实考验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13 /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82296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572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免疫原性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 预存中和抗体可阻断递送；腺病毒曾引发致死性 SIRS。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3520440" cy="310896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2316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SIRS · 1999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71600"/>
            <a:ext cx="82296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06440" y="1572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脱靶效应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0299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CRISPR 在非目标位点产生意外编辑；碱基/先导编辑可降低风险。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2423160"/>
            <a:ext cx="3520440" cy="310896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42316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脱靶率 = 安全场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82296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54480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高昂成本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37673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一次性天价治疗 vs 终身受益；研发与制造门槛极高。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4160520"/>
            <a:ext cx="3520440" cy="310896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1605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$210–220 万 / 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10896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108960"/>
            <a:ext cx="82296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806440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可及性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37673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保险覆盖、公平分配与全球可及性仍是产业难题。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37760" y="4160520"/>
            <a:ext cx="3520440" cy="310896"/>
          </a:xfrm>
          <a:prstGeom prst="rect">
            <a:avLst/>
          </a:prstGeom>
          <a:solidFill>
            <a:srgbClr val="EAF0E2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41605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国家已获批</a:t>
            </a:r>
            <a:endParaRPr lang="en-US" sz="105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思考题精选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从策略权衡到伦理边界 — 留给听众的四个开放问题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14 /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97764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27632"/>
            <a:ext cx="548640" cy="54864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1371600" y="1645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策略权衡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Casgevy 选 ex vivo、Luxturna 选 in vivo？面对肝脏遗传病与血液病，你会如何选择？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71600"/>
            <a:ext cx="3977640" cy="8229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627632"/>
            <a:ext cx="548640" cy="548640"/>
          </a:xfrm>
          <a:prstGeom prst="ellipse">
            <a:avLst/>
          </a:prstGeom>
          <a:solidFill>
            <a:srgbClr val="97BC62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5623560" y="1645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脱靶与安全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碱基/先导编辑如何降低脱靶风险？临床应用中可接受的脱靶率应是多少？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3977640" cy="8229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364992"/>
            <a:ext cx="548640" cy="54864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37160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伦理边界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体细胞治疗只影响患者本人，生殖细胞编辑影响后代——在何种条件下后者可被接受？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08960"/>
            <a:ext cx="397764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364992"/>
            <a:ext cx="548640" cy="54864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562356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可及与公平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37760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如何平衡创新激励与患者可及性？政府、保险与药企各应承担什么责任？</a:t>
            </a:r>
            <a:endParaRPr lang="en-US" sz="115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未来展望：体内 CRISPR · 非病毒载体 · 精准医学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未来十年，基因治疗最可能的三个突破方向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 · 基因治疗的进展    |    15 /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90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59080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27632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/ 136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340864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体内 CRISPR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36 项体内递送试验。直接注射编辑无需细胞移植，简化流程、扩大适应症。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6600" y="1371600"/>
            <a:ext cx="2590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6600" y="1371600"/>
            <a:ext cx="2590800" cy="8229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3505200" y="1627632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LNP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05200" y="2340864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非病毒载体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5200" y="274320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脂质纳米颗粒可重复给药、规模化生产、免疫原性低；靶向性与递送效率待突破。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6000" y="1371600"/>
            <a:ext cx="2590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6000" y="1371600"/>
            <a:ext cx="2590800" cy="8229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324600" y="1627632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年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24600" y="2340864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精准医学加速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24600" y="274320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从基础发现到获批药物仅 11 年。个体化基因治疗方案将成为精准医学核心。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07408"/>
            <a:ext cx="8229600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074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从治病到改物，基因技术正以前所未有的广度重塑生命世界。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2812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234440"/>
            <a:ext cx="6217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C9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234440"/>
            <a:ext cx="621792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794760" y="14904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794760" y="14904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8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90 / 100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spc="2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0" y="269748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8072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基因治疗的进展 · 从概念验证到临床现实的六十年征程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3319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遗传学100天学习计划 · 现代遗传学模块    ·    距完成100天还有 10 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 Day 91：转基因技术 — 从治病到改物</a:t>
            </a:r>
            <a:endParaRPr lang="en-US" sz="105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遗传学100天学习计划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基因治疗的进展 — Day 90</dc:title>
  <dc:subject>PptxGenJS Presentation</dc:subject>
  <dc:creator>Genetics 100-Day Learning Plan</dc:creator>
  <cp:lastModifiedBy>Genetics 100-Day Learning Plan</cp:lastModifiedBy>
  <cp:revision>1</cp:revision>
  <dcterms:created xsi:type="dcterms:W3CDTF">2026-08-12T04:19:07Z</dcterms:created>
  <dcterms:modified xsi:type="dcterms:W3CDTF">2026-08-12T04:19:07Z</dcterms:modified>
</cp:coreProperties>
</file>