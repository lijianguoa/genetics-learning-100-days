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65760"/>
            <a:ext cx="1188720" cy="1188720"/>
          </a:xfrm>
          <a:prstGeom prst="ellipse">
            <a:avLst/>
          </a:prstGeom>
          <a:solidFill>
            <a:srgbClr val="97BC62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1371600"/>
            <a:ext cx="822960" cy="822960"/>
          </a:xfrm>
          <a:prstGeom prst="ellipse">
            <a:avLst/>
          </a:prstGeom>
          <a:solidFill>
            <a:srgbClr val="D4A843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2011680"/>
            <a:ext cx="914400" cy="914400"/>
          </a:xfrm>
          <a:prstGeom prst="ellipse">
            <a:avLst/>
          </a:prstGeom>
          <a:solidFill>
            <a:srgbClr val="2C5F2D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孟德尔定律的数学基础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B8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Mathematical Foundations of Mendel's Laws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292608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 |  Day 011 / 100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1097280" cy="2926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0233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MODE</a:t>
            </a:r>
            <a:endParaRPr lang="en-US" sz="10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核心问题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137160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88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为什么孟德尔能超越同时代的所有研究者，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发现遗传学的第一定律？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200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数学思维 — 用概率论分析杂交结果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70332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703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定量分析 — 精确计数而非模糊描述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420624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206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统计检验 — 验证理论与数据的一致性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55280" y="47960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19th Century: Statistics Meets Biology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137160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384048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统计学的萌芽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1834年  Quetelet 提出"平均人"概念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1850年代  概率论从赌博走向科学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高斯正态分布被广泛应用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429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生物学仍停留在描述性阶段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孟德尔的数学训练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920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1851-1853  维也纳大学深造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423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师从物理学家 Doppler（多普勒）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926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系统学习数学与物理学方法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429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将统计思维引入生物学研究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0" y="47960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概率论基础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Fundamentals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137160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256032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等可能事件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Equally Likely Events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杂合子 Aa 产生配子：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 = P(a) = 1/2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280160"/>
            <a:ext cx="256032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乘法法则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Rule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286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独立事件同时发生：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and B) = P(A) x P(B)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280160"/>
            <a:ext cx="256032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加法法则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Rule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2286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互斥事件之一发生：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or B) = P(A) + P(B)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0" y="47960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二项分布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Distribution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137160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371600"/>
            <a:ext cx="73152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P(k) = C(n, k) x p^k x q^(n-k)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后代总数    k = 显性个体数    p = 显性概率    q = 隐性概率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926080"/>
            <a:ext cx="64008" cy="1463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0632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示例：Aa x Aa，后代4株中恰好3株显性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47472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P(3) = C(4,3) x (3/4)^3 x (1/4)^1 = 4 x 27/64 x 1/4 = 108/256 = 42.2%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0" y="47960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3:1 比例的数学来源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the 3:1 Phenotypic Ratio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137160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3840480" cy="118872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配子概率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产生配子:  P(A) = 1/2,  P(a) = 1/2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840480" cy="118872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后代基因型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AA: 1/4    Aa: 2/4    aa: 1/4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3840480" cy="118872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合并表现型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显性 (AA + Aa) = 1/4 + 2/4 = 3/4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697480"/>
            <a:ext cx="3840480" cy="1188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108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表现型比例 = 3:1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加法法则：P(显性) = P(AA) + P(Aa) = 1/4 + 1/2 = 3/4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0" y="47960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9:3:3:1 比例的数学来源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the Dihybrid Ratio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137160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两对性状独立分离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性状A:  3 显性 : 1 隐性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性状B:  3 显性 : 1 隐性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乘法法则组合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 x 3/4 = 9/16  双显性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 x 1/4 = 3/16  A显B隐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 x 3/4 = 3/16  A隐B显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 x 1/4 = 1/16  双隐性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双杂交 AaBb x AaBb  =&gt;  9 : 3 : 3 : 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55280" y="47960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卡方检验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Test: Goodness of Fit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137160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371600"/>
            <a:ext cx="6400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417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chi-sq = SUM[ (O - E)^2 / E ]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= 观察值 (Observed)    E = 期望值 (Expected)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判断标准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2560320" cy="12801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 &lt; 3.84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0.05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接受原假设，数据符合预期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3154680"/>
            <a:ext cx="2560320" cy="1280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 &lt;= chi-sq &lt; 6.63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&gt;= p &gt; 0.01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边缘显著，需更多数据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154680"/>
            <a:ext cx="2560320" cy="1280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 &gt;= 6.63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&lt;= 0.01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拒绝原假设，数据偏离预期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55280" y="47960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卡方检验计算示例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Calculation Example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137160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问题：F2 代共 100 株，高茎 72 株，矮茎 28 株。是否符合 3:1？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737360"/>
            <a:ext cx="6949440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表现型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观察值 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6052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期望值 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32120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(O-E)^2/E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2103120"/>
            <a:ext cx="6949440" cy="36576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103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高茎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60520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3212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(72-75)^2/75 = 0.12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2468880"/>
            <a:ext cx="69494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矮茎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2468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60520" y="2468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3212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(28-25)^2/25 = 0.36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3108960"/>
            <a:ext cx="64008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200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chi-sq = 0.12 + 0.36 = 0.48  &lt;  3.84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3657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0.05  =&gt;  数据符合 3:1 比例，差异不显著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0" y="47960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孟德尔7对性状实验数据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Mendel's 7 Trait Experiments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137160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786384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188720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性状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87752" y="1188720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显性数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50792" y="1188720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隐性数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13832" y="1188720"/>
            <a:ext cx="1225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93992" y="1188720"/>
            <a:ext cx="1408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508760"/>
            <a:ext cx="7863840" cy="347472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" y="1508760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种子形状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87752" y="1508760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5,474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50792" y="1508760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1,850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13832" y="1508760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7,324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93992" y="1508760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2.96:1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856232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" y="1856232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种子颜色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87752" y="1856232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6,022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50792" y="1856232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856232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8,023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93992" y="1856232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3.01:1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203704"/>
            <a:ext cx="7863840" cy="347472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" y="2203704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花色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87752" y="2203704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50792" y="2203704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13832" y="2203704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93992" y="2203704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3.15:1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551176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93192" y="2551176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豆荚形状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87752" y="2551176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050792" y="2551176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13832" y="2551176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93992" y="2551176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2.95:1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898648"/>
            <a:ext cx="7863840" cy="347472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37" name="Text 35"/>
          <p:cNvSpPr/>
          <p:nvPr/>
        </p:nvSpPr>
        <p:spPr>
          <a:xfrm>
            <a:off x="393192" y="2898648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豆荚颜色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87752" y="289864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050792" y="289864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898648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93992" y="289864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2.82:1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246120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93192" y="3246120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花位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87752" y="3246120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050792" y="3246120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13832" y="3246120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93992" y="3246120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3.14:1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3593592"/>
            <a:ext cx="7863840" cy="347472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49" name="Text 47"/>
          <p:cNvSpPr/>
          <p:nvPr/>
        </p:nvSpPr>
        <p:spPr>
          <a:xfrm>
            <a:off x="393192" y="3593592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茎高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587752" y="3593592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050792" y="3593592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3593592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793992" y="3593592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2.84:1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5" name="Text 53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总计 19,959 株  |  平均比例 2.98:1  |  极接近理论值 3:1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7955280" y="47960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被数学武装的修士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Monk Armed with Mathematics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137160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34747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7" name="Image 0" descr="/workspace/genetics_learning/ppt_assets/mendel_portra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3108960" cy="2377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931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Gregor Johann Mendel (1822-1884)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89120" y="1280160"/>
            <a:ext cx="4206240" cy="64008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1280160"/>
            <a:ext cx="64008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1325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实验设计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63440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每次只追踪一对性状（单因素分析）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89120" y="2057400"/>
            <a:ext cx="4206240" cy="64008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14" name="Shape 11"/>
          <p:cNvSpPr/>
          <p:nvPr/>
        </p:nvSpPr>
        <p:spPr>
          <a:xfrm>
            <a:off x="4389120" y="2057400"/>
            <a:ext cx="64008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大样本量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63440" y="2350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共种植 29,000+ 株豌豆，统计显著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89120" y="2834640"/>
            <a:ext cx="4206240" cy="64008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18" name="Shape 15"/>
          <p:cNvSpPr/>
          <p:nvPr/>
        </p:nvSpPr>
        <p:spPr>
          <a:xfrm>
            <a:off x="4389120" y="2834640"/>
            <a:ext cx="64008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数学建模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663440" y="3127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用概率论预测后代比例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89120" y="3611880"/>
            <a:ext cx="4206240" cy="64008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22" name="Shape 19"/>
          <p:cNvSpPr/>
          <p:nvPr/>
        </p:nvSpPr>
        <p:spPr>
          <a:xfrm>
            <a:off x="4389120" y="3611880"/>
            <a:ext cx="64008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重复验证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663440" y="3904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 8 年，7 对性状反复验证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955280" y="47960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费舍尔的批评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R.A. Fisher: "Too Good to Be True?"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137160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孟德尔的数据过于完美，卡方值异常偏小，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暗示数据可能经过选择性报告。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840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费舍尔的论点 (1936)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 值远小于期望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数据"好得不像是随机的"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可能存在确认偏差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834640"/>
            <a:ext cx="3840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现代的反驳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助手可能淘汰了明显异常的植株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连续分类本身会引入偏差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孟德尔可能报告的是子集数据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0" y="47960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关键术语速览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at a Glance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137160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4023360" cy="59436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88720"/>
            <a:ext cx="54864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34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事件发生可能性的度量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188720"/>
            <a:ext cx="54864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234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二项分布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463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Distribution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2648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n次独立重复试验的概率模型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901952"/>
            <a:ext cx="4023360" cy="59436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1901952"/>
            <a:ext cx="54864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1947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卡方检验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21762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0" y="19933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检验观察值与期望值拟合程度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901952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1901952"/>
            <a:ext cx="54864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1947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21762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19933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类别数 - 1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2615184"/>
            <a:ext cx="4023360" cy="59436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2615184"/>
            <a:ext cx="54864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266090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28895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28800" y="270662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观察数据或更极端的概率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615184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2615184"/>
            <a:ext cx="54864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66090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零假设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28895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270662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观察值与期望值无显著差异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3328416"/>
            <a:ext cx="4023360" cy="59436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3328416"/>
            <a:ext cx="54864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337413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期望值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" y="3602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828800" y="34198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基于理论比例计算的理论频数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3328416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846320" y="3328416"/>
            <a:ext cx="54864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3" name="Text 41"/>
          <p:cNvSpPr/>
          <p:nvPr/>
        </p:nvSpPr>
        <p:spPr>
          <a:xfrm>
            <a:off x="4983480" y="337413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确认偏差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83480" y="3602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Bias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26480" y="34198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倾向关注支持预期的数据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955280" y="47960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137160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822960" cy="3200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28016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x Aa 杂交，后代5株中恰好4株显性的概率是多少？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（提示：使用二项分布公式）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22960" cy="320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242316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某实验得到 F2 代 200 株，高茎 158 株，矮茎 42 株。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请用卡方检验判断是否符合 3:1。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82296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661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356616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如果你是孟德尔的助手，在计数时发现某株豌豆性状难以判断，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你会如何处理？这对实验结果有何影响？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0" y="47960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Next: Day 012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137160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371600"/>
            <a:ext cx="73152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孟德尔的失败与被埋没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8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Mendel's Failures and the 35-Year Neglect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11680" y="2834640"/>
            <a:ext cx="228600" cy="2286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2788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山柳菊实验的"失败"——无融合生殖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0" y="3218688"/>
            <a:ext cx="228600" cy="2286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3172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论文发表后被忽视的35年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0" y="3602736"/>
            <a:ext cx="228600" cy="2286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35570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1900年：三位科学家同时重新发现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0" y="3986784"/>
            <a:ext cx="228600" cy="2286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2377440" y="39410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科学发现的"时机"问题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47960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97BC6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D4A843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463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感谢学习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377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383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 |  Day 011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孟德尔定律的数学基础 | Mathematical Foundations of Mendel's Laws</a:t>
            </a:r>
            <a:endParaRPr lang="en-US" sz="11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2026-05-26T02:33:04Z</dcterms:created>
  <dcterms:modified xsi:type="dcterms:W3CDTF">2026-05-26T02:33:04Z</dcterms:modified>
</cp:coreProperties>
</file>