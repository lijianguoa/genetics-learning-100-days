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用一句话概括：HGP是测定人类全部DNA序列的国际合作项目，于2003年完成，彻底改变了生命科学。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用时间线展示HGP的关键节点。特别注意1998年Celera的加入如何改变了项目节奏。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这场竞赛是科学史上最著名的公私竞争之一。竞争虽然紧张，但客观上推动了技术革新和进度加速。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两种策略代表了不同的科学哲学：公共项目追求准确和可重复，Celera追求速度和效率。今天的测序项目通常采用WGS策略。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这是HGP最令人惊讶的发现。它改变了'基因数量决定复杂性'的固有观念，推动了转录组学和表观遗传学的发展。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科林斯以协调能力和开放精神领导了公共项目。他的领导风格与文特尔的冒险精神形成鲜明对比。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文特尔是基因组学领域最具创新力和争议性的人物。他的WGS策略后来成为主流测序方法。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中国的1%虽小但意义重大，标志着中国进入国际基因组学舞台，也为华大基因的发展奠定了基础。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百慕大原则是HGP最重要的政策遗产之一，确保了基因组数据作为人类共同遗产被共享。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这四篇论文是HGP最重要的文献。建议阅读Nature 2004的完成序列论文，了解最终分析结果。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HGP的完成直接催生了精准医学时代。从药物开发到临床诊断，基因组信息已成为现代医学不可或缺的工具。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这些问题旨在激发深入讨论。每个问题都涉及HGP的核心议题：科学发现、竞争伦理、数据共享、技术进步和人文关怀。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HGP的遗产不仅是序列数据，更是一种科学文化和合作模式。T2T联盟在2022年完成了首个真正意义上的全基因组（包括异染色质区域），是HGP的延续。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用6个要点总结Day 82的核心内容。这些要点涵盖了HGP的历史、技术、发现、人物和影响。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7315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91695" cy="36576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人类基因组计划完成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D4A843"/>
                </a:solidFill>
                <a:latin typeface="Microsoft YaHei"/>
              </a:defRPr>
            </a:pPr>
            <a:r>
              <a:t>The Completion of Human Genome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>
                <a:solidFill>
                  <a:srgbClr val="97BC62"/>
                </a:solidFill>
                <a:latin typeface="Microsoft YaHei"/>
              </a:defRPr>
            </a:pPr>
            <a:r>
              <a:t>遗传学100天 · Day 82</a:t>
            </a:r>
          </a:p>
          <a:p>
            <a:pPr algn="ctr">
              <a:spcAft>
                <a:spcPts val="400"/>
              </a:spcAft>
              <a:defRPr sz="1400">
                <a:solidFill>
                  <a:srgbClr val="97BC62"/>
                </a:solidFill>
                <a:latin typeface="Microsoft YaHei"/>
              </a:defRPr>
            </a:pPr>
            <a:r>
              <a:t>2003.04.14 — 生命之书的破译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核心要点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7BC62"/>
                </a:solidFill>
                <a:latin typeface="Microsoft YaHei"/>
              </a:defRPr>
            </a:pPr>
            <a:r>
              <a:t>The Big Picture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7BC62"/>
                </a:solidFill>
                <a:latin typeface="Microsoft YaHei"/>
              </a:defRPr>
            </a:pPr>
            <a:r>
              <a:t>2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B6B"/>
                </a:solidFill>
                <a:latin typeface="Microsoft YaHei"/>
              </a:defRPr>
            </a:pPr>
            <a:r>
              <a:t>遗传学100天学习计划 · Day 82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91695" cy="54864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11247120" cy="4846320"/>
          </a:xfrm>
          <a:prstGeom prst="roundRect">
            <a:avLst/>
          </a:prstGeom>
          <a:solidFill>
            <a:srgbClr val="E8F0E0"/>
          </a:solidFill>
          <a:ln w="12700">
            <a:solidFill>
              <a:srgbClr val="97B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17319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30亿碱基对 | 20,000-25,000个基因 | 13年 | 30亿美元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2003年4月正式完成，比计划提前2年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覆盖99%常染色质区域，准确率99.99%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六国合作：美英日法德中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被誉为生物学界的'登月计划'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开启了精准医学和基因组学时代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关键时间线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7BC62"/>
                </a:solidFill>
                <a:latin typeface="Microsoft YaHei"/>
              </a:defRPr>
            </a:pPr>
            <a:r>
              <a:t>1990 → 2004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7BC62"/>
                </a:solidFill>
                <a:latin typeface="Microsoft YaHei"/>
              </a:defRPr>
            </a:pPr>
            <a:r>
              <a:t>3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B6B"/>
                </a:solidFill>
                <a:latin typeface="Microsoft YaHei"/>
              </a:defRPr>
            </a:pPr>
            <a:r>
              <a:t>遗传学100天学习计划 · Day 82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91695" cy="54864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11247120" cy="4846320"/>
          </a:xfrm>
          <a:prstGeom prst="roundRect">
            <a:avLst/>
          </a:prstGeom>
          <a:solidFill>
            <a:srgbClr val="E8F0E0"/>
          </a:solidFill>
          <a:ln w="12700">
            <a:solidFill>
              <a:srgbClr val="97B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17319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1990.10 — HGP正式启动（沃森领导）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1993 — 科林斯接任NHGRI主任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1998.05 — 文特尔创立Celera，竞争开始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2000.06.26 — 白宫联合宣布草图完成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2001.02 — Nature &amp; Science同时发表草图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2003.04.14 — 完成序列正式宣布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2004.10 — Nature发表最终完成序列分析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公私竞赛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7BC62"/>
                </a:solidFill>
                <a:latin typeface="Microsoft YaHei"/>
              </a:defRPr>
            </a:pPr>
            <a:r>
              <a:t>Public HGP vs Celera Genomics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7BC62"/>
                </a:solidFill>
                <a:latin typeface="Microsoft YaHei"/>
              </a:defRPr>
            </a:pPr>
            <a:r>
              <a:t>4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B6B"/>
                </a:solidFill>
                <a:latin typeface="Microsoft YaHei"/>
              </a:defRPr>
            </a:pPr>
            <a:r>
              <a:t>遗传学100天学习计划 · Day 82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91695" cy="54864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5486400" cy="4846320"/>
          </a:xfrm>
          <a:prstGeom prst="roundRect">
            <a:avLst/>
          </a:prstGeom>
          <a:solidFill>
            <a:srgbClr val="E8F0E0"/>
          </a:solidFill>
          <a:ln w="12700">
            <a:solidFill>
              <a:srgbClr val="97B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17319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C5F2D"/>
                </a:solidFill>
                <a:latin typeface="Microsoft YaHei"/>
              </a:defRPr>
            </a:pPr>
            <a:r>
              <a:t>公共项目 (HGP)</a:t>
            </a:r>
          </a:p>
          <a:p>
            <a:pPr>
              <a:spcAft>
                <a:spcPts val="400"/>
              </a:spcAft>
              <a:defRPr sz="1400">
                <a:solidFill>
                  <a:srgbClr val="2C3E2C"/>
                </a:solidFill>
                <a:latin typeface="Microsoft YaHei"/>
              </a:defRPr>
            </a:pPr>
            <a:r>
              <a:t>▸ 领导：Francis Collins</a:t>
            </a:r>
          </a:p>
          <a:p>
            <a:pPr>
              <a:spcAft>
                <a:spcPts val="400"/>
              </a:spcAft>
              <a:defRPr sz="1400">
                <a:solidFill>
                  <a:srgbClr val="2C3E2C"/>
                </a:solidFill>
                <a:latin typeface="Microsoft YaHei"/>
              </a:defRPr>
            </a:pPr>
            <a:r>
              <a:t>▸ 方法：逐步克隆法</a:t>
            </a:r>
          </a:p>
          <a:p>
            <a:pPr>
              <a:spcAft>
                <a:spcPts val="400"/>
              </a:spcAft>
              <a:defRPr sz="1400">
                <a:solidFill>
                  <a:srgbClr val="2C3E2C"/>
                </a:solidFill>
                <a:latin typeface="Microsoft YaHei"/>
              </a:defRPr>
            </a:pPr>
            <a:r>
              <a:t>▸ 资金：政府资助</a:t>
            </a:r>
          </a:p>
          <a:p>
            <a:pPr>
              <a:spcAft>
                <a:spcPts val="400"/>
              </a:spcAft>
              <a:defRPr sz="1400">
                <a:solidFill>
                  <a:srgbClr val="2C3E2C"/>
                </a:solidFill>
                <a:latin typeface="Microsoft YaHei"/>
              </a:defRPr>
            </a:pPr>
            <a:r>
              <a:t>▸ 数据：24h公开</a:t>
            </a:r>
          </a:p>
          <a:p>
            <a:pPr>
              <a:spcAft>
                <a:spcPts val="400"/>
              </a:spcAft>
              <a:defRPr sz="1400">
                <a:solidFill>
                  <a:srgbClr val="2C3E2C"/>
                </a:solidFill>
                <a:latin typeface="Microsoft YaHei"/>
              </a:defRPr>
            </a:pPr>
            <a:r>
              <a:t>▸ 策略：准确优先</a:t>
            </a:r>
          </a:p>
          <a:p>
            <a:pPr>
              <a:spcAft>
                <a:spcPts val="400"/>
              </a:spcAft>
              <a:defRPr sz="1400">
                <a:solidFill>
                  <a:srgbClr val="2C3E2C"/>
                </a:solidFill>
                <a:latin typeface="Microsoft YaHei"/>
              </a:defRPr>
            </a:pPr>
            <a:r>
              <a:t>▸ </a:t>
            </a:r>
          </a:p>
          <a:p>
            <a:pPr>
              <a:spcAft>
                <a:spcPts val="400"/>
              </a:spcAft>
              <a:defRPr sz="1400">
                <a:solidFill>
                  <a:srgbClr val="2C3E2C"/>
                </a:solidFill>
                <a:latin typeface="Microsoft YaHei"/>
              </a:defRPr>
            </a:pPr>
            <a:r>
              <a:t>▸ → 百慕大原则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486400" cy="4846320"/>
          </a:xfrm>
          <a:prstGeom prst="roundRect">
            <a:avLst/>
          </a:prstGeom>
          <a:solidFill>
            <a:srgbClr val="E8F0E0"/>
          </a:solidFill>
          <a:ln w="12700">
            <a:solidFill>
              <a:srgbClr val="97B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17319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C5F2D"/>
                </a:solidFill>
                <a:latin typeface="Microsoft YaHei"/>
              </a:defRPr>
            </a:pPr>
            <a:r>
              <a:t>私营项目 (Celera)</a:t>
            </a:r>
          </a:p>
          <a:p>
            <a:pPr>
              <a:spcAft>
                <a:spcPts val="400"/>
              </a:spcAft>
              <a:defRPr sz="1400">
                <a:solidFill>
                  <a:srgbClr val="2C3E2C"/>
                </a:solidFill>
                <a:latin typeface="Microsoft YaHei"/>
              </a:defRPr>
            </a:pPr>
            <a:r>
              <a:t>▸ 领导：Craig Venter</a:t>
            </a:r>
          </a:p>
          <a:p>
            <a:pPr>
              <a:spcAft>
                <a:spcPts val="400"/>
              </a:spcAft>
              <a:defRPr sz="1400">
                <a:solidFill>
                  <a:srgbClr val="2C3E2C"/>
                </a:solidFill>
                <a:latin typeface="Microsoft YaHei"/>
              </a:defRPr>
            </a:pPr>
            <a:r>
              <a:t>▸ 方法：全基因组鸟枪法</a:t>
            </a:r>
          </a:p>
          <a:p>
            <a:pPr>
              <a:spcAft>
                <a:spcPts val="400"/>
              </a:spcAft>
              <a:defRPr sz="1400">
                <a:solidFill>
                  <a:srgbClr val="2C3E2C"/>
                </a:solidFill>
                <a:latin typeface="Microsoft YaHei"/>
              </a:defRPr>
            </a:pPr>
            <a:r>
              <a:t>▸ 资金：商业投资</a:t>
            </a:r>
          </a:p>
          <a:p>
            <a:pPr>
              <a:spcAft>
                <a:spcPts val="400"/>
              </a:spcAft>
              <a:defRPr sz="1400">
                <a:solidFill>
                  <a:srgbClr val="2C3E2C"/>
                </a:solidFill>
                <a:latin typeface="Microsoft YaHei"/>
              </a:defRPr>
            </a:pPr>
            <a:r>
              <a:t>▸ 数据：商业保护</a:t>
            </a:r>
          </a:p>
          <a:p>
            <a:pPr>
              <a:spcAft>
                <a:spcPts val="400"/>
              </a:spcAft>
              <a:defRPr sz="1400">
                <a:solidFill>
                  <a:srgbClr val="2C3E2C"/>
                </a:solidFill>
                <a:latin typeface="Microsoft YaHei"/>
              </a:defRPr>
            </a:pPr>
            <a:r>
              <a:t>▸ 策略：速度优先</a:t>
            </a:r>
          </a:p>
          <a:p>
            <a:pPr>
              <a:spcAft>
                <a:spcPts val="400"/>
              </a:spcAft>
              <a:defRPr sz="1400">
                <a:solidFill>
                  <a:srgbClr val="2C3E2C"/>
                </a:solidFill>
                <a:latin typeface="Microsoft YaHei"/>
              </a:defRPr>
            </a:pPr>
            <a:r>
              <a:t>▸ </a:t>
            </a:r>
          </a:p>
          <a:p>
            <a:pPr>
              <a:spcAft>
                <a:spcPts val="400"/>
              </a:spcAft>
              <a:defRPr sz="1400">
                <a:solidFill>
                  <a:srgbClr val="2C3E2C"/>
                </a:solidFill>
                <a:latin typeface="Microsoft YaHei"/>
              </a:defRPr>
            </a:pPr>
            <a:r>
              <a:t>▸ → 加速了整体进度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两种测序策略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7BC62"/>
                </a:solidFill>
                <a:latin typeface="Microsoft YaHei"/>
              </a:defRPr>
            </a:pPr>
            <a:r>
              <a:t>Clone-by-Clone vs Whole-Genome Shotgun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7BC62"/>
                </a:solidFill>
                <a:latin typeface="Microsoft YaHei"/>
              </a:defRPr>
            </a:pPr>
            <a:r>
              <a:t>5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B6B"/>
                </a:solidFill>
                <a:latin typeface="Microsoft YaHei"/>
              </a:defRPr>
            </a:pPr>
            <a:r>
              <a:t>遗传学100天学习计划 · Day 82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91695" cy="54864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5486400" cy="4846320"/>
          </a:xfrm>
          <a:prstGeom prst="roundRect">
            <a:avLst/>
          </a:prstGeom>
          <a:solidFill>
            <a:srgbClr val="E8F0E0"/>
          </a:solidFill>
          <a:ln w="12700">
            <a:solidFill>
              <a:srgbClr val="97B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17319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C5F2D"/>
                </a:solidFill>
                <a:latin typeface="Microsoft YaHei"/>
              </a:defRPr>
            </a:pPr>
            <a:r>
              <a:t>逐步克隆法</a:t>
            </a:r>
          </a:p>
          <a:p>
            <a:pPr>
              <a:spcAft>
                <a:spcPts val="400"/>
              </a:spcAft>
              <a:defRPr sz="1400">
                <a:solidFill>
                  <a:srgbClr val="2C3E2C"/>
                </a:solidFill>
                <a:latin typeface="Microsoft YaHei"/>
              </a:defRPr>
            </a:pPr>
            <a:r>
              <a:t>▸ 1. DNA → BAC文库</a:t>
            </a:r>
          </a:p>
          <a:p>
            <a:pPr>
              <a:spcAft>
                <a:spcPts val="400"/>
              </a:spcAft>
              <a:defRPr sz="1400">
                <a:solidFill>
                  <a:srgbClr val="2C3E2C"/>
                </a:solidFill>
                <a:latin typeface="Microsoft YaHei"/>
              </a:defRPr>
            </a:pPr>
            <a:r>
              <a:t>▸ 2. 物理图谱定位</a:t>
            </a:r>
          </a:p>
          <a:p>
            <a:pPr>
              <a:spcAft>
                <a:spcPts val="400"/>
              </a:spcAft>
              <a:defRPr sz="1400">
                <a:solidFill>
                  <a:srgbClr val="2C3E2C"/>
                </a:solidFill>
                <a:latin typeface="Microsoft YaHei"/>
              </a:defRPr>
            </a:pPr>
            <a:r>
              <a:t>▸ 3. 逐克隆鸟枪测序</a:t>
            </a:r>
          </a:p>
          <a:p>
            <a:pPr>
              <a:spcAft>
                <a:spcPts val="400"/>
              </a:spcAft>
              <a:defRPr sz="1400">
                <a:solidFill>
                  <a:srgbClr val="2C3E2C"/>
                </a:solidFill>
                <a:latin typeface="Microsoft YaHei"/>
              </a:defRPr>
            </a:pPr>
            <a:r>
              <a:t>▸ 4. 按图谱组装</a:t>
            </a:r>
          </a:p>
          <a:p>
            <a:pPr>
              <a:spcAft>
                <a:spcPts val="400"/>
              </a:spcAft>
              <a:defRPr sz="1400">
                <a:solidFill>
                  <a:srgbClr val="2C3E2C"/>
                </a:solidFill>
                <a:latin typeface="Microsoft YaHei"/>
              </a:defRPr>
            </a:pPr>
            <a:r>
              <a:t>▸ </a:t>
            </a:r>
          </a:p>
          <a:p>
            <a:pPr>
              <a:spcAft>
                <a:spcPts val="400"/>
              </a:spcAft>
              <a:defRPr sz="1400">
                <a:solidFill>
                  <a:srgbClr val="2C3E2C"/>
                </a:solidFill>
                <a:latin typeface="Microsoft YaHei"/>
              </a:defRPr>
            </a:pPr>
            <a:r>
              <a:t>▸ ✓ 准确可靠</a:t>
            </a:r>
          </a:p>
          <a:p>
            <a:pPr>
              <a:spcAft>
                <a:spcPts val="400"/>
              </a:spcAft>
              <a:defRPr sz="1400">
                <a:solidFill>
                  <a:srgbClr val="2C3E2C"/>
                </a:solidFill>
                <a:latin typeface="Microsoft YaHei"/>
              </a:defRPr>
            </a:pPr>
            <a:r>
              <a:t>▸ ✗ 流程复杂、较慢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486400" cy="4846320"/>
          </a:xfrm>
          <a:prstGeom prst="roundRect">
            <a:avLst/>
          </a:prstGeom>
          <a:solidFill>
            <a:srgbClr val="E8F0E0"/>
          </a:solidFill>
          <a:ln w="12700">
            <a:solidFill>
              <a:srgbClr val="97B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17319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C5F2D"/>
                </a:solidFill>
                <a:latin typeface="Microsoft YaHei"/>
              </a:defRPr>
            </a:pPr>
            <a:r>
              <a:t>全基因组鸟枪法</a:t>
            </a:r>
          </a:p>
          <a:p>
            <a:pPr>
              <a:spcAft>
                <a:spcPts val="400"/>
              </a:spcAft>
              <a:defRPr sz="1400">
                <a:solidFill>
                  <a:srgbClr val="2C3E2C"/>
                </a:solidFill>
                <a:latin typeface="Microsoft YaHei"/>
              </a:defRPr>
            </a:pPr>
            <a:r>
              <a:t>▸ 1. DNA → 随机片段</a:t>
            </a:r>
          </a:p>
          <a:p>
            <a:pPr>
              <a:spcAft>
                <a:spcPts val="400"/>
              </a:spcAft>
              <a:defRPr sz="1400">
                <a:solidFill>
                  <a:srgbClr val="2C3E2C"/>
                </a:solidFill>
                <a:latin typeface="Microsoft YaHei"/>
              </a:defRPr>
            </a:pPr>
            <a:r>
              <a:t>▸ 2. 大规模测序</a:t>
            </a:r>
          </a:p>
          <a:p>
            <a:pPr>
              <a:spcAft>
                <a:spcPts val="400"/>
              </a:spcAft>
              <a:defRPr sz="1400">
                <a:solidFill>
                  <a:srgbClr val="2C3E2C"/>
                </a:solidFill>
                <a:latin typeface="Microsoft YaHei"/>
              </a:defRPr>
            </a:pPr>
            <a:r>
              <a:t>▸ 3. 超算拼装</a:t>
            </a:r>
          </a:p>
          <a:p>
            <a:pPr>
              <a:spcAft>
                <a:spcPts val="400"/>
              </a:spcAft>
              <a:defRPr sz="1400">
                <a:solidFill>
                  <a:srgbClr val="2C3E2C"/>
                </a:solidFill>
                <a:latin typeface="Microsoft YaHei"/>
              </a:defRPr>
            </a:pPr>
            <a:r>
              <a:t>▸ 4. 参考图谱辅助</a:t>
            </a:r>
          </a:p>
          <a:p>
            <a:pPr>
              <a:spcAft>
                <a:spcPts val="400"/>
              </a:spcAft>
              <a:defRPr sz="1400">
                <a:solidFill>
                  <a:srgbClr val="2C3E2C"/>
                </a:solidFill>
                <a:latin typeface="Microsoft YaHei"/>
              </a:defRPr>
            </a:pPr>
            <a:r>
              <a:t>▸ </a:t>
            </a:r>
          </a:p>
          <a:p>
            <a:pPr>
              <a:spcAft>
                <a:spcPts val="400"/>
              </a:spcAft>
              <a:defRPr sz="1400">
                <a:solidFill>
                  <a:srgbClr val="2C3E2C"/>
                </a:solidFill>
                <a:latin typeface="Microsoft YaHei"/>
              </a:defRPr>
            </a:pPr>
            <a:r>
              <a:t>▸ ✓ 快速高效</a:t>
            </a:r>
          </a:p>
          <a:p>
            <a:pPr>
              <a:spcAft>
                <a:spcPts val="400"/>
              </a:spcAft>
              <a:defRPr sz="1400">
                <a:solidFill>
                  <a:srgbClr val="2C3E2C"/>
                </a:solidFill>
                <a:latin typeface="Microsoft YaHei"/>
              </a:defRPr>
            </a:pPr>
            <a:r>
              <a:t>▸ ✗ 重复区易错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基因数量之谜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7BC62"/>
                </a:solidFill>
                <a:latin typeface="Microsoft YaHei"/>
              </a:defRPr>
            </a:pPr>
            <a:r>
              <a:t>The Gene Count Surprise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7BC62"/>
                </a:solidFill>
                <a:latin typeface="Microsoft YaHei"/>
              </a:defRPr>
            </a:pPr>
            <a:r>
              <a:t>6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B6B"/>
                </a:solidFill>
                <a:latin typeface="Microsoft YaHei"/>
              </a:defRPr>
            </a:pPr>
            <a:r>
              <a:t>遗传学100天学习计划 · Day 82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91695" cy="54864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11247120" cy="4846320"/>
          </a:xfrm>
          <a:prstGeom prst="roundRect">
            <a:avLst/>
          </a:prstGeom>
          <a:solidFill>
            <a:srgbClr val="E8F0E0"/>
          </a:solidFill>
          <a:ln w="12700">
            <a:solidFill>
              <a:srgbClr val="97B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17319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预期：~100,000个基因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↓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2001草图：30,000-35,000个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↓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2004完成序列：20,000-25,000个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≈ 线虫的基因数（~20,000）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复杂性来源：选择性剪接 + 非编码RNA + 表观调控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Francis Collins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7BC62"/>
                </a:solidFill>
                <a:latin typeface="Microsoft YaHei"/>
              </a:defRPr>
            </a:pPr>
            <a:r>
              <a:t>公共项目的领航者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7BC62"/>
                </a:solidFill>
                <a:latin typeface="Microsoft YaHei"/>
              </a:defRPr>
            </a:pPr>
            <a:r>
              <a:t>7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B6B"/>
                </a:solidFill>
                <a:latin typeface="Microsoft YaHei"/>
              </a:defRPr>
            </a:pPr>
            <a:r>
              <a:t>遗传学100天学习计划 · Day 82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91695" cy="54864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11247120" cy="4846320"/>
          </a:xfrm>
          <a:prstGeom prst="roundRect">
            <a:avLst/>
          </a:prstGeom>
          <a:solidFill>
            <a:srgbClr val="E8F0E0"/>
          </a:solidFill>
          <a:ln w="12700">
            <a:solidFill>
              <a:srgbClr val="97B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17319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医学遗传学家 → NHGRI主任 → NIH院长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定位克隆发现囊性纤维化、亨廷顿舞蹈症基因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协调六国20余个测序中心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坚定推行百慕大原则（24h数据公开）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业余摇滚乐手 — The Directors乐队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著书《生命的语言》普及基因组学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Craig Venter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7BC62"/>
                </a:solidFill>
                <a:latin typeface="Microsoft YaHei"/>
              </a:defRPr>
            </a:pPr>
            <a:r>
              <a:t>私营竞争的搅局者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7BC62"/>
                </a:solidFill>
                <a:latin typeface="Microsoft YaHei"/>
              </a:defRPr>
            </a:pPr>
            <a:r>
              <a:t>8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B6B"/>
                </a:solidFill>
                <a:latin typeface="Microsoft YaHei"/>
              </a:defRPr>
            </a:pPr>
            <a:r>
              <a:t>遗传学100天学习计划 · Day 82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91695" cy="54864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11247120" cy="4846320"/>
          </a:xfrm>
          <a:prstGeom prst="roundRect">
            <a:avLst/>
          </a:prstGeom>
          <a:solidFill>
            <a:srgbClr val="E8F0E0"/>
          </a:solidFill>
          <a:ln w="12700">
            <a:solidFill>
              <a:srgbClr val="97B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17319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EST技术开创者 → TIGR → Celera → JCVI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1995：首个自由生活生物全基因组测序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1998：创立Celera，WGS挑战公共项目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2010：创造首个人工合成基因组细胞（Synthia）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2007：个人全基因组测序先驱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转向合成生物学和海洋微生物组研究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中国的贡献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7BC62"/>
                </a:solidFill>
                <a:latin typeface="Microsoft YaHei"/>
              </a:defRPr>
            </a:pPr>
            <a:r>
              <a:t>1%的精神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7BC62"/>
                </a:solidFill>
                <a:latin typeface="Microsoft YaHei"/>
              </a:defRPr>
            </a:pPr>
            <a:r>
              <a:t>9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B6B"/>
                </a:solidFill>
                <a:latin typeface="Microsoft YaHei"/>
              </a:defRPr>
            </a:pPr>
            <a:r>
              <a:t>遗传学100天学习计划 · Day 82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91695" cy="54864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11247120" cy="4846320"/>
          </a:xfrm>
          <a:prstGeom prst="roundRect">
            <a:avLst/>
          </a:prstGeom>
          <a:solidFill>
            <a:srgbClr val="E8F0E0"/>
          </a:solidFill>
          <a:ln w="12700">
            <a:solidFill>
              <a:srgbClr val="97B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17319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1999年争取到1%测序任务（第3号染色体）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杨焕明、汪建领导华大基因团队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从零开始，旧工厂里搭建实验室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日夜轮班，按时高质量完成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通过国际质量审核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→ 华大基因成为全球基因组学重镇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→ '1%的精神'激励中国基因组学发展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开放数据：百慕大原则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7BC62"/>
                </a:solidFill>
                <a:latin typeface="Microsoft YaHei"/>
              </a:defRPr>
            </a:pPr>
            <a:r>
              <a:t>Bermuda Principles — Open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7BC62"/>
                </a:solidFill>
                <a:latin typeface="Microsoft YaHei"/>
              </a:defRPr>
            </a:pPr>
            <a:r>
              <a:t>10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B6B"/>
                </a:solidFill>
                <a:latin typeface="Microsoft YaHei"/>
              </a:defRPr>
            </a:pPr>
            <a:r>
              <a:t>遗传学100天学习计划 · Day 82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91695" cy="54864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11247120" cy="4846320"/>
          </a:xfrm>
          <a:prstGeom prst="roundRect">
            <a:avLst/>
          </a:prstGeom>
          <a:solidFill>
            <a:srgbClr val="E8F0E0"/>
          </a:solidFill>
          <a:ln w="12700">
            <a:solidFill>
              <a:srgbClr val="97B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17319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1996年百慕大会议确立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核心原则：序列数据24h内公开释放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进入GenBank等公共数据库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全球科学家免费获取、无专利限制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对比：Celera最初商业保护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影响：成为开放科学典范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→ 影响ENCODE、千人基因组等后续项目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关键文献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7BC62"/>
                </a:solidFill>
                <a:latin typeface="Microsoft YaHei"/>
              </a:defRPr>
            </a:pPr>
            <a:r>
              <a:t>Landmark Publications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7BC62"/>
                </a:solidFill>
                <a:latin typeface="Microsoft YaHei"/>
              </a:defRPr>
            </a:pPr>
            <a:r>
              <a:t>11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B6B"/>
                </a:solidFill>
                <a:latin typeface="Microsoft YaHei"/>
              </a:defRPr>
            </a:pPr>
            <a:r>
              <a:t>遗传学100天学习计划 · Day 82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91695" cy="54864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11247120" cy="4846320"/>
          </a:xfrm>
          <a:prstGeom prst="roundRect">
            <a:avLst/>
          </a:prstGeom>
          <a:solidFill>
            <a:srgbClr val="E8F0E0"/>
          </a:solidFill>
          <a:ln w="12700">
            <a:solidFill>
              <a:srgbClr val="97B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17319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Nature 2001：公共联盟草图（Lander et al.）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  DOI: 10.1038/35057062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Science 2001：Celera草图（Venter et al.）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  DOI: 10.1126/science.1058040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Nature 2004：完成序列分析（IHGSC）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  DOI: 10.1038/nature03001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Nature 2003：基因组学未来愿景（Collins et al.）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  DOI: 10.1038/nature01641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对医学的影响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7BC62"/>
                </a:solidFill>
                <a:latin typeface="Microsoft YaHei"/>
              </a:defRPr>
            </a:pPr>
            <a:r>
              <a:t>Impact on Medicine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7BC62"/>
                </a:solidFill>
                <a:latin typeface="Microsoft YaHei"/>
              </a:defRPr>
            </a:pPr>
            <a:r>
              <a:t>12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B6B"/>
                </a:solidFill>
                <a:latin typeface="Microsoft YaHei"/>
              </a:defRPr>
            </a:pPr>
            <a:r>
              <a:t>遗传学100天学习计划 · Day 82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91695" cy="54864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11247120" cy="4846320"/>
          </a:xfrm>
          <a:prstGeom prst="roundRect">
            <a:avLst/>
          </a:prstGeom>
          <a:solidFill>
            <a:srgbClr val="E8F0E0"/>
          </a:solidFill>
          <a:ln w="12700">
            <a:solidFill>
              <a:srgbClr val="97B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17319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→ 精准医学：基于基因组信息个性化治疗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→ 药物基因组学：根据基因型选择药物和剂量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→ 癌症基因组学：TCGA等大规模癌症测序项目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→ 遗传病诊断：全外显子测序诊断罕见病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→ 产前检测：无创产前基因检测（NIPT）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→ 基因治疗：针对遗传缺陷的基因编辑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→ 伦理框架：ELSI计划开创基因组伦理研究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思考与讨论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7BC62"/>
                </a:solidFill>
                <a:latin typeface="Microsoft YaHei"/>
              </a:defRPr>
            </a:pPr>
            <a:r>
              <a:t>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7BC62"/>
                </a:solidFill>
                <a:latin typeface="Microsoft YaHei"/>
              </a:defRPr>
            </a:pPr>
            <a:r>
              <a:t>13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B6B"/>
                </a:solidFill>
                <a:latin typeface="Microsoft YaHei"/>
              </a:defRPr>
            </a:pPr>
            <a:r>
              <a:t>遗传学100天学习计划 · Day 82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91695" cy="54864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11247120" cy="4846320"/>
          </a:xfrm>
          <a:prstGeom prst="roundRect">
            <a:avLst/>
          </a:prstGeom>
          <a:solidFill>
            <a:srgbClr val="E8F0E0"/>
          </a:solidFill>
          <a:ln w="12700">
            <a:solidFill>
              <a:srgbClr val="97B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17319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Q1: 基因数量悖论 — 复杂性从何而来？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Q2: 公私竞争 — 利大于弊还是弊大于利？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Q3: 开放数据 — 百慕大原则的当代挑战？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Q4: 测序技术 — 如果今天设计HGP？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Q5: 伦理风险 — 精准医学时代的隐私问题？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遗产与未来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7BC62"/>
                </a:solidFill>
                <a:latin typeface="Microsoft YaHei"/>
              </a:defRPr>
            </a:pPr>
            <a:r>
              <a:t>Legacy &amp; Future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7BC62"/>
                </a:solidFill>
                <a:latin typeface="Microsoft YaHei"/>
              </a:defRPr>
            </a:pPr>
            <a:r>
              <a:t>14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B6B"/>
                </a:solidFill>
                <a:latin typeface="Microsoft YaHei"/>
              </a:defRPr>
            </a:pPr>
            <a:r>
              <a:t>遗传学100天学习计划 · Day 82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91695" cy="54864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11247120" cy="4846320"/>
          </a:xfrm>
          <a:prstGeom prst="roundRect">
            <a:avLst/>
          </a:prstGeom>
          <a:solidFill>
            <a:srgbClr val="E8F0E0"/>
          </a:solidFill>
          <a:ln w="12700">
            <a:solidFill>
              <a:srgbClr val="97B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17319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HGP遗产：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  · 完整的人类基因组参考序列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  · 开放数据共享的文化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  · 大科学合作模式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  · ELSI伦理框架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未来发展：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  · T2T全基因组（2022年完成）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  · 泛基因组（Pangenome）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  · 1000美元基因组 → 精准医学普及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7BC62"/>
                </a:solidFill>
                <a:latin typeface="Microsoft YaHei"/>
              </a:defRPr>
            </a:pPr>
            <a: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7BC62"/>
                </a:solidFill>
                <a:latin typeface="Microsoft YaHei"/>
              </a:defRPr>
            </a:pPr>
            <a:r>
              <a:t>15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B6B"/>
                </a:solidFill>
                <a:latin typeface="Microsoft YaHei"/>
              </a:defRPr>
            </a:pPr>
            <a:r>
              <a:t>遗传学100天学习计划 · Day 82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91695" cy="54864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11247120" cy="4846320"/>
          </a:xfrm>
          <a:prstGeom prst="roundRect">
            <a:avLst/>
          </a:prstGeom>
          <a:solidFill>
            <a:srgbClr val="E8F0E0"/>
          </a:solidFill>
          <a:ln w="12700">
            <a:solidFill>
              <a:srgbClr val="97B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17319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1. HGP（1990-2003）测定了人类全部DNA序列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2. 公私竞争加速了进度，百慕大原则保障了数据公开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3. 基因数量仅~22,000个，复杂性来自调控机制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4. 中国贡献1%，开启了基因组学发展之路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5. HGP的完成开启了精准医学时代</a:t>
            </a:r>
          </a:p>
          <a:p>
            <a:pPr>
              <a:spcAft>
                <a:spcPts val="400"/>
              </a:spcAft>
              <a:defRPr sz="1500">
                <a:solidFill>
                  <a:srgbClr val="2C3E2C"/>
                </a:solidFill>
                <a:latin typeface="Microsoft YaHei"/>
              </a:defRPr>
            </a:pPr>
            <a:r>
              <a:t>▸ 6. 开放数据和ELSI框架是重要的科学文化遗产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Day 83：基因组学时代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D4A843"/>
                </a:solidFill>
                <a:latin typeface="Microsoft YaHei"/>
              </a:defRPr>
            </a:pPr>
            <a:r>
              <a:t>ENCODE · 千人基因组 · 泛基因组 · 单细胞基因组学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2179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7BC62"/>
                </a:solidFill>
                <a:latin typeface="Microsoft YaHei"/>
              </a:defRPr>
            </a:pPr>
            <a: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