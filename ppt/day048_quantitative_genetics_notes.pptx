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09160"/>
            <a:ext cx="12188952" cy="320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12188952" cy="5486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48 | Quantitative Genetics Fundamentals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686800" y="47091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2026-07-01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371600" y="914400"/>
            <a:ext cx="9445752" cy="2926080"/>
          </a:xfrm>
          <a:prstGeom prst="rect">
            <a:avLst>
              <a:gd name="adj" fmla="val 4688"/>
            </a:avLst>
          </a:prstGeom>
          <a:solidFill>
            <a:srgbClr val="2C5F2D"/>
          </a:solidFill>
          <a:ln/>
          <a:effectLst>
            <a:outerShdw sx="100000" sy="100000" kx="0" ky="0" algn="bl" rotWithShape="0" blurRad="152400" dist="50800" dir="162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371600" y="1051560"/>
            <a:ext cx="944575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48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71600" y="1554480"/>
            <a:ext cx="944575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数量遗传学基础</a:t>
            </a:r>
            <a:endParaRPr lang="en-US" sz="3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Fundamentals of Quantitative Genetics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1371600" y="2926080"/>
            <a:ext cx="944575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遗传学100天学习计划 | 100-Day Genetics Study Plan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00400" y="4114800"/>
            <a:ext cx="5788152" cy="182880"/>
          </a:xfrm>
          <a:prstGeom prst="rect">
            <a:avLst>
              <a:gd name="adj" fmla="val 50000"/>
            </a:avLst>
          </a:prstGeom>
          <a:solidFill>
            <a:srgbClr val="DDDDDD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0" y="4114800"/>
            <a:ext cx="2779776" cy="182880"/>
          </a:xfrm>
          <a:prstGeom prst="rect">
            <a:avLst>
              <a:gd name="adj" fmla="val 50000"/>
            </a:avLst>
          </a:prstGeom>
          <a:solidFill>
            <a:srgbClr val="D4A843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0" y="3657600"/>
            <a:ext cx="5788152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进度 Progress: 48 / 100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00400" y="4315968"/>
            <a:ext cx="5788152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2026-07-01</a:t>
            </a:r>
            <a:endParaRPr lang="en-US" sz="1100" dirty="0"/>
          </a:p>
        </p:txBody>
      </p:sp>
      <p:sp>
        <p:nvSpPr>
          <p:cNvPr id="14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09160"/>
            <a:ext cx="12188952" cy="320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12188952" cy="5486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48 | Quantitative Genetics Fundamentals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686800" y="47091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2026-07-01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457200"/>
            <a:ext cx="73152" cy="54864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3657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课程大纲</a:t>
            </a:r>
            <a:endParaRPr lang="en-US" sz="2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Course Outline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914400" y="1463040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463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554480" y="14173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历史背景 / Historical Background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554480" y="17099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孟德尔定律的局限与Fisher的突破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14400" y="2103120"/>
            <a:ext cx="457200" cy="45720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554480" y="20574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核心概念 / Core Concepts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554480" y="235000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数量性状、方差分解、遗传力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14400" y="2743200"/>
            <a:ext cx="457200" cy="45720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554480" y="2697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科学家故事 / Scientist Stories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554480" y="299008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Fisher与Wright的贡献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14400" y="3383280"/>
            <a:ext cx="457200" cy="45720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3383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554480" y="33375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经典实验 / Classic Experiments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554480" y="363016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Nilsson-Ehle小麦实验与烟草实验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14400" y="4023360"/>
            <a:ext cx="457200" cy="45720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554480" y="3977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重要文献 / Key Literature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554480" y="427024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6篇奠基性论文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914400" y="4663440"/>
            <a:ext cx="457200" cy="45720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9" name="Text 27"/>
          <p:cNvSpPr/>
          <p:nvPr/>
        </p:nvSpPr>
        <p:spPr>
          <a:xfrm>
            <a:off x="914400" y="4663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554480" y="4617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术语与展望 / Glossary &amp; Outlook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554480" y="49103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关键术语与下节预告</a:t>
            </a:r>
            <a:endParaRPr lang="en-US" sz="1100" dirty="0"/>
          </a:p>
        </p:txBody>
      </p:sp>
      <p:sp>
        <p:nvSpPr>
          <p:cNvPr id="32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09160"/>
            <a:ext cx="12188952" cy="320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12188952" cy="5486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48 | Quantitative Genetics Fundamentals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686800" y="47091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2026-07-01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097280"/>
            <a:ext cx="2011680" cy="320040"/>
          </a:xfrm>
          <a:prstGeom prst="roundRect">
            <a:avLst>
              <a:gd name="adj" fmla="val 28571"/>
            </a:avLst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0972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历史背景 / History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457200"/>
            <a:ext cx="73152" cy="54864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657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孟德尔定律无法解释连续变异？</a:t>
            </a:r>
            <a:endParaRPr lang="en-US" sz="2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 Mendel's Laws Explain Continuous Variation?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77240" y="1280160"/>
            <a:ext cx="10515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核心矛盾 / The Core Paradox:</a:t>
            </a: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孟德尔定律</a:t>
            </a: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（Mendel's Laws）成功解释了质量性状（qualitative traits），如豌豆的颜色、形状等不连续变异。</a:t>
            </a: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然而，自然界中大多数重要性状呈</a:t>
            </a: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连续变异</a:t>
            </a: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（continuous variation），如身高、产量、乳脂率等，无法用简单的显隐性模型解释。</a:t>
            </a: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这种变异通常呈</a:t>
            </a: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正态分布</a:t>
            </a: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（normal distribution），个体间差异微小且渐进过渡。</a:t>
            </a: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关键问题：连续变异是否仍然遵循遗传规律？</a:t>
            </a:r>
            <a:endParaRPr lang="en-US" sz="1500" dirty="0"/>
          </a:p>
        </p:txBody>
      </p:sp>
      <p:sp>
        <p:nvSpPr>
          <p:cNvPr id="11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09160"/>
            <a:ext cx="12188952" cy="320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12188952" cy="5486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48 | Quantitative Genetics Fundamentals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686800" y="47091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2026-07-01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097280"/>
            <a:ext cx="2011680" cy="320040"/>
          </a:xfrm>
          <a:prstGeom prst="roundRect">
            <a:avLst>
              <a:gd name="adj" fmla="val 28571"/>
            </a:avLst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0972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历史背景 / History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457200"/>
            <a:ext cx="73152" cy="54864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657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Fisher 1918：划时代论文</a:t>
            </a:r>
            <a:endParaRPr lang="en-US" sz="2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Fisher 1918: The Landmark Paper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77240" y="1280160"/>
            <a:ext cx="10515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400" b="1" i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Correlation between Relatives on the Supposition of Mendelian Inheritance"</a:t>
            </a: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这篇论文证明了</a:t>
            </a: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孟德尔遗传可以完全解释连续变异</a:t>
            </a: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（Mendelian inheritance can fully explain continuous variation）。</a:t>
            </a: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Fisher的核心贡献 / Key Contributions:</a:t>
            </a: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将多个孟德尔基因座的效应累加 → 产生连续分布</a:t>
            </a: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引入方差分解（variance partitioning）框架</a:t>
            </a: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定义加性、显性、上位性方差组分</a:t>
            </a: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首次提出"遗传力"（heritability）的定量概念</a:t>
            </a: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4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此文被认为是群体遗传学的奠基之作之一，也是现代数量遗传学的起点。</a:t>
            </a:r>
            <a:endParaRPr lang="en-US" sz="1400" dirty="0"/>
          </a:p>
        </p:txBody>
      </p:sp>
      <p:sp>
        <p:nvSpPr>
          <p:cNvPr id="11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09160"/>
            <a:ext cx="12188952" cy="320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12188952" cy="5486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48 | Quantitative Genetics Fundamentals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686800" y="47091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2026-07-01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097280"/>
            <a:ext cx="2011680" cy="320040"/>
          </a:xfrm>
          <a:prstGeom prst="roundRect">
            <a:avLst>
              <a:gd name="adj" fmla="val 28571"/>
            </a:avLst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0972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历史背景 / History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457200"/>
            <a:ext cx="73152" cy="54864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657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方差分析的思想</a:t>
            </a:r>
            <a:endParaRPr lang="en-US" sz="2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Idea of Analysis of Variance (ANOVA)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77240" y="1280160"/>
            <a:ext cx="10515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[object Object] 是Fisher同时期发展的重要统计方法：</a:t>
            </a: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核心思想 / Core Idea:</a:t>
            </a: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将总变异（total variation）分解为不同来源的贡献</a:t>
            </a: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总平方和 = 组间平方和 + 组内平方和</a:t>
            </a: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SS_T = SS_B + SS_W</a:t>
            </a: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在数量遗传学中，这一思想被推广为：</a:t>
            </a: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V_P = V_G + V_E</a:t>
            </a: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表型方差 = 遗传方差 + 环境方差</a:t>
            </a: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Phenotypic variance = Genetic variance + Environmental variance</a:t>
            </a: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ANOVA为数量遗传学提供了</a:t>
            </a: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统计学工具基础</a:t>
            </a: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（statistical tool foundation）。</a:t>
            </a:r>
            <a:endParaRPr lang="en-US" sz="1400" dirty="0"/>
          </a:p>
        </p:txBody>
      </p:sp>
      <p:sp>
        <p:nvSpPr>
          <p:cNvPr id="11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09160"/>
            <a:ext cx="12188952" cy="320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12188952" cy="5486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48 | Quantitative Genetics Fundamentals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686800" y="47091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2026-07-01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097280"/>
            <a:ext cx="2011680" cy="320040"/>
          </a:xfrm>
          <a:prstGeom prst="roundRect">
            <a:avLst>
              <a:gd name="adj" fmla="val 28571"/>
            </a:avLst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0972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核心概念 / Core Concepts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457200"/>
            <a:ext cx="73152" cy="54864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657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数量性状 vs 质量性状</a:t>
            </a:r>
            <a:endParaRPr lang="en-US" sz="2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Quantitative vs Qualitative Traits</a:t>
            </a:r>
            <a:endParaRPr lang="en-US" sz="2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417320"/>
          <a:ext cx="10515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4114800"/>
                <a:gridCol w="411480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特征 Feature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质量性状 Qualitative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数量性状 Quantitative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变异类型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不连续 / Discrete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连续 / Continuous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遗传基础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单基因 / Single gene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多基因 / Polygenic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环境效应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Environment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小 / Small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大 / Large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分布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Distribution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二项/多项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Binomial/Multinomial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正态分布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 distribution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分析工具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卡方检验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Chi-square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方差分析/混合模型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ANOVA / Mixed models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实例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花色、血型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Flower color, Blood 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身高、产量、体重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Height, Yield, Weight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0"/>
                    </a:solidFill>
                  </a:tcPr>
                </a:tc>
              </a:tr>
            </a:tbl>
          </a:graphicData>
        </a:graphic>
      </p:graphicFrame>
      <p:sp>
        <p:nvSpPr>
          <p:cNvPr id="10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09160"/>
            <a:ext cx="12188952" cy="320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12188952" cy="5486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48 | Quantitative Genetics Fundamentals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686800" y="47091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2026-07-01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097280"/>
            <a:ext cx="2011680" cy="320040"/>
          </a:xfrm>
          <a:prstGeom prst="roundRect">
            <a:avLst>
              <a:gd name="adj" fmla="val 28571"/>
            </a:avLst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0972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核心概念 / Core Concepts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457200"/>
            <a:ext cx="73152" cy="54864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657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多基因假说</a:t>
            </a:r>
            <a:endParaRPr lang="en-US" sz="2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Polygene Hypothesis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77240" y="1280160"/>
            <a:ext cx="10515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Nilsson-Ehle (1909) 提出的多基因假说 / Polygene Hypothesis:</a:t>
            </a: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[object Object]数量性状由</a:t>
            </a: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许多微效基因</a:t>
            </a: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（many minor-effect genes）共同控制</a:t>
            </a: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[object Object]每个基因的效应</a:t>
            </a: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微小且可加</a:t>
            </a: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（small and additive effects）</a:t>
            </a: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[object Object]等位基因之间</a:t>
            </a: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无显隐性关系</a:t>
            </a: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（no dominance between alleles）</a:t>
            </a: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[object Object]F2代呈现</a:t>
            </a: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连续正态分布</a:t>
            </a: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（continuous normal distribution）</a:t>
            </a: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[object Object]基因数目越多，变异越趋近于</a:t>
            </a: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正态分布</a:t>
            </a: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实验支持：小麦籽粒颜色实验（Slide 15详述）</a:t>
            </a:r>
            <a:endParaRPr lang="en-US" sz="1500" dirty="0"/>
          </a:p>
        </p:txBody>
      </p:sp>
      <p:sp>
        <p:nvSpPr>
          <p:cNvPr id="11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09160"/>
            <a:ext cx="12188952" cy="320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12188952" cy="5486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48 | Quantitative Genetics Fundamentals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686800" y="47091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2026-07-01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097280"/>
            <a:ext cx="2011680" cy="320040"/>
          </a:xfrm>
          <a:prstGeom prst="roundRect">
            <a:avLst>
              <a:gd name="adj" fmla="val 28571"/>
            </a:avLst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0972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核心概念 / Core Concepts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457200"/>
            <a:ext cx="73152" cy="54864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657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正态分布与连续变异</a:t>
            </a:r>
            <a:endParaRPr lang="en-US" sz="2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Normal Distribution &amp; Continuous Variation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77240" y="1417320"/>
            <a:ext cx="59436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连续变异的统计学本质是</a:t>
            </a: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正态分布</a:t>
            </a: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（Normal Distribution, N(μ,σ²)）</a:t>
            </a: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中心极限定理 / Central Limit Theorem:</a:t>
            </a: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当多个独立随机变量求和时，其分布趋近正态分布。</a:t>
            </a: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在数量遗传学中：</a:t>
            </a: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表型值 = Σ(基因效应) + 环境效应</a:t>
            </a: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当基因数量足够多时，</a:t>
            </a: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表型值的分布自然趋近正态。</a:t>
            </a: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正态分布特征 / Properties:</a:t>
            </a: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均值 μ 决定中心位置</a:t>
            </a: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方差 σ² 衡量离散程度</a:t>
            </a: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- 68-95-99.7 法则</a:t>
            </a:r>
            <a:endParaRPr lang="en-US" sz="1400" dirty="0"/>
          </a:p>
        </p:txBody>
      </p:sp>
      <p:pic>
        <p:nvPicPr>
          <p:cNvPr id="11" name="Image 0" descr="/workspace/genetics_learning/images/day048_quantitative_genetics_normal_distribution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132320" y="1463040"/>
            <a:ext cx="4389120" cy="2926080"/>
          </a:xfrm>
          <a:prstGeom prst="rect">
            <a:avLst/>
          </a:prstGeom>
        </p:spPr>
      </p:pic>
      <p:sp>
        <p:nvSpPr>
          <p:cNvPr id="12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09160"/>
            <a:ext cx="12188952" cy="320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12188952" cy="5486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48 | Quantitative Genetics Fundamentals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686800" y="47091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2026-07-01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097280"/>
            <a:ext cx="2011680" cy="320040"/>
          </a:xfrm>
          <a:prstGeom prst="roundRect">
            <a:avLst>
              <a:gd name="adj" fmla="val 28571"/>
            </a:avLst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0972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核心概念 / Core Concepts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457200"/>
            <a:ext cx="73152" cy="54864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657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表型值分解</a:t>
            </a:r>
            <a:endParaRPr lang="en-US" sz="2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Phenotypic Value Decomposition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3200400" y="1371600"/>
            <a:ext cx="5788152" cy="914400"/>
          </a:xfrm>
          <a:prstGeom prst="roundRect">
            <a:avLst>
              <a:gd name="adj" fmla="val 12000"/>
            </a:avLst>
          </a:prstGeom>
          <a:solidFill>
            <a:srgbClr val="2C5F2D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0" y="1371600"/>
            <a:ext cx="57881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 = G + E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777240" y="2468880"/>
            <a:ext cx="105156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表型值 (Phenotypic Value)</a:t>
            </a: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个体可观测的性状测量值，如株高、产量等</a:t>
            </a: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= 基因型值 (Genotypic Value)</a:t>
            </a: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由遗传组成决定的潜在性状值</a:t>
            </a: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= 环境偏差 (Environmental Deviation)</a:t>
            </a: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环境因素引起的表型值偏离</a:t>
            </a: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假设前提 / Assumptions:</a:t>
            </a: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G与E相互独立（no G×E interaction）</a:t>
            </a: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Cov(G, E) = 0</a:t>
            </a: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E的期望值 = 0</a:t>
            </a:r>
            <a:endParaRPr lang="en-US" sz="1400" dirty="0"/>
          </a:p>
        </p:txBody>
      </p:sp>
      <p:sp>
        <p:nvSpPr>
          <p:cNvPr id="13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09160"/>
            <a:ext cx="12188952" cy="320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12188952" cy="5486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48 | Quantitative Genetics Fundamentals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686800" y="47091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2026-07-01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097280"/>
            <a:ext cx="2011680" cy="320040"/>
          </a:xfrm>
          <a:prstGeom prst="roundRect">
            <a:avLst>
              <a:gd name="adj" fmla="val 28571"/>
            </a:avLst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0972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核心概念 / Core Concepts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457200"/>
            <a:ext cx="73152" cy="54864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657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方差分解</a:t>
            </a:r>
            <a:endParaRPr lang="en-US" sz="2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Variance Decomposition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2286000" y="1371600"/>
            <a:ext cx="7616952" cy="731520"/>
          </a:xfrm>
          <a:prstGeom prst="roundRect">
            <a:avLst>
              <a:gd name="adj" fmla="val 12500"/>
            </a:avLst>
          </a:prstGeom>
          <a:solidFill>
            <a:srgbClr val="2C5F2D"/>
          </a:solidFill>
          <a:ln/>
        </p:spPr>
      </p:sp>
      <p:sp>
        <p:nvSpPr>
          <p:cNvPr id="11" name="Text 9"/>
          <p:cNvSpPr/>
          <p:nvPr/>
        </p:nvSpPr>
        <p:spPr>
          <a:xfrm>
            <a:off x="2286000" y="1371600"/>
            <a:ext cx="76169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V_P = V_G + V_E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2286000" y="2286000"/>
            <a:ext cx="7616952" cy="548640"/>
          </a:xfrm>
          <a:prstGeom prst="roundRect">
            <a:avLst>
              <a:gd name="adj" fmla="val 13333"/>
            </a:avLst>
          </a:prstGeom>
          <a:solidFill>
            <a:srgbClr val="F0EDE0"/>
          </a:solidFill>
          <a:ln/>
        </p:spPr>
      </p:sp>
      <p:sp>
        <p:nvSpPr>
          <p:cNvPr id="13" name="Text 11"/>
          <p:cNvSpPr/>
          <p:nvPr/>
        </p:nvSpPr>
        <p:spPr>
          <a:xfrm>
            <a:off x="2286000" y="2286000"/>
            <a:ext cx="7616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V_G = V_A + V_D + V_I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77240" y="3017520"/>
            <a:ext cx="105156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V_P</a:t>
            </a: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表型方差 (Phenotypic Variance)</a:t>
            </a: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V_G</a:t>
            </a: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遗传方差 (Genetic Variance)</a:t>
            </a: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V_E</a:t>
            </a: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环境方差 (Environmental Variance)</a:t>
            </a: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V_A</a:t>
            </a: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加性遗传方差 (Additive Variance) — 可固定遗传的部分</a:t>
            </a: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V_D</a:t>
            </a: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显性方差 (Dominance Variance) — 等位基因内的互作</a:t>
            </a: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V_I</a:t>
            </a: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上位性方差 (Epistatic Variance) — 非等位基因间的互作</a:t>
            </a: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4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其中 V_A 是育种价值的核心，决定了选择响应的速度。</a:t>
            </a:r>
            <a:endParaRPr lang="en-US" sz="1400" dirty="0"/>
          </a:p>
        </p:txBody>
      </p:sp>
      <p:sp>
        <p:nvSpPr>
          <p:cNvPr id="15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09160"/>
            <a:ext cx="12188952" cy="320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12188952" cy="5486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48 | Quantitative Genetics Fundamentals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686800" y="47091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2026-07-01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097280"/>
            <a:ext cx="2011680" cy="320040"/>
          </a:xfrm>
          <a:prstGeom prst="roundRect">
            <a:avLst>
              <a:gd name="adj" fmla="val 28571"/>
            </a:avLst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0972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核心概念 / Core Concepts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457200"/>
            <a:ext cx="73152" cy="54864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657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遗传力预告</a:t>
            </a:r>
            <a:endParaRPr lang="en-US" sz="2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Heritability: A Preview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914400" y="1463040"/>
            <a:ext cx="4754880" cy="1371600"/>
          </a:xfrm>
          <a:prstGeom prst="roundRect">
            <a:avLst>
              <a:gd name="adj" fmla="val 6667"/>
            </a:avLst>
          </a:prstGeom>
          <a:solidFill>
            <a:srgbClr val="F0EDE0"/>
          </a:solidFill>
          <a:ln w="19050">
            <a:solidFill>
              <a:srgbClr val="2C5F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50876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H² = V_G / V_P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14400" y="2011680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广义遗传力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Broad-sense Heritability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92240" y="1463040"/>
            <a:ext cx="4754880" cy="1371600"/>
          </a:xfrm>
          <a:prstGeom prst="roundRect">
            <a:avLst>
              <a:gd name="adj" fmla="val 6667"/>
            </a:avLst>
          </a:prstGeom>
          <a:solidFill>
            <a:srgbClr val="F0EDE0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150876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h² = V_A / V_P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492240" y="2011680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狭义遗传力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Narrow-sense Heritability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77240" y="301752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遗传力的意义 / Significance of Heritability:</a:t>
            </a: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H² 衡量表型变异中</a:t>
            </a: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遗传因素</a:t>
            </a: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的总贡献比例</a:t>
            </a: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h² 衡量表型变异中</a:t>
            </a: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加性遗传</a:t>
            </a: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的贡献比例</a:t>
            </a: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h² 直接决定育种中的</a:t>
            </a: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选择响应</a:t>
            </a: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（response to selection）</a:t>
            </a: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4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详细内容将在 Day 49 深入讲解</a:t>
            </a:r>
            <a:endParaRPr lang="en-US" sz="1400" dirty="0"/>
          </a:p>
        </p:txBody>
      </p:sp>
      <p:sp>
        <p:nvSpPr>
          <p:cNvPr id="17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09160"/>
            <a:ext cx="12188952" cy="320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12188952" cy="5486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48 | Quantitative Genetics Fundamentals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686800" y="47091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2026-07-01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097280"/>
            <a:ext cx="2011680" cy="320040"/>
          </a:xfrm>
          <a:prstGeom prst="roundRect">
            <a:avLst>
              <a:gd name="adj" fmla="val 28571"/>
            </a:avLst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0972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核心概念 / Core Concepts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457200"/>
            <a:ext cx="73152" cy="54864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657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数量遗传学研究层次</a:t>
            </a:r>
            <a:endParaRPr lang="en-US" sz="2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Levels of Quantitative Genetics Research</a:t>
            </a:r>
            <a:endParaRPr lang="en-US" sz="2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417320"/>
          <a:ext cx="10515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743200"/>
                <a:gridCol w="2286000"/>
                <a:gridCol w="43891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缩写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英文全称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中文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说明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4A8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QTL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Quantitative Trait Locus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数量性状基因座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影响数量性状的染色体区域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4A8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eQTL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Expression QTL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表达量QTL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影响基因表达水平的遗传变异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4A8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pQTL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Protein QTL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蛋白质QTL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影响蛋白质丰度的遗传变异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4A8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mQTL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Metabolic QTL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代谢物QTL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影响代谢物水平的遗传变异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0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777240" y="38404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从QTL到eQTL/pQTL/mQTL，体现了数量遗传学从"表型→基因型"的逐步深入。</a:t>
            </a:r>
            <a:endParaRPr lang="en-US" sz="1200" dirty="0"/>
          </a:p>
        </p:txBody>
      </p:sp>
      <p:sp>
        <p:nvSpPr>
          <p:cNvPr id="14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09160"/>
            <a:ext cx="12188952" cy="320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12188952" cy="5486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48 | Quantitative Genetics Fundamentals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686800" y="47091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2026-07-01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097280"/>
            <a:ext cx="2011680" cy="320040"/>
          </a:xfrm>
          <a:prstGeom prst="roundRect">
            <a:avLst>
              <a:gd name="adj" fmla="val 28571"/>
            </a:avLst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0972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科学家故事 / Scientists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457200"/>
            <a:ext cx="73152" cy="54864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657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Ronald Aylmer Fisher (1890–1962)</a:t>
            </a:r>
            <a:endParaRPr lang="en-US" sz="2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现代统计学的奠基人</a:t>
            </a:r>
            <a:endParaRPr lang="en-US" sz="2600" dirty="0"/>
          </a:p>
        </p:txBody>
      </p:sp>
      <p:pic>
        <p:nvPicPr>
          <p:cNvPr id="10" name="Image 0" descr="/workspace/genetics_learning/images/day048_quantitative_genetics_history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" y="1371600"/>
            <a:ext cx="3657600" cy="29260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754880" y="1371600"/>
            <a:ext cx="66751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主要贡献 / Key Contributions:</a:t>
            </a: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- 1918年发表论文，证明孟德尔遗传</a:t>
            </a: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可解释连续变异</a:t>
            </a: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发明方差分析（ANOVA）</a:t>
            </a: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创立最大似然估计（MLE）方法</a:t>
            </a: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提出Fisher信息量概念</a:t>
            </a: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发展了实验设计理论</a:t>
            </a: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在进化生物学中提出自然选择</a:t>
            </a: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的基本定理（Fundamental Theorem）</a:t>
            </a: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400" i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"自然选择是提高适应度的机制"</a:t>
            </a:r>
            <a:endParaRPr lang="en-US" sz="1400" dirty="0"/>
          </a:p>
        </p:txBody>
      </p:sp>
      <p:sp>
        <p:nvSpPr>
          <p:cNvPr id="12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09160"/>
            <a:ext cx="12188952" cy="320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12188952" cy="5486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48 | Quantitative Genetics Fundamentals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686800" y="47091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2026-07-01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097280"/>
            <a:ext cx="2011680" cy="320040"/>
          </a:xfrm>
          <a:prstGeom prst="roundRect">
            <a:avLst>
              <a:gd name="adj" fmla="val 28571"/>
            </a:avLst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0972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科学家故事 / Scientists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457200"/>
            <a:ext cx="73152" cy="54864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657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Sewall Wright (1889–1988)</a:t>
            </a:r>
            <a:endParaRPr lang="en-US" sz="2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进化遗传学先驱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77240" y="1417320"/>
            <a:ext cx="10515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主要贡献 / Key Contributions:</a:t>
            </a: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F统计量 / F-Statistics (F_ST, F_IS, F_IT)</a:t>
            </a: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衡量群体间和群体内的遗传分化程度</a:t>
            </a: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至今仍是群体遗传学的核心工具</a:t>
            </a: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近交系数 / Inbreeding Coefficient (F)</a:t>
            </a: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量化个体因近交导致的纯合度增加</a:t>
            </a: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在育种和保育中有重要应用</a:t>
            </a: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景观图 / Adaptive Landscape</a:t>
            </a: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直观展示基因型频率与适应度的关系</a:t>
            </a: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形象化了进化动力学（进化"爬山"过程）</a:t>
            </a: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迁移-漂变平衡理论 / Migration-Drift Equilibrium</a:t>
            </a: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阐明了基因流和遗传漂变的平衡</a:t>
            </a: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4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Wright与Fisher共同奠定了现代群体遗传学的理论基础。</a:t>
            </a:r>
            <a:endParaRPr lang="en-US" sz="1500" dirty="0"/>
          </a:p>
        </p:txBody>
      </p:sp>
      <p:sp>
        <p:nvSpPr>
          <p:cNvPr id="11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09160"/>
            <a:ext cx="12188952" cy="320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12188952" cy="5486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48 | Quantitative Genetics Fundamentals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686800" y="47091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2026-07-01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097280"/>
            <a:ext cx="2011680" cy="320040"/>
          </a:xfrm>
          <a:prstGeom prst="roundRect">
            <a:avLst>
              <a:gd name="adj" fmla="val 28571"/>
            </a:avLst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0972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经典实验 / Classic Experiments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457200"/>
            <a:ext cx="73152" cy="54864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657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Nilsson-Ehle 小麦籽粒颜色实验</a:t>
            </a:r>
            <a:endParaRPr lang="en-US" sz="2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Wheat Kernel Color Experiment (1909)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77240" y="1280160"/>
            <a:ext cx="10515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实验设计 / Experimental Design:</a:t>
            </a: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Nilsson-Ehle研究了小麦籽粒颜色的遗传，发现：</a:t>
            </a: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[object Object]红色 × 白色 → F1全为中间色</a:t>
            </a: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[object Object]F2代出现从白色到深红色的</a:t>
            </a: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连续色阶</a:t>
            </a: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遗传解释 / Genetic Explanation:</a:t>
            </a: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小麦籽粒颜色由</a:t>
            </a: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3个独立基因座</a:t>
            </a: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控制</a:t>
            </a: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每个基因座有</a:t>
            </a: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一个增效等位基因 (R)</a:t>
            </a: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和一个无效等位基因 (r)</a:t>
            </a: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表型取决于增效等位基因的</a:t>
            </a: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数目</a:t>
            </a: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：0~6个 → 7种表型</a:t>
            </a: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实验直接验证了多基因假说！</a:t>
            </a:r>
            <a:endParaRPr lang="en-US" sz="1400" dirty="0"/>
          </a:p>
        </p:txBody>
      </p:sp>
      <p:sp>
        <p:nvSpPr>
          <p:cNvPr id="11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09160"/>
            <a:ext cx="12188952" cy="320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12188952" cy="5486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48 | Quantitative Genetics Fundamentals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686800" y="47091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2026-07-01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097280"/>
            <a:ext cx="2011680" cy="320040"/>
          </a:xfrm>
          <a:prstGeom prst="roundRect">
            <a:avLst>
              <a:gd name="adj" fmla="val 28571"/>
            </a:avLst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0972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经典实验 / Classic Experiments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457200"/>
            <a:ext cx="73152" cy="54864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657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East烟草实验 &amp; Fisher方差分解</a:t>
            </a:r>
            <a:endParaRPr lang="en-US" sz="2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East's Tobacco Experiment &amp; Fisher's Variance Partitioning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548640" y="1417320"/>
            <a:ext cx="5303520" cy="411480"/>
          </a:xfrm>
          <a:prstGeom prst="roundRect">
            <a:avLst>
              <a:gd name="adj" fmla="val 17778"/>
            </a:avLst>
          </a:prstGeom>
          <a:solidFill>
            <a:srgbClr val="2C5F2D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41732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East烟草花冠长度实验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1920240"/>
            <a:ext cx="53035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(1916) 研究烟草花冠长度：</a:t>
            </a: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自交系后代变异</a:t>
            </a: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显著大于</a:t>
            </a: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F1</a:t>
            </a: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证明变异有遗传成分</a:t>
            </a: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F2变异介于两者之间</a:t>
            </a: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首次用</a:t>
            </a: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定量方法</a:t>
            </a: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区分遗传和环境变异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309360" y="1417320"/>
            <a:ext cx="5303520" cy="411480"/>
          </a:xfrm>
          <a:prstGeom prst="roundRect">
            <a:avLst>
              <a:gd name="adj" fmla="val 17778"/>
            </a:avLst>
          </a:prstGeom>
          <a:solidFill>
            <a:srgbClr val="D4A843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141732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Fisher方差分解框架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09360" y="1920240"/>
            <a:ext cx="53035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Fisher (1918) 在East数据基础上：</a:t>
            </a: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首次将</a:t>
            </a: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表型方差</a:t>
            </a: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分解为</a:t>
            </a: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加性方差(V_A)、显性方差(V_D)</a:t>
            </a: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上位性方差(V_I)</a:t>
            </a: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提供了</a:t>
            </a: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数学证明</a:t>
            </a: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框架</a:t>
            </a: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奠定了数量遗传学的</a:t>
            </a: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统计学基础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286000" y="4023360"/>
            <a:ext cx="7616952" cy="411480"/>
          </a:xfrm>
          <a:prstGeom prst="roundRect">
            <a:avLst>
              <a:gd name="adj" fmla="val 17778"/>
            </a:avLst>
          </a:prstGeom>
          <a:solidFill>
            <a:srgbClr val="F0EDE0"/>
          </a:solidFill>
          <a:ln/>
        </p:spPr>
      </p:sp>
      <p:sp>
        <p:nvSpPr>
          <p:cNvPr id="17" name="Text 15"/>
          <p:cNvSpPr/>
          <p:nvPr/>
        </p:nvSpPr>
        <p:spPr>
          <a:xfrm>
            <a:off x="2286000" y="4023360"/>
            <a:ext cx="7616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East的实验 → Fisher的分析 = 数量遗传学的方法论基础</a:t>
            </a:r>
            <a:endParaRPr lang="en-US" sz="1300" dirty="0"/>
          </a:p>
        </p:txBody>
      </p:sp>
      <p:sp>
        <p:nvSpPr>
          <p:cNvPr id="18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09160"/>
            <a:ext cx="12188952" cy="320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12188952" cy="5486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48 | Quantitative Genetics Fundamentals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686800" y="47091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2026-07-01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097280"/>
            <a:ext cx="2011680" cy="320040"/>
          </a:xfrm>
          <a:prstGeom prst="roundRect">
            <a:avLst>
              <a:gd name="adj" fmla="val 28571"/>
            </a:avLst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0972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重要文献 / Key Literature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457200"/>
            <a:ext cx="73152" cy="54864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657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6篇经典论文</a:t>
            </a:r>
            <a:endParaRPr lang="en-US" sz="2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Classic Papers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777240" y="137160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2C5F2D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1371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371600" y="1371600"/>
            <a:ext cx="10058400" cy="2011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Fisher RA (1918)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371600" y="1554480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Correlation between Relatives on the Supposition of Mendelian Inheritance — Trans. Royal Soc. Edinburgh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77240" y="190195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2C5F2D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190195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371600" y="1901952"/>
            <a:ext cx="10058400" cy="2011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Wright S (1921)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371600" y="2084832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of Mating — Genetics 6: 111-178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77240" y="2432304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2C5F2D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243230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371600" y="2432304"/>
            <a:ext cx="10058400" cy="2011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Lush JL (1937)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371600" y="2615184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Animal Breeding Plans — Iowa State College Press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77240" y="2962656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2C5F2D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296265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371600" y="2962656"/>
            <a:ext cx="10058400" cy="2011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Falconer DS (1960)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371600" y="3145536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Quantitative Genetics — Oliver &amp; Boyd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77240" y="3493008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2C5F2D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" y="34930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371600" y="3493008"/>
            <a:ext cx="10058400" cy="2011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Lander ES &amp; Botstein D (1989)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371600" y="3675888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Mendelian Factors Underlying Quantitative Traits — Genetics 121: 185-199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77240" y="402336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2C5F2D"/>
          </a:solidFill>
          <a:ln/>
        </p:spPr>
      </p:sp>
      <p:sp>
        <p:nvSpPr>
          <p:cNvPr id="31" name="Text 29"/>
          <p:cNvSpPr/>
          <p:nvPr/>
        </p:nvSpPr>
        <p:spPr>
          <a:xfrm>
            <a:off x="777240" y="40233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371600" y="4023360"/>
            <a:ext cx="10058400" cy="2011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Lynch M &amp; Walsh B (1998)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371600" y="4206240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Genetics and Analysis of Quantitative Traits — Sinauer Associates</a:t>
            </a:r>
            <a:endParaRPr lang="en-US" sz="1000" dirty="0"/>
          </a:p>
        </p:txBody>
      </p:sp>
      <p:sp>
        <p:nvSpPr>
          <p:cNvPr id="34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09160"/>
            <a:ext cx="12188952" cy="320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12188952" cy="5486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48 | Quantitative Genetics Fundamentals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686800" y="47091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2026-07-01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097280"/>
            <a:ext cx="2011680" cy="320040"/>
          </a:xfrm>
          <a:prstGeom prst="roundRect">
            <a:avLst>
              <a:gd name="adj" fmla="val 28571"/>
            </a:avLst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0972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术语表 / Glossary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457200"/>
            <a:ext cx="73152" cy="54864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657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关键术语</a:t>
            </a:r>
            <a:endParaRPr lang="en-US" sz="2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Terminology</a:t>
            </a:r>
            <a:endParaRPr lang="en-US" sz="26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417320"/>
          <a:ext cx="10515600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3657600"/>
                <a:gridCol w="22860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英文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中文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缩写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Quantitative Trait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数量性状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Phenotypic Variance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表型方差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V_P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0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Additive Variance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加性方差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V_A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Dominance Variance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显性方差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V_D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0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Epistatic Variance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上位性方差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V_I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Heritability (Broad)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广义遗传力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H²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0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Heritability (Narrow)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狭义遗传力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h²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Polygene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多基因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0"/>
                    </a:solidFill>
                  </a:tcPr>
                </a:tc>
              </a:tr>
            </a:tbl>
          </a:graphicData>
        </a:graphic>
      </p:graphicFrame>
      <p:sp>
        <p:nvSpPr>
          <p:cNvPr id="20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09160"/>
            <a:ext cx="12188952" cy="320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12188952" cy="5486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48 | Quantitative Genetics Fundamentals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686800" y="47091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2026-07-01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097280"/>
            <a:ext cx="2011680" cy="320040"/>
          </a:xfrm>
          <a:prstGeom prst="roundRect">
            <a:avLst>
              <a:gd name="adj" fmla="val 28571"/>
            </a:avLst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0972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思考题 / Discussion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457200"/>
            <a:ext cx="73152" cy="54864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657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核心思考题</a:t>
            </a:r>
            <a:endParaRPr lang="en-US" sz="2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Discussion Questions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777240" y="1417320"/>
            <a:ext cx="10515600" cy="960120"/>
          </a:xfrm>
          <a:prstGeom prst="roundRect">
            <a:avLst>
              <a:gd name="adj" fmla="val 7619"/>
            </a:avLst>
          </a:prstGeom>
          <a:solidFill>
            <a:srgbClr val="F0EDE0"/>
          </a:solidFill>
          <a:ln w="9525">
            <a:solidFill>
              <a:srgbClr val="97BC6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1463040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问题 1 / Question 1: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" y="167335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如果一个数量性状的狭义遗传力 h² = 0.3，这是否意味着70%的变异由环境决定？为什么这个理解可能是错误的？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05840" y="198424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narrow-sense heritability of a quantitative trait is h² = 0.3, does this mean 70% of the variation is determined by environment? Why might this interpretation be incorrect?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77240" y="2514600"/>
            <a:ext cx="10515600" cy="960120"/>
          </a:xfrm>
          <a:prstGeom prst="roundRect">
            <a:avLst>
              <a:gd name="adj" fmla="val 7619"/>
            </a:avLst>
          </a:prstGeom>
          <a:solidFill>
            <a:srgbClr val="F0EDE0"/>
          </a:solidFill>
          <a:ln w="9525">
            <a:solidFill>
              <a:srgbClr val="97BC6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2560320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问题 2 / Question 2: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05840" y="27706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孟德尔研究的豌豆性状（如花色）与Nilsson-Ehle研究的小麦籽粒颜色，在遗传机制上有什么本质区别？又有什么共同点？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05840" y="308152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fundamental difference between the genetic mechanisms of Mendel's pea traits (e.g., flower color) and Nilsson-Ehle's wheat kernel color? What do they have in common?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77240" y="3611880"/>
            <a:ext cx="10515600" cy="960120"/>
          </a:xfrm>
          <a:prstGeom prst="roundRect">
            <a:avLst>
              <a:gd name="adj" fmla="val 7619"/>
            </a:avLst>
          </a:prstGeom>
          <a:solidFill>
            <a:srgbClr val="F0EDE0"/>
          </a:solidFill>
          <a:ln w="9525">
            <a:solidFill>
              <a:srgbClr val="97BC6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5840" y="3657600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问题 3 / Question 3: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05840" y="386791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在作物育种中，为什么育种家特别关注加性遗传方差 V_A 而非总遗传方差 V_G？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05840" y="417880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crop breeding, why do breeders pay special attention to additive genetic variance V_A rather than total genetic variance V_G?</a:t>
            </a:r>
            <a:endParaRPr lang="en-US" sz="1000" dirty="0"/>
          </a:p>
        </p:txBody>
      </p:sp>
      <p:sp>
        <p:nvSpPr>
          <p:cNvPr id="22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09160"/>
            <a:ext cx="12188952" cy="320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12188952" cy="5486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48 | Quantitative Genetics Fundamentals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686800" y="47091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2026-07-01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371600" y="1097280"/>
            <a:ext cx="9445752" cy="3200400"/>
          </a:xfrm>
          <a:prstGeom prst="rect">
            <a:avLst>
              <a:gd name="adj" fmla="val 4286"/>
            </a:avLst>
          </a:prstGeom>
          <a:solidFill>
            <a:srgbClr val="2C5F2D"/>
          </a:solidFill>
          <a:ln/>
          <a:effectLst>
            <a:outerShdw sx="100000" sy="100000" kx="0" ky="0" algn="bl" rotWithShape="0" blurRad="152400" dist="50800" dir="162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371600" y="1234440"/>
            <a:ext cx="94457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49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1691640"/>
            <a:ext cx="94457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遗传力的概念与估算</a:t>
            </a:r>
            <a:endParaRPr lang="en-US" sz="28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Heritability: Concepts and Estimation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2743200" y="2743200"/>
            <a:ext cx="6702552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0" y="2880360"/>
            <a:ext cx="6702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遗传力的定义与区分 (H² vs h²)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43200" y="3182112"/>
            <a:ext cx="6702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遗传力的估算方法（亲子回归、半同胞分析、REML等）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743200" y="3483864"/>
            <a:ext cx="6702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遗传力在育种中的应用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743200" y="3785616"/>
            <a:ext cx="6702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影响遗传力估计的因素</a:t>
            </a:r>
            <a:endParaRPr lang="en-US" sz="1300" dirty="0"/>
          </a:p>
        </p:txBody>
      </p:sp>
      <p:sp>
        <p:nvSpPr>
          <p:cNvPr id="14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48 | 数量遗传学基础 / Fundamentals of Quantitative Genetics</dc:title>
  <dc:subject>PptxGenJS Presentation</dc:subject>
  <dc:creator>Genetics Learning Series</dc:creator>
  <cp:lastModifiedBy>Genetics Learning Series</cp:lastModifiedBy>
  <cp:revision>1</cp:revision>
  <dcterms:created xsi:type="dcterms:W3CDTF">2026-07-01T04:14:10Z</dcterms:created>
  <dcterms:modified xsi:type="dcterms:W3CDTF">2026-07-01T04:14:10Z</dcterms:modified>
</cp:coreProperties>
</file>