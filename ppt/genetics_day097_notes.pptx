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欢迎来到Day 97。今天我们将探讨遗传学与人类社会的深层关系——从优生学运动的历史教训，到人类基因组计划的社会影响，再到基因隐私、基因编辑伦理等前沿议题。本PPT为笔记版，包含20页详细内容，适合课后复习。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本PPT共20页，涵盖遗传学与人类社会的11个核心板块。建议按顺序学习，重点关注历史教训与伦理思考。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优生学运动是遗传学与社会交汇的历史中最重要的警示。高尔顿是达尔文的表弟，受自然选择理论启发提出优生学。20世纪初，优生学在美国和欧洲广泛传播，导致了强制绝育法案的通过。这些历史为现代遗传伦理学奠定了反思基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优生学运动最极端的体现是纳粹德国的种族净化政策。美国也曾在32个州通过强制绝育法。这些教训促使二战后国际社会制定了《纽伦堡法典》和《赫尔辛基宣言》，确立了科研伦理的基本准则。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HGP于1990年10月正式启动，历时13年完成。该项目测定了人类基因组30亿个DNA碱基对，发现了约20000-25000个人类基因。HGP的意义不仅在于科学成就，更在于首次将伦理研究(ELSI)纳入正式组成部分。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HGP最独特之处是设立了ELSI(伦理、法律和社会影响)研究计划，将至少3%的预算专门用于探讨基因组学对社会的深远影响。这为后续的GINA法案和精准医学奠定了基础。Francis Collins在2011年Nature文章中回顾了基因组学头十年的成就。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遗传学对社会的六大核心影响领域：医学(诊断、治疗、精准医学)、农业(转基因作物、分子育种)、法医(DNA指纹、亲子鉴定)、遗传咨询(风险评估、生育指导)、伦理法律(GINA、知情同意、基因专利)、公众认知(科学传播、反伪科学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医学遗传学是遗传学对社会影响最直接的领域。从新生儿筛查到基因治疗再到精准医学，遗传学正在改变疾病诊疗模式。CRISPR基因编辑已被批准用于治疗镰刀型细胞贫血症，标志着基因治疗从概念走向临床。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农业遗传学通过转基因技术和分子育种深刻影响全球粮食安全。Bt抗虫棉在中国和印度大幅减少了农药使用。黄金大米富含β-胡萝卜素，旨在解决维生素A缺乏。但转基因作物也面临生态安全、食品安全和种子垄断等争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法医遗传学是遗传学在司法领域最直接的应用。DNA指纹技术由Alec Jeffreys于1984年发明，1986年首次用于刑事司法——而且第一次是用来证明无辜。该技术已广泛应用于亲子鉴定、移民案件和灾难受害者身份确认。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遗传咨询是遗传学服务社会的桥梁。遗传咨询师帮助家庭评估遗传病风险，解读基因检测结果，做出知情的生育决策。这一职业融合了科学知识与人文关怀，是遗传学从实验室走向社会的关键环节。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HeLa细胞的故事是生物医学伦理的转折点。1951年，Henrietta Lacks的宫颈癌细胞在未经她知情同意的情况下被取出培养，成为历史上第一个永生人类细胞系。她的家人25年后才得知真相。2010年Rebecca Skloot的著作《The Immortal Life of Henrietta Lacks》引发全球讨论，推动了知情同意制度的完善。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NA法案于2008年5月22日签署为美国联邦法律，禁止健康保险公司和雇主使用遗传信息进行歧视。该法案旨在消除人们对基因检测的恐惧，鼓励更多人接受遗传检测。但其保护范围有限，不覆盖人寿保险、残疾保险和长期护理保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基因专利争议是遗传学与知识产权法律交汇的核心案例。2013年美国最高法院在Association for Molecular Pathology v. Myriad Genetics案中裁定，天然存在的人类基因不能被专利。这一判决深刻影响了基因检测的可及性和价格，使BRCA1/2检测费用大幅下降。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麦克林托克是遗传学史上最具传奇色彩的女性科学家。1940年代她在玉米中发现转座子（跳跃基因），这一发现挑战了基因固定不变的观念，被科学界冷遇30年。1983年81岁时获诺贝尔奖，成为第一位单独获得诺贝尔生理学或医学奖的女性。她的名言激励着无数科研工作者坚持独立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1984年Alec Jeffreys在莱斯特大学发明DNA指纹技术。1986年英国Narborough谋杀案中，DNA指纹首次用于刑事司法——而且第一次是用来排除嫌疑人、证明无辜。最终真凶科林·皮奇福克被DNA证据定罪。这项技术已影响超5000万人的生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沃森事件是科学家社会责任的经典案例。2007年，这位DNA双螺旋结构发现者在采访中发表种族主义言论，引发科学界广泛谴责。尽管他道歉辞职，影响已不可挽回。这一事件深刻说明：科学知识本身是中性的，但科学家不是。拥有更大话语权的科学家，承担着更重的社会伦理责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五道思考题涵盖了优生学历史教训、基因隐私困境、HeLa伦理悖论、基因编辑边界和科学家社会责任。建议小组讨论或独立思考后写下你的观点。没有标准答案，重点在于培养伦理思辨能力。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本日核心术语汇总：优生学(Eugenics)、知情同意(Informed Consent)、基因歧视(Genetic Discrimination)、GINA法案、HeLa细胞、DNA指纹(DNA Fingerprinting)、转座子(Transposon)、精准医学(Precision Medicine)。建议熟记英文术语，便于查阅国际文献。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今天的Day 97到此结束。我们从优生学的历史教训出发，了解了HGP的社会影响、GINA法案、HeLa的故事、麦克林托克的科学精神、DNA指纹技术的应用，以及沃森事件带来的警示。明天Day 98将深入遗传学的伦理问题，包括CRISPR婴儿事件和基因编辑的伦理边界。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zh.wikipedia.org/wiki/&#20248;&#29983;&#23398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zh.wikipedia.org/wiki/&#20154;&#31867;&#22522;&#22240;&#32452;&#35745;&#21010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ncbi.nlm.nih.gov/pmc/articles/PMC4730109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zh.wikipedia.org/wiki/DNA&#25351;&#32441;&#25216;&#2641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ncbi.nlm.nih.gov/pmc/articles/PMC4606326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遗传学与人类社会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i="1" spc="100" kern="0" dirty="0">
                <a:solidFill>
                  <a:srgbClr val="EDF5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Genetics and Human Society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| 遗传学100天学习计划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0" y="356616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&amp; Moss 学术笔记版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 Contents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学习导航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1005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历史背景：优生学运动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00584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383280" y="1005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优生学的历史教训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100584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72200" y="1005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人类基因组计划(HGP)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60020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4360" y="1600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HGP的社会影响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46120" y="160020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83280" y="1600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六大应用领域概览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35040" y="160020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172200" y="1600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医学遗传学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19456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9436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农业遗传学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46120" y="219456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38328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法医遗传学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035040" y="219456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17220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遗传咨询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278892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94360" y="2788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知情同意：HeLa的教训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46120" y="278892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3383280" y="2788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GINA法案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035040" y="278892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172200" y="2788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基因专利争议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38328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9436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科学家故事：麦克林托克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46120" y="338328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338328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经典实验：DNA指纹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035040" y="338328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617220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小故事：沃森的警示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57200" y="397764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594360" y="3977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思考题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3246120" y="397764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3383280" y="3977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术语表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035040" y="397764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6172200" y="3977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下节预告与总结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| 遗传学与人类社会 | 2/20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历史背景：优生学运动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Eugenics Movement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48463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188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弗朗西斯·高尔顿 (Francis Galton)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1600200"/>
            <a:ext cx="438912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19世纪末提出"优生学"(Eugenics)概念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主张通过选择性"育种"改善人类遗传品质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获丘吉尔、罗斯福、萧伯纳等名流支持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美国优生学记录办公室(1910-1939)在冷泉港运营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推动强制绝育立法和反移民法律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577840" y="1005840"/>
            <a:ext cx="3108960" cy="3474720"/>
          </a:xfrm>
          <a:prstGeom prst="roundRect">
            <a:avLst>
              <a:gd name="adj" fmla="val 2941"/>
            </a:avLst>
          </a:prstGeom>
          <a:solidFill>
            <a:srgbClr val="2C5F2D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0644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核心教训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06440" y="173736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科学一旦脱离伦理约束并与权力结合，可能成为系统性压迫的工具。</a:t>
            </a:r>
            <a:endParaRPr lang="en-US" sz="1300" dirty="0"/>
          </a:p>
        </p:txBody>
      </p:sp>
      <p:sp>
        <p:nvSpPr>
          <p:cNvPr id="12" name="Text 9">
            <a:hlinkClick r:id="rId1" tooltip=""/>
          </p:cNvPr>
          <p:cNvSpPr/>
          <p:nvPr/>
        </p:nvSpPr>
        <p:spPr>
          <a:xfrm>
            <a:off x="5806440" y="3840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u="sng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Wikipedia: 优生学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| 遗传学与人类社会 | 3/20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优生学的历史教训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Lessons of Eugenics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005840"/>
            <a:ext cx="40233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纳粹德国的暴行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16002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1933年《防止遗传病后代法》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强制绝育超40万人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最终走向大屠杀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0058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005840"/>
            <a:ext cx="40233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美国优生学记录办公室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92040" y="16002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1910-1939年冷泉港运营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推动强制绝育立法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制定反移民法律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7889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788920"/>
            <a:ext cx="40233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二战后的反思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85800" y="33832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人权运动兴起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各国放弃优生学政策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科学伦理重新被重视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663440" y="27889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63440" y="2788920"/>
            <a:ext cx="40233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Text 17"/>
          <p:cNvSpPr/>
          <p:nvPr/>
        </p:nvSpPr>
        <p:spPr>
          <a:xfrm>
            <a:off x="489204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现代启示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892040" y="33832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科学进步需伦理导航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权力与科学必须分离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尊重个体自主权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| 遗传学与人类社会 | 4/20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人类基因组计划 (HGP)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Genome Project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34340" y="118872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7150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1990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71500" y="17373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HGP正式启动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DOE与NIH联合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15年计划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63140" y="2011680"/>
            <a:ext cx="32004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583180" y="118872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72034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2000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720340" y="17373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工作草图完成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90%覆盖率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99.9%准确率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11980" y="2011680"/>
            <a:ext cx="32004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732020" y="118872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6918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2001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869180" y="17373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Nature/Science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发表工作草图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序列论文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60820" y="2011680"/>
            <a:ext cx="32004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880860" y="118872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01802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018020" y="17373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HGP正式完成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30亿碱基对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20000-25000基因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人类历史上规模最大、成本最高、最具争议的生物医学项目之一</a:t>
            </a:r>
            <a:endParaRPr lang="en-US" sz="1300" dirty="0"/>
          </a:p>
        </p:txBody>
      </p:sp>
      <p:sp>
        <p:nvSpPr>
          <p:cNvPr id="22" name="Text 19">
            <a:hlinkClick r:id="rId1" tooltip=""/>
          </p:cNvPr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Wikipedia: 人类基因组计划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| 遗传学与人类社会 | 5/20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HGP的社会影响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 of the Human Genome Project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2621280" cy="27432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93520" y="128016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5"/>
          <p:cNvSpPr/>
          <p:nvPr/>
        </p:nvSpPr>
        <p:spPr>
          <a:xfrm>
            <a:off x="14935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ELSI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192024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ELSI研究计划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2331720"/>
            <a:ext cx="216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HGP拨出至少3%预算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专门探讨伦理、法律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和社会影响问题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61360" y="1097280"/>
            <a:ext cx="2621280" cy="27432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7680" y="128016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0"/>
          <p:cNvSpPr/>
          <p:nvPr/>
        </p:nvSpPr>
        <p:spPr>
          <a:xfrm>
            <a:off x="42976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489960" y="192024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催生GINA法案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489960" y="2331720"/>
            <a:ext cx="216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2008年签署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禁止基因歧视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保护基因隐私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65520" y="1097280"/>
            <a:ext cx="2621280" cy="27432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101840" y="128016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5"/>
          <p:cNvSpPr/>
          <p:nvPr/>
        </p:nvSpPr>
        <p:spPr>
          <a:xfrm>
            <a:off x="71018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精准医学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94120" y="192024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改变诊疗模式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294120" y="2331720"/>
            <a:ext cx="216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精准医学兴起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个体化治疗方案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遗传病筛查普及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 Collins: "The future is bright" (Nature, 2011)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| 遗传学与人类社会 | 6/20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核心概念：六大应用领域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Domains of Genetics in Society</a:t>
            </a:r>
            <a:endParaRPr lang="en-US" sz="1200" dirty="0"/>
          </a:p>
        </p:txBody>
      </p:sp>
      <p:pic>
        <p:nvPicPr>
          <p:cNvPr id="6" name="Image 0" descr="/workspace/genetics_learning/genetics_day097_img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3840480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0" y="1005840"/>
            <a:ext cx="1988820" cy="10363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572000" y="1005840"/>
            <a:ext cx="54864" cy="10363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5"/>
          <p:cNvSpPr/>
          <p:nvPr/>
        </p:nvSpPr>
        <p:spPr>
          <a:xfrm>
            <a:off x="4754880" y="1097280"/>
            <a:ext cx="1714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医学遗传学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754880" y="1417320"/>
            <a:ext cx="1714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诊断·治疗·精准医学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697980" y="1005840"/>
            <a:ext cx="1988820" cy="10363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97980" y="1005840"/>
            <a:ext cx="54864" cy="10363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9"/>
          <p:cNvSpPr/>
          <p:nvPr/>
        </p:nvSpPr>
        <p:spPr>
          <a:xfrm>
            <a:off x="6880860" y="1097280"/>
            <a:ext cx="1714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农业遗传学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880860" y="1417320"/>
            <a:ext cx="1714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转基因·分子育种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0" y="2179320"/>
            <a:ext cx="1988820" cy="10363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0" y="2179320"/>
            <a:ext cx="54864" cy="10363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3"/>
          <p:cNvSpPr/>
          <p:nvPr/>
        </p:nvSpPr>
        <p:spPr>
          <a:xfrm>
            <a:off x="4754880" y="2270760"/>
            <a:ext cx="1714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法医遗传学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754880" y="2590800"/>
            <a:ext cx="1714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DNA指纹·亲子鉴定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697980" y="2179320"/>
            <a:ext cx="1988820" cy="10363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697980" y="2179320"/>
            <a:ext cx="54864" cy="10363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7"/>
          <p:cNvSpPr/>
          <p:nvPr/>
        </p:nvSpPr>
        <p:spPr>
          <a:xfrm>
            <a:off x="6880860" y="2270760"/>
            <a:ext cx="1714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遗传咨询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880860" y="2590800"/>
            <a:ext cx="1714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风险评估·生育指导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572000" y="3352800"/>
            <a:ext cx="1988820" cy="10363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572000" y="3352800"/>
            <a:ext cx="54864" cy="10363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5" name="Text 21"/>
          <p:cNvSpPr/>
          <p:nvPr/>
        </p:nvSpPr>
        <p:spPr>
          <a:xfrm>
            <a:off x="4754880" y="3444240"/>
            <a:ext cx="1714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伦理与法律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754880" y="3764280"/>
            <a:ext cx="1714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GINA·知情同意·专利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697980" y="3352800"/>
            <a:ext cx="1988820" cy="10363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697980" y="3352800"/>
            <a:ext cx="54864" cy="10363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9" name="Text 25"/>
          <p:cNvSpPr/>
          <p:nvPr/>
        </p:nvSpPr>
        <p:spPr>
          <a:xfrm>
            <a:off x="6880860" y="3444240"/>
            <a:ext cx="1714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公众认知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6880860" y="3764280"/>
            <a:ext cx="1714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科学传播·反伪科学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| 遗传学与人类社会 | 7/20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医学遗传学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Genetics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2621280" cy="292608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840" y="1234440"/>
            <a:ext cx="198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遗传病诊断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1691640"/>
            <a:ext cx="2164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新生儿筛查(苯丙酮尿症等)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产前诊断(无创DNA检测)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61360" y="1097280"/>
            <a:ext cx="2621280" cy="292608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8996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810000" y="1234440"/>
            <a:ext cx="198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基因治疗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489960" y="1691640"/>
            <a:ext cx="2164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CRISPR治疗镰刀型贫血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AAV载体递送功能性基因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65520" y="1097280"/>
            <a:ext cx="2621280" cy="292608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9412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614160" y="1234440"/>
            <a:ext cx="198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精准医学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294120" y="1691640"/>
            <a:ext cx="2164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根据基因组定制方案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肿瘤靶向治疗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药物基因组学</a:t>
            </a:r>
            <a:endParaRPr lang="en-US" sz="1200" dirty="0"/>
          </a:p>
        </p:txBody>
      </p:sp>
      <p:sp>
        <p:nvSpPr>
          <p:cNvPr id="18" name="Text 15">
            <a:hlinkClick r:id="rId1" tooltip=""/>
          </p:cNvPr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NCBI: 精准医学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| 遗传学与人类社会 | 8/20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农业遗传学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Genetics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41148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转基因作物 (GMO)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16002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抗虫棉(Bt棉)：减少农药使用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黄金大米：富含β-胡萝卜素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抗除草剂大豆：简化田间管理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全球种植面积超1.9亿公顷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争议：生态安全、食品安全、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种子垄断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1005840"/>
            <a:ext cx="3840480" cy="3383280"/>
          </a:xfrm>
          <a:prstGeom prst="roundRect">
            <a:avLst>
              <a:gd name="adj" fmla="val 2703"/>
            </a:avLst>
          </a:prstGeom>
          <a:solidFill>
            <a:srgbClr val="2C5F2D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74920" y="1188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分子育种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74920" y="160020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分子标记辅助选择(MAS)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基因组选择(GS)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CRISPR编辑农作物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QTL定位重要性状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影响全球粮食安全与贸易格局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| 遗传学与人类社会 | 9/20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法医遗传学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Genetics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40005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280160"/>
            <a:ext cx="3543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DNA指纹技术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1691640"/>
            <a:ext cx="354330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利用DNA序列个体差异进行身份鉴定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VNTRs和STRs分析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刑事侦查、冤案平反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已影响超5000万人的生活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86300" y="1097280"/>
            <a:ext cx="40005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14900" y="1280160"/>
            <a:ext cx="3543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亲子鉴定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914900" y="1691640"/>
            <a:ext cx="354330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STR分型技术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移民案件亲子确认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灾难受害者身份确认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司法公正的技术保障</a:t>
            </a:r>
            <a:endParaRPr lang="en-US" sz="1200" dirty="0"/>
          </a:p>
        </p:txBody>
      </p:sp>
      <p:sp>
        <p:nvSpPr>
          <p:cNvPr id="12" name="Text 9">
            <a:hlinkClick r:id="rId1" tooltip=""/>
          </p:cNvPr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Wikipedia: DNA指纹技术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| 遗传学与人类社会 | 10/20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遗传咨询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Counseling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914400" y="118872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118872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风险评估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468880" y="1737360"/>
            <a:ext cx="36576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834640" y="118872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834640" y="118872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检测解读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89120" y="1737360"/>
            <a:ext cx="36576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754880" y="118872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54880" y="118872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生育指导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309360" y="1737360"/>
            <a:ext cx="36576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675120" y="118872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675120" y="118872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心理支持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14400" y="2560320"/>
            <a:ext cx="7315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14300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遗传咨询师的角色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43000" y="306324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评估遗传病风险概率，解读基因检测结果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帮助家庭做出知情生育决策，减少遗传病发生率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提供心理支持与情感陪伴，尊重患者自主权</a:t>
            </a:r>
            <a:endParaRPr lang="en-US" sz="1200" dirty="0"/>
          </a:p>
        </p:txBody>
      </p:sp>
      <p:sp>
        <p:nvSpPr>
          <p:cNvPr id="20" name="Text 17">
            <a:hlinkClick r:id="rId1" tooltip=""/>
          </p:cNvPr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NCBI: 遗传咨询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| 遗传学与人类社会 | 11/20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知情同意：HeLa的教训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Consent: The HeLa Story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48463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188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Henrietta Lacks (1951)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1600200"/>
            <a:ext cx="438912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31岁非裔美国女性，宫颈癌患者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约翰霍普金斯医院接受治疗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肿瘤细胞被George Gey分离培养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首个永生人类细胞系"HeLa"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未经患者知情同意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家人25年后才知情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未获任何商业收益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1005840"/>
            <a:ext cx="3108960" cy="3383280"/>
          </a:xfrm>
          <a:prstGeom prst="roundRect">
            <a:avLst>
              <a:gd name="adj" fmla="val 2941"/>
            </a:avLst>
          </a:prstGeom>
          <a:solidFill>
            <a:srgbClr val="2C5F2D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0644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伦理启示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06440" y="169164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知情同意制度建立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数据隐私保护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弱势群体权益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商业利益分配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2013年HeLa基因组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发布引发争议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| 遗传学与人类社会 | 12/20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GINA法案：基因隐私保护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Information Nondiscrimination Act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26212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539240" y="128016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5"/>
          <p:cNvSpPr/>
          <p:nvPr/>
        </p:nvSpPr>
        <p:spPr>
          <a:xfrm>
            <a:off x="15392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🏥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1828800"/>
            <a:ext cx="216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健康保险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2194560"/>
            <a:ext cx="216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禁止保险公司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使用遗传信息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拒保或设保费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61360" y="1097280"/>
            <a:ext cx="26212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128016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0"/>
          <p:cNvSpPr/>
          <p:nvPr/>
        </p:nvSpPr>
        <p:spPr>
          <a:xfrm>
            <a:off x="43434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💼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489960" y="1828800"/>
            <a:ext cx="216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就业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489960" y="2194560"/>
            <a:ext cx="216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禁止雇主在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招聘、解雇、晋升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中使用遗传信息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65520" y="1097280"/>
            <a:ext cx="26212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147560" y="128016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5"/>
          <p:cNvSpPr/>
          <p:nvPr/>
        </p:nvSpPr>
        <p:spPr>
          <a:xfrm>
            <a:off x="71475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294120" y="1828800"/>
            <a:ext cx="216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隐私保护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294120" y="2194560"/>
            <a:ext cx="216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保护个人和家庭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遗传信息隐私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消除检测恐惧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14400" y="3657600"/>
            <a:ext cx="7315200" cy="731520"/>
          </a:xfrm>
          <a:prstGeom prst="roundRect">
            <a:avLst>
              <a:gd name="adj" fmla="val 12500"/>
            </a:avLst>
          </a:prstGeom>
          <a:solidFill>
            <a:srgbClr val="FFF3E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43000" y="3794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局限性：GINA不覆盖人寿保险、残疾保险和长期护理保险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| 遗传学与人类社会 | 13/20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基因专利争议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Patent Controversy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48463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188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Myriad Genetics案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1600200"/>
            <a:ext cx="438912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Myriad公司持有BRCA1/BRCA2基因专利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乳腺癌/卵巢癌风险基因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检测费用高达$3000+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垄断导致价格高企、可及性低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2013年美最高法院裁定：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天然基因不可专利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1005840"/>
            <a:ext cx="3108960" cy="3383280"/>
          </a:xfrm>
          <a:prstGeom prst="roundRect">
            <a:avLst>
              <a:gd name="adj" fmla="val 2941"/>
            </a:avLst>
          </a:prstGeom>
          <a:solidFill>
            <a:srgbClr val="97BC62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0644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社会影响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06440" y="169164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基因检测价格下降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检测可及性提升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cDNA仍可专利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生物技术行业受影响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| 遗传学与人类社会 | 14/20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科学家故事：麦克林托克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Barbara McClintock &amp; Transposons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48463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188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Barbara McClintock (1902-1992)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1600200"/>
            <a:ext cx="438912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1902年生于康涅狄格州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1944年当选国家科学院院士(第三位女性)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1945年美国遗传学会首位女性主席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1940年代研究玉米籽粒颜色变异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发现基因可在染色体上"跳跃"移动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命名为"控制元件"(转座子)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1950年发表PNAS经典论文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1005840"/>
            <a:ext cx="3108960" cy="3383280"/>
          </a:xfrm>
          <a:prstGeom prst="roundRect">
            <a:avLst>
              <a:gd name="adj" fmla="val 2941"/>
            </a:avLst>
          </a:prstGeom>
          <a:solidFill>
            <a:srgbClr val="2C5F2D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0644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被忽视的真理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06440" y="1691640"/>
            <a:ext cx="2651760" cy="2468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发现与主流观念相悖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学术会议遇冷遇和质疑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选择默默研究30余年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1960-70年代分子生物学证实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1983年81岁获诺贝尔奖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首位单独获该奖女性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"你只是知道迟早会水落石出，但你可能需要等一段时间。"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| 遗传学与人类社会 | 15/20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经典实验：DNA指纹技术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Fingerprinting in Criminal Justice (1986)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" y="1097280"/>
            <a:ext cx="2377440" cy="25603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097280"/>
            <a:ext cx="237744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1984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169164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Alec Jeffreys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莱斯特大学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发现VNTRs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发明DNA指纹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017520" y="2377440"/>
            <a:ext cx="365760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383280" y="1097280"/>
            <a:ext cx="2377440" cy="25603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097280"/>
            <a:ext cx="237744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1986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566160" y="169164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Narborough谋杀案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首次刑事应用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证明无辜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排除嫌疑人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760720" y="2377440"/>
            <a:ext cx="365760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126480" y="1097280"/>
            <a:ext cx="2377440" cy="25603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1097280"/>
            <a:ext cx="237744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5"/>
          <p:cNvSpPr/>
          <p:nvPr/>
        </p:nvSpPr>
        <p:spPr>
          <a:xfrm>
            <a:off x="612648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1987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09360" y="169164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大规模DNA筛查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科林·皮奇福克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被识别为真凶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首位DNA定罪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DNA指纹首次用于刑事司法——第一次是用来证明无辜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| 遗传学与人类社会 | 16/20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小故事：沃森的警示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Watson: A Scientist's Social Responsibility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914400" y="1097280"/>
            <a:ext cx="73152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88720" y="12801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2007年事件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88720" y="1691640"/>
            <a:ext cx="6766560" cy="2011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Watson——DNA双螺旋结构发现者之一，1962年诺贝尔奖得主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2007年10月接受《星期日泰晤士报》采访，发表涉及种族智商差异的不当言论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声称对非洲前途"先天悲观"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科学界广泛谴责，沃森随后道歉并辞职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2019年冷泉港实验室剥夺其多个荣誉头衔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188720" y="3749040"/>
            <a:ext cx="676656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38404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启示：发现DNA结构的科学巨匠，并不意味着在种族、伦理问题上天然正确。科学家话语权越大，社会伦理责任越重。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| 遗传学与人类社会 | 17/20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" y="1124712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124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1005840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如果有人以"科学"名义提出通过基因选择"改良人种"的建议，我们应如何从历史汲取教训回应？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70078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" y="1819656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97280" y="1700784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你愿意进行全基因组测序吗？如果显示阿尔茨海默病高风险，你希望提前知道吗？谁有权访问你的基因数据？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39572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" y="2514600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7280" y="2395728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HeLa细胞推动了无数医学突破，但Lacks家族长期被排斥在利益分配之外。如何平衡科学进步与社会公平？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09067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" y="3209544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" y="3209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97280" y="3090672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CRISPR编辑人类胚胎基因——治病与"增强"之间，伦理边界应划在哪里？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378561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94360" y="3904488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4" name="Text 21"/>
          <p:cNvSpPr/>
          <p:nvPr/>
        </p:nvSpPr>
        <p:spPr>
          <a:xfrm>
            <a:off x="594360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97280" y="3785616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一位科学发现者是否应因个人观点被剥夺荣誉？科学家应如何承担与其知识地位相称的社会责任？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| 遗传学与人类社会 | 18/20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术语表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4572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术语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English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释义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优生学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Eugenics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通过选择性繁殖"改善"人类遗传品质的伪科学运动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知情同意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Informed Consent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研究对象充分了解后自愿同意参与的原则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基因歧视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Genetic Discrimination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基于个人遗传信息进行不公正对待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GINA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Genetic Info. Nondiscrimination 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美国禁止基因歧视的联邦法律(2008)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HeLa细胞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HeLa Cells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来源于Henrietta Lacks的永生人类细胞系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DNA指纹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DNA Fingerprinting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利用DNA序列个体差异进行身份鉴定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转座子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可在基因组中移动的DNA序列(跳跃基因)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精准医学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Medicine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根据个体基因组定制诊疗方案的医学模式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97 | 遗传学与人类社会 | 19/20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 &amp; 本日总结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914400" y="1097280"/>
            <a:ext cx="7315200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188720" y="12344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98：遗传学的伦理问题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88720" y="160020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CRISPR婴儿事件与贺建奎实验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生殖系基因编辑：我们应该吗？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基因增强 vs 基因治疗的边界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代际正义：今天的编辑如何影响未来？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3108960"/>
            <a:ext cx="7315200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188720" y="32004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本日要点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88720" y="352044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历史教训：优生学警示科学需伦理约束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HGP(2003)、GINA(2008)、基因专利裁决(2013)是三大里程碑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麦克林托克：坚持独立判断，真理终被认可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科学家话语权越大，社会伦理责任越重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D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| Day 97/100 | Forest &amp; Moss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97: 遗传学与人类社会（笔记版）</dc:title>
  <dc:subject>PptxGenJS Presentation</dc:subject>
  <dc:creator>遗传学100天学习计划</dc:creator>
  <cp:lastModifiedBy>遗传学100天学习计划</cp:lastModifiedBy>
  <cp:revision>1</cp:revision>
  <dcterms:created xsi:type="dcterms:W3CDTF">2026-08-19T04:41:16Z</dcterms:created>
  <dcterms:modified xsi:type="dcterms:W3CDTF">2026-08-19T04:41:16Z</dcterms:modified>
</cp:coreProperties>
</file>