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封面页。介绍主题：原核生物基因调控，核心是操纵子模型。强调Jacob-Monod的开创性工作。本PPT为演讲版，内容精炼。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今天涵盖原核生物基因调控的核心内容。从Jacob-Monod的操纵子模型讲起，重点讲解lac操纵子和trp操纵子的调控机制。最后通过经典实验和文献回顾巩固理解。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Francois Jacob和Jacques Monod于1961年提出操纵子模型。他们与Andre Lwoff共同获得1965年诺贝尔生理学或医学奖。这是基因调控研究的里程碑，首次揭示了基因并非持续表达。关键发现：mRNA是基因和蛋白质之间的中间信使（与Jacob/Brenner合作发现）。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操纵子是原核生物基因调控的基本单位。由启动子、操纵基因和一组结构基因组成。启动子是RNA聚合酶结合的位置，操纵基因是阻遏蛋白的结合位点。调节基因通常位于操纵子外部，编码阻遏蛋白。这种组织方式使细菌能快速响应环境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c操纵子是典型的诱导型操纵子。无乳糖时处于关闭状态，节省能量。有乳糖时，乳糖转化为异乳糖，诱导基因表达。lacZ编码beta-半乳糖苷酶，lacY编码透性酶。lacI基因编码的阻遏蛋白形成四聚体结合于操纵基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图片展示了lac操纵子的ON和OFF状态对比。OFF状态：阻遏蛋白结合操纵基因，阻止转录。ON状态：诱导物结合阻遏蛋白使其脱离，允许转录。强调别构效应在调控中的核心作用。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-CAP系统是正调控的经典案例。当葡萄糖水平低时，腺苷酸环化酶活性升高，cAMP浓度增加。cAMP与CAP蛋白结合，形成复合物结合于启动子区域。这改变了DNA结构，帮助RNA聚合酶结合启动子。葡萄糖存在时cAMP水平下降，lac操纵子即使有乳糖也表达效率低。体现了细菌对环境信号的精细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p操纵子是阻遏型操纵子的代表。同时具有两层调控：阻遏蛋白和衰减机制。衰减调控通过前导肽翻译速度来感知色氨酸水平。前导序列有4个互补区，可形成不同的RNA二级结构。这种精细调控使色氨酸合成能快速响应需求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核生物的基因调控可以分为正调控和负调控。负调控：调控蛋白抑制转录（如lac阻遏蛋白）。正调控：调控蛋白激活转录（如CAP蛋白）。lac操纵子是双重调控的经典例子。注意：诱导型和阻遏型的区别在于默认状态是ON还是OF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位科学家共同获得1965年诺贝尔奖。Jacob：军事背景，转行生物学，与Monod密切合作。Monod：原为音乐爱好者，后来成为杰出的分子生物学家。Lwoff：溶原性噬菌体研究的先驱，发现原噬菌体整合到细菌基因组。Jacob的名言：每个细胞的梦想是变成两个细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JaMo实验是操纵子学说的关键实验。Pardee设计了实验，Jacob和Monod提供了理论框架。实验使用细菌接合(conjugation)将lac⁺基因转移到lac⁻细胞。关键观察：即使没有染色体转移，诱导物也能在lac⁺/lac⁻杂合细胞中诱导表达。这暗示存在一种扩散性的调控因子，后来确认为阻遏蛋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出5篇关键文献。第1篇是操纵子模型的原始论文，发表在Nature上。第2篇是PaJaMo实验论文。第3篇是Monod关于酶适应的早期研究。第4篇在法国科学院院报上发表了操纵子模型的初步框架。第5篇与Brenner和Meselson合作发现了mRN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概览图展示了原核生物中多种操纵子调控系统的比较。包括诱导型（lac, ara）和阻遏型（trp, his）操纵子。有些操纵子具有双重调控机制，如lac操纵子。全局调控因子如CAP影响多个操纵子。衰减机制在氨基酸合成操纵子中很常见。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讨论问题设计用于巩固学习。Q1: lacI突变会导致组成型表达(constitutive expression)，无论是否有乳糖。Q2: 操纵子允许协调调控功能相关的基因，提高效率。Q3: 两者通过不同机制（负+正调控）协同工作，提供精确的表达控制。Q4: 衰减利用前导肽翻译中核糖体的位置来控制转录终止。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10个关键术语速查。左列：操纵子相关基本概念。右列：调控因子和特殊术语。建议学生记住每个术语的中英文对照。特别是constitutive表达和attenuation机制的理解。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总结今天的学习内容。核心要点：操纵子模型、lac和trp操纵子、cAMP-CAP系统。预告Day 73将学习真核生物基因调控，包括染色质修饰、转录因子等。鼓励学生复习PaJaMo实验和操纵子调控的分子机制。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tics_learning/images/bg-cover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38928"/>
          </a:xfrm>
          <a:prstGeom prst="RECTANGLE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731520"/>
            <a:ext cx="54864" cy="2286000"/>
          </a:xfrm>
          <a:prstGeom prst="RECTANGLE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234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原核生物基因调控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Prokaryotic Gene Regulation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2286000" cy="18288"/>
          </a:xfrm>
          <a:prstGeom prst="RECTANGL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操纵子模型 / Operon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Learning Series | Talk Mode</a:t>
            </a:r>
            <a:endParaRPr lang="en-US" sz="11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今日核心议题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Key Topics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280160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2801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操纵子模型基础 / Operon Model Basics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1755648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175564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lac操纵子调控 / lac Operon Regulation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2231136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231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23113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cAMP-CAP系统 / Catabolite Repression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2706624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706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270662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trp操纵子与衰减 / trp Operon &amp; Attenuation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3182112"/>
            <a:ext cx="411480" cy="411480"/>
          </a:xfrm>
          <a:prstGeom prst="OVAL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182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18211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正调控 vs 负调控 / Positive vs Negative Control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3657600"/>
            <a:ext cx="411480" cy="411480"/>
          </a:xfrm>
          <a:prstGeom prst="OVAL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6576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PaJaMo实验 / Classic Experiments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" y="4133088"/>
            <a:ext cx="411480" cy="411480"/>
          </a:xfrm>
          <a:prstGeom prst="OVAL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413308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关键文献与术语 / Key Literature &amp; Terms</a:t>
            </a:r>
            <a:endParaRPr lang="en-US" sz="14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Jacob与Monod: 基因调控的发现者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Pioneers of Gene Regulation | 1965 Nobel Prize in Physiology or Medicine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234440"/>
            <a:ext cx="1920240" cy="502920"/>
          </a:xfrm>
          <a:prstGeom prst="ROUNDED_RECTANGLE">
            <a:avLst>
              <a:gd name="adj" fmla="val 14545"/>
            </a:avLst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1965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14173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Francois Jacob &amp; Jacques Monod - Paris, Institut Pasteur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80136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提出操纵子学说 (Operon Theory, 1961)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18541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首次揭示基因表达的调控机制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56946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 Lwoff - 共享诺贝尔奖，溶原性研究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95351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开启了分子生物学调控研究的新纪元</a:t>
            </a:r>
            <a:endParaRPr lang="en-US" sz="14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操纵子模型: 基本结构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Operon Model: Core Components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2588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操纵子 (Operon) - 受共同调控的一组基因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764792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启动子 (Promoter, P) - RNA聚合酶结合位点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2037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操纵基因 (Operator, O) - 阻遏蛋白结合位点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64261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结构基因 (Structural Genes) - 编码功能蛋白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08152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调节基因 (Regulator Gene) - 编码调控蛋白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52044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阻遏蛋白 (Repressor) - 调控转录的开关分子</a:t>
            </a:r>
            <a:endParaRPr lang="en-US" sz="14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乳糖操纵子: lac Operon调控机制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Regulation by Lactose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384048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384048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716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无乳糖时: 阻遏蛋白结合O位点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9019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RNA pol无法转录 → OFF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4323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有乳糖时: 乳糖→异乳糖(allolactose)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6265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异乳糖结合阻遏蛋白→变构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9300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阻遏蛋白脱离O位点 → 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53712" y="1124712"/>
            <a:ext cx="416052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1097280"/>
            <a:ext cx="416052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234440"/>
            <a:ext cx="54864" cy="3383280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lac操纵子基因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6916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lacZ - β-半乳糖苷酶 (分解乳糖)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1671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lacY - 透性酶 (转运乳糖入细胞)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64261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lacA - 转乙酰酶 (功能尚不明确)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11810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调节基因 lacI - 编码阻遏蛋白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5935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诱导型操纵子 (Inducible Operon)</a:t>
            </a:r>
            <a:endParaRPr lang="en-US" sz="14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lac操纵子图解: ON/OFF状态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of Regulatory States</a:t>
            </a:r>
            <a:endParaRPr lang="en-US" sz="1300" dirty="0"/>
          </a:p>
        </p:txBody>
      </p:sp>
      <p:pic>
        <p:nvPicPr>
          <p:cNvPr id="9" name="Image 0" descr="/workspace/genetics_learning/day072_lac_operon_mod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4873752" cy="27432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53912" y="1124712"/>
            <a:ext cx="2560320" cy="2743200"/>
          </a:xfrm>
          <a:prstGeom prst="ROUNDED_RECTANGLE">
            <a:avLst>
              <a:gd name="adj" fmla="val 357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126480" y="1097280"/>
            <a:ext cx="2560320" cy="2743200"/>
          </a:xfrm>
          <a:prstGeom prst="ROUNDED_RECTANGLE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234440"/>
            <a:ext cx="54864" cy="2468880"/>
          </a:xfrm>
          <a:prstGeom prst="RECTANGLE">
            <a:avLst/>
          </a:prstGeom>
          <a:solidFill>
            <a:srgbClr val="D4A843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1600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阻遏蛋白: 别构调控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19842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诱导物: 全乳糖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3682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负调控为主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27523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正调控辅助(CAP)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3977640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lac Operon ON/OFF States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cAMP-CAP系统: 分解代谢物阻遏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Catabolite Activator Protein &amp; Positive Regulation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25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葡萄糖优先原则 (Glucose Preference)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288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低葡萄糖 → 高cAMP → cAMP结合CAP → 激活转录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3317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高葡萄糖 → 低cAMP → CAP不激活 → 转录效率低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CAP: cAMP受体蛋白，结合启动子附近位点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双重调控: 负调控(阻遏蛋白) + 正调控(CAP)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8404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确保细菌优先利用最有效的碳源</a:t>
            </a:r>
            <a:endParaRPr lang="en-US" sz="14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色氨酸操纵子: trp Operon与衰减调控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Repressible Operon &amp; Transcriptional Attenuation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384048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384048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阻遏调控 (Repression)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高Trp → 阻遏蛋白-Trp复合物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结合操纵基因 → OFF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560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低Trp → 阻遏蛋白失活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脱离O位点 → 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阻遏型操纵子 (Repressible)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53712" y="1124712"/>
            <a:ext cx="416052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26280" y="1097280"/>
            <a:ext cx="416052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234440"/>
            <a:ext cx="54864" cy="3383280"/>
          </a:xfrm>
          <a:prstGeom prst="RECTANGL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衰减调控 (Attenuation)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16459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前导序列 (Leader peptide, trpL)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0299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4区互补序列可形成不同发夹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24140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高Trp: 核糖体快速翻译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27980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3-4配对 → 终止转录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31821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低Trp: 核糖体停滞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35661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2-3配对 → 继续转录</a:t>
            </a:r>
            <a:endParaRPr lang="en-US" sz="14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操纵子系统对比: 正调控 vs 负调控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vs Negative Regulation in Prokaryotes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3840480" cy="2560320"/>
          </a:xfrm>
          <a:prstGeom prst="ROUNDED_RECTANGLE">
            <a:avLst>
              <a:gd name="adj" fmla="val 357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3840480" cy="2560320"/>
          </a:xfrm>
          <a:prstGeom prst="ROUNDED_RECTANGLE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228600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负调控 Negative Control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lac操纵子 (诱导型)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阻遏蛋白阻断转录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诱导物解除抑制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默认状态: OFF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53712" y="1124712"/>
            <a:ext cx="4160520" cy="2560320"/>
          </a:xfrm>
          <a:prstGeom prst="ROUNDED_RECTANGLE">
            <a:avLst>
              <a:gd name="adj" fmla="val 357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1097280"/>
            <a:ext cx="4160520" cy="2560320"/>
          </a:xfrm>
          <a:prstGeom prst="ROUNDED_RECTANGLE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234440"/>
            <a:ext cx="54864" cy="2286000"/>
          </a:xfrm>
          <a:prstGeom prst="RECTANGL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正调控 Positive Control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cAMP-CAP激活系统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激活因子促进转录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信号分子激活结合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默认状态: 低表达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02920"/>
          </a:xfrm>
          <a:prstGeom prst="ROUNDED_RECTANGLE">
            <a:avLst>
              <a:gd name="adj" fmla="val 9091"/>
            </a:avLst>
          </a:prstGeom>
          <a:solidFill>
            <a:srgbClr val="E8F5E9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lac操纵子同时具有负调控(阻遏蛋白)和正调控(CAP)双重机制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科学家故事: Jacob &amp; Monod &amp; Lwoff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Nobel Laureates of Gene Regulation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71600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Francois Jacob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分子生物学先驱 | 操纵子模型共同提出者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2286000" cy="320040"/>
          </a:xfrm>
          <a:prstGeom prst="ROUNDED_RECTANGLE">
            <a:avLst>
              <a:gd name="adj" fmla="val 14286"/>
            </a:avLst>
          </a:prstGeom>
          <a:solidFill>
            <a:srgbClr val="E8F5E9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Biology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423160"/>
            <a:ext cx="411480" cy="411480"/>
          </a:xfrm>
          <a:prstGeom prst="OVAL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Jacques Monod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酶适应现象研究 | 提出基因表达调控概念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2468880"/>
            <a:ext cx="2286000" cy="320040"/>
          </a:xfrm>
          <a:prstGeom prst="ROUNDED_RECTANGLE">
            <a:avLst>
              <a:gd name="adj" fmla="val 14286"/>
            </a:avLst>
          </a:prstGeom>
          <a:solidFill>
            <a:srgbClr val="E8F5E9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474720"/>
            <a:ext cx="411480" cy="411480"/>
          </a:xfrm>
          <a:prstGeom prst="OVAL">
            <a:avLst/>
          </a:prstGeom>
          <a:solidFill>
            <a:srgbClr val="97BC6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 Lwoff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溶原性噬菌体研究 | 发现原噬菌体整合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3520440"/>
            <a:ext cx="2286000" cy="320040"/>
          </a:xfrm>
          <a:prstGeom prst="ROUNDED_RECTANGLE">
            <a:avLst>
              <a:gd name="adj" fmla="val 14286"/>
            </a:avLst>
          </a:prstGeom>
          <a:solidFill>
            <a:srgbClr val="E8F5E9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Lysogeny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4114800"/>
            <a:ext cx="6400800" cy="411480"/>
          </a:xfrm>
          <a:prstGeom prst="ROUNDED_RECTANGLE">
            <a:avLst>
              <a:gd name="adj" fmla="val 11111"/>
            </a:avLst>
          </a:prstGeom>
          <a:solidFill>
            <a:srgbClr val="FFF8E1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411480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dream of every cell is to become two cells." - Francois Jacob</a:t>
            </a:r>
            <a:endParaRPr lang="en-US" sz="11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PaJaMo实验: 经典实验设计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Pardee, Jacob &amp; Monod (1959) - Key Experiment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2588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实验设计: 三个菌株的杂交组合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F⁺ lac⁺ (供体) x F⁻ lac⁻ (受体) → 诱导型表达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386584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结果: 接合后 lac⁺ 在 lac⁻ 宿主中被诱导表达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916936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关键发现: 诱导物直接作用于细胞内组分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447288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排除了诱导物直接作用于酶蛋白的假说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9776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证明了阻遏蛋白的存在和调控功能</a:t>
            </a:r>
            <a:endParaRPr lang="en-US" sz="14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关键文献: 5篇奠基论文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Foundational Papers in Gene Regulation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280160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&amp; Monod (1961) Genetic regulatory mechanisms... Nature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1938528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184708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Pardee, Jacob &amp; Monod (1959) The genetic control... JMB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2596896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596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505456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Monod, Cohen-Bazire &amp; Cohn (1951)... Biochim Biophys Acta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255264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163824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Jacob, Perrin, Sanchez &amp; Monod (1960) CR Acad Sci Paris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913632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13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82219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Brenner, Jacob &amp; Meselson (1961) Nature (mRNA发现)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基因调控概览: 多操纵子系统比较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Prokaryotic Regulatory Systems</a:t>
            </a:r>
            <a:endParaRPr lang="en-US" sz="1300" dirty="0"/>
          </a:p>
        </p:txBody>
      </p:sp>
      <p:pic>
        <p:nvPicPr>
          <p:cNvPr id="9" name="Image 0" descr="/workspace/genetics_learning/day072_gene_regulation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4873752" cy="27432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53912" y="1124712"/>
            <a:ext cx="2560320" cy="2743200"/>
          </a:xfrm>
          <a:prstGeom prst="ROUNDED_RECTANGLE">
            <a:avLst>
              <a:gd name="adj" fmla="val 357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126480" y="1097280"/>
            <a:ext cx="2560320" cy="2743200"/>
          </a:xfrm>
          <a:prstGeom prst="ROUNDED_RECTANGLE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234440"/>
            <a:ext cx="54864" cy="2468880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系统分类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1600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诱导型: lac, ara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19842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阻遏型: trp, his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3682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双重调控: lac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27523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全局调控: CAP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31363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衰减: trp, phe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3977640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Prokaryotic Gene Regulation Overview</a:t>
            </a:r>
            <a:endParaRPr lang="en-US" sz="10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思考题与讨论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822960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325880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2344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如果lacI基因突变导致阻遏蛋白无法结合O位点，表型是什么？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130552"/>
            <a:ext cx="411480" cy="411480"/>
          </a:xfrm>
          <a:prstGeom prst="OVAL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039112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为什么细菌进化出操纵子这种基因组织方式？有什么优势？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2935224"/>
            <a:ext cx="411480" cy="411480"/>
          </a:xfrm>
          <a:prstGeom prst="OVAL">
            <a:avLst/>
          </a:prstGeom>
          <a:solidFill>
            <a:srgbClr val="2C5F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352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843784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cAMP-CAP系统和阻遏蛋白如何协同调控lac操纵子？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739896"/>
            <a:ext cx="411480" cy="411480"/>
          </a:xfrm>
          <a:prstGeom prst="OVAL">
            <a:avLst/>
          </a:prstGeom>
          <a:solidFill>
            <a:srgbClr val="D4A8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39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48456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衰减调控的分子机制是什么？它如何精确感知氨基酸浓度？</a:t>
            </a:r>
            <a:endParaRPr lang="en-US" sz="13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38928"/>
          </a:xfrm>
          <a:prstGeom prst="ROUNDED_RECTANGL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ANGL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"/>
            <a:ext cx="1005840" cy="1005840"/>
          </a:xfrm>
          <a:prstGeom prst="OVAL">
            <a:avLst/>
          </a:prstGeom>
          <a:solidFill>
            <a:srgbClr val="97BC62">
              <a:alpha val="15000"/>
            </a:srgbClr>
          </a:solidFill>
          <a:ln w="635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OVAL">
            <a:avLst/>
          </a:prstGeom>
          <a:solidFill>
            <a:srgbClr val="D4A843">
              <a:alpha val="10000"/>
            </a:srgbClr>
          </a:solidFill>
          <a:ln w="381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术语速查: 10个关键术语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Quick Reference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124712"/>
            <a:ext cx="384048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097280"/>
            <a:ext cx="384048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34440"/>
            <a:ext cx="54864" cy="3383280"/>
          </a:xfrm>
          <a:prstGeom prst="RECTANGLE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280160"/>
            <a:ext cx="3474720" cy="457200"/>
          </a:xfrm>
          <a:prstGeom prst="ROUNDED_RECTANGLE">
            <a:avLst>
              <a:gd name="adj" fmla="val 10000"/>
            </a:avLst>
          </a:prstGeom>
          <a:solidFill>
            <a:srgbClr val="E8F5E9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280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Operon - 操纵子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1901952"/>
            <a:ext cx="3474720" cy="457200"/>
          </a:xfrm>
          <a:prstGeom prst="ROUNDED_RECTANGLE">
            <a:avLst>
              <a:gd name="adj" fmla="val 10000"/>
            </a:avLst>
          </a:prstGeom>
          <a:solidFill>
            <a:srgbClr val="FFF8E1"/>
          </a:solidFill>
          <a:ln w="381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01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(P) - 启动子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523744"/>
            <a:ext cx="3474720" cy="457200"/>
          </a:xfrm>
          <a:prstGeom prst="ROUNDED_RECTANGLE">
            <a:avLst>
              <a:gd name="adj" fmla="val 10000"/>
            </a:avLst>
          </a:prstGeom>
          <a:solidFill>
            <a:srgbClr val="E8F5E9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237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(O) - 操纵基因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145536"/>
            <a:ext cx="3474720" cy="457200"/>
          </a:xfrm>
          <a:prstGeom prst="ROUNDED_RECTANGLE">
            <a:avLst>
              <a:gd name="adj" fmla="val 10000"/>
            </a:avLst>
          </a:prstGeom>
          <a:solidFill>
            <a:srgbClr val="FFF8E1"/>
          </a:solidFill>
          <a:ln w="381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1455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Repressor - 阻遏蛋白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767328"/>
            <a:ext cx="3474720" cy="457200"/>
          </a:xfrm>
          <a:prstGeom prst="ROUNDED_RECTANGLE">
            <a:avLst>
              <a:gd name="adj" fmla="val 10000"/>
            </a:avLst>
          </a:prstGeom>
          <a:solidFill>
            <a:srgbClr val="E8F5E9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673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Inducer - 诱导物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53712" y="1124712"/>
            <a:ext cx="4160520" cy="3657600"/>
          </a:xfrm>
          <a:prstGeom prst="ROUNDED_RECTANGLE">
            <a:avLst>
              <a:gd name="adj" fmla="val 25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26280" y="1097280"/>
            <a:ext cx="4160520" cy="3657600"/>
          </a:xfrm>
          <a:prstGeom prst="ROUNDED_RECTANGLE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234440"/>
            <a:ext cx="54864" cy="3383280"/>
          </a:xfrm>
          <a:prstGeom prst="RECTANGLE">
            <a:avLst/>
          </a:prstGeom>
          <a:solidFill>
            <a:srgbClr val="D4A843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1280160"/>
            <a:ext cx="3749040" cy="457200"/>
          </a:xfrm>
          <a:prstGeom prst="ROUNDED_RECTANGLE">
            <a:avLst>
              <a:gd name="adj" fmla="val 10000"/>
            </a:avLst>
          </a:prstGeom>
          <a:solidFill>
            <a:srgbClr val="FFF8E1"/>
          </a:solidFill>
          <a:ln w="381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- 环腺苷酸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901952"/>
            <a:ext cx="3749040" cy="457200"/>
          </a:xfrm>
          <a:prstGeom prst="ROUNDED_RECTANGLE">
            <a:avLst>
              <a:gd name="adj" fmla="val 10000"/>
            </a:avLst>
          </a:prstGeom>
          <a:solidFill>
            <a:srgbClr val="E8F5E9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9019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- 分解代谢物激活蛋白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523744"/>
            <a:ext cx="3749040" cy="457200"/>
          </a:xfrm>
          <a:prstGeom prst="ROUNDED_RECTANGLE">
            <a:avLst>
              <a:gd name="adj" fmla="val 10000"/>
            </a:avLst>
          </a:prstGeom>
          <a:solidFill>
            <a:srgbClr val="FFF8E1"/>
          </a:solidFill>
          <a:ln w="381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5237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- 衰减调控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145536"/>
            <a:ext cx="3749040" cy="457200"/>
          </a:xfrm>
          <a:prstGeom prst="ROUNDED_RECTANGLE">
            <a:avLst>
              <a:gd name="adj" fmla="val 10000"/>
            </a:avLst>
          </a:prstGeom>
          <a:solidFill>
            <a:srgbClr val="E8F5E9"/>
          </a:solidFill>
          <a:ln w="381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145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Allolactose - 异乳糖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767328"/>
            <a:ext cx="3749040" cy="457200"/>
          </a:xfrm>
          <a:prstGeom prst="ROUNDED_RECTANGLE">
            <a:avLst>
              <a:gd name="adj" fmla="val 10000"/>
            </a:avLst>
          </a:prstGeom>
          <a:solidFill>
            <a:srgbClr val="FFF8E1"/>
          </a:solidFill>
          <a:ln w="381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673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Constitutive - 组成型表达</a:t>
            </a:r>
            <a:endParaRPr lang="en-US" sz="12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tics_learning/images/bg-closing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38928"/>
          </a:xfrm>
          <a:prstGeom prst="RECTANGLE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731520"/>
            <a:ext cx="54864" cy="2286000"/>
          </a:xfrm>
          <a:prstGeom prst="RECTANGLE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72 SUMMARY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操纵子是原核生物基因调控的基本单位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lac操纵子: 诱导型，负调控+正调控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trp操纵子: 阻遏型，阻遏+衰减双重调控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cAMP-CAP: 全局正调控因子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2743200" cy="18288"/>
          </a:xfrm>
          <a:prstGeom prst="RECTANGL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73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真核生物基因调控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Eukaryotic Gene Regulation</a:t>
            </a:r>
            <a:endParaRPr lang="en-US" sz="13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Day 72: Prokaryotic Gene Regulation</dc:subject>
  <dc:creator>Genetics Learning Series</dc:creator>
  <cp:lastModifiedBy>Genetics Learning Series</cp:lastModifiedBy>
  <cp:revision>1</cp:revision>
  <dcterms:created xsi:type="dcterms:W3CDTF">2026-07-25T04:24:37Z</dcterms:created>
  <dcterms:modified xsi:type="dcterms:W3CDTF">2026-07-25T04:24:37Z</dcterms:modified>
</cp:coreProperties>
</file>