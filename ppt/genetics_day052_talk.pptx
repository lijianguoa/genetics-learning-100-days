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52 of the Genetics 100-Day Study Plan. Today we explore gene frequency and evolution, bridging Mendelian genetics with Darwinian natural selection through population genetics.
欢迎来到遗传学100天学习计划第52天。今天我们探索基因频率与进化，通过群体遗传学连接孟德尔遗传学与达尔文自然选择。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lecture covers 7 sections. We begin with the three founders of population genetics, move through core concepts of gene frequency, evolutionary forces, fitness, and selection modes, then examine classic experiments and Fisher's fundamental theorem.
今天的讲座涵盖7个部分。从三位奠基人开始，经过核心概念到经典案例和Fisher基本定理。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founders established the mathematical foundations of population genetics in the early 20th century.
Fisher unified Mendelism with biometrics in his 1918 paper. Haldane systematically calculated how natural selection changes gene frequencies. Wright introduced genetic drift and effective population size.
Together, their work formed the Modern Synthesis.
三位奠基人在20世纪初建立了群体遗传学的数学基础，共同构成了现代进化综合论的基石。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frequency is the proportion of a specific allele at a locus among all alleles in a population.
For a diploid population: p(A) = (2*AA_count + Aa_count) / (2N)
Under HWE: P(AA)=p^2, P(Aa)=2pq, P(aa)=q^2
基因频率是群体中特定等位基因占全部等位基因的比例。在哈迪-温伯格平衡下，基因型频率为p^2, 2pq,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forces drive changes in gene frequency:
1. Natural Selection: differential survival and reproduction
2. Genetic Drift: random sampling effects, strongest in small populations
3. Gene Flow (Migration): movement of individuals between populations
4. Mutation: random changes in alleles (usually very slow)
四大进化动力驱动基因频率变化：自然选择、遗传漂变、基因流、突变。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(W) measures how well a genotype passes alleles to the next generation.
W = 1 - s, where s is the selection coefficient.
If s = 0, the genotype has maximum fitness (W = 1). Higher s means stronger selection against the genotype.
适合度衡量基因型将等位基因传递给下一代的能力。选择系数s衡量选择压力的强度。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modes of selection:
1. Positive Selection: beneficial alleles increase in frequency.
2. Purifying Selection: deleterious alleles are removed.
3. Balancing Selection: maintains genetic diversity. Heterozygote advantage (sickle cell/malaria) is a classic example.
三种选择模式：正向选择、负向选择、平衡选择（杂合子优势是经典案例）。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Melanism: During the Industrial Revolution, tree bark was darkened by soot.
In polluted areas: dark (carbonaria) moths had higher survival than light (typica) moths.
In clean areas: the reverse was true.
Kettlewell's 1955 mark-recapture experiment confirmed directional natural selection was changing gene frequency.
工业黑化：工业革命期间煤烟污染使树皮变黑。污染区深色型存活率高，清洁区浅色型存活率高。Kettlewell的标记-重捕实验证实了定向自然选择正在改变基因频率。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DDT Resistance: Powerful directional selection can raise a beneficial allele from very low frequency to high frequency in just a few generations — the "fast lane" of selection.
Heterozygote Advantage: Sickle cell carriers (AS) have resistance to malaria without severe anemia. Both homozygotes (AA, SS) have lower fitness. This is classic balancing selection.
DDT抗性：强大的定向选择可在短短数代内将低频有利等位基因提升至高频。
杂合子优势：镰刀形细胞携带者(AS)抗疟疾且无严重贫血，是平衡选择的经典案例。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Fisher's Fundamental Theorem (1930): The rate of increase in fitness equals the additive genetic variance in fitness.
Key insight: evolution can only proceed as fast as genetic variation allows. This is analogous to Newton's Second Law (F=ma) — genetic variance is the 'force' driving evolutionary change.
Log fitness can be decomposed into average effects of individual genes, meaning selection can act on multiple loci simultaneously.
Fisher基本定理：适合度的增加率等于适合度的遗传方差。进化速度取决于遗传变异的量。Haldane评价其如同牛顿第二定律。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foundational papers in population genetics:
1. Fisher 1918: Unified Mendelian inheritance with biometric variation
2. Haldane 1924: Mathematical theory of selection
3. Fisher 1930: The Genetical Theory — Fundamental Theorem
4. Wright 1931: Genetic drift and effective population size
5. Haldane 1932: Cost of natural selection (Haldane's dilemma)
6. Dobzhansky 1937: Classic statement of Modern Synthesis
六篇奠基文献奠定了群体遗传学和现代进化综合论的基础。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terms in population genetics:
- Gene/Allele Frequency: proportion of a specific allele
- Fitness (W): ability to pass alleles to offspring; s = 1 - W
- Genetic Drift: random changes, strongest in small populations (Ne)
- Heterozygote Advantage: heterozygote has higher fitness than both homozygotes
- Fisher's Fundamental Theorem: rate of fitness increase = genetic variance in fitness
- Modern Synthesis: the integration of genetics with evolutionary theory
群体遗传学核心术语。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discussion questions:
1. Gene Frequency Calculation: Practice computing p and q from genotype counts, and test Hardy-Weinberg Equilibrium using chi-square test.
2. Genetic Drift Effects: Compare the impact of drift in small (N=50) vs. large (N=100,000) populations. Small populations experience much stronger random fluctuations.
3. Selection &amp; Variation Sources: Natural selection CANNOT create new alleles — it only filters existing variation. New alleles arise from mutation.
三个思考题涵盖基因频率计算、遗传漂变效应、以及选择与变异来源的关系。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Anecdote: Fisher was walking in the Cambridge gardens when he realized that log fitness can be linearly decomposed into the sum of average gene effects.
This insight is profound because fitness is inherently nonlinear (involving epistasis between genotypes), but on a logarithmic scale, each gene locus contributes approximately independently. This explains why evolution is typically gradual rather than saltational.
Haldane compared this discovery to Newton's Second Law — a unifying principle that explains how natural selection works at the genetic level.
Fisher在剑桥花园散步时突然意识到适合度的对数可以线性分解为基因的平均效应之和。这一洞察解释了为什么进化通常是渐进的。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for further study:
- Video: Khan Academy gene frequency and Hardy-Weinberg equilibrium
- Text: NCBI Bookshelf on population genetics, Stanford Encyclopedia on Modern Synthesis
Day 53 Preview: We will dive deeper into natural selection, covering:
- Three modes of selection (directional, stabilizing, disruptive)
- The unit of selection debate (gene vs. individual vs. group)
- Haldane's cost of selection
- Molecular evidence: dN/dS ratio analysis
- Artificial vs. natural selection
学习资源推荐及Day 53预告：自然选择与遗传。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today's lecture on Day 52: Gene Frequency and Evolution.
Key takeaways:
1. Three founders (Fisher, Haldane, Wright) established population genetics
2. Gene frequency (p, q) and genotype frequency (p^2, 2pq, q^2) are fundamental
3. Four evolutionary forces: selection, drift, migration, mutation
4. Fitness W = 1 - s; selection acts on existing variation
5. Fisher's Fundamental Theorem: dW/dt = genetic variance
Next time: Day 53 — Natural Selection &amp; Genetics
感谢参加Day 52的学习。下次我们将深入探讨自然选择与遗传。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137160"/>
          </a:xfrm>
          <a:prstGeom prst="rect">
            <a:avLst/>
          </a:prstGeom>
          <a:solidFill>
            <a:srgbClr val="2C5F2D"/>
          </a:solidFill>
          <a:ln/>
        </p:spPr>
      </p:sp>
      <p:sp>
        <p:nvSpPr>
          <p:cNvPr id="4" name="Shape 1"/>
          <p:cNvSpPr/>
          <p:nvPr/>
        </p:nvSpPr>
        <p:spPr>
          <a:xfrm>
            <a:off x="0" y="5006340"/>
            <a:ext cx="9144000" cy="137160"/>
          </a:xfrm>
          <a:prstGeom prst="rect">
            <a:avLst/>
          </a:prstGeom>
          <a:solidFill>
            <a:srgbClr val="97BC62"/>
          </a:solidFill>
          <a:ln/>
        </p:spPr>
      </p:sp>
      <p:sp>
        <p:nvSpPr>
          <p:cNvPr id="5" name="Shape 2"/>
          <p:cNvSpPr/>
          <p:nvPr/>
        </p:nvSpPr>
        <p:spPr>
          <a:xfrm>
            <a:off x="914400" y="731520"/>
            <a:ext cx="7315200" cy="3291840"/>
          </a:xfrm>
          <a:prstGeom prst="roundRect">
            <a:avLst>
              <a:gd name="adj" fmla="val 4167"/>
            </a:avLst>
          </a:prstGeom>
          <a:solidFill>
            <a:srgbClr val="2C5F2D"/>
          </a:solidFill>
          <a:ln/>
          <a:effectLst>
            <a:outerShdw sx="100000" sy="100000" kx="0" ky="0" algn="bl" rotWithShape="0" blurRad="203200" dist="76200" dir="8100000">
              <a:srgbClr val="000000">
                <a:alpha val="32000"/>
              </a:srgbClr>
            </a:outerShdw>
          </a:effectLst>
        </p:spPr>
      </p:sp>
      <p:sp>
        <p:nvSpPr>
          <p:cNvPr id="6" name="Text 3"/>
          <p:cNvSpPr/>
          <p:nvPr/>
        </p:nvSpPr>
        <p:spPr>
          <a:xfrm>
            <a:off x="1371600" y="914400"/>
            <a:ext cx="6400800" cy="548640"/>
          </a:xfrm>
          <a:prstGeom prst="rect">
            <a:avLst/>
          </a:prstGeom>
          <a:noFill/>
          <a:ln/>
        </p:spPr>
        <p:txBody>
          <a:bodyPr wrap="square" rtlCol="0" anchor="ctr">
            <a:normAutofit/>
          </a:bodyPr>
          <a:lstStyle/>
          <a:p>
            <a:pPr algn="ctr" indent="0" marL="0">
              <a:buNone/>
            </a:pPr>
            <a:r>
              <a:rPr lang="en-US" sz="2000" spc="300" kern="0" dirty="0">
                <a:solidFill>
                  <a:srgbClr val="D4A843"/>
                </a:solidFill>
                <a:latin typeface="Calibri" pitchFamily="34" charset="0"/>
                <a:ea typeface="Calibri" pitchFamily="34" charset="-122"/>
                <a:cs typeface="Calibri" pitchFamily="34" charset="-120"/>
              </a:rPr>
              <a:t>Day 52</a:t>
            </a:r>
            <a:endParaRPr lang="en-US" sz="2000" dirty="0"/>
          </a:p>
        </p:txBody>
      </p:sp>
      <p:sp>
        <p:nvSpPr>
          <p:cNvPr id="7" name="Text 4"/>
          <p:cNvSpPr/>
          <p:nvPr/>
        </p:nvSpPr>
        <p:spPr>
          <a:xfrm>
            <a:off x="1371600" y="1417320"/>
            <a:ext cx="6400800" cy="822960"/>
          </a:xfrm>
          <a:prstGeom prst="rect">
            <a:avLst/>
          </a:prstGeom>
          <a:noFill/>
          <a:ln/>
        </p:spPr>
        <p:txBody>
          <a:bodyPr wrap="square" rtlCol="0" anchor="ctr">
            <a:normAutofit/>
          </a:bodyPr>
          <a:lstStyle/>
          <a:p>
            <a:pPr algn="ctr" indent="0" marL="0">
              <a:buNone/>
            </a:pPr>
            <a:r>
              <a:rPr lang="en-US" sz="3600" b="1" spc="250" kern="0" dirty="0">
                <a:solidFill>
                  <a:srgbClr val="FFFFFF"/>
                </a:solidFill>
                <a:latin typeface="Georgia" pitchFamily="34" charset="0"/>
                <a:ea typeface="Georgia" pitchFamily="34" charset="-122"/>
                <a:cs typeface="Georgia" pitchFamily="34" charset="-120"/>
              </a:rPr>
              <a:t>基因频率与进化</a:t>
            </a:r>
            <a:endParaRPr lang="en-US" sz="3600" dirty="0"/>
          </a:p>
        </p:txBody>
      </p:sp>
      <p:sp>
        <p:nvSpPr>
          <p:cNvPr id="8" name="Text 5"/>
          <p:cNvSpPr/>
          <p:nvPr/>
        </p:nvSpPr>
        <p:spPr>
          <a:xfrm>
            <a:off x="1371600" y="2194560"/>
            <a:ext cx="6400800" cy="548640"/>
          </a:xfrm>
          <a:prstGeom prst="rect">
            <a:avLst/>
          </a:prstGeom>
          <a:noFill/>
          <a:ln/>
        </p:spPr>
        <p:txBody>
          <a:bodyPr wrap="square" rtlCol="0" anchor="ctr">
            <a:normAutofit/>
          </a:bodyPr>
          <a:lstStyle/>
          <a:p>
            <a:pPr algn="ctr" indent="0" marL="0">
              <a:buNone/>
            </a:pPr>
            <a:r>
              <a:rPr lang="en-US" sz="2200" spc="150" kern="0" dirty="0">
                <a:solidFill>
                  <a:srgbClr val="97BC62"/>
                </a:solidFill>
                <a:latin typeface="Georgia" pitchFamily="34" charset="0"/>
                <a:ea typeface="Georgia" pitchFamily="34" charset="-122"/>
                <a:cs typeface="Georgia" pitchFamily="34" charset="-120"/>
              </a:rPr>
              <a:t>Gene Frequency and Evolution</a:t>
            </a:r>
            <a:endParaRPr lang="en-US" sz="2200" dirty="0"/>
          </a:p>
        </p:txBody>
      </p:sp>
      <p:sp>
        <p:nvSpPr>
          <p:cNvPr id="9" name="Shape 6"/>
          <p:cNvSpPr/>
          <p:nvPr/>
        </p:nvSpPr>
        <p:spPr>
          <a:xfrm>
            <a:off x="3200400" y="2926080"/>
            <a:ext cx="2743200" cy="36576"/>
          </a:xfrm>
          <a:prstGeom prst="rect">
            <a:avLst/>
          </a:prstGeom>
          <a:solidFill>
            <a:srgbClr val="D4A843"/>
          </a:solidFill>
          <a:ln/>
        </p:spPr>
      </p:sp>
      <p:sp>
        <p:nvSpPr>
          <p:cNvPr id="10" name="Text 7"/>
          <p:cNvSpPr/>
          <p:nvPr/>
        </p:nvSpPr>
        <p:spPr>
          <a:xfrm>
            <a:off x="1371600" y="3108960"/>
            <a:ext cx="6400800" cy="457200"/>
          </a:xfrm>
          <a:prstGeom prst="rect">
            <a:avLst/>
          </a:prstGeom>
          <a:noFill/>
          <a:ln/>
        </p:spPr>
        <p:txBody>
          <a:bodyPr wrap="square" rtlCol="0" anchor="ctr">
            <a:normAutofit/>
          </a:bodyPr>
          <a:lstStyle/>
          <a:p>
            <a:pPr algn="ctr" indent="0" marL="0">
              <a:buNone/>
            </a:pPr>
            <a:r>
              <a:rPr lang="en-US" sz="1400" dirty="0">
                <a:solidFill>
                  <a:srgbClr val="97BC62"/>
                </a:solidFill>
                <a:latin typeface="Calibri" pitchFamily="34" charset="0"/>
                <a:ea typeface="Calibri" pitchFamily="34" charset="-122"/>
                <a:cs typeface="Calibri" pitchFamily="34" charset="-120"/>
              </a:rPr>
              <a:t>遗传学100天学习计划 | 2026-07-05</a:t>
            </a:r>
            <a:endParaRPr lang="en-US" sz="1400" dirty="0"/>
          </a:p>
        </p:txBody>
      </p:sp>
      <p:sp>
        <p:nvSpPr>
          <p:cNvPr id="11" name="Text 8"/>
          <p:cNvSpPr/>
          <p:nvPr/>
        </p:nvSpPr>
        <p:spPr>
          <a:xfrm>
            <a:off x="3200400" y="4160520"/>
            <a:ext cx="2743200" cy="457200"/>
          </a:xfrm>
          <a:prstGeom prst="rect">
            <a:avLst/>
          </a:prstGeom>
          <a:noFill/>
          <a:ln/>
        </p:spPr>
        <p:txBody>
          <a:bodyPr wrap="square" rtlCol="0" anchor="ctr">
            <a:normAutofit/>
          </a:bodyPr>
          <a:lstStyle/>
          <a:p>
            <a:pPr algn="ctr" indent="0" marL="0">
              <a:buNone/>
            </a:pPr>
            <a:r>
              <a:rPr lang="en-US" sz="1300" b="1" dirty="0">
                <a:solidFill>
                  <a:srgbClr val="2C5F2D"/>
                </a:solidFill>
                <a:latin typeface="Calibri" pitchFamily="34" charset="0"/>
                <a:ea typeface="Calibri" pitchFamily="34" charset="-122"/>
                <a:cs typeface="Calibri" pitchFamily="34" charset="-120"/>
              </a:rPr>
              <a:t>Talk / 演讲版</a:t>
            </a:r>
            <a:endParaRPr lang="en-US" sz="1300" dirty="0"/>
          </a:p>
        </p:txBody>
      </p:sp>
      <p:sp>
        <p:nvSpPr>
          <p:cNvPr id="1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目录 | Table of Contents</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Overview of today's topics</a:t>
            </a:r>
            <a:endParaRPr lang="en-US" sz="1300" dirty="0"/>
          </a:p>
        </p:txBody>
      </p:sp>
      <p:sp>
        <p:nvSpPr>
          <p:cNvPr id="6" name="Shape 3"/>
          <p:cNvSpPr/>
          <p:nvPr/>
        </p:nvSpPr>
        <p:spPr>
          <a:xfrm>
            <a:off x="457200" y="1097280"/>
            <a:ext cx="8229600" cy="441525"/>
          </a:xfrm>
          <a:prstGeom prst="roundRect">
            <a:avLst>
              <a:gd name="adj" fmla="val 16568"/>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594360" y="1158022"/>
            <a:ext cx="320040" cy="320040"/>
          </a:xfrm>
          <a:prstGeom prst="ellipse">
            <a:avLst/>
          </a:prstGeom>
          <a:solidFill>
            <a:srgbClr val="2C5F2D"/>
          </a:solidFill>
          <a:ln/>
        </p:spPr>
      </p:sp>
      <p:sp>
        <p:nvSpPr>
          <p:cNvPr id="8" name="Text 5"/>
          <p:cNvSpPr/>
          <p:nvPr/>
        </p:nvSpPr>
        <p:spPr>
          <a:xfrm>
            <a:off x="594360" y="1158022"/>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6"/>
          <p:cNvSpPr/>
          <p:nvPr/>
        </p:nvSpPr>
        <p:spPr>
          <a:xfrm>
            <a:off x="1051560" y="1143000"/>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历史背景</a:t>
            </a:r>
            <a:endParaRPr lang="en-US" sz="1400" dirty="0"/>
          </a:p>
        </p:txBody>
      </p:sp>
      <p:sp>
        <p:nvSpPr>
          <p:cNvPr id="10" name="Text 7"/>
          <p:cNvSpPr/>
          <p:nvPr/>
        </p:nvSpPr>
        <p:spPr>
          <a:xfrm>
            <a:off x="1051560" y="1340119"/>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Historical Background</a:t>
            </a:r>
            <a:endParaRPr lang="en-US" sz="1100" dirty="0"/>
          </a:p>
        </p:txBody>
      </p:sp>
      <p:sp>
        <p:nvSpPr>
          <p:cNvPr id="11" name="Shape 8"/>
          <p:cNvSpPr/>
          <p:nvPr/>
        </p:nvSpPr>
        <p:spPr>
          <a:xfrm>
            <a:off x="457200" y="1648533"/>
            <a:ext cx="8229600" cy="441525"/>
          </a:xfrm>
          <a:prstGeom prst="roundRect">
            <a:avLst>
              <a:gd name="adj" fmla="val 16568"/>
            </a:avLst>
          </a:prstGeom>
          <a:solidFill>
            <a:srgbClr val="F5F2E8"/>
          </a:solidFill>
          <a:ln/>
          <a:effectLst>
            <a:outerShdw sx="100000" sy="100000" kx="0" ky="0" algn="bl" rotWithShape="0" blurRad="152400" dist="50800" dir="8100000">
              <a:srgbClr val="000000">
                <a:alpha val="28000"/>
              </a:srgbClr>
            </a:outerShdw>
          </a:effectLst>
        </p:spPr>
      </p:sp>
      <p:sp>
        <p:nvSpPr>
          <p:cNvPr id="12" name="Shape 9"/>
          <p:cNvSpPr/>
          <p:nvPr/>
        </p:nvSpPr>
        <p:spPr>
          <a:xfrm>
            <a:off x="594360" y="1709275"/>
            <a:ext cx="320040" cy="320040"/>
          </a:xfrm>
          <a:prstGeom prst="ellipse">
            <a:avLst/>
          </a:prstGeom>
          <a:solidFill>
            <a:srgbClr val="2C5F2D"/>
          </a:solidFill>
          <a:ln/>
        </p:spPr>
      </p:sp>
      <p:sp>
        <p:nvSpPr>
          <p:cNvPr id="13" name="Text 10"/>
          <p:cNvSpPr/>
          <p:nvPr/>
        </p:nvSpPr>
        <p:spPr>
          <a:xfrm>
            <a:off x="594360" y="1709275"/>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1"/>
          <p:cNvSpPr/>
          <p:nvPr/>
        </p:nvSpPr>
        <p:spPr>
          <a:xfrm>
            <a:off x="1051560" y="1694253"/>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核心概念：基因频率与基因型频率</a:t>
            </a:r>
            <a:endParaRPr lang="en-US" sz="1400" dirty="0"/>
          </a:p>
        </p:txBody>
      </p:sp>
      <p:sp>
        <p:nvSpPr>
          <p:cNvPr id="15" name="Text 12"/>
          <p:cNvSpPr/>
          <p:nvPr/>
        </p:nvSpPr>
        <p:spPr>
          <a:xfrm>
            <a:off x="1051560" y="1891371"/>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Gene Frequency &amp; Genotype Frequency</a:t>
            </a:r>
            <a:endParaRPr lang="en-US" sz="1100" dirty="0"/>
          </a:p>
        </p:txBody>
      </p:sp>
      <p:sp>
        <p:nvSpPr>
          <p:cNvPr id="16" name="Shape 13"/>
          <p:cNvSpPr/>
          <p:nvPr/>
        </p:nvSpPr>
        <p:spPr>
          <a:xfrm>
            <a:off x="457200" y="2199785"/>
            <a:ext cx="8229600" cy="441525"/>
          </a:xfrm>
          <a:prstGeom prst="roundRect">
            <a:avLst>
              <a:gd name="adj" fmla="val 16568"/>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594360" y="2260527"/>
            <a:ext cx="320040" cy="320040"/>
          </a:xfrm>
          <a:prstGeom prst="ellipse">
            <a:avLst/>
          </a:prstGeom>
          <a:solidFill>
            <a:srgbClr val="2C5F2D"/>
          </a:solidFill>
          <a:ln/>
        </p:spPr>
      </p:sp>
      <p:sp>
        <p:nvSpPr>
          <p:cNvPr id="18" name="Text 15"/>
          <p:cNvSpPr/>
          <p:nvPr/>
        </p:nvSpPr>
        <p:spPr>
          <a:xfrm>
            <a:off x="594360" y="2260527"/>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6"/>
          <p:cNvSpPr/>
          <p:nvPr/>
        </p:nvSpPr>
        <p:spPr>
          <a:xfrm>
            <a:off x="1051560" y="2245505"/>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核心概念：四大进化动力</a:t>
            </a:r>
            <a:endParaRPr lang="en-US" sz="1400" dirty="0"/>
          </a:p>
        </p:txBody>
      </p:sp>
      <p:sp>
        <p:nvSpPr>
          <p:cNvPr id="20" name="Text 17"/>
          <p:cNvSpPr/>
          <p:nvPr/>
        </p:nvSpPr>
        <p:spPr>
          <a:xfrm>
            <a:off x="1051560" y="2442624"/>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Four Evolutionary Forces</a:t>
            </a:r>
            <a:endParaRPr lang="en-US" sz="1100" dirty="0"/>
          </a:p>
        </p:txBody>
      </p:sp>
      <p:sp>
        <p:nvSpPr>
          <p:cNvPr id="21" name="Shape 18"/>
          <p:cNvSpPr/>
          <p:nvPr/>
        </p:nvSpPr>
        <p:spPr>
          <a:xfrm>
            <a:off x="457200" y="2751038"/>
            <a:ext cx="8229600" cy="441525"/>
          </a:xfrm>
          <a:prstGeom prst="roundRect">
            <a:avLst>
              <a:gd name="adj" fmla="val 16568"/>
            </a:avLst>
          </a:prstGeom>
          <a:solidFill>
            <a:srgbClr val="F5F2E8"/>
          </a:solidFill>
          <a:ln/>
          <a:effectLst>
            <a:outerShdw sx="100000" sy="100000" kx="0" ky="0" algn="bl" rotWithShape="0" blurRad="152400" dist="50800" dir="8100000">
              <a:srgbClr val="000000">
                <a:alpha val="28000"/>
              </a:srgbClr>
            </a:outerShdw>
          </a:effectLst>
        </p:spPr>
      </p:sp>
      <p:sp>
        <p:nvSpPr>
          <p:cNvPr id="22" name="Shape 19"/>
          <p:cNvSpPr/>
          <p:nvPr/>
        </p:nvSpPr>
        <p:spPr>
          <a:xfrm>
            <a:off x="594360" y="2811780"/>
            <a:ext cx="320040" cy="320040"/>
          </a:xfrm>
          <a:prstGeom prst="ellipse">
            <a:avLst/>
          </a:prstGeom>
          <a:solidFill>
            <a:srgbClr val="2C5F2D"/>
          </a:solidFill>
          <a:ln/>
        </p:spPr>
      </p:sp>
      <p:sp>
        <p:nvSpPr>
          <p:cNvPr id="23" name="Text 20"/>
          <p:cNvSpPr/>
          <p:nvPr/>
        </p:nvSpPr>
        <p:spPr>
          <a:xfrm>
            <a:off x="594360" y="2811780"/>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1"/>
          <p:cNvSpPr/>
          <p:nvPr/>
        </p:nvSpPr>
        <p:spPr>
          <a:xfrm>
            <a:off x="1051560" y="2796758"/>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核心概念：适合度与选择</a:t>
            </a:r>
            <a:endParaRPr lang="en-US" sz="1400" dirty="0"/>
          </a:p>
        </p:txBody>
      </p:sp>
      <p:sp>
        <p:nvSpPr>
          <p:cNvPr id="25" name="Text 22"/>
          <p:cNvSpPr/>
          <p:nvPr/>
        </p:nvSpPr>
        <p:spPr>
          <a:xfrm>
            <a:off x="1051560" y="2993876"/>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Fitness &amp; Selection</a:t>
            </a:r>
            <a:endParaRPr lang="en-US" sz="1100" dirty="0"/>
          </a:p>
        </p:txBody>
      </p:sp>
      <p:sp>
        <p:nvSpPr>
          <p:cNvPr id="26" name="Shape 23"/>
          <p:cNvSpPr/>
          <p:nvPr/>
        </p:nvSpPr>
        <p:spPr>
          <a:xfrm>
            <a:off x="457200" y="3302290"/>
            <a:ext cx="8229600" cy="441525"/>
          </a:xfrm>
          <a:prstGeom prst="roundRect">
            <a:avLst>
              <a:gd name="adj" fmla="val 16568"/>
            </a:avLst>
          </a:prstGeom>
          <a:solidFill>
            <a:srgbClr val="FFFFFF"/>
          </a:solidFill>
          <a:ln/>
          <a:effectLst>
            <a:outerShdw sx="100000" sy="100000" kx="0" ky="0" algn="bl" rotWithShape="0" blurRad="152400" dist="50800" dir="8100000">
              <a:srgbClr val="000000">
                <a:alpha val="28000"/>
              </a:srgbClr>
            </a:outerShdw>
          </a:effectLst>
        </p:spPr>
      </p:sp>
      <p:sp>
        <p:nvSpPr>
          <p:cNvPr id="27" name="Shape 24"/>
          <p:cNvSpPr/>
          <p:nvPr/>
        </p:nvSpPr>
        <p:spPr>
          <a:xfrm>
            <a:off x="594360" y="3363033"/>
            <a:ext cx="320040" cy="320040"/>
          </a:xfrm>
          <a:prstGeom prst="ellipse">
            <a:avLst/>
          </a:prstGeom>
          <a:solidFill>
            <a:srgbClr val="2C5F2D"/>
          </a:solidFill>
          <a:ln/>
        </p:spPr>
      </p:sp>
      <p:sp>
        <p:nvSpPr>
          <p:cNvPr id="28" name="Text 25"/>
          <p:cNvSpPr/>
          <p:nvPr/>
        </p:nvSpPr>
        <p:spPr>
          <a:xfrm>
            <a:off x="594360" y="3363033"/>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9" name="Text 26"/>
          <p:cNvSpPr/>
          <p:nvPr/>
        </p:nvSpPr>
        <p:spPr>
          <a:xfrm>
            <a:off x="1051560" y="3348010"/>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选择模式 Selection Modes</a:t>
            </a:r>
            <a:endParaRPr lang="en-US" sz="1400" dirty="0"/>
          </a:p>
        </p:txBody>
      </p:sp>
      <p:sp>
        <p:nvSpPr>
          <p:cNvPr id="30" name="Text 27"/>
          <p:cNvSpPr/>
          <p:nvPr/>
        </p:nvSpPr>
        <p:spPr>
          <a:xfrm>
            <a:off x="1051560" y="3545129"/>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Positive, Purifying, Balancing</a:t>
            </a:r>
            <a:endParaRPr lang="en-US" sz="1100" dirty="0"/>
          </a:p>
        </p:txBody>
      </p:sp>
      <p:sp>
        <p:nvSpPr>
          <p:cNvPr id="31" name="Shape 28"/>
          <p:cNvSpPr/>
          <p:nvPr/>
        </p:nvSpPr>
        <p:spPr>
          <a:xfrm>
            <a:off x="457200" y="3853543"/>
            <a:ext cx="8229600" cy="441525"/>
          </a:xfrm>
          <a:prstGeom prst="roundRect">
            <a:avLst>
              <a:gd name="adj" fmla="val 16568"/>
            </a:avLst>
          </a:prstGeom>
          <a:solidFill>
            <a:srgbClr val="F5F2E8"/>
          </a:solidFill>
          <a:ln/>
          <a:effectLst>
            <a:outerShdw sx="100000" sy="100000" kx="0" ky="0" algn="bl" rotWithShape="0" blurRad="152400" dist="50800" dir="8100000">
              <a:srgbClr val="000000">
                <a:alpha val="28000"/>
              </a:srgbClr>
            </a:outerShdw>
          </a:effectLst>
        </p:spPr>
      </p:sp>
      <p:sp>
        <p:nvSpPr>
          <p:cNvPr id="32" name="Shape 29"/>
          <p:cNvSpPr/>
          <p:nvPr/>
        </p:nvSpPr>
        <p:spPr>
          <a:xfrm>
            <a:off x="594360" y="3914285"/>
            <a:ext cx="320040" cy="320040"/>
          </a:xfrm>
          <a:prstGeom prst="ellipse">
            <a:avLst/>
          </a:prstGeom>
          <a:solidFill>
            <a:srgbClr val="2C5F2D"/>
          </a:solidFill>
          <a:ln/>
        </p:spPr>
      </p:sp>
      <p:sp>
        <p:nvSpPr>
          <p:cNvPr id="33" name="Text 30"/>
          <p:cNvSpPr/>
          <p:nvPr/>
        </p:nvSpPr>
        <p:spPr>
          <a:xfrm>
            <a:off x="594360" y="3914285"/>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4" name="Text 31"/>
          <p:cNvSpPr/>
          <p:nvPr/>
        </p:nvSpPr>
        <p:spPr>
          <a:xfrm>
            <a:off x="1051560" y="3899263"/>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经典案例 Classic Experiments</a:t>
            </a:r>
            <a:endParaRPr lang="en-US" sz="1400" dirty="0"/>
          </a:p>
        </p:txBody>
      </p:sp>
      <p:sp>
        <p:nvSpPr>
          <p:cNvPr id="35" name="Text 32"/>
          <p:cNvSpPr/>
          <p:nvPr/>
        </p:nvSpPr>
        <p:spPr>
          <a:xfrm>
            <a:off x="1051560" y="4096381"/>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Industrial Melanism, DDT, Heterozygote Advantage</a:t>
            </a:r>
            <a:endParaRPr lang="en-US" sz="1100" dirty="0"/>
          </a:p>
        </p:txBody>
      </p:sp>
      <p:sp>
        <p:nvSpPr>
          <p:cNvPr id="36" name="Shape 33"/>
          <p:cNvSpPr/>
          <p:nvPr/>
        </p:nvSpPr>
        <p:spPr>
          <a:xfrm>
            <a:off x="457200" y="4404795"/>
            <a:ext cx="8229600" cy="441525"/>
          </a:xfrm>
          <a:prstGeom prst="roundRect">
            <a:avLst>
              <a:gd name="adj" fmla="val 16568"/>
            </a:avLst>
          </a:prstGeom>
          <a:solidFill>
            <a:srgbClr val="FFFFFF"/>
          </a:solidFill>
          <a:ln/>
          <a:effectLst>
            <a:outerShdw sx="100000" sy="100000" kx="0" ky="0" algn="bl" rotWithShape="0" blurRad="152400" dist="50800" dir="8100000">
              <a:srgbClr val="000000">
                <a:alpha val="28000"/>
              </a:srgbClr>
            </a:outerShdw>
          </a:effectLst>
        </p:spPr>
      </p:sp>
      <p:sp>
        <p:nvSpPr>
          <p:cNvPr id="37" name="Shape 34"/>
          <p:cNvSpPr/>
          <p:nvPr/>
        </p:nvSpPr>
        <p:spPr>
          <a:xfrm>
            <a:off x="594360" y="4465538"/>
            <a:ext cx="320040" cy="320040"/>
          </a:xfrm>
          <a:prstGeom prst="ellipse">
            <a:avLst/>
          </a:prstGeom>
          <a:solidFill>
            <a:srgbClr val="2C5F2D"/>
          </a:solidFill>
          <a:ln/>
        </p:spPr>
      </p:sp>
      <p:sp>
        <p:nvSpPr>
          <p:cNvPr id="38" name="Text 35"/>
          <p:cNvSpPr/>
          <p:nvPr/>
        </p:nvSpPr>
        <p:spPr>
          <a:xfrm>
            <a:off x="594360" y="4465538"/>
            <a:ext cx="320040" cy="3200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9" name="Text 36"/>
          <p:cNvSpPr/>
          <p:nvPr/>
        </p:nvSpPr>
        <p:spPr>
          <a:xfrm>
            <a:off x="1051560" y="4450515"/>
            <a:ext cx="7452360" cy="242839"/>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Fisher基本定理与文献</a:t>
            </a:r>
            <a:endParaRPr lang="en-US" sz="1400" dirty="0"/>
          </a:p>
        </p:txBody>
      </p:sp>
      <p:sp>
        <p:nvSpPr>
          <p:cNvPr id="40" name="Text 37"/>
          <p:cNvSpPr/>
          <p:nvPr/>
        </p:nvSpPr>
        <p:spPr>
          <a:xfrm>
            <a:off x="1051560" y="4647634"/>
            <a:ext cx="7452360" cy="176610"/>
          </a:xfrm>
          <a:prstGeom prst="rect">
            <a:avLst/>
          </a:prstGeom>
          <a:noFill/>
          <a:ln/>
        </p:spPr>
        <p:txBody>
          <a:bodyPr wrap="square" rtlCol="0" anchor="t">
            <a:normAutofit/>
          </a:bodyPr>
          <a:lstStyle/>
          <a:p>
            <a:pPr indent="0" marL="0">
              <a:buNone/>
            </a:pPr>
            <a:r>
              <a:rPr lang="en-US" sz="1100" dirty="0">
                <a:solidFill>
                  <a:srgbClr val="6B7B6B"/>
                </a:solidFill>
                <a:latin typeface="Calibri" pitchFamily="34" charset="0"/>
                <a:ea typeface="Calibri" pitchFamily="34" charset="-122"/>
                <a:cs typeface="Calibri" pitchFamily="34" charset="-120"/>
              </a:rPr>
              <a:t>Fisher's Theorem &amp; Key Literature</a:t>
            </a:r>
            <a:endParaRPr lang="en-US" sz="1100" dirty="0"/>
          </a:p>
        </p:txBody>
      </p:sp>
      <p:sp>
        <p:nvSpPr>
          <p:cNvPr id="4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历史背景 | Historical Background</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三位奠基人 — Three Founders of Population Genetics</a:t>
            </a:r>
            <a:endParaRPr lang="en-US" sz="1300" dirty="0"/>
          </a:p>
        </p:txBody>
      </p:sp>
      <p:sp>
        <p:nvSpPr>
          <p:cNvPr id="6" name="Shape 3"/>
          <p:cNvSpPr/>
          <p:nvPr/>
        </p:nvSpPr>
        <p:spPr>
          <a:xfrm>
            <a:off x="457200" y="1188720"/>
            <a:ext cx="2590800" cy="338328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2590800" cy="54864"/>
          </a:xfrm>
          <a:prstGeom prst="rect">
            <a:avLst/>
          </a:prstGeom>
          <a:solidFill>
            <a:srgbClr val="2C5F2D"/>
          </a:solidFill>
          <a:ln/>
        </p:spPr>
      </p:sp>
      <p:sp>
        <p:nvSpPr>
          <p:cNvPr id="8" name="Text 5"/>
          <p:cNvSpPr/>
          <p:nvPr/>
        </p:nvSpPr>
        <p:spPr>
          <a:xfrm>
            <a:off x="685800" y="1371600"/>
            <a:ext cx="2133600" cy="365760"/>
          </a:xfrm>
          <a:prstGeom prst="rect">
            <a:avLst/>
          </a:prstGeom>
          <a:noFill/>
          <a:ln/>
        </p:spPr>
        <p:txBody>
          <a:bodyPr wrap="square" rtlCol="0" anchor="ctr">
            <a:normAutofit/>
          </a:bodyPr>
          <a:lstStyle/>
          <a:p>
            <a:pPr indent="0" marL="0">
              <a:buNone/>
            </a:pPr>
            <a:r>
              <a:rPr lang="en-US" sz="1600" b="1" spc="50" kern="0" dirty="0">
                <a:solidFill>
                  <a:srgbClr val="2C5F2D"/>
                </a:solidFill>
                <a:latin typeface="Georgia" pitchFamily="34" charset="0"/>
                <a:ea typeface="Georgia" pitchFamily="34" charset="-122"/>
                <a:cs typeface="Georgia" pitchFamily="34" charset="-120"/>
              </a:rPr>
              <a:t>R.A. Fisher</a:t>
            </a:r>
            <a:endParaRPr lang="en-US" sz="1600" dirty="0"/>
          </a:p>
        </p:txBody>
      </p:sp>
      <p:sp>
        <p:nvSpPr>
          <p:cNvPr id="9" name="Text 6"/>
          <p:cNvSpPr/>
          <p:nvPr/>
        </p:nvSpPr>
        <p:spPr>
          <a:xfrm>
            <a:off x="685800" y="1737360"/>
            <a:ext cx="2133600" cy="274320"/>
          </a:xfrm>
          <a:prstGeom prst="rect">
            <a:avLst/>
          </a:prstGeom>
          <a:noFill/>
          <a:ln/>
        </p:spPr>
        <p:txBody>
          <a:bodyPr wrap="square" rtlCol="0" anchor="ctr">
            <a:normAutofit/>
          </a:bodyPr>
          <a:lstStyle/>
          <a:p>
            <a:pPr indent="0" marL="0">
              <a:buNone/>
            </a:pPr>
            <a:r>
              <a:rPr lang="en-US" sz="1100" dirty="0">
                <a:solidFill>
                  <a:srgbClr val="D4A843"/>
                </a:solidFill>
                <a:latin typeface="Calibri" pitchFamily="34" charset="0"/>
                <a:ea typeface="Calibri" pitchFamily="34" charset="-122"/>
                <a:cs typeface="Calibri" pitchFamily="34" charset="-120"/>
              </a:rPr>
              <a:t>1890-1962</a:t>
            </a:r>
            <a:endParaRPr lang="en-US" sz="1100" dirty="0"/>
          </a:p>
        </p:txBody>
      </p:sp>
      <p:sp>
        <p:nvSpPr>
          <p:cNvPr id="10" name="Text 7"/>
          <p:cNvSpPr/>
          <p:nvPr/>
        </p:nvSpPr>
        <p:spPr>
          <a:xfrm>
            <a:off x="685800" y="2057400"/>
            <a:ext cx="2133600" cy="224028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Unified Mendelian genetics with biometrics; Fisher's Fundamental Theorem (1930)</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统一孟德尔遗传与生物统计学</a:t>
            </a:r>
            <a:endParaRPr lang="en-US" sz="1100" dirty="0"/>
          </a:p>
        </p:txBody>
      </p:sp>
      <p:sp>
        <p:nvSpPr>
          <p:cNvPr id="11" name="Shape 8"/>
          <p:cNvSpPr/>
          <p:nvPr/>
        </p:nvSpPr>
        <p:spPr>
          <a:xfrm>
            <a:off x="3276600" y="1188720"/>
            <a:ext cx="2590800" cy="338328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3276600" y="1188720"/>
            <a:ext cx="2590800" cy="54864"/>
          </a:xfrm>
          <a:prstGeom prst="rect">
            <a:avLst/>
          </a:prstGeom>
          <a:solidFill>
            <a:srgbClr val="2C5F2D"/>
          </a:solidFill>
          <a:ln/>
        </p:spPr>
      </p:sp>
      <p:sp>
        <p:nvSpPr>
          <p:cNvPr id="13" name="Text 10"/>
          <p:cNvSpPr/>
          <p:nvPr/>
        </p:nvSpPr>
        <p:spPr>
          <a:xfrm>
            <a:off x="3505200" y="1371600"/>
            <a:ext cx="2133600" cy="365760"/>
          </a:xfrm>
          <a:prstGeom prst="rect">
            <a:avLst/>
          </a:prstGeom>
          <a:noFill/>
          <a:ln/>
        </p:spPr>
        <p:txBody>
          <a:bodyPr wrap="square" rtlCol="0" anchor="ctr">
            <a:normAutofit/>
          </a:bodyPr>
          <a:lstStyle/>
          <a:p>
            <a:pPr indent="0" marL="0">
              <a:buNone/>
            </a:pPr>
            <a:r>
              <a:rPr lang="en-US" sz="1600" b="1" spc="50" kern="0" dirty="0">
                <a:solidFill>
                  <a:srgbClr val="2C5F2D"/>
                </a:solidFill>
                <a:latin typeface="Georgia" pitchFamily="34" charset="0"/>
                <a:ea typeface="Georgia" pitchFamily="34" charset="-122"/>
                <a:cs typeface="Georgia" pitchFamily="34" charset="-120"/>
              </a:rPr>
              <a:t>J.B.S. Haldane</a:t>
            </a:r>
            <a:endParaRPr lang="en-US" sz="1600" dirty="0"/>
          </a:p>
        </p:txBody>
      </p:sp>
      <p:sp>
        <p:nvSpPr>
          <p:cNvPr id="14" name="Text 11"/>
          <p:cNvSpPr/>
          <p:nvPr/>
        </p:nvSpPr>
        <p:spPr>
          <a:xfrm>
            <a:off x="3505200" y="1737360"/>
            <a:ext cx="2133600" cy="274320"/>
          </a:xfrm>
          <a:prstGeom prst="rect">
            <a:avLst/>
          </a:prstGeom>
          <a:noFill/>
          <a:ln/>
        </p:spPr>
        <p:txBody>
          <a:bodyPr wrap="square" rtlCol="0" anchor="ctr">
            <a:normAutofit/>
          </a:bodyPr>
          <a:lstStyle/>
          <a:p>
            <a:pPr indent="0" marL="0">
              <a:buNone/>
            </a:pPr>
            <a:r>
              <a:rPr lang="en-US" sz="1100" dirty="0">
                <a:solidFill>
                  <a:srgbClr val="D4A843"/>
                </a:solidFill>
                <a:latin typeface="Calibri" pitchFamily="34" charset="0"/>
                <a:ea typeface="Calibri" pitchFamily="34" charset="-122"/>
                <a:cs typeface="Calibri" pitchFamily="34" charset="-120"/>
              </a:rPr>
              <a:t>1892-1964</a:t>
            </a:r>
            <a:endParaRPr lang="en-US" sz="1100" dirty="0"/>
          </a:p>
        </p:txBody>
      </p:sp>
      <p:sp>
        <p:nvSpPr>
          <p:cNvPr id="15" name="Text 12"/>
          <p:cNvSpPr/>
          <p:nvPr/>
        </p:nvSpPr>
        <p:spPr>
          <a:xfrm>
            <a:off x="3505200" y="2057400"/>
            <a:ext cx="2133600" cy="224028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Systematically calculated selection intensity; proposed selection coefficient (1924-1932)</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系统推导选择系数概念</a:t>
            </a:r>
            <a:endParaRPr lang="en-US" sz="1100" dirty="0"/>
          </a:p>
        </p:txBody>
      </p:sp>
      <p:sp>
        <p:nvSpPr>
          <p:cNvPr id="16" name="Shape 13"/>
          <p:cNvSpPr/>
          <p:nvPr/>
        </p:nvSpPr>
        <p:spPr>
          <a:xfrm>
            <a:off x="6096000" y="1188720"/>
            <a:ext cx="2590800" cy="338328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6096000" y="1188720"/>
            <a:ext cx="2590800" cy="54864"/>
          </a:xfrm>
          <a:prstGeom prst="rect">
            <a:avLst/>
          </a:prstGeom>
          <a:solidFill>
            <a:srgbClr val="2C5F2D"/>
          </a:solidFill>
          <a:ln/>
        </p:spPr>
      </p:sp>
      <p:sp>
        <p:nvSpPr>
          <p:cNvPr id="18" name="Text 15"/>
          <p:cNvSpPr/>
          <p:nvPr/>
        </p:nvSpPr>
        <p:spPr>
          <a:xfrm>
            <a:off x="6324600" y="1371600"/>
            <a:ext cx="2133600" cy="365760"/>
          </a:xfrm>
          <a:prstGeom prst="rect">
            <a:avLst/>
          </a:prstGeom>
          <a:noFill/>
          <a:ln/>
        </p:spPr>
        <p:txBody>
          <a:bodyPr wrap="square" rtlCol="0" anchor="ctr">
            <a:normAutofit/>
          </a:bodyPr>
          <a:lstStyle/>
          <a:p>
            <a:pPr indent="0" marL="0">
              <a:buNone/>
            </a:pPr>
            <a:r>
              <a:rPr lang="en-US" sz="1600" b="1" spc="50" kern="0" dirty="0">
                <a:solidFill>
                  <a:srgbClr val="2C5F2D"/>
                </a:solidFill>
                <a:latin typeface="Georgia" pitchFamily="34" charset="0"/>
                <a:ea typeface="Georgia" pitchFamily="34" charset="-122"/>
                <a:cs typeface="Georgia" pitchFamily="34" charset="-120"/>
              </a:rPr>
              <a:t>Sewall Wright</a:t>
            </a:r>
            <a:endParaRPr lang="en-US" sz="1600" dirty="0"/>
          </a:p>
        </p:txBody>
      </p:sp>
      <p:sp>
        <p:nvSpPr>
          <p:cNvPr id="19" name="Text 16"/>
          <p:cNvSpPr/>
          <p:nvPr/>
        </p:nvSpPr>
        <p:spPr>
          <a:xfrm>
            <a:off x="6324600" y="1737360"/>
            <a:ext cx="2133600" cy="274320"/>
          </a:xfrm>
          <a:prstGeom prst="rect">
            <a:avLst/>
          </a:prstGeom>
          <a:noFill/>
          <a:ln/>
        </p:spPr>
        <p:txBody>
          <a:bodyPr wrap="square" rtlCol="0" anchor="ctr">
            <a:normAutofit/>
          </a:bodyPr>
          <a:lstStyle/>
          <a:p>
            <a:pPr indent="0" marL="0">
              <a:buNone/>
            </a:pPr>
            <a:r>
              <a:rPr lang="en-US" sz="1100" dirty="0">
                <a:solidFill>
                  <a:srgbClr val="D4A843"/>
                </a:solidFill>
                <a:latin typeface="Calibri" pitchFamily="34" charset="0"/>
                <a:ea typeface="Calibri" pitchFamily="34" charset="-122"/>
                <a:cs typeface="Calibri" pitchFamily="34" charset="-120"/>
              </a:rPr>
              <a:t>1889-1988</a:t>
            </a:r>
            <a:endParaRPr lang="en-US" sz="1100" dirty="0"/>
          </a:p>
        </p:txBody>
      </p:sp>
      <p:sp>
        <p:nvSpPr>
          <p:cNvPr id="20" name="Text 17"/>
          <p:cNvSpPr/>
          <p:nvPr/>
        </p:nvSpPr>
        <p:spPr>
          <a:xfrm>
            <a:off x="6324600" y="2057400"/>
            <a:ext cx="2133600" cy="224028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Introduced effective population size (Ne), genetic drift, adaptive landscape (1931)</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引入有效群体大小与遗传漂变</a:t>
            </a:r>
            <a:endParaRPr lang="en-US" sz="11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核心概念：基因频率 | Gene Frequency</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基因频率与基因型频率的计算</a:t>
            </a:r>
            <a:endParaRPr lang="en-US" sz="1300" dirty="0"/>
          </a:p>
        </p:txBody>
      </p:sp>
      <p:sp>
        <p:nvSpPr>
          <p:cNvPr id="6" name="Shape 3"/>
          <p:cNvSpPr/>
          <p:nvPr/>
        </p:nvSpPr>
        <p:spPr>
          <a:xfrm>
            <a:off x="457200" y="1097280"/>
            <a:ext cx="3931920" cy="182880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7" name="Text 4"/>
          <p:cNvSpPr/>
          <p:nvPr/>
        </p:nvSpPr>
        <p:spPr>
          <a:xfrm>
            <a:off x="640080" y="1234440"/>
            <a:ext cx="356616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公式 Formula</a:t>
            </a:r>
            <a:endParaRPr lang="en-US" sz="1400" dirty="0"/>
          </a:p>
        </p:txBody>
      </p:sp>
      <p:sp>
        <p:nvSpPr>
          <p:cNvPr id="8" name="Text 5"/>
          <p:cNvSpPr/>
          <p:nvPr/>
        </p:nvSpPr>
        <p:spPr>
          <a:xfrm>
            <a:off x="640080" y="1645920"/>
            <a:ext cx="3566160" cy="1188720"/>
          </a:xfrm>
          <a:prstGeom prst="rect">
            <a:avLst/>
          </a:prstGeom>
          <a:noFill/>
          <a:ln/>
        </p:spPr>
        <p:txBody>
          <a:bodyPr wrap="square" rtlCol="0" anchor="ctr"/>
          <a:lstStyle/>
          <a:p>
            <a:pPr indent="0" marL="0">
              <a:buNone/>
            </a:pPr>
            <a:r>
              <a:rPr lang="en-US" sz="1300" b="1" dirty="0">
                <a:solidFill>
                  <a:srgbClr val="2C3E2C"/>
                </a:solidFill>
                <a:latin typeface="Calibri" pitchFamily="34" charset="0"/>
                <a:ea typeface="Calibri" pitchFamily="34" charset="-122"/>
                <a:cs typeface="Calibri" pitchFamily="34" charset="-120"/>
              </a:rPr>
              <a:t>Allele Frequency:</a:t>
            </a:r>
            <a:endParaRPr lang="en-US" sz="1300" dirty="0"/>
          </a:p>
          <a:p>
            <a:pPr indent="0" marL="0">
              <a:buNone/>
            </a:pPr>
            <a:r>
              <a:rPr lang="en-US" sz="1400" b="1" dirty="0">
                <a:solidFill>
                  <a:srgbClr val="2C5F2D"/>
                </a:solidFill>
                <a:latin typeface="Calibri" pitchFamily="34" charset="0"/>
                <a:ea typeface="Calibri" pitchFamily="34" charset="-122"/>
                <a:cs typeface="Calibri" pitchFamily="34" charset="-120"/>
              </a:rPr>
              <a:t>p = (2×AA + Aa) / 2N</a:t>
            </a:r>
            <a:endParaRPr lang="en-US" sz="1300" dirty="0"/>
          </a:p>
          <a:p>
            <a:pPr indent="0" marL="0">
              <a:buNone/>
            </a:pPr>
            <a:endParaRPr lang="en-US" sz="1300" dirty="0"/>
          </a:p>
          <a:p>
            <a:pPr indent="0" marL="0">
              <a:buNone/>
            </a:pPr>
            <a:r>
              <a:rPr lang="en-US" sz="1300" b="1" dirty="0">
                <a:solidFill>
                  <a:srgbClr val="2C3E2C"/>
                </a:solidFill>
                <a:latin typeface="Calibri" pitchFamily="34" charset="0"/>
                <a:ea typeface="Calibri" pitchFamily="34" charset="-122"/>
                <a:cs typeface="Calibri" pitchFamily="34" charset="-120"/>
              </a:rPr>
              <a:t>Genotype Frequency (HWE):</a:t>
            </a:r>
            <a:endParaRPr lang="en-US" sz="1300" dirty="0"/>
          </a:p>
          <a:p>
            <a:pPr indent="0" marL="0">
              <a:buNone/>
            </a:pPr>
            <a:r>
              <a:rPr lang="en-US" sz="1400" b="1" dirty="0">
                <a:solidFill>
                  <a:srgbClr val="2C5F2D"/>
                </a:solidFill>
                <a:latin typeface="Calibri" pitchFamily="34" charset="0"/>
                <a:ea typeface="Calibri" pitchFamily="34" charset="-122"/>
                <a:cs typeface="Calibri" pitchFamily="34" charset="-120"/>
              </a:rPr>
              <a:t>P(AA) = p²   P(Aa) = 2pq   P(aa) = q²</a:t>
            </a:r>
            <a:endParaRPr lang="en-US" sz="1300" dirty="0"/>
          </a:p>
        </p:txBody>
      </p:sp>
      <p:sp>
        <p:nvSpPr>
          <p:cNvPr id="9" name="Shape 6"/>
          <p:cNvSpPr/>
          <p:nvPr/>
        </p:nvSpPr>
        <p:spPr>
          <a:xfrm>
            <a:off x="4617720" y="1097280"/>
            <a:ext cx="4069080" cy="1828800"/>
          </a:xfrm>
          <a:prstGeom prst="roundRect">
            <a:avLst>
              <a:gd name="adj" fmla="val 5000"/>
            </a:avLst>
          </a:prstGeom>
          <a:solidFill>
            <a:srgbClr val="F5F2E8"/>
          </a:solidFill>
          <a:ln/>
          <a:effectLst>
            <a:outerShdw sx="100000" sy="100000" kx="0" ky="0" algn="bl" rotWithShape="0" blurRad="152400" dist="50800" dir="8100000">
              <a:srgbClr val="000000">
                <a:alpha val="28000"/>
              </a:srgbClr>
            </a:outerShdw>
          </a:effectLst>
        </p:spPr>
      </p:sp>
      <p:sp>
        <p:nvSpPr>
          <p:cNvPr id="10" name="Text 7"/>
          <p:cNvSpPr/>
          <p:nvPr/>
        </p:nvSpPr>
        <p:spPr>
          <a:xfrm>
            <a:off x="4800600" y="1234440"/>
            <a:ext cx="370332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示例 Example</a:t>
            </a:r>
            <a:endParaRPr lang="en-US" sz="1400" dirty="0"/>
          </a:p>
        </p:txBody>
      </p:sp>
      <p:sp>
        <p:nvSpPr>
          <p:cNvPr id="11" name="Text 8"/>
          <p:cNvSpPr/>
          <p:nvPr/>
        </p:nvSpPr>
        <p:spPr>
          <a:xfrm>
            <a:off x="4800600" y="1645920"/>
            <a:ext cx="3703320" cy="1188720"/>
          </a:xfrm>
          <a:prstGeom prst="rect">
            <a:avLst/>
          </a:prstGeom>
          <a:noFill/>
          <a:ln/>
        </p:spPr>
        <p:txBody>
          <a:bodyPr wrap="square" rtlCol="0" anchor="ctr"/>
          <a:lstStyle/>
          <a:p>
            <a:pPr indent="0" marL="0">
              <a:buNone/>
            </a:pPr>
            <a:r>
              <a:rPr lang="en-US" sz="1300" dirty="0">
                <a:solidFill>
                  <a:srgbClr val="2C3E2C"/>
                </a:solidFill>
                <a:latin typeface="Calibri" pitchFamily="34" charset="0"/>
                <a:ea typeface="Calibri" pitchFamily="34" charset="-122"/>
                <a:cs typeface="Calibri" pitchFamily="34" charset="-120"/>
              </a:rPr>
              <a:t>N=100:  AA=36,  Aa=48,  aa=16</a:t>
            </a:r>
            <a:endParaRPr lang="en-US" sz="1300" dirty="0"/>
          </a:p>
          <a:p>
            <a:pPr indent="0" marL="0">
              <a:buNone/>
            </a:pPr>
            <a:r>
              <a:rPr lang="en-US" sz="1300" b="1" dirty="0">
                <a:solidFill>
                  <a:srgbClr val="2C5F2D"/>
                </a:solidFill>
                <a:latin typeface="Calibri" pitchFamily="34" charset="0"/>
                <a:ea typeface="Calibri" pitchFamily="34" charset="-122"/>
                <a:cs typeface="Calibri" pitchFamily="34" charset="-120"/>
              </a:rPr>
              <a:t>p = (72+48)/200 = 0.60</a:t>
            </a:r>
            <a:endParaRPr lang="en-US" sz="1300" dirty="0"/>
          </a:p>
          <a:p>
            <a:pPr indent="0" marL="0">
              <a:buNone/>
            </a:pPr>
            <a:r>
              <a:rPr lang="en-US" sz="1300" b="1" dirty="0">
                <a:solidFill>
                  <a:srgbClr val="2C5F2D"/>
                </a:solidFill>
                <a:latin typeface="Calibri" pitchFamily="34" charset="0"/>
                <a:ea typeface="Calibri" pitchFamily="34" charset="-122"/>
                <a:cs typeface="Calibri" pitchFamily="34" charset="-120"/>
              </a:rPr>
              <a:t>q = (32+48)/200 = 0.40</a:t>
            </a:r>
            <a:endParaRPr lang="en-US" sz="1300" dirty="0"/>
          </a:p>
          <a:p>
            <a:pPr indent="0" marL="0">
              <a:buNone/>
            </a:pPr>
            <a:r>
              <a:rPr lang="en-US" sz="1300" b="1" dirty="0">
                <a:solidFill>
                  <a:srgbClr val="D4A843"/>
                </a:solidFill>
                <a:latin typeface="Calibri" pitchFamily="34" charset="0"/>
                <a:ea typeface="Calibri" pitchFamily="34" charset="-122"/>
                <a:cs typeface="Calibri" pitchFamily="34" charset="-120"/>
              </a:rPr>
              <a:t>p + q = 1.0</a:t>
            </a:r>
            <a:endParaRPr lang="en-US" sz="1300" dirty="0"/>
          </a:p>
        </p:txBody>
      </p:sp>
      <p:sp>
        <p:nvSpPr>
          <p:cNvPr id="12" name="Shape 9"/>
          <p:cNvSpPr/>
          <p:nvPr/>
        </p:nvSpPr>
        <p:spPr>
          <a:xfrm>
            <a:off x="457200" y="3108960"/>
            <a:ext cx="8229600" cy="1691640"/>
          </a:xfrm>
          <a:prstGeom prst="roundRect">
            <a:avLst>
              <a:gd name="adj" fmla="val 5405"/>
            </a:avLst>
          </a:prstGeom>
          <a:solidFill>
            <a:srgbClr val="FFFFFF"/>
          </a:solidFill>
          <a:ln/>
          <a:effectLst>
            <a:outerShdw sx="100000" sy="100000" kx="0" ky="0" algn="bl" rotWithShape="0" blurRad="152400" dist="50800" dir="8100000">
              <a:srgbClr val="000000">
                <a:alpha val="28000"/>
              </a:srgbClr>
            </a:outerShdw>
          </a:effectLst>
        </p:spPr>
      </p:sp>
      <p:pic>
        <p:nvPicPr>
          <p:cNvPr id="13" name="Image 0" descr="/workspace/genetics_learning/day052_gene_frequency_evolution.jpg">    </p:cNvPr>
          <p:cNvPicPr>
            <a:picLocks noChangeAspect="1"/>
          </p:cNvPicPr>
          <p:nvPr/>
        </p:nvPicPr>
        <p:blipFill>
          <a:blip r:embed="rId1"/>
          <a:srcRect l="0" r="0" t="0" b="0"/>
          <a:stretch/>
        </p:blipFill>
        <p:spPr>
          <a:xfrm>
            <a:off x="594360" y="3246120"/>
            <a:ext cx="7955280" cy="1417320"/>
          </a:xfrm>
          <a:prstGeom prst="rect">
            <a:avLst/>
          </a:prstGeom>
        </p:spPr>
      </p:pic>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核心概念：四大进化动力 | Four Evolutionary Forces</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驱动基因频率变化的四种力量</a:t>
            </a:r>
            <a:endParaRPr lang="en-US" sz="1300" dirty="0"/>
          </a:p>
        </p:txBody>
      </p:sp>
      <p:sp>
        <p:nvSpPr>
          <p:cNvPr id="6" name="Shape 3"/>
          <p:cNvSpPr/>
          <p:nvPr/>
        </p:nvSpPr>
        <p:spPr>
          <a:xfrm>
            <a:off x="457200" y="1097280"/>
            <a:ext cx="8229600" cy="2377440"/>
          </a:xfrm>
          <a:prstGeom prst="roundRect">
            <a:avLst>
              <a:gd name="adj" fmla="val 3846"/>
            </a:avLst>
          </a:prstGeom>
          <a:solidFill>
            <a:srgbClr val="FFFFFF"/>
          </a:solidFill>
          <a:ln/>
          <a:effectLst>
            <a:outerShdw sx="100000" sy="100000" kx="0" ky="0" algn="bl" rotWithShape="0" blurRad="203200" dist="76200" dir="8100000">
              <a:srgbClr val="000000">
                <a:alpha val="32000"/>
              </a:srgbClr>
            </a:outerShdw>
          </a:effectLst>
        </p:spPr>
      </p:sp>
      <p:pic>
        <p:nvPicPr>
          <p:cNvPr id="7" name="Image 0" descr="/workspace/genetics_learning/day052_evolution_forces_panorama.jpg">    </p:cNvPr>
          <p:cNvPicPr>
            <a:picLocks noChangeAspect="1"/>
          </p:cNvPicPr>
          <p:nvPr/>
        </p:nvPicPr>
        <p:blipFill>
          <a:blip r:embed="rId1"/>
          <a:srcRect l="0" r="0" t="0" b="0"/>
          <a:stretch/>
        </p:blipFill>
        <p:spPr>
          <a:xfrm>
            <a:off x="548640" y="1188720"/>
            <a:ext cx="8046720" cy="2194560"/>
          </a:xfrm>
          <a:prstGeom prst="rect">
            <a:avLst/>
          </a:prstGeom>
        </p:spPr>
      </p:pic>
      <p:sp>
        <p:nvSpPr>
          <p:cNvPr id="8" name="Shape 4"/>
          <p:cNvSpPr/>
          <p:nvPr/>
        </p:nvSpPr>
        <p:spPr>
          <a:xfrm>
            <a:off x="457200" y="3703320"/>
            <a:ext cx="192024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9" name="Shape 5"/>
          <p:cNvSpPr/>
          <p:nvPr/>
        </p:nvSpPr>
        <p:spPr>
          <a:xfrm>
            <a:off x="457200" y="3703320"/>
            <a:ext cx="1920240" cy="45720"/>
          </a:xfrm>
          <a:prstGeom prst="rect">
            <a:avLst/>
          </a:prstGeom>
          <a:solidFill>
            <a:srgbClr val="2C5F2D"/>
          </a:solidFill>
          <a:ln/>
        </p:spPr>
      </p:sp>
      <p:sp>
        <p:nvSpPr>
          <p:cNvPr id="10" name="Text 6"/>
          <p:cNvSpPr/>
          <p:nvPr/>
        </p:nvSpPr>
        <p:spPr>
          <a:xfrm>
            <a:off x="548640" y="3840480"/>
            <a:ext cx="1737360" cy="594360"/>
          </a:xfrm>
          <a:prstGeom prst="rect">
            <a:avLst/>
          </a:prstGeom>
          <a:noFill/>
          <a:ln/>
        </p:spPr>
        <p:txBody>
          <a:bodyPr wrap="square" rtlCol="0" anchor="ctr"/>
          <a:lstStyle/>
          <a:p>
            <a:pPr algn="ctr" indent="0" marL="0">
              <a:buNone/>
            </a:pPr>
            <a:r>
              <a:rPr lang="en-US" sz="1100" b="1" dirty="0">
                <a:solidFill>
                  <a:srgbClr val="2C3E2C"/>
                </a:solidFill>
                <a:latin typeface="Calibri" pitchFamily="34" charset="0"/>
                <a:ea typeface="Calibri" pitchFamily="34" charset="-122"/>
                <a:cs typeface="Calibri" pitchFamily="34" charset="-120"/>
              </a:rPr>
              <a:t>自然选择</a:t>
            </a:r>
            <a:endParaRPr lang="en-US" sz="1100" dirty="0"/>
          </a:p>
          <a:p>
            <a:pPr algn="ctr" indent="0" marL="0">
              <a:buNone/>
            </a:pPr>
            <a:r>
              <a:rPr lang="en-US" sz="1100" b="1" dirty="0">
                <a:solidFill>
                  <a:srgbClr val="2C3E2C"/>
                </a:solidFill>
                <a:latin typeface="Calibri" pitchFamily="34" charset="0"/>
                <a:ea typeface="Calibri" pitchFamily="34" charset="-122"/>
                <a:cs typeface="Calibri" pitchFamily="34" charset="-120"/>
              </a:rPr>
              <a:t>Selection</a:t>
            </a:r>
            <a:endParaRPr lang="en-US" sz="1100" dirty="0"/>
          </a:p>
        </p:txBody>
      </p:sp>
      <p:sp>
        <p:nvSpPr>
          <p:cNvPr id="11" name="Text 7"/>
          <p:cNvSpPr/>
          <p:nvPr/>
        </p:nvSpPr>
        <p:spPr>
          <a:xfrm>
            <a:off x="548640" y="4357116"/>
            <a:ext cx="1737360" cy="416052"/>
          </a:xfrm>
          <a:prstGeom prst="rect">
            <a:avLst/>
          </a:prstGeom>
          <a:noFill/>
          <a:ln/>
        </p:spPr>
        <p:txBody>
          <a:bodyPr wrap="square" rtlCol="0" anchor="t">
            <a:normAutofit/>
          </a:bodyPr>
          <a:lstStyle/>
          <a:p>
            <a:pPr algn="ctr" indent="0" marL="0">
              <a:buNone/>
            </a:pPr>
            <a:r>
              <a:rPr lang="en-US" sz="1000" dirty="0">
                <a:solidFill>
                  <a:srgbClr val="6B7B6B"/>
                </a:solidFill>
                <a:latin typeface="Calibri" pitchFamily="34" charset="0"/>
                <a:ea typeface="Calibri" pitchFamily="34" charset="-122"/>
                <a:cs typeface="Calibri" pitchFamily="34" charset="-120"/>
              </a:rPr>
              <a:t>差异生存与繁殖</a:t>
            </a:r>
            <a:endParaRPr lang="en-US" sz="1000" dirty="0"/>
          </a:p>
        </p:txBody>
      </p:sp>
      <p:sp>
        <p:nvSpPr>
          <p:cNvPr id="12" name="Shape 8"/>
          <p:cNvSpPr/>
          <p:nvPr/>
        </p:nvSpPr>
        <p:spPr>
          <a:xfrm>
            <a:off x="2560320" y="3703320"/>
            <a:ext cx="192024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13" name="Shape 9"/>
          <p:cNvSpPr/>
          <p:nvPr/>
        </p:nvSpPr>
        <p:spPr>
          <a:xfrm>
            <a:off x="2560320" y="3703320"/>
            <a:ext cx="1920240" cy="45720"/>
          </a:xfrm>
          <a:prstGeom prst="rect">
            <a:avLst/>
          </a:prstGeom>
          <a:solidFill>
            <a:srgbClr val="97BC62"/>
          </a:solidFill>
          <a:ln/>
        </p:spPr>
      </p:sp>
      <p:sp>
        <p:nvSpPr>
          <p:cNvPr id="14" name="Text 10"/>
          <p:cNvSpPr/>
          <p:nvPr/>
        </p:nvSpPr>
        <p:spPr>
          <a:xfrm>
            <a:off x="2651760" y="3840480"/>
            <a:ext cx="1737360" cy="594360"/>
          </a:xfrm>
          <a:prstGeom prst="rect">
            <a:avLst/>
          </a:prstGeom>
          <a:noFill/>
          <a:ln/>
        </p:spPr>
        <p:txBody>
          <a:bodyPr wrap="square" rtlCol="0" anchor="ctr"/>
          <a:lstStyle/>
          <a:p>
            <a:pPr algn="ctr" indent="0" marL="0">
              <a:buNone/>
            </a:pPr>
            <a:r>
              <a:rPr lang="en-US" sz="1100" b="1" dirty="0">
                <a:solidFill>
                  <a:srgbClr val="2C3E2C"/>
                </a:solidFill>
                <a:latin typeface="Calibri" pitchFamily="34" charset="0"/>
                <a:ea typeface="Calibri" pitchFamily="34" charset="-122"/>
                <a:cs typeface="Calibri" pitchFamily="34" charset="-120"/>
              </a:rPr>
              <a:t>遗传漂变</a:t>
            </a:r>
            <a:endParaRPr lang="en-US" sz="1100" dirty="0"/>
          </a:p>
          <a:p>
            <a:pPr algn="ctr" indent="0" marL="0">
              <a:buNone/>
            </a:pPr>
            <a:r>
              <a:rPr lang="en-US" sz="1100" b="1" dirty="0">
                <a:solidFill>
                  <a:srgbClr val="2C3E2C"/>
                </a:solidFill>
                <a:latin typeface="Calibri" pitchFamily="34" charset="0"/>
                <a:ea typeface="Calibri" pitchFamily="34" charset="-122"/>
                <a:cs typeface="Calibri" pitchFamily="34" charset="-120"/>
              </a:rPr>
              <a:t>Drift</a:t>
            </a:r>
            <a:endParaRPr lang="en-US" sz="1100" dirty="0"/>
          </a:p>
        </p:txBody>
      </p:sp>
      <p:sp>
        <p:nvSpPr>
          <p:cNvPr id="15" name="Text 11"/>
          <p:cNvSpPr/>
          <p:nvPr/>
        </p:nvSpPr>
        <p:spPr>
          <a:xfrm>
            <a:off x="2651760" y="4357116"/>
            <a:ext cx="1737360" cy="416052"/>
          </a:xfrm>
          <a:prstGeom prst="rect">
            <a:avLst/>
          </a:prstGeom>
          <a:noFill/>
          <a:ln/>
        </p:spPr>
        <p:txBody>
          <a:bodyPr wrap="square" rtlCol="0" anchor="t">
            <a:normAutofit/>
          </a:bodyPr>
          <a:lstStyle/>
          <a:p>
            <a:pPr algn="ctr" indent="0" marL="0">
              <a:buNone/>
            </a:pPr>
            <a:r>
              <a:rPr lang="en-US" sz="1000" dirty="0">
                <a:solidFill>
                  <a:srgbClr val="6B7B6B"/>
                </a:solidFill>
                <a:latin typeface="Calibri" pitchFamily="34" charset="0"/>
                <a:ea typeface="Calibri" pitchFamily="34" charset="-122"/>
                <a:cs typeface="Calibri" pitchFamily="34" charset="-120"/>
              </a:rPr>
              <a:t>随机抽样效应</a:t>
            </a:r>
            <a:endParaRPr lang="en-US" sz="1000" dirty="0"/>
          </a:p>
        </p:txBody>
      </p:sp>
      <p:sp>
        <p:nvSpPr>
          <p:cNvPr id="16" name="Shape 12"/>
          <p:cNvSpPr/>
          <p:nvPr/>
        </p:nvSpPr>
        <p:spPr>
          <a:xfrm>
            <a:off x="4663440" y="3703320"/>
            <a:ext cx="192024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17" name="Shape 13"/>
          <p:cNvSpPr/>
          <p:nvPr/>
        </p:nvSpPr>
        <p:spPr>
          <a:xfrm>
            <a:off x="4663440" y="3703320"/>
            <a:ext cx="1920240" cy="45720"/>
          </a:xfrm>
          <a:prstGeom prst="rect">
            <a:avLst/>
          </a:prstGeom>
          <a:solidFill>
            <a:srgbClr val="D4A843"/>
          </a:solidFill>
          <a:ln/>
        </p:spPr>
      </p:sp>
      <p:sp>
        <p:nvSpPr>
          <p:cNvPr id="18" name="Text 14"/>
          <p:cNvSpPr/>
          <p:nvPr/>
        </p:nvSpPr>
        <p:spPr>
          <a:xfrm>
            <a:off x="4754880" y="3840480"/>
            <a:ext cx="1737360" cy="594360"/>
          </a:xfrm>
          <a:prstGeom prst="rect">
            <a:avLst/>
          </a:prstGeom>
          <a:noFill/>
          <a:ln/>
        </p:spPr>
        <p:txBody>
          <a:bodyPr wrap="square" rtlCol="0" anchor="ctr"/>
          <a:lstStyle/>
          <a:p>
            <a:pPr algn="ctr" indent="0" marL="0">
              <a:buNone/>
            </a:pPr>
            <a:r>
              <a:rPr lang="en-US" sz="1100" b="1" dirty="0">
                <a:solidFill>
                  <a:srgbClr val="2C3E2C"/>
                </a:solidFill>
                <a:latin typeface="Calibri" pitchFamily="34" charset="0"/>
                <a:ea typeface="Calibri" pitchFamily="34" charset="-122"/>
                <a:cs typeface="Calibri" pitchFamily="34" charset="-120"/>
              </a:rPr>
              <a:t>基因流</a:t>
            </a:r>
            <a:endParaRPr lang="en-US" sz="1100" dirty="0"/>
          </a:p>
          <a:p>
            <a:pPr algn="ctr" indent="0" marL="0">
              <a:buNone/>
            </a:pPr>
            <a:r>
              <a:rPr lang="en-US" sz="1100" b="1" dirty="0">
                <a:solidFill>
                  <a:srgbClr val="2C3E2C"/>
                </a:solidFill>
                <a:latin typeface="Calibri" pitchFamily="34" charset="0"/>
                <a:ea typeface="Calibri" pitchFamily="34" charset="-122"/>
                <a:cs typeface="Calibri" pitchFamily="34" charset="-120"/>
              </a:rPr>
              <a:t>Migration</a:t>
            </a:r>
            <a:endParaRPr lang="en-US" sz="1100" dirty="0"/>
          </a:p>
        </p:txBody>
      </p:sp>
      <p:sp>
        <p:nvSpPr>
          <p:cNvPr id="19" name="Text 15"/>
          <p:cNvSpPr/>
          <p:nvPr/>
        </p:nvSpPr>
        <p:spPr>
          <a:xfrm>
            <a:off x="4754880" y="4357116"/>
            <a:ext cx="1737360" cy="416052"/>
          </a:xfrm>
          <a:prstGeom prst="rect">
            <a:avLst/>
          </a:prstGeom>
          <a:noFill/>
          <a:ln/>
        </p:spPr>
        <p:txBody>
          <a:bodyPr wrap="square" rtlCol="0" anchor="t">
            <a:normAutofit/>
          </a:bodyPr>
          <a:lstStyle/>
          <a:p>
            <a:pPr algn="ctr" indent="0" marL="0">
              <a:buNone/>
            </a:pPr>
            <a:r>
              <a:rPr lang="en-US" sz="1000" dirty="0">
                <a:solidFill>
                  <a:srgbClr val="6B7B6B"/>
                </a:solidFill>
                <a:latin typeface="Calibri" pitchFamily="34" charset="0"/>
                <a:ea typeface="Calibri" pitchFamily="34" charset="-122"/>
                <a:cs typeface="Calibri" pitchFamily="34" charset="-120"/>
              </a:rPr>
              <a:t>群体间个体迁移</a:t>
            </a:r>
            <a:endParaRPr lang="en-US" sz="1000" dirty="0"/>
          </a:p>
        </p:txBody>
      </p:sp>
      <p:sp>
        <p:nvSpPr>
          <p:cNvPr id="20" name="Shape 16"/>
          <p:cNvSpPr/>
          <p:nvPr/>
        </p:nvSpPr>
        <p:spPr>
          <a:xfrm>
            <a:off x="6766560" y="3703320"/>
            <a:ext cx="192024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21" name="Shape 17"/>
          <p:cNvSpPr/>
          <p:nvPr/>
        </p:nvSpPr>
        <p:spPr>
          <a:xfrm>
            <a:off x="6766560" y="3703320"/>
            <a:ext cx="1920240" cy="45720"/>
          </a:xfrm>
          <a:prstGeom prst="rect">
            <a:avLst/>
          </a:prstGeom>
          <a:solidFill>
            <a:srgbClr val="6B7B6B"/>
          </a:solidFill>
          <a:ln/>
        </p:spPr>
      </p:sp>
      <p:sp>
        <p:nvSpPr>
          <p:cNvPr id="22" name="Text 18"/>
          <p:cNvSpPr/>
          <p:nvPr/>
        </p:nvSpPr>
        <p:spPr>
          <a:xfrm>
            <a:off x="6858000" y="3840480"/>
            <a:ext cx="1737360" cy="594360"/>
          </a:xfrm>
          <a:prstGeom prst="rect">
            <a:avLst/>
          </a:prstGeom>
          <a:noFill/>
          <a:ln/>
        </p:spPr>
        <p:txBody>
          <a:bodyPr wrap="square" rtlCol="0" anchor="ctr"/>
          <a:lstStyle/>
          <a:p>
            <a:pPr algn="ctr" indent="0" marL="0">
              <a:buNone/>
            </a:pPr>
            <a:r>
              <a:rPr lang="en-US" sz="1100" b="1" dirty="0">
                <a:solidFill>
                  <a:srgbClr val="2C3E2C"/>
                </a:solidFill>
                <a:latin typeface="Calibri" pitchFamily="34" charset="0"/>
                <a:ea typeface="Calibri" pitchFamily="34" charset="-122"/>
                <a:cs typeface="Calibri" pitchFamily="34" charset="-120"/>
              </a:rPr>
              <a:t>突变</a:t>
            </a:r>
            <a:endParaRPr lang="en-US" sz="1100" dirty="0"/>
          </a:p>
          <a:p>
            <a:pPr algn="ctr" indent="0" marL="0">
              <a:buNone/>
            </a:pPr>
            <a:r>
              <a:rPr lang="en-US" sz="1100" b="1" dirty="0">
                <a:solidFill>
                  <a:srgbClr val="2C3E2C"/>
                </a:solidFill>
                <a:latin typeface="Calibri" pitchFamily="34" charset="0"/>
                <a:ea typeface="Calibri" pitchFamily="34" charset="-122"/>
                <a:cs typeface="Calibri" pitchFamily="34" charset="-120"/>
              </a:rPr>
              <a:t>Mutation</a:t>
            </a:r>
            <a:endParaRPr lang="en-US" sz="1100" dirty="0"/>
          </a:p>
        </p:txBody>
      </p:sp>
      <p:sp>
        <p:nvSpPr>
          <p:cNvPr id="23" name="Text 19"/>
          <p:cNvSpPr/>
          <p:nvPr/>
        </p:nvSpPr>
        <p:spPr>
          <a:xfrm>
            <a:off x="6858000" y="4357116"/>
            <a:ext cx="1737360" cy="416052"/>
          </a:xfrm>
          <a:prstGeom prst="rect">
            <a:avLst/>
          </a:prstGeom>
          <a:noFill/>
          <a:ln/>
        </p:spPr>
        <p:txBody>
          <a:bodyPr wrap="square" rtlCol="0" anchor="t">
            <a:normAutofit/>
          </a:bodyPr>
          <a:lstStyle/>
          <a:p>
            <a:pPr algn="ctr" indent="0" marL="0">
              <a:buNone/>
            </a:pPr>
            <a:r>
              <a:rPr lang="en-US" sz="1000" dirty="0">
                <a:solidFill>
                  <a:srgbClr val="6B7B6B"/>
                </a:solidFill>
                <a:latin typeface="Calibri" pitchFamily="34" charset="0"/>
                <a:ea typeface="Calibri" pitchFamily="34" charset="-122"/>
                <a:cs typeface="Calibri" pitchFamily="34" charset="-120"/>
              </a:rPr>
              <a:t>等位基因随机改变</a:t>
            </a:r>
            <a:endParaRPr lang="en-US" sz="1000" dirty="0"/>
          </a:p>
        </p:txBody>
      </p:sp>
      <p:sp>
        <p:nvSpPr>
          <p:cNvPr id="2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适合度与选择 | Fitness &amp; Selection</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W = 1 - s</a:t>
            </a:r>
            <a:endParaRPr lang="en-US" sz="1300" dirty="0"/>
          </a:p>
        </p:txBody>
      </p:sp>
      <p:sp>
        <p:nvSpPr>
          <p:cNvPr id="6" name="Shape 3"/>
          <p:cNvSpPr/>
          <p:nvPr/>
        </p:nvSpPr>
        <p:spPr>
          <a:xfrm>
            <a:off x="457200" y="1097280"/>
            <a:ext cx="4754880" cy="2194560"/>
          </a:xfrm>
          <a:prstGeom prst="roundRect">
            <a:avLst>
              <a:gd name="adj" fmla="val 4167"/>
            </a:avLst>
          </a:prstGeom>
          <a:solidFill>
            <a:srgbClr val="FFFFFF"/>
          </a:solidFill>
          <a:ln/>
          <a:effectLst>
            <a:outerShdw sx="100000" sy="100000" kx="0" ky="0" algn="bl" rotWithShape="0" blurRad="152400" dist="50800" dir="8100000">
              <a:srgbClr val="000000">
                <a:alpha val="28000"/>
              </a:srgbClr>
            </a:outerShdw>
          </a:effectLst>
        </p:spPr>
      </p:sp>
      <p:sp>
        <p:nvSpPr>
          <p:cNvPr id="7" name="Text 4"/>
          <p:cNvSpPr/>
          <p:nvPr/>
        </p:nvSpPr>
        <p:spPr>
          <a:xfrm>
            <a:off x="640080" y="1234440"/>
            <a:ext cx="438912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适合度公式 Fitness Formula</a:t>
            </a:r>
            <a:endParaRPr lang="en-US" sz="1400" dirty="0"/>
          </a:p>
        </p:txBody>
      </p:sp>
      <p:sp>
        <p:nvSpPr>
          <p:cNvPr id="8" name="Text 5"/>
          <p:cNvSpPr/>
          <p:nvPr/>
        </p:nvSpPr>
        <p:spPr>
          <a:xfrm>
            <a:off x="640080" y="1645920"/>
            <a:ext cx="4389120" cy="1463040"/>
          </a:xfrm>
          <a:prstGeom prst="rect">
            <a:avLst/>
          </a:prstGeom>
          <a:noFill/>
          <a:ln/>
        </p:spPr>
        <p:txBody>
          <a:bodyPr wrap="square" rtlCol="0" anchor="ctr"/>
          <a:lstStyle/>
          <a:p>
            <a:pPr indent="0" marL="0">
              <a:buNone/>
            </a:pPr>
            <a:r>
              <a:rPr lang="en-US" sz="1400" b="1" dirty="0">
                <a:solidFill>
                  <a:srgbClr val="2C3E2C"/>
                </a:solidFill>
                <a:latin typeface="Calibri" pitchFamily="34" charset="0"/>
                <a:ea typeface="Calibri" pitchFamily="34" charset="-122"/>
                <a:cs typeface="Calibri" pitchFamily="34" charset="-120"/>
              </a:rPr>
              <a:t>Fitness:</a:t>
            </a:r>
            <a:endParaRPr lang="en-US" sz="1400" dirty="0"/>
          </a:p>
          <a:p>
            <a:pPr indent="0" marL="0">
              <a:buNone/>
            </a:pPr>
            <a:r>
              <a:rPr lang="en-US" sz="2400" b="1" dirty="0">
                <a:solidFill>
                  <a:srgbClr val="2C5F2D"/>
                </a:solidFill>
                <a:latin typeface="Georgia" pitchFamily="34" charset="0"/>
                <a:ea typeface="Georgia" pitchFamily="34" charset="-122"/>
                <a:cs typeface="Georgia" pitchFamily="34" charset="-120"/>
              </a:rPr>
              <a:t>W = 1 - s</a:t>
            </a:r>
            <a:endParaRPr lang="en-US" sz="1400" dirty="0"/>
          </a:p>
          <a:p>
            <a:pPr indent="0" marL="0">
              <a:buNone/>
            </a:pPr>
            <a:endParaRPr lang="en-US" sz="1400" dirty="0"/>
          </a:p>
          <a:p>
            <a:pPr indent="0" marL="0">
              <a:buNone/>
            </a:pPr>
            <a:r>
              <a:rPr lang="en-US" sz="1300" dirty="0">
                <a:solidFill>
                  <a:srgbClr val="2C3E2C"/>
                </a:solidFill>
                <a:latin typeface="Calibri" pitchFamily="34" charset="0"/>
                <a:ea typeface="Calibri" pitchFamily="34" charset="-122"/>
                <a:cs typeface="Calibri" pitchFamily="34" charset="-120"/>
              </a:rPr>
              <a:t>W = fitness of a genotype</a:t>
            </a:r>
            <a:endParaRPr lang="en-US" sz="1400" dirty="0"/>
          </a:p>
          <a:p>
            <a:pPr indent="0" marL="0">
              <a:buNone/>
            </a:pPr>
            <a:r>
              <a:rPr lang="en-US" sz="1300" dirty="0">
                <a:solidFill>
                  <a:srgbClr val="2C3E2C"/>
                </a:solidFill>
                <a:latin typeface="Calibri" pitchFamily="34" charset="0"/>
                <a:ea typeface="Calibri" pitchFamily="34" charset="-122"/>
                <a:cs typeface="Calibri" pitchFamily="34" charset="-120"/>
              </a:rPr>
              <a:t>s = selection coefficient</a:t>
            </a:r>
            <a:endParaRPr lang="en-US" sz="1400" dirty="0"/>
          </a:p>
          <a:p>
            <a:pPr indent="0" marL="0">
              <a:buNone/>
            </a:pPr>
            <a:r>
              <a:rPr lang="en-US" sz="1100" dirty="0">
                <a:solidFill>
                  <a:srgbClr val="6B7B6B"/>
                </a:solidFill>
                <a:latin typeface="Calibri" pitchFamily="34" charset="0"/>
                <a:ea typeface="Calibri" pitchFamily="34" charset="-122"/>
                <a:cs typeface="Calibri" pitchFamily="34" charset="-120"/>
              </a:rPr>
              <a:t>(s = strength of selection against genotype)</a:t>
            </a:r>
            <a:endParaRPr lang="en-US" sz="1400" dirty="0"/>
          </a:p>
        </p:txBody>
      </p:sp>
      <p:sp>
        <p:nvSpPr>
          <p:cNvPr id="9" name="Shape 6"/>
          <p:cNvSpPr/>
          <p:nvPr/>
        </p:nvSpPr>
        <p:spPr>
          <a:xfrm>
            <a:off x="5440680" y="1097280"/>
            <a:ext cx="3246120" cy="2194560"/>
          </a:xfrm>
          <a:prstGeom prst="roundRect">
            <a:avLst>
              <a:gd name="adj" fmla="val 4167"/>
            </a:avLst>
          </a:prstGeom>
          <a:solidFill>
            <a:srgbClr val="F5F2E8"/>
          </a:solidFill>
          <a:ln/>
          <a:effectLst>
            <a:outerShdw sx="100000" sy="100000" kx="0" ky="0" algn="bl" rotWithShape="0" blurRad="152400" dist="50800" dir="8100000">
              <a:srgbClr val="000000">
                <a:alpha val="28000"/>
              </a:srgbClr>
            </a:outerShdw>
          </a:effectLst>
        </p:spPr>
      </p:sp>
      <p:sp>
        <p:nvSpPr>
          <p:cNvPr id="10" name="Text 7"/>
          <p:cNvSpPr/>
          <p:nvPr/>
        </p:nvSpPr>
        <p:spPr>
          <a:xfrm>
            <a:off x="5623560" y="1234440"/>
            <a:ext cx="288036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计算示例 Example</a:t>
            </a:r>
            <a:endParaRPr lang="en-US" sz="1400" dirty="0"/>
          </a:p>
        </p:txBody>
      </p:sp>
      <p:sp>
        <p:nvSpPr>
          <p:cNvPr id="11" name="Text 8"/>
          <p:cNvSpPr/>
          <p:nvPr/>
        </p:nvSpPr>
        <p:spPr>
          <a:xfrm>
            <a:off x="5623560" y="1645920"/>
            <a:ext cx="2880360" cy="146304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Genotype:    AA      Aa      aa</a:t>
            </a:r>
            <a:endParaRPr lang="en-US" sz="1100" dirty="0"/>
          </a:p>
          <a:p>
            <a:pPr indent="0" marL="0">
              <a:buNone/>
            </a:pPr>
            <a:r>
              <a:rPr lang="en-US" sz="1100" b="1" dirty="0">
                <a:solidFill>
                  <a:srgbClr val="2C5F2D"/>
                </a:solidFill>
                <a:latin typeface="Calibri" pitchFamily="34" charset="0"/>
                <a:ea typeface="Calibri" pitchFamily="34" charset="-122"/>
                <a:cs typeface="Calibri" pitchFamily="34" charset="-120"/>
              </a:rPr>
              <a:t>Fitness:     1.0    0.90    0.70</a:t>
            </a:r>
            <a:endParaRPr lang="en-US" sz="1100" dirty="0"/>
          </a:p>
          <a:p>
            <a:pPr indent="0" marL="0">
              <a:buNone/>
            </a:pPr>
            <a:r>
              <a:rPr lang="en-US" sz="1100" dirty="0">
                <a:solidFill>
                  <a:srgbClr val="D4A843"/>
                </a:solidFill>
                <a:latin typeface="Calibri" pitchFamily="34" charset="0"/>
                <a:ea typeface="Calibri" pitchFamily="34" charset="-122"/>
                <a:cs typeface="Calibri" pitchFamily="34" charset="-120"/>
              </a:rPr>
              <a:t>Sel. Coef:   0      0.10    0.30</a:t>
            </a:r>
            <a:endParaRPr lang="en-US" sz="1100" dirty="0"/>
          </a:p>
          <a:p>
            <a:pPr indent="0" marL="0">
              <a:buNone/>
            </a:pPr>
            <a:endParaRPr lang="en-US" sz="1100" dirty="0"/>
          </a:p>
          <a:p>
            <a:pPr indent="0" marL="0">
              <a:buNone/>
            </a:pPr>
            <a:r>
              <a:rPr lang="en-US" sz="1100" dirty="0">
                <a:solidFill>
                  <a:srgbClr val="6B7B6B"/>
                </a:solidFill>
                <a:latin typeface="Calibri" pitchFamily="34" charset="0"/>
                <a:ea typeface="Calibri" pitchFamily="34" charset="-122"/>
                <a:cs typeface="Calibri" pitchFamily="34" charset="-120"/>
              </a:rPr>
              <a:t>s(AA) = 1 - 1.0 = 0</a:t>
            </a:r>
            <a:endParaRPr lang="en-US" sz="1100" dirty="0"/>
          </a:p>
          <a:p>
            <a:pPr indent="0" marL="0">
              <a:buNone/>
            </a:pPr>
            <a:r>
              <a:rPr lang="en-US" sz="1100" dirty="0">
                <a:solidFill>
                  <a:srgbClr val="6B7B6B"/>
                </a:solidFill>
                <a:latin typeface="Calibri" pitchFamily="34" charset="0"/>
                <a:ea typeface="Calibri" pitchFamily="34" charset="-122"/>
                <a:cs typeface="Calibri" pitchFamily="34" charset="-120"/>
              </a:rPr>
              <a:t>s(Aa) = 1 - 0.9 = 0.1</a:t>
            </a:r>
            <a:endParaRPr lang="en-US" sz="1100" dirty="0"/>
          </a:p>
          <a:p>
            <a:pPr indent="0" marL="0">
              <a:buNone/>
            </a:pPr>
            <a:r>
              <a:rPr lang="en-US" sz="1100" dirty="0">
                <a:solidFill>
                  <a:srgbClr val="6B7B6B"/>
                </a:solidFill>
                <a:latin typeface="Calibri" pitchFamily="34" charset="0"/>
                <a:ea typeface="Calibri" pitchFamily="34" charset="-122"/>
                <a:cs typeface="Calibri" pitchFamily="34" charset="-120"/>
              </a:rPr>
              <a:t>s(aa) = 1 - 0.7 = 0.3</a:t>
            </a:r>
            <a:endParaRPr lang="en-US" sz="1100" dirty="0"/>
          </a:p>
        </p:txBody>
      </p:sp>
      <p:sp>
        <p:nvSpPr>
          <p:cNvPr id="12" name="Shape 9"/>
          <p:cNvSpPr/>
          <p:nvPr/>
        </p:nvSpPr>
        <p:spPr>
          <a:xfrm>
            <a:off x="457200" y="3520440"/>
            <a:ext cx="8229600" cy="1280160"/>
          </a:xfrm>
          <a:prstGeom prst="roundRect">
            <a:avLst>
              <a:gd name="adj" fmla="val 7143"/>
            </a:avLst>
          </a:prstGeom>
          <a:solidFill>
            <a:srgbClr val="2C5F2D"/>
          </a:solidFill>
          <a:ln/>
          <a:effectLst>
            <a:outerShdw sx="100000" sy="100000" kx="0" ky="0" algn="bl" rotWithShape="0" blurRad="152400" dist="50800" dir="8100000">
              <a:srgbClr val="000000">
                <a:alpha val="28000"/>
              </a:srgbClr>
            </a:outerShdw>
          </a:effectLst>
        </p:spPr>
      </p:sp>
      <p:sp>
        <p:nvSpPr>
          <p:cNvPr id="13" name="Text 10"/>
          <p:cNvSpPr/>
          <p:nvPr/>
        </p:nvSpPr>
        <p:spPr>
          <a:xfrm>
            <a:off x="685800" y="3611880"/>
            <a:ext cx="1828800" cy="274320"/>
          </a:xfrm>
          <a:prstGeom prst="rect">
            <a:avLst/>
          </a:prstGeom>
          <a:noFill/>
          <a:ln/>
        </p:spPr>
        <p:txBody>
          <a:bodyPr wrap="square" rtlCol="0" anchor="ctr">
            <a:normAutofit/>
          </a:bodyPr>
          <a:lstStyle/>
          <a:p>
            <a:pPr indent="0" marL="0">
              <a:buNone/>
            </a:pPr>
            <a:r>
              <a:rPr lang="en-US" sz="1300" b="1" dirty="0">
                <a:solidFill>
                  <a:srgbClr val="D4A843"/>
                </a:solidFill>
                <a:latin typeface="Calibri" pitchFamily="34" charset="0"/>
                <a:ea typeface="Calibri" pitchFamily="34" charset="-122"/>
                <a:cs typeface="Calibri" pitchFamily="34" charset="-120"/>
              </a:rPr>
              <a:t>Key Point 要点</a:t>
            </a:r>
            <a:endParaRPr lang="en-US" sz="1300" dirty="0"/>
          </a:p>
        </p:txBody>
      </p:sp>
      <p:sp>
        <p:nvSpPr>
          <p:cNvPr id="14" name="Text 11"/>
          <p:cNvSpPr/>
          <p:nvPr/>
        </p:nvSpPr>
        <p:spPr>
          <a:xfrm>
            <a:off x="685800" y="3886200"/>
            <a:ext cx="77724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Fitness (W) measures how well a genotype passes alleles to the next generation. The selection coefficient (s = 1 - W) quantifies selection strength.</a:t>
            </a:r>
            <a:endParaRPr lang="en-US" sz="1300" dirty="0"/>
          </a:p>
        </p:txBody>
      </p:sp>
      <p:sp>
        <p:nvSpPr>
          <p:cNvPr id="1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选择模式 | Selection Modes</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三种主要选择类型 Three Main Types</a:t>
            </a:r>
            <a:endParaRPr lang="en-US" sz="1300" dirty="0"/>
          </a:p>
        </p:txBody>
      </p:sp>
      <p:sp>
        <p:nvSpPr>
          <p:cNvPr id="6" name="Shape 3"/>
          <p:cNvSpPr/>
          <p:nvPr/>
        </p:nvSpPr>
        <p:spPr>
          <a:xfrm>
            <a:off x="457200" y="1188720"/>
            <a:ext cx="2590800" cy="347472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2590800" cy="54864"/>
          </a:xfrm>
          <a:prstGeom prst="rect">
            <a:avLst/>
          </a:prstGeom>
          <a:solidFill>
            <a:srgbClr val="2C5F2D"/>
          </a:solidFill>
          <a:ln/>
        </p:spPr>
      </p:sp>
      <p:sp>
        <p:nvSpPr>
          <p:cNvPr id="8" name="Text 5"/>
          <p:cNvSpPr/>
          <p:nvPr/>
        </p:nvSpPr>
        <p:spPr>
          <a:xfrm>
            <a:off x="685800" y="1371600"/>
            <a:ext cx="2133600" cy="640080"/>
          </a:xfrm>
          <a:prstGeom prst="rect">
            <a:avLst/>
          </a:prstGeom>
          <a:noFill/>
          <a:ln/>
        </p:spPr>
        <p:txBody>
          <a:bodyPr wrap="square" rtlCol="0" anchor="ctr"/>
          <a:lstStyle/>
          <a:p>
            <a:pPr algn="ctr" indent="0" marL="0">
              <a:buNone/>
            </a:pPr>
            <a:r>
              <a:rPr lang="en-US" sz="1500" b="1" dirty="0">
                <a:solidFill>
                  <a:srgbClr val="2C5F2D"/>
                </a:solidFill>
                <a:latin typeface="Calibri" pitchFamily="34" charset="0"/>
                <a:ea typeface="Calibri" pitchFamily="34" charset="-122"/>
                <a:cs typeface="Calibri" pitchFamily="34" charset="-120"/>
              </a:rPr>
              <a:t>正向选择</a:t>
            </a:r>
            <a:endParaRPr lang="en-US" sz="1500" dirty="0"/>
          </a:p>
          <a:p>
            <a:pPr algn="ctr" indent="0" marL="0">
              <a:buNone/>
            </a:pPr>
            <a:r>
              <a:rPr lang="en-US" sz="1500" b="1" dirty="0">
                <a:solidFill>
                  <a:srgbClr val="2C5F2D"/>
                </a:solidFill>
                <a:latin typeface="Calibri" pitchFamily="34" charset="0"/>
                <a:ea typeface="Calibri" pitchFamily="34" charset="-122"/>
                <a:cs typeface="Calibri" pitchFamily="34" charset="-120"/>
              </a:rPr>
              <a:t>Positive Selection</a:t>
            </a:r>
            <a:endParaRPr lang="en-US" sz="1500" dirty="0"/>
          </a:p>
        </p:txBody>
      </p:sp>
      <p:sp>
        <p:nvSpPr>
          <p:cNvPr id="9" name="Text 6"/>
          <p:cNvSpPr/>
          <p:nvPr/>
        </p:nvSpPr>
        <p:spPr>
          <a:xfrm>
            <a:off x="685800" y="2103120"/>
            <a:ext cx="2133600" cy="2377440"/>
          </a:xfrm>
          <a:prstGeom prst="rect">
            <a:avLst/>
          </a:prstGeom>
          <a:noFill/>
          <a:ln/>
        </p:spPr>
        <p:txBody>
          <a:bodyPr wrap="square" rtlCol="0" anchor="t"/>
          <a:lstStyle/>
          <a:p>
            <a:pPr algn="ctr" indent="0" marL="0">
              <a:buNone/>
            </a:pPr>
            <a:r>
              <a:rPr lang="en-US" sz="1200" dirty="0">
                <a:solidFill>
                  <a:srgbClr val="2C3E2C"/>
                </a:solidFill>
                <a:latin typeface="Calibri" pitchFamily="34" charset="0"/>
                <a:ea typeface="Calibri" pitchFamily="34" charset="-122"/>
                <a:cs typeface="Calibri" pitchFamily="34" charset="-120"/>
              </a:rPr>
              <a:t>Favors beneficial alleles</a:t>
            </a: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有利等位基因频率增加</a:t>
            </a:r>
            <a:endParaRPr lang="en-US" sz="1200" dirty="0"/>
          </a:p>
          <a:p>
            <a:pPr algn="ctr" indent="0" marL="0">
              <a:buNone/>
            </a:pP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Δp ≈ spq²/(1-sq²)</a:t>
            </a:r>
            <a:endParaRPr lang="en-US" sz="1200" dirty="0"/>
          </a:p>
        </p:txBody>
      </p:sp>
      <p:sp>
        <p:nvSpPr>
          <p:cNvPr id="10" name="Shape 7"/>
          <p:cNvSpPr/>
          <p:nvPr/>
        </p:nvSpPr>
        <p:spPr>
          <a:xfrm>
            <a:off x="3276600" y="1188720"/>
            <a:ext cx="2590800" cy="347472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11" name="Shape 8"/>
          <p:cNvSpPr/>
          <p:nvPr/>
        </p:nvSpPr>
        <p:spPr>
          <a:xfrm>
            <a:off x="3276600" y="1188720"/>
            <a:ext cx="2590800" cy="54864"/>
          </a:xfrm>
          <a:prstGeom prst="rect">
            <a:avLst/>
          </a:prstGeom>
          <a:solidFill>
            <a:srgbClr val="97BC62"/>
          </a:solidFill>
          <a:ln/>
        </p:spPr>
      </p:sp>
      <p:sp>
        <p:nvSpPr>
          <p:cNvPr id="12" name="Text 9"/>
          <p:cNvSpPr/>
          <p:nvPr/>
        </p:nvSpPr>
        <p:spPr>
          <a:xfrm>
            <a:off x="3505200" y="1371600"/>
            <a:ext cx="2133600" cy="640080"/>
          </a:xfrm>
          <a:prstGeom prst="rect">
            <a:avLst/>
          </a:prstGeom>
          <a:noFill/>
          <a:ln/>
        </p:spPr>
        <p:txBody>
          <a:bodyPr wrap="square" rtlCol="0" anchor="ctr"/>
          <a:lstStyle/>
          <a:p>
            <a:pPr algn="ctr" indent="0" marL="0">
              <a:buNone/>
            </a:pPr>
            <a:r>
              <a:rPr lang="en-US" sz="1500" b="1" dirty="0">
                <a:solidFill>
                  <a:srgbClr val="97BC62"/>
                </a:solidFill>
                <a:latin typeface="Calibri" pitchFamily="34" charset="0"/>
                <a:ea typeface="Calibri" pitchFamily="34" charset="-122"/>
                <a:cs typeface="Calibri" pitchFamily="34" charset="-120"/>
              </a:rPr>
              <a:t>负向选择</a:t>
            </a:r>
            <a:endParaRPr lang="en-US" sz="1500" dirty="0"/>
          </a:p>
          <a:p>
            <a:pPr algn="ctr" indent="0" marL="0">
              <a:buNone/>
            </a:pPr>
            <a:r>
              <a:rPr lang="en-US" sz="1500" b="1" dirty="0">
                <a:solidFill>
                  <a:srgbClr val="97BC62"/>
                </a:solidFill>
                <a:latin typeface="Calibri" pitchFamily="34" charset="0"/>
                <a:ea typeface="Calibri" pitchFamily="34" charset="-122"/>
                <a:cs typeface="Calibri" pitchFamily="34" charset="-120"/>
              </a:rPr>
              <a:t>Purifying Selection</a:t>
            </a:r>
            <a:endParaRPr lang="en-US" sz="1500" dirty="0"/>
          </a:p>
        </p:txBody>
      </p:sp>
      <p:sp>
        <p:nvSpPr>
          <p:cNvPr id="13" name="Text 10"/>
          <p:cNvSpPr/>
          <p:nvPr/>
        </p:nvSpPr>
        <p:spPr>
          <a:xfrm>
            <a:off x="3505200" y="2103120"/>
            <a:ext cx="2133600" cy="2377440"/>
          </a:xfrm>
          <a:prstGeom prst="rect">
            <a:avLst/>
          </a:prstGeom>
          <a:noFill/>
          <a:ln/>
        </p:spPr>
        <p:txBody>
          <a:bodyPr wrap="square" rtlCol="0" anchor="t"/>
          <a:lstStyle/>
          <a:p>
            <a:pPr algn="ctr" indent="0" marL="0">
              <a:buNone/>
            </a:pPr>
            <a:r>
              <a:rPr lang="en-US" sz="1200" dirty="0">
                <a:solidFill>
                  <a:srgbClr val="2C3E2C"/>
                </a:solidFill>
                <a:latin typeface="Calibri" pitchFamily="34" charset="0"/>
                <a:ea typeface="Calibri" pitchFamily="34" charset="-122"/>
                <a:cs typeface="Calibri" pitchFamily="34" charset="-120"/>
              </a:rPr>
              <a:t>Removes deleterious alleles</a:t>
            </a: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有害等位基因频率降低</a:t>
            </a:r>
            <a:endParaRPr lang="en-US" sz="1200" dirty="0"/>
          </a:p>
          <a:p>
            <a:pPr algn="ctr" indent="0" marL="0">
              <a:buNone/>
            </a:pP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Also called negative</a:t>
            </a: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or purifying selection</a:t>
            </a:r>
            <a:endParaRPr lang="en-US" sz="1200" dirty="0"/>
          </a:p>
        </p:txBody>
      </p:sp>
      <p:sp>
        <p:nvSpPr>
          <p:cNvPr id="14" name="Shape 11"/>
          <p:cNvSpPr/>
          <p:nvPr/>
        </p:nvSpPr>
        <p:spPr>
          <a:xfrm>
            <a:off x="6096000" y="1188720"/>
            <a:ext cx="2590800" cy="3474720"/>
          </a:xfrm>
          <a:prstGeom prst="roundRect">
            <a:avLst>
              <a:gd name="adj" fmla="val 3529"/>
            </a:avLst>
          </a:prstGeom>
          <a:solidFill>
            <a:srgbClr val="FFFFFF"/>
          </a:solidFill>
          <a:ln/>
          <a:effectLst>
            <a:outerShdw sx="100000" sy="100000" kx="0" ky="0" algn="bl" rotWithShape="0" blurRad="152400" dist="50800" dir="8100000">
              <a:srgbClr val="000000">
                <a:alpha val="28000"/>
              </a:srgbClr>
            </a:outerShdw>
          </a:effectLst>
        </p:spPr>
      </p:sp>
      <p:sp>
        <p:nvSpPr>
          <p:cNvPr id="15" name="Shape 12"/>
          <p:cNvSpPr/>
          <p:nvPr/>
        </p:nvSpPr>
        <p:spPr>
          <a:xfrm>
            <a:off x="6096000" y="1188720"/>
            <a:ext cx="2590800" cy="54864"/>
          </a:xfrm>
          <a:prstGeom prst="rect">
            <a:avLst/>
          </a:prstGeom>
          <a:solidFill>
            <a:srgbClr val="D4A843"/>
          </a:solidFill>
          <a:ln/>
        </p:spPr>
      </p:sp>
      <p:sp>
        <p:nvSpPr>
          <p:cNvPr id="16" name="Text 13"/>
          <p:cNvSpPr/>
          <p:nvPr/>
        </p:nvSpPr>
        <p:spPr>
          <a:xfrm>
            <a:off x="6324600" y="1371600"/>
            <a:ext cx="2133600" cy="640080"/>
          </a:xfrm>
          <a:prstGeom prst="rect">
            <a:avLst/>
          </a:prstGeom>
          <a:noFill/>
          <a:ln/>
        </p:spPr>
        <p:txBody>
          <a:bodyPr wrap="square" rtlCol="0" anchor="ctr"/>
          <a:lstStyle/>
          <a:p>
            <a:pPr algn="ctr" indent="0" marL="0">
              <a:buNone/>
            </a:pPr>
            <a:r>
              <a:rPr lang="en-US" sz="1500" b="1" dirty="0">
                <a:solidFill>
                  <a:srgbClr val="D4A843"/>
                </a:solidFill>
                <a:latin typeface="Calibri" pitchFamily="34" charset="0"/>
                <a:ea typeface="Calibri" pitchFamily="34" charset="-122"/>
                <a:cs typeface="Calibri" pitchFamily="34" charset="-120"/>
              </a:rPr>
              <a:t>平衡选择</a:t>
            </a:r>
            <a:endParaRPr lang="en-US" sz="1500" dirty="0"/>
          </a:p>
          <a:p>
            <a:pPr algn="ctr" indent="0" marL="0">
              <a:buNone/>
            </a:pPr>
            <a:r>
              <a:rPr lang="en-US" sz="1500" b="1" dirty="0">
                <a:solidFill>
                  <a:srgbClr val="D4A843"/>
                </a:solidFill>
                <a:latin typeface="Calibri" pitchFamily="34" charset="0"/>
                <a:ea typeface="Calibri" pitchFamily="34" charset="-122"/>
                <a:cs typeface="Calibri" pitchFamily="34" charset="-120"/>
              </a:rPr>
              <a:t>Balancing Selection</a:t>
            </a:r>
            <a:endParaRPr lang="en-US" sz="1500" dirty="0"/>
          </a:p>
        </p:txBody>
      </p:sp>
      <p:sp>
        <p:nvSpPr>
          <p:cNvPr id="17" name="Text 14"/>
          <p:cNvSpPr/>
          <p:nvPr/>
        </p:nvSpPr>
        <p:spPr>
          <a:xfrm>
            <a:off x="6324600" y="2103120"/>
            <a:ext cx="2133600" cy="2377440"/>
          </a:xfrm>
          <a:prstGeom prst="rect">
            <a:avLst/>
          </a:prstGeom>
          <a:noFill/>
          <a:ln/>
        </p:spPr>
        <p:txBody>
          <a:bodyPr wrap="square" rtlCol="0" anchor="t"/>
          <a:lstStyle/>
          <a:p>
            <a:pPr algn="ctr" indent="0" marL="0">
              <a:buNone/>
            </a:pPr>
            <a:r>
              <a:rPr lang="en-US" sz="1200" dirty="0">
                <a:solidFill>
                  <a:srgbClr val="2C3E2C"/>
                </a:solidFill>
                <a:latin typeface="Calibri" pitchFamily="34" charset="0"/>
                <a:ea typeface="Calibri" pitchFamily="34" charset="-122"/>
                <a:cs typeface="Calibri" pitchFamily="34" charset="-120"/>
              </a:rPr>
              <a:t>Maintains polymorphism</a:t>
            </a: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维持多态性</a:t>
            </a:r>
            <a:endParaRPr lang="en-US" sz="1200" dirty="0"/>
          </a:p>
          <a:p>
            <a:pPr algn="ctr" indent="0" marL="0">
              <a:buNone/>
            </a:pP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Heterozygote advantage:</a:t>
            </a:r>
            <a:endParaRPr lang="en-US" sz="1200" dirty="0"/>
          </a:p>
          <a:p>
            <a:pPr algn="ctr" indent="0" marL="0">
              <a:buNone/>
            </a:pPr>
            <a:r>
              <a:rPr lang="en-US" sz="1200" dirty="0">
                <a:solidFill>
                  <a:srgbClr val="2C3E2C"/>
                </a:solidFill>
                <a:latin typeface="Calibri" pitchFamily="34" charset="0"/>
                <a:ea typeface="Calibri" pitchFamily="34" charset="-122"/>
                <a:cs typeface="Calibri" pitchFamily="34" charset="-120"/>
              </a:rPr>
              <a:t>W(Aa) &gt; W(AA), W(aa)</a:t>
            </a:r>
            <a:endParaRPr lang="en-US" sz="12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经典案例：工业黑化 | Industrial Melanism</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桦尺蠖的自然选择 Peppered Moth (Biston betularia)</a:t>
            </a:r>
            <a:endParaRPr lang="en-US" sz="1300" dirty="0"/>
          </a:p>
        </p:txBody>
      </p:sp>
      <p:sp>
        <p:nvSpPr>
          <p:cNvPr id="6" name="Shape 3"/>
          <p:cNvSpPr/>
          <p:nvPr/>
        </p:nvSpPr>
        <p:spPr>
          <a:xfrm>
            <a:off x="457200" y="1097280"/>
            <a:ext cx="4754880" cy="3566160"/>
          </a:xfrm>
          <a:prstGeom prst="roundRect">
            <a:avLst>
              <a:gd name="adj" fmla="val 2564"/>
            </a:avLst>
          </a:prstGeom>
          <a:solidFill>
            <a:srgbClr val="FFFFFF"/>
          </a:solidFill>
          <a:ln/>
          <a:effectLst>
            <a:outerShdw sx="100000" sy="100000" kx="0" ky="0" algn="bl" rotWithShape="0" blurRad="152400" dist="50800" dir="8100000">
              <a:srgbClr val="000000">
                <a:alpha val="28000"/>
              </a:srgbClr>
            </a:outerShdw>
          </a:effectLst>
        </p:spPr>
      </p:sp>
      <p:sp>
        <p:nvSpPr>
          <p:cNvPr id="7" name="Text 4"/>
          <p:cNvSpPr/>
          <p:nvPr/>
        </p:nvSpPr>
        <p:spPr>
          <a:xfrm>
            <a:off x="640080" y="1234440"/>
            <a:ext cx="438912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基因频率变化时间线 Timeline</a:t>
            </a:r>
            <a:endParaRPr lang="en-US" sz="1400" dirty="0"/>
          </a:p>
        </p:txBody>
      </p:sp>
      <p:sp>
        <p:nvSpPr>
          <p:cNvPr id="8" name="Shape 5"/>
          <p:cNvSpPr/>
          <p:nvPr/>
        </p:nvSpPr>
        <p:spPr>
          <a:xfrm>
            <a:off x="731520" y="1737360"/>
            <a:ext cx="365760" cy="365760"/>
          </a:xfrm>
          <a:prstGeom prst="ellipse">
            <a:avLst/>
          </a:prstGeom>
          <a:solidFill>
            <a:srgbClr val="2C5F2D"/>
          </a:solidFill>
          <a:ln/>
        </p:spPr>
      </p:sp>
      <p:sp>
        <p:nvSpPr>
          <p:cNvPr id="9" name="Text 6"/>
          <p:cNvSpPr/>
          <p:nvPr/>
        </p:nvSpPr>
        <p:spPr>
          <a:xfrm>
            <a:off x="731520" y="1737360"/>
            <a:ext cx="365760" cy="36576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1848</a:t>
            </a:r>
            <a:endParaRPr lang="en-US" sz="900" dirty="0"/>
          </a:p>
        </p:txBody>
      </p:sp>
      <p:sp>
        <p:nvSpPr>
          <p:cNvPr id="10" name="Shape 7"/>
          <p:cNvSpPr/>
          <p:nvPr/>
        </p:nvSpPr>
        <p:spPr>
          <a:xfrm>
            <a:off x="914400" y="2103120"/>
            <a:ext cx="0" cy="365760"/>
          </a:xfrm>
          <a:prstGeom prst="line">
            <a:avLst/>
          </a:prstGeom>
          <a:noFill/>
          <a:ln w="25400">
            <a:solidFill>
              <a:srgbClr val="C8D8C0"/>
            </a:solidFill>
            <a:prstDash val="solid"/>
          </a:ln>
        </p:spPr>
      </p:sp>
      <p:sp>
        <p:nvSpPr>
          <p:cNvPr id="11" name="Text 8"/>
          <p:cNvSpPr/>
          <p:nvPr/>
        </p:nvSpPr>
        <p:spPr>
          <a:xfrm>
            <a:off x="1280160" y="1691640"/>
            <a:ext cx="3566160" cy="45720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黑色等位基因频率 ~0%</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Black allele: ~0%</a:t>
            </a:r>
            <a:endParaRPr lang="en-US" sz="1100" dirty="0"/>
          </a:p>
        </p:txBody>
      </p:sp>
      <p:sp>
        <p:nvSpPr>
          <p:cNvPr id="12" name="Shape 9"/>
          <p:cNvSpPr/>
          <p:nvPr/>
        </p:nvSpPr>
        <p:spPr>
          <a:xfrm>
            <a:off x="731520" y="2468880"/>
            <a:ext cx="365760" cy="365760"/>
          </a:xfrm>
          <a:prstGeom prst="ellipse">
            <a:avLst/>
          </a:prstGeom>
          <a:solidFill>
            <a:srgbClr val="2C5F2D"/>
          </a:solidFill>
          <a:ln/>
        </p:spPr>
      </p:sp>
      <p:sp>
        <p:nvSpPr>
          <p:cNvPr id="13" name="Text 10"/>
          <p:cNvSpPr/>
          <p:nvPr/>
        </p:nvSpPr>
        <p:spPr>
          <a:xfrm>
            <a:off x="731520" y="2468880"/>
            <a:ext cx="365760" cy="36576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1895</a:t>
            </a:r>
            <a:endParaRPr lang="en-US" sz="900" dirty="0"/>
          </a:p>
        </p:txBody>
      </p:sp>
      <p:sp>
        <p:nvSpPr>
          <p:cNvPr id="14" name="Shape 11"/>
          <p:cNvSpPr/>
          <p:nvPr/>
        </p:nvSpPr>
        <p:spPr>
          <a:xfrm>
            <a:off x="914400" y="2834640"/>
            <a:ext cx="0" cy="365760"/>
          </a:xfrm>
          <a:prstGeom prst="line">
            <a:avLst/>
          </a:prstGeom>
          <a:noFill/>
          <a:ln w="25400">
            <a:solidFill>
              <a:srgbClr val="C8D8C0"/>
            </a:solidFill>
            <a:prstDash val="solid"/>
          </a:ln>
        </p:spPr>
      </p:sp>
      <p:sp>
        <p:nvSpPr>
          <p:cNvPr id="15" name="Text 12"/>
          <p:cNvSpPr/>
          <p:nvPr/>
        </p:nvSpPr>
        <p:spPr>
          <a:xfrm>
            <a:off x="1280160" y="2423160"/>
            <a:ext cx="3566160" cy="45720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曼彻斯特黑色型 ~98%</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Manchester: ~98% black</a:t>
            </a:r>
            <a:endParaRPr lang="en-US" sz="1100" dirty="0"/>
          </a:p>
        </p:txBody>
      </p:sp>
      <p:sp>
        <p:nvSpPr>
          <p:cNvPr id="16" name="Shape 13"/>
          <p:cNvSpPr/>
          <p:nvPr/>
        </p:nvSpPr>
        <p:spPr>
          <a:xfrm>
            <a:off x="731520" y="3200400"/>
            <a:ext cx="365760" cy="365760"/>
          </a:xfrm>
          <a:prstGeom prst="ellipse">
            <a:avLst/>
          </a:prstGeom>
          <a:solidFill>
            <a:srgbClr val="2C5F2D"/>
          </a:solidFill>
          <a:ln/>
        </p:spPr>
      </p:sp>
      <p:sp>
        <p:nvSpPr>
          <p:cNvPr id="17" name="Text 14"/>
          <p:cNvSpPr/>
          <p:nvPr/>
        </p:nvSpPr>
        <p:spPr>
          <a:xfrm>
            <a:off x="731520" y="3200400"/>
            <a:ext cx="365760" cy="36576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1955</a:t>
            </a:r>
            <a:endParaRPr lang="en-US" sz="900" dirty="0"/>
          </a:p>
        </p:txBody>
      </p:sp>
      <p:sp>
        <p:nvSpPr>
          <p:cNvPr id="18" name="Shape 15"/>
          <p:cNvSpPr/>
          <p:nvPr/>
        </p:nvSpPr>
        <p:spPr>
          <a:xfrm>
            <a:off x="914400" y="3566160"/>
            <a:ext cx="0" cy="365760"/>
          </a:xfrm>
          <a:prstGeom prst="line">
            <a:avLst/>
          </a:prstGeom>
          <a:noFill/>
          <a:ln w="25400">
            <a:solidFill>
              <a:srgbClr val="C8D8C0"/>
            </a:solidFill>
            <a:prstDash val="solid"/>
          </a:ln>
        </p:spPr>
      </p:sp>
      <p:sp>
        <p:nvSpPr>
          <p:cNvPr id="19" name="Text 16"/>
          <p:cNvSpPr/>
          <p:nvPr/>
        </p:nvSpPr>
        <p:spPr>
          <a:xfrm>
            <a:off x="1280160" y="3154680"/>
            <a:ext cx="3566160" cy="45720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Kettlewell标记-重捕实验</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Mark-recapture experiment</a:t>
            </a:r>
            <a:endParaRPr lang="en-US" sz="1100" dirty="0"/>
          </a:p>
        </p:txBody>
      </p:sp>
      <p:sp>
        <p:nvSpPr>
          <p:cNvPr id="20" name="Shape 17"/>
          <p:cNvSpPr/>
          <p:nvPr/>
        </p:nvSpPr>
        <p:spPr>
          <a:xfrm>
            <a:off x="731520" y="3931920"/>
            <a:ext cx="365760" cy="365760"/>
          </a:xfrm>
          <a:prstGeom prst="ellipse">
            <a:avLst/>
          </a:prstGeom>
          <a:solidFill>
            <a:srgbClr val="2C5F2D"/>
          </a:solidFill>
          <a:ln/>
        </p:spPr>
      </p:sp>
      <p:sp>
        <p:nvSpPr>
          <p:cNvPr id="21" name="Text 18"/>
          <p:cNvSpPr/>
          <p:nvPr/>
        </p:nvSpPr>
        <p:spPr>
          <a:xfrm>
            <a:off x="731520" y="3931920"/>
            <a:ext cx="365760" cy="36576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1960s+</a:t>
            </a:r>
            <a:endParaRPr lang="en-US" sz="900" dirty="0"/>
          </a:p>
        </p:txBody>
      </p:sp>
      <p:sp>
        <p:nvSpPr>
          <p:cNvPr id="22" name="Text 19"/>
          <p:cNvSpPr/>
          <p:nvPr/>
        </p:nvSpPr>
        <p:spPr>
          <a:xfrm>
            <a:off x="1280160" y="3886200"/>
            <a:ext cx="3566160" cy="45720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浅色型频率开始回升</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Light form recovering</a:t>
            </a:r>
            <a:endParaRPr lang="en-US" sz="1100" dirty="0"/>
          </a:p>
        </p:txBody>
      </p:sp>
      <p:sp>
        <p:nvSpPr>
          <p:cNvPr id="23" name="Shape 20"/>
          <p:cNvSpPr/>
          <p:nvPr/>
        </p:nvSpPr>
        <p:spPr>
          <a:xfrm>
            <a:off x="5440680" y="1097280"/>
            <a:ext cx="3246120" cy="3566160"/>
          </a:xfrm>
          <a:prstGeom prst="roundRect">
            <a:avLst>
              <a:gd name="adj" fmla="val 2817"/>
            </a:avLst>
          </a:prstGeom>
          <a:solidFill>
            <a:srgbClr val="F5F2E8"/>
          </a:solidFill>
          <a:ln/>
          <a:effectLst>
            <a:outerShdw sx="100000" sy="100000" kx="0" ky="0" algn="bl" rotWithShape="0" blurRad="152400" dist="50800" dir="8100000">
              <a:srgbClr val="000000">
                <a:alpha val="28000"/>
              </a:srgbClr>
            </a:outerShdw>
          </a:effectLst>
        </p:spPr>
      </p:sp>
      <p:sp>
        <p:nvSpPr>
          <p:cNvPr id="24" name="Text 21"/>
          <p:cNvSpPr/>
          <p:nvPr/>
        </p:nvSpPr>
        <p:spPr>
          <a:xfrm>
            <a:off x="5623560" y="1234440"/>
            <a:ext cx="288036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关键数据 Key Data</a:t>
            </a:r>
            <a:endParaRPr lang="en-US" sz="1400" dirty="0"/>
          </a:p>
        </p:txBody>
      </p:sp>
      <p:sp>
        <p:nvSpPr>
          <p:cNvPr id="25" name="Text 22"/>
          <p:cNvSpPr/>
          <p:nvPr/>
        </p:nvSpPr>
        <p:spPr>
          <a:xfrm>
            <a:off x="5623560" y="1645920"/>
            <a:ext cx="2880360" cy="2743200"/>
          </a:xfrm>
          <a:prstGeom prst="rect">
            <a:avLst/>
          </a:prstGeom>
          <a:noFill/>
          <a:ln/>
        </p:spPr>
        <p:txBody>
          <a:bodyPr wrap="square" rtlCol="0" anchor="ctr"/>
          <a:lstStyle/>
          <a:p>
            <a:pPr indent="0" marL="0">
              <a:buNone/>
            </a:pPr>
            <a:r>
              <a:rPr lang="en-US" sz="1200" b="1" dirty="0">
                <a:solidFill>
                  <a:srgbClr val="2C3E2C"/>
                </a:solidFill>
                <a:latin typeface="Calibri" pitchFamily="34" charset="0"/>
                <a:ea typeface="Calibri" pitchFamily="34" charset="-122"/>
                <a:cs typeface="Calibri" pitchFamily="34" charset="-120"/>
              </a:rPr>
              <a:t>Polluted area (Birmingham):</a:t>
            </a:r>
            <a:endParaRPr lang="en-US" sz="1200" dirty="0"/>
          </a:p>
          <a:p>
            <a:pPr indent="0" marL="0">
              <a:buNone/>
            </a:pPr>
            <a:r>
              <a:rPr lang="en-US" sz="1100" dirty="0">
                <a:solidFill>
                  <a:srgbClr val="2C5F2D"/>
                </a:solidFill>
                <a:latin typeface="Calibri" pitchFamily="34" charset="0"/>
                <a:ea typeface="Calibri" pitchFamily="34" charset="-122"/>
                <a:cs typeface="Calibri" pitchFamily="34" charset="-120"/>
              </a:rPr>
              <a:t>Black morph: higher survival</a:t>
            </a:r>
            <a:endParaRPr lang="en-US" sz="1200" dirty="0"/>
          </a:p>
          <a:p>
            <a:pPr indent="0" marL="0">
              <a:buNone/>
            </a:pPr>
            <a:r>
              <a:rPr lang="en-US" sz="1100" dirty="0">
                <a:solidFill>
                  <a:srgbClr val="6B7B6B"/>
                </a:solidFill>
                <a:latin typeface="Calibri" pitchFamily="34" charset="0"/>
                <a:ea typeface="Calibri" pitchFamily="34" charset="-122"/>
                <a:cs typeface="Calibri" pitchFamily="34" charset="-120"/>
              </a:rPr>
              <a:t>Light morph: lower survival</a:t>
            </a:r>
            <a:endParaRPr lang="en-US" sz="1200" dirty="0"/>
          </a:p>
          <a:p>
            <a:pPr indent="0" marL="0">
              <a:buNone/>
            </a:pPr>
            <a:endParaRPr lang="en-US" sz="1200" dirty="0"/>
          </a:p>
          <a:p>
            <a:pPr indent="0" marL="0">
              <a:buNone/>
            </a:pPr>
            <a:r>
              <a:rPr lang="en-US" sz="1200" b="1" dirty="0">
                <a:solidFill>
                  <a:srgbClr val="2C3E2C"/>
                </a:solidFill>
                <a:latin typeface="Calibri" pitchFamily="34" charset="0"/>
                <a:ea typeface="Calibri" pitchFamily="34" charset="-122"/>
                <a:cs typeface="Calibri" pitchFamily="34" charset="-120"/>
              </a:rPr>
              <a:t>Clean area (Dorset):</a:t>
            </a:r>
            <a:endParaRPr lang="en-US" sz="1200" dirty="0"/>
          </a:p>
          <a:p>
            <a:pPr indent="0" marL="0">
              <a:buNone/>
            </a:pPr>
            <a:r>
              <a:rPr lang="en-US" sz="1100" dirty="0">
                <a:solidFill>
                  <a:srgbClr val="2C5F2D"/>
                </a:solidFill>
                <a:latin typeface="Calibri" pitchFamily="34" charset="0"/>
                <a:ea typeface="Calibri" pitchFamily="34" charset="-122"/>
                <a:cs typeface="Calibri" pitchFamily="34" charset="-120"/>
              </a:rPr>
              <a:t>Light morph: higher survival</a:t>
            </a:r>
            <a:endParaRPr lang="en-US" sz="1200" dirty="0"/>
          </a:p>
          <a:p>
            <a:pPr indent="0" marL="0">
              <a:buNone/>
            </a:pPr>
            <a:r>
              <a:rPr lang="en-US" sz="1100" dirty="0">
                <a:solidFill>
                  <a:srgbClr val="6B7B6B"/>
                </a:solidFill>
                <a:latin typeface="Calibri" pitchFamily="34" charset="0"/>
                <a:ea typeface="Calibri" pitchFamily="34" charset="-122"/>
                <a:cs typeface="Calibri" pitchFamily="34" charset="-120"/>
              </a:rPr>
              <a:t>Black morph: lower survival</a:t>
            </a:r>
            <a:endParaRPr lang="en-US" sz="1200" dirty="0"/>
          </a:p>
          <a:p>
            <a:pPr indent="0" marL="0">
              <a:buNone/>
            </a:pPr>
            <a:endParaRPr lang="en-US" sz="1200" dirty="0"/>
          </a:p>
          <a:p>
            <a:pPr indent="0" marL="0">
              <a:buNone/>
            </a:pPr>
            <a:r>
              <a:rPr lang="en-US" sz="1200" b="1" dirty="0">
                <a:solidFill>
                  <a:srgbClr val="D4A843"/>
                </a:solidFill>
                <a:latin typeface="Calibri" pitchFamily="34" charset="0"/>
                <a:ea typeface="Calibri" pitchFamily="34" charset="-122"/>
                <a:cs typeface="Calibri" pitchFamily="34" charset="-120"/>
              </a:rPr>
              <a:t>=&gt; Directional selection</a:t>
            </a:r>
            <a:endParaRPr lang="en-US" sz="1200" dirty="0"/>
          </a:p>
          <a:p>
            <a:pPr indent="0" marL="0">
              <a:buNone/>
            </a:pPr>
            <a:r>
              <a:rPr lang="en-US" sz="1200" b="1" dirty="0">
                <a:solidFill>
                  <a:srgbClr val="D4A843"/>
                </a:solidFill>
                <a:latin typeface="Calibri" pitchFamily="34" charset="0"/>
                <a:ea typeface="Calibri" pitchFamily="34" charset="-122"/>
                <a:cs typeface="Calibri" pitchFamily="34" charset="-120"/>
              </a:rPr>
              <a:t>changes gene frequency</a:t>
            </a:r>
            <a:endParaRPr lang="en-US" sz="1200" dirty="0"/>
          </a:p>
        </p:txBody>
      </p:sp>
      <p:sp>
        <p:nvSpPr>
          <p:cNvPr id="2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经典案例 | Classic Experiments</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DDT抗性与杂合子优势 DDT Resistance &amp; Heterozygote Advantage</a:t>
            </a:r>
            <a:endParaRPr lang="en-US" sz="1300" dirty="0"/>
          </a:p>
        </p:txBody>
      </p:sp>
      <p:sp>
        <p:nvSpPr>
          <p:cNvPr id="6" name="Shape 3"/>
          <p:cNvSpPr/>
          <p:nvPr/>
        </p:nvSpPr>
        <p:spPr>
          <a:xfrm>
            <a:off x="457200" y="1097280"/>
            <a:ext cx="3931920" cy="3566160"/>
          </a:xfrm>
          <a:prstGeom prst="roundRect">
            <a:avLst>
              <a:gd name="adj" fmla="val 2564"/>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097280"/>
            <a:ext cx="3931920" cy="54864"/>
          </a:xfrm>
          <a:prstGeom prst="rect">
            <a:avLst/>
          </a:prstGeom>
          <a:solidFill>
            <a:srgbClr val="97BC62"/>
          </a:solidFill>
          <a:ln/>
        </p:spPr>
      </p:sp>
      <p:sp>
        <p:nvSpPr>
          <p:cNvPr id="8" name="Text 5"/>
          <p:cNvSpPr/>
          <p:nvPr/>
        </p:nvSpPr>
        <p:spPr>
          <a:xfrm>
            <a:off x="640080" y="1280160"/>
            <a:ext cx="3566160" cy="320040"/>
          </a:xfrm>
          <a:prstGeom prst="rect">
            <a:avLst/>
          </a:prstGeom>
          <a:noFill/>
          <a:ln/>
        </p:spPr>
        <p:txBody>
          <a:bodyPr wrap="square" rtlCol="0" anchor="ctr">
            <a:normAutofit/>
          </a:bodyPr>
          <a:lstStyle/>
          <a:p>
            <a:pPr indent="0" marL="0">
              <a:buNone/>
            </a:pPr>
            <a:r>
              <a:rPr lang="en-US" sz="1500" b="1" dirty="0">
                <a:solidFill>
                  <a:srgbClr val="2C5F2D"/>
                </a:solidFill>
                <a:latin typeface="Calibri" pitchFamily="34" charset="0"/>
                <a:ea typeface="Calibri" pitchFamily="34" charset="-122"/>
                <a:cs typeface="Calibri" pitchFamily="34" charset="-120"/>
              </a:rPr>
              <a:t>DDT抗性实验 DDT Resistance</a:t>
            </a:r>
            <a:endParaRPr lang="en-US" sz="1500" dirty="0"/>
          </a:p>
        </p:txBody>
      </p:sp>
      <p:sp>
        <p:nvSpPr>
          <p:cNvPr id="9" name="Text 6"/>
          <p:cNvSpPr/>
          <p:nvPr/>
        </p:nvSpPr>
        <p:spPr>
          <a:xfrm>
            <a:off x="640080" y="1691640"/>
            <a:ext cx="3566160" cy="2743200"/>
          </a:xfrm>
          <a:prstGeom prst="rect">
            <a:avLst/>
          </a:prstGeom>
          <a:noFill/>
          <a:ln/>
        </p:spPr>
        <p:txBody>
          <a:bodyPr wrap="square" rtlCol="0" anchor="ctr"/>
          <a:lstStyle/>
          <a:p>
            <a:pPr marL="342900" indent="-342900">
              <a:buSzPct val="100000"/>
              <a:buChar char="•"/>
            </a:pPr>
            <a:r>
              <a:rPr lang="en-US" sz="1200" dirty="0">
                <a:solidFill>
                  <a:srgbClr val="2C3E2C"/>
                </a:solidFill>
                <a:latin typeface="Calibri" pitchFamily="34" charset="0"/>
                <a:ea typeface="Calibri" pitchFamily="34" charset="-122"/>
                <a:cs typeface="Calibri" pitchFamily="34" charset="-120"/>
              </a:rPr>
              <a:t>1. 初始群体：抗性等位基因频率极低</a:t>
            </a:r>
            <a:endParaRPr lang="en-US" sz="1200" dirty="0"/>
          </a:p>
          <a:p>
            <a:pPr marL="342900" indent="-342900">
              <a:buSzPct val="100000"/>
              <a:buChar char="•"/>
            </a:pPr>
            <a:r>
              <a:rPr lang="en-US" sz="1200" dirty="0">
                <a:solidFill>
                  <a:srgbClr val="2C3E2C"/>
                </a:solidFill>
                <a:latin typeface="Calibri" pitchFamily="34" charset="0"/>
                <a:ea typeface="Calibri" pitchFamily="34" charset="-122"/>
                <a:cs typeface="Calibri" pitchFamily="34" charset="-120"/>
              </a:rPr>
              <a:t>2. 施用DDT：绝大多数个体死亡</a:t>
            </a:r>
            <a:endParaRPr lang="en-US" sz="1200" dirty="0"/>
          </a:p>
          <a:p>
            <a:pPr marL="342900" indent="-342900">
              <a:buSzPct val="100000"/>
              <a:buChar char="•"/>
            </a:pPr>
            <a:r>
              <a:rPr lang="en-US" sz="1200" dirty="0">
                <a:solidFill>
                  <a:srgbClr val="2C3E2C"/>
                </a:solidFill>
                <a:latin typeface="Calibri" pitchFamily="34" charset="0"/>
                <a:ea typeface="Calibri" pitchFamily="34" charset="-122"/>
                <a:cs typeface="Calibri" pitchFamily="34" charset="-120"/>
              </a:rPr>
              <a:t>3. 极少数隐性抗性个体存活</a:t>
            </a:r>
            <a:endParaRPr lang="en-US" sz="1200" dirty="0"/>
          </a:p>
          <a:p>
            <a:pPr marL="342900" indent="-342900">
              <a:buSzPct val="100000"/>
              <a:buChar char="•"/>
            </a:pPr>
            <a:r>
              <a:rPr lang="en-US" sz="1200" dirty="0">
                <a:solidFill>
                  <a:srgbClr val="2C3E2C"/>
                </a:solidFill>
                <a:latin typeface="Calibri" pitchFamily="34" charset="0"/>
                <a:ea typeface="Calibri" pitchFamily="34" charset="-122"/>
                <a:cs typeface="Calibri" pitchFamily="34" charset="-120"/>
              </a:rPr>
              <a:t>4. 存活者交配：抗性频率急剧上升</a:t>
            </a:r>
            <a:endParaRPr lang="en-US" sz="1200" dirty="0"/>
          </a:p>
          <a:p>
            <a:pPr indent="0" marL="0">
              <a:buNone/>
            </a:pPr>
            <a:endParaRPr lang="en-US" sz="1200" dirty="0"/>
          </a:p>
          <a:p>
            <a:pPr indent="0" marL="0">
              <a:buNone/>
            </a:pPr>
            <a:r>
              <a:rPr lang="en-US" sz="1300" b="1" dirty="0">
                <a:solidFill>
                  <a:srgbClr val="D4A843"/>
                </a:solidFill>
                <a:latin typeface="Calibri" pitchFamily="34" charset="0"/>
                <a:ea typeface="Calibri" pitchFamily="34" charset="-122"/>
                <a:cs typeface="Calibri" pitchFamily="34" charset="-120"/>
              </a:rPr>
              <a:t>=&gt; The "fast lane" of selection</a:t>
            </a:r>
            <a:endParaRPr lang="en-US" sz="1200" dirty="0"/>
          </a:p>
        </p:txBody>
      </p:sp>
      <p:sp>
        <p:nvSpPr>
          <p:cNvPr id="10" name="Shape 7"/>
          <p:cNvSpPr/>
          <p:nvPr/>
        </p:nvSpPr>
        <p:spPr>
          <a:xfrm>
            <a:off x="4617720" y="1097280"/>
            <a:ext cx="4069080" cy="3566160"/>
          </a:xfrm>
          <a:prstGeom prst="roundRect">
            <a:avLst>
              <a:gd name="adj" fmla="val 2564"/>
            </a:avLst>
          </a:prstGeom>
          <a:solidFill>
            <a:srgbClr val="F5F2E8"/>
          </a:solidFill>
          <a:ln/>
          <a:effectLst>
            <a:outerShdw sx="100000" sy="100000" kx="0" ky="0" algn="bl" rotWithShape="0" blurRad="152400" dist="50800" dir="8100000">
              <a:srgbClr val="000000">
                <a:alpha val="28000"/>
              </a:srgbClr>
            </a:outerShdw>
          </a:effectLst>
        </p:spPr>
      </p:sp>
      <p:sp>
        <p:nvSpPr>
          <p:cNvPr id="11" name="Shape 8"/>
          <p:cNvSpPr/>
          <p:nvPr/>
        </p:nvSpPr>
        <p:spPr>
          <a:xfrm>
            <a:off x="4617720" y="1097280"/>
            <a:ext cx="4069080" cy="54864"/>
          </a:xfrm>
          <a:prstGeom prst="rect">
            <a:avLst/>
          </a:prstGeom>
          <a:solidFill>
            <a:srgbClr val="D4A843"/>
          </a:solidFill>
          <a:ln/>
        </p:spPr>
      </p:sp>
      <p:sp>
        <p:nvSpPr>
          <p:cNvPr id="12" name="Text 9"/>
          <p:cNvSpPr/>
          <p:nvPr/>
        </p:nvSpPr>
        <p:spPr>
          <a:xfrm>
            <a:off x="4800600" y="1280160"/>
            <a:ext cx="3703320" cy="320040"/>
          </a:xfrm>
          <a:prstGeom prst="rect">
            <a:avLst/>
          </a:prstGeom>
          <a:noFill/>
          <a:ln/>
        </p:spPr>
        <p:txBody>
          <a:bodyPr wrap="square" rtlCol="0" anchor="ctr">
            <a:normAutofit/>
          </a:bodyPr>
          <a:lstStyle/>
          <a:p>
            <a:pPr indent="0" marL="0">
              <a:buNone/>
            </a:pPr>
            <a:r>
              <a:rPr lang="en-US" sz="1500" b="1" dirty="0">
                <a:solidFill>
                  <a:srgbClr val="2C5F2D"/>
                </a:solidFill>
                <a:latin typeface="Calibri" pitchFamily="34" charset="0"/>
                <a:ea typeface="Calibri" pitchFamily="34" charset="-122"/>
                <a:cs typeface="Calibri" pitchFamily="34" charset="-120"/>
              </a:rPr>
              <a:t>杂合子优势 Heterozygote Advantage</a:t>
            </a:r>
            <a:endParaRPr lang="en-US" sz="1500" dirty="0"/>
          </a:p>
        </p:txBody>
      </p:sp>
      <p:sp>
        <p:nvSpPr>
          <p:cNvPr id="13" name="Text 10"/>
          <p:cNvSpPr/>
          <p:nvPr/>
        </p:nvSpPr>
        <p:spPr>
          <a:xfrm>
            <a:off x="4800600" y="1691640"/>
            <a:ext cx="3703320" cy="2743200"/>
          </a:xfrm>
          <a:prstGeom prst="rect">
            <a:avLst/>
          </a:prstGeom>
          <a:noFill/>
          <a:ln/>
        </p:spPr>
        <p:txBody>
          <a:bodyPr wrap="square" rtlCol="0" anchor="ctr"/>
          <a:lstStyle/>
          <a:p>
            <a:pPr indent="0" marL="0">
              <a:buNone/>
            </a:pPr>
            <a:r>
              <a:rPr lang="en-US" sz="1200" b="1" dirty="0">
                <a:solidFill>
                  <a:srgbClr val="2C3E2C"/>
                </a:solidFill>
                <a:latin typeface="Calibri" pitchFamily="34" charset="0"/>
                <a:ea typeface="Calibri" pitchFamily="34" charset="-122"/>
                <a:cs typeface="Calibri" pitchFamily="34" charset="-120"/>
              </a:rPr>
              <a:t>Classic example: Sickle Cell &amp; Malaria</a:t>
            </a:r>
            <a:endParaRPr lang="en-US" sz="1200" dirty="0"/>
          </a:p>
          <a:p>
            <a:pPr indent="0" marL="0">
              <a:buNone/>
            </a:pPr>
            <a:endParaRPr lang="en-US" sz="1200" dirty="0"/>
          </a:p>
          <a:p>
            <a:pPr indent="0" marL="0">
              <a:buNone/>
            </a:pPr>
            <a:r>
              <a:rPr lang="en-US" sz="1100" dirty="0">
                <a:solidFill>
                  <a:srgbClr val="2C3E2C"/>
                </a:solidFill>
                <a:latin typeface="Calibri" pitchFamily="34" charset="0"/>
                <a:ea typeface="Calibri" pitchFamily="34" charset="-122"/>
                <a:cs typeface="Calibri" pitchFamily="34" charset="-120"/>
              </a:rPr>
              <a:t>Genotype:   AA       AS       SS</a:t>
            </a:r>
            <a:endParaRPr lang="en-US" sz="1200" dirty="0"/>
          </a:p>
          <a:p>
            <a:pPr indent="0" marL="0">
              <a:buNone/>
            </a:pPr>
            <a:r>
              <a:rPr lang="en-US" sz="1100" dirty="0">
                <a:solidFill>
                  <a:srgbClr val="97BC62"/>
                </a:solidFill>
                <a:latin typeface="Calibri" pitchFamily="34" charset="0"/>
                <a:ea typeface="Calibri" pitchFamily="34" charset="-122"/>
                <a:cs typeface="Calibri" pitchFamily="34" charset="-120"/>
              </a:rPr>
              <a:t>Malaria:   No       Yes      Yes</a:t>
            </a:r>
            <a:endParaRPr lang="en-US" sz="1200" dirty="0"/>
          </a:p>
          <a:p>
            <a:pPr indent="0" marL="0">
              <a:buNone/>
            </a:pPr>
            <a:r>
              <a:rPr lang="en-US" sz="1100" dirty="0">
                <a:solidFill>
                  <a:srgbClr val="2C3E2C"/>
                </a:solidFill>
                <a:latin typeface="Calibri" pitchFamily="34" charset="0"/>
                <a:ea typeface="Calibri" pitchFamily="34" charset="-122"/>
                <a:cs typeface="Calibri" pitchFamily="34" charset="-120"/>
              </a:rPr>
              <a:t>Anemia:     No      Mild     Severe</a:t>
            </a:r>
            <a:endParaRPr lang="en-US" sz="1200" dirty="0"/>
          </a:p>
          <a:p>
            <a:pPr indent="0" marL="0">
              <a:buNone/>
            </a:pPr>
            <a:r>
              <a:rPr lang="en-US" sz="1100" b="1" dirty="0">
                <a:solidFill>
                  <a:srgbClr val="2C5F2D"/>
                </a:solidFill>
                <a:latin typeface="Calibri" pitchFamily="34" charset="0"/>
                <a:ea typeface="Calibri" pitchFamily="34" charset="-122"/>
                <a:cs typeface="Calibri" pitchFamily="34" charset="-120"/>
              </a:rPr>
              <a:t>Fitness:   Low      HIGH     Low</a:t>
            </a:r>
            <a:endParaRPr lang="en-US" sz="1200" dirty="0"/>
          </a:p>
          <a:p>
            <a:pPr indent="0" marL="0">
              <a:buNone/>
            </a:pPr>
            <a:endParaRPr lang="en-US" sz="1200" dirty="0"/>
          </a:p>
          <a:p>
            <a:pPr indent="0" marL="0">
              <a:buNone/>
            </a:pPr>
            <a:r>
              <a:rPr lang="en-US" sz="1300" b="1" dirty="0">
                <a:solidFill>
                  <a:srgbClr val="D4A843"/>
                </a:solidFill>
                <a:latin typeface="Calibri" pitchFamily="34" charset="0"/>
                <a:ea typeface="Calibri" pitchFamily="34" charset="-122"/>
                <a:cs typeface="Calibri" pitchFamily="34" charset="-120"/>
              </a:rPr>
              <a:t>W(AS) &gt; W(AA), W(SS)</a:t>
            </a:r>
            <a:pPr indent="0" marL="0">
              <a:buNone/>
            </a:pPr>
            <a:r>
              <a:rPr lang="en-US" sz="1200" dirty="0">
                <a:solidFill>
                  <a:srgbClr val="6B7B6B"/>
                </a:solidFill>
                <a:latin typeface="Calibri" pitchFamily="34" charset="0"/>
                <a:ea typeface="Calibri" pitchFamily="34" charset="-122"/>
                <a:cs typeface="Calibri" pitchFamily="34" charset="-120"/>
              </a:rPr>
              <a:t>=&gt; Heterozygote maintains both alleles</a:t>
            </a:r>
            <a:endParaRPr lang="en-US" sz="12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Fisher基本定理 | Fisher's Fundamental Theorem</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群体遗传学的基石 The Cornerstone of Population Genetics</a:t>
            </a:r>
            <a:endParaRPr lang="en-US" sz="1300" dirty="0"/>
          </a:p>
        </p:txBody>
      </p:sp>
      <p:sp>
        <p:nvSpPr>
          <p:cNvPr id="6" name="Shape 3"/>
          <p:cNvSpPr/>
          <p:nvPr/>
        </p:nvSpPr>
        <p:spPr>
          <a:xfrm>
            <a:off x="457200" y="1097280"/>
            <a:ext cx="8229600" cy="2011680"/>
          </a:xfrm>
          <a:prstGeom prst="roundRect">
            <a:avLst>
              <a:gd name="adj" fmla="val 5455"/>
            </a:avLst>
          </a:prstGeom>
          <a:solidFill>
            <a:srgbClr val="2C5F2D"/>
          </a:solidFill>
          <a:ln/>
          <a:effectLst>
            <a:outerShdw sx="100000" sy="100000" kx="0" ky="0" algn="bl" rotWithShape="0" blurRad="203200" dist="76200" dir="8100000">
              <a:srgbClr val="000000">
                <a:alpha val="32000"/>
              </a:srgbClr>
            </a:outerShdw>
          </a:effectLst>
        </p:spPr>
      </p:sp>
      <p:sp>
        <p:nvSpPr>
          <p:cNvPr id="7" name="Text 4"/>
          <p:cNvSpPr/>
          <p:nvPr/>
        </p:nvSpPr>
        <p:spPr>
          <a:xfrm>
            <a:off x="731520" y="1234440"/>
            <a:ext cx="7680960" cy="365760"/>
          </a:xfrm>
          <a:prstGeom prst="rect">
            <a:avLst/>
          </a:prstGeom>
          <a:noFill/>
          <a:ln/>
        </p:spPr>
        <p:txBody>
          <a:bodyPr wrap="square" rtlCol="0" anchor="ctr">
            <a:normAutofit/>
          </a:bodyPr>
          <a:lstStyle/>
          <a:p>
            <a:pPr indent="0" marL="0">
              <a:buNone/>
            </a:pPr>
            <a:r>
              <a:rPr lang="en-US" sz="1600" b="1" spc="50" kern="0" dirty="0">
                <a:solidFill>
                  <a:srgbClr val="D4A843"/>
                </a:solidFill>
                <a:latin typeface="Georgia" pitchFamily="34" charset="0"/>
                <a:ea typeface="Georgia" pitchFamily="34" charset="-122"/>
                <a:cs typeface="Georgia" pitchFamily="34" charset="-120"/>
              </a:rPr>
              <a:t>The Fundamental Theorem of Natural Selection</a:t>
            </a:r>
            <a:endParaRPr lang="en-US" sz="1600" dirty="0"/>
          </a:p>
        </p:txBody>
      </p:sp>
      <p:sp>
        <p:nvSpPr>
          <p:cNvPr id="8" name="Shape 5"/>
          <p:cNvSpPr/>
          <p:nvPr/>
        </p:nvSpPr>
        <p:spPr>
          <a:xfrm>
            <a:off x="1371600" y="1645920"/>
            <a:ext cx="6400800" cy="27432"/>
          </a:xfrm>
          <a:prstGeom prst="rect">
            <a:avLst/>
          </a:prstGeom>
          <a:solidFill>
            <a:srgbClr val="97BC62"/>
          </a:solidFill>
          <a:ln/>
        </p:spPr>
      </p:sp>
      <p:sp>
        <p:nvSpPr>
          <p:cNvPr id="9" name="Text 6"/>
          <p:cNvSpPr/>
          <p:nvPr/>
        </p:nvSpPr>
        <p:spPr>
          <a:xfrm>
            <a:off x="731520" y="1783080"/>
            <a:ext cx="7680960" cy="640080"/>
          </a:xfrm>
          <a:prstGeom prst="rect">
            <a:avLst/>
          </a:prstGeom>
          <a:noFill/>
          <a:ln/>
        </p:spPr>
        <p:txBody>
          <a:bodyPr wrap="square" rtlCol="0" anchor="ctr">
            <a:normAutofit/>
          </a:bodyPr>
          <a:lstStyle/>
          <a:p>
            <a:pPr algn="ctr" indent="0" marL="0">
              <a:buNone/>
            </a:pPr>
            <a:r>
              <a:rPr lang="en-US" sz="1400" i="1" dirty="0">
                <a:solidFill>
                  <a:srgbClr val="FFFFFF"/>
                </a:solidFill>
                <a:latin typeface="Georgia" pitchFamily="34" charset="0"/>
                <a:ea typeface="Georgia" pitchFamily="34" charset="-122"/>
                <a:cs typeface="Georgia" pitchFamily="34" charset="-120"/>
              </a:rPr>
              <a:t>"The rate of increase in fitness of any organism at any time is equal to its genetic variance in fitness at that time."</a:t>
            </a:r>
            <a:endParaRPr lang="en-US" sz="1400" dirty="0"/>
          </a:p>
        </p:txBody>
      </p:sp>
      <p:sp>
        <p:nvSpPr>
          <p:cNvPr id="10" name="Text 7"/>
          <p:cNvSpPr/>
          <p:nvPr/>
        </p:nvSpPr>
        <p:spPr>
          <a:xfrm>
            <a:off x="731520" y="2468880"/>
            <a:ext cx="7680960" cy="457200"/>
          </a:xfrm>
          <a:prstGeom prst="rect">
            <a:avLst/>
          </a:prstGeom>
          <a:noFill/>
          <a:ln/>
        </p:spPr>
        <p:txBody>
          <a:bodyPr wrap="square" rtlCol="0" anchor="ctr">
            <a:normAutofit/>
          </a:bodyPr>
          <a:lstStyle/>
          <a:p>
            <a:pPr algn="ctr" indent="0" marL="0">
              <a:buNone/>
            </a:pPr>
            <a:r>
              <a:rPr lang="en-US" sz="1300" dirty="0">
                <a:solidFill>
                  <a:srgbClr val="97BC62"/>
                </a:solidFill>
                <a:latin typeface="Calibri" pitchFamily="34" charset="0"/>
                <a:ea typeface="Calibri" pitchFamily="34" charset="-122"/>
                <a:cs typeface="Calibri" pitchFamily="34" charset="-120"/>
              </a:rPr>
              <a:t>适合度的增加率等于该时刻适合度的遗传方差</a:t>
            </a:r>
            <a:endParaRPr lang="en-US" sz="1300" dirty="0"/>
          </a:p>
        </p:txBody>
      </p:sp>
      <p:sp>
        <p:nvSpPr>
          <p:cNvPr id="11" name="Shape 8"/>
          <p:cNvSpPr/>
          <p:nvPr/>
        </p:nvSpPr>
        <p:spPr>
          <a:xfrm>
            <a:off x="457200" y="3291840"/>
            <a:ext cx="3931920" cy="1417320"/>
          </a:xfrm>
          <a:prstGeom prst="roundRect">
            <a:avLst>
              <a:gd name="adj" fmla="val 6452"/>
            </a:avLst>
          </a:prstGeom>
          <a:solidFill>
            <a:srgbClr val="FFFFFF"/>
          </a:solidFill>
          <a:ln/>
          <a:effectLst>
            <a:outerShdw sx="100000" sy="100000" kx="0" ky="0" algn="bl" rotWithShape="0" blurRad="152400" dist="50800" dir="8100000">
              <a:srgbClr val="000000">
                <a:alpha val="28000"/>
              </a:srgbClr>
            </a:outerShdw>
          </a:effectLst>
        </p:spPr>
      </p:sp>
      <p:sp>
        <p:nvSpPr>
          <p:cNvPr id="12" name="Text 9"/>
          <p:cNvSpPr/>
          <p:nvPr/>
        </p:nvSpPr>
        <p:spPr>
          <a:xfrm>
            <a:off x="640080" y="3383280"/>
            <a:ext cx="356616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核心思想 Core Idea</a:t>
            </a:r>
            <a:endParaRPr lang="en-US" sz="1400" dirty="0"/>
          </a:p>
        </p:txBody>
      </p:sp>
      <p:sp>
        <p:nvSpPr>
          <p:cNvPr id="13" name="Text 10"/>
          <p:cNvSpPr/>
          <p:nvPr/>
        </p:nvSpPr>
        <p:spPr>
          <a:xfrm>
            <a:off x="640080" y="3749040"/>
            <a:ext cx="3566160" cy="822960"/>
          </a:xfrm>
          <a:prstGeom prst="rect">
            <a:avLst/>
          </a:prstGeom>
          <a:noFill/>
          <a:ln/>
        </p:spPr>
        <p:txBody>
          <a:bodyPr wrap="square" rtlCol="0" anchor="ctr"/>
          <a:lstStyle/>
          <a:p>
            <a:pPr indent="0" marL="0">
              <a:buNone/>
            </a:pPr>
            <a:r>
              <a:rPr lang="en-US" sz="1200" dirty="0">
                <a:solidFill>
                  <a:srgbClr val="2C3E2C"/>
                </a:solidFill>
                <a:latin typeface="Calibri" pitchFamily="34" charset="0"/>
                <a:ea typeface="Calibri" pitchFamily="34" charset="-122"/>
                <a:cs typeface="Calibri" pitchFamily="34" charset="-120"/>
              </a:rPr>
              <a:t>Evolution proceeds as fast as genetic variation allows. More genetic variance = faster adaptation.</a:t>
            </a:r>
            <a:endParaRPr lang="en-US" sz="1200" dirty="0"/>
          </a:p>
          <a:p>
            <a:pPr indent="0" marL="0">
              <a:buNone/>
            </a:pPr>
            <a:r>
              <a:rPr lang="en-US" sz="1200" dirty="0">
                <a:solidFill>
                  <a:srgbClr val="2C3E2C"/>
                </a:solidFill>
                <a:latin typeface="Calibri" pitchFamily="34" charset="0"/>
                <a:ea typeface="Calibri" pitchFamily="34" charset="-122"/>
                <a:cs typeface="Calibri" pitchFamily="34" charset="-120"/>
              </a:rPr>
              <a:t>遗传变异越多，适应速度越快。</a:t>
            </a:r>
            <a:endParaRPr lang="en-US" sz="1200" dirty="0"/>
          </a:p>
        </p:txBody>
      </p:sp>
      <p:sp>
        <p:nvSpPr>
          <p:cNvPr id="14" name="Shape 11"/>
          <p:cNvSpPr/>
          <p:nvPr/>
        </p:nvSpPr>
        <p:spPr>
          <a:xfrm>
            <a:off x="4617720" y="3291840"/>
            <a:ext cx="4069080" cy="1417320"/>
          </a:xfrm>
          <a:prstGeom prst="roundRect">
            <a:avLst>
              <a:gd name="adj" fmla="val 6452"/>
            </a:avLst>
          </a:prstGeom>
          <a:solidFill>
            <a:srgbClr val="F5F2E8"/>
          </a:solidFill>
          <a:ln/>
          <a:effectLst>
            <a:outerShdw sx="100000" sy="100000" kx="0" ky="0" algn="bl" rotWithShape="0" blurRad="152400" dist="50800" dir="8100000">
              <a:srgbClr val="000000">
                <a:alpha val="28000"/>
              </a:srgbClr>
            </a:outerShdw>
          </a:effectLst>
        </p:spPr>
      </p:sp>
      <p:sp>
        <p:nvSpPr>
          <p:cNvPr id="15" name="Text 12"/>
          <p:cNvSpPr/>
          <p:nvPr/>
        </p:nvSpPr>
        <p:spPr>
          <a:xfrm>
            <a:off x="4800600" y="3383280"/>
            <a:ext cx="370332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Haldane's comment 评价</a:t>
            </a:r>
            <a:endParaRPr lang="en-US" sz="1400" dirty="0"/>
          </a:p>
        </p:txBody>
      </p:sp>
      <p:sp>
        <p:nvSpPr>
          <p:cNvPr id="16" name="Text 13"/>
          <p:cNvSpPr/>
          <p:nvPr/>
        </p:nvSpPr>
        <p:spPr>
          <a:xfrm>
            <a:off x="4800600" y="3749040"/>
            <a:ext cx="3703320" cy="822960"/>
          </a:xfrm>
          <a:prstGeom prst="rect">
            <a:avLst/>
          </a:prstGeom>
          <a:noFill/>
          <a:ln/>
        </p:spPr>
        <p:txBody>
          <a:bodyPr wrap="square" rtlCol="0" anchor="ctr"/>
          <a:lstStyle/>
          <a:p>
            <a:pPr indent="0" marL="0">
              <a:buNone/>
            </a:pPr>
            <a:r>
              <a:rPr lang="en-US" sz="1200" i="1" dirty="0">
                <a:solidFill>
                  <a:srgbClr val="2C3E2C"/>
                </a:solidFill>
                <a:latin typeface="Georgia" pitchFamily="34" charset="0"/>
                <a:ea typeface="Georgia" pitchFamily="34" charset="-122"/>
                <a:cs typeface="Georgia" pitchFamily="34" charset="-120"/>
              </a:rPr>
              <a:t>"Like Newton's Second Law for evolutionary biology."</a:t>
            </a:r>
            <a:endParaRPr lang="en-US" sz="1200" dirty="0"/>
          </a:p>
          <a:p>
            <a:pPr indent="0" marL="0">
              <a:buNone/>
            </a:pPr>
            <a:r>
              <a:rPr lang="en-US" sz="1200" i="1" dirty="0">
                <a:solidFill>
                  <a:srgbClr val="2C3E2C"/>
                </a:solidFill>
                <a:latin typeface="Georgia" pitchFamily="34" charset="0"/>
                <a:ea typeface="Georgia" pitchFamily="34" charset="-122"/>
                <a:cs typeface="Georgia" pitchFamily="34" charset="-120"/>
              </a:rPr>
              <a:t>"如同牛顿第二定律对进化生物学的意义。"</a:t>
            </a:r>
            <a:endParaRPr lang="en-US" sz="12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重要文献 | Key Literature</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6 Foundational Papers 六篇奠基文献</a:t>
            </a:r>
            <a:endParaRPr lang="en-US" sz="1300" dirty="0"/>
          </a:p>
        </p:txBody>
      </p:sp>
      <p:sp>
        <p:nvSpPr>
          <p:cNvPr id="6" name="Shape 3"/>
          <p:cNvSpPr/>
          <p:nvPr/>
        </p:nvSpPr>
        <p:spPr>
          <a:xfrm>
            <a:off x="457200" y="1051560"/>
            <a:ext cx="402336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051560"/>
            <a:ext cx="4023360" cy="45720"/>
          </a:xfrm>
          <a:prstGeom prst="rect">
            <a:avLst/>
          </a:prstGeom>
          <a:solidFill>
            <a:srgbClr val="2C5F2D"/>
          </a:solidFill>
          <a:ln/>
        </p:spPr>
      </p:sp>
      <p:sp>
        <p:nvSpPr>
          <p:cNvPr id="8" name="Text 5"/>
          <p:cNvSpPr/>
          <p:nvPr/>
        </p:nvSpPr>
        <p:spPr>
          <a:xfrm>
            <a:off x="685800" y="116128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1918</a:t>
            </a:r>
            <a:endParaRPr lang="en-US" sz="1400" dirty="0"/>
          </a:p>
        </p:txBody>
      </p:sp>
      <p:sp>
        <p:nvSpPr>
          <p:cNvPr id="9" name="Text 6"/>
          <p:cNvSpPr/>
          <p:nvPr/>
        </p:nvSpPr>
        <p:spPr>
          <a:xfrm>
            <a:off x="1325880" y="116128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Fisher</a:t>
            </a:r>
            <a:endParaRPr lang="en-US" sz="1300" dirty="0"/>
          </a:p>
        </p:txBody>
      </p:sp>
      <p:sp>
        <p:nvSpPr>
          <p:cNvPr id="10" name="Text 7"/>
          <p:cNvSpPr/>
          <p:nvPr/>
        </p:nvSpPr>
        <p:spPr>
          <a:xfrm>
            <a:off x="685800" y="150876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Correlation between Relatives on the Supposition of Mendelian Inheritance</a:t>
            </a:r>
            <a:endParaRPr lang="en-US" sz="1100" dirty="0"/>
          </a:p>
        </p:txBody>
      </p:sp>
      <p:sp>
        <p:nvSpPr>
          <p:cNvPr id="11" name="Text 8"/>
          <p:cNvSpPr/>
          <p:nvPr/>
        </p:nvSpPr>
        <p:spPr>
          <a:xfrm>
            <a:off x="685800" y="192024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Unified Mendel + biometrics</a:t>
            </a:r>
            <a:endParaRPr lang="en-US" sz="1000" dirty="0"/>
          </a:p>
        </p:txBody>
      </p:sp>
      <p:sp>
        <p:nvSpPr>
          <p:cNvPr id="12" name="Shape 9"/>
          <p:cNvSpPr/>
          <p:nvPr/>
        </p:nvSpPr>
        <p:spPr>
          <a:xfrm>
            <a:off x="4663440" y="1051560"/>
            <a:ext cx="4023360" cy="1188720"/>
          </a:xfrm>
          <a:prstGeom prst="roundRect">
            <a:avLst>
              <a:gd name="adj" fmla="val 6154"/>
            </a:avLst>
          </a:prstGeom>
          <a:solidFill>
            <a:srgbClr val="F5F2E8"/>
          </a:solidFill>
          <a:ln/>
          <a:effectLst>
            <a:outerShdw sx="100000" sy="100000" kx="0" ky="0" algn="bl" rotWithShape="0" blurRad="152400" dist="50800" dir="8100000">
              <a:srgbClr val="000000">
                <a:alpha val="28000"/>
              </a:srgbClr>
            </a:outerShdw>
          </a:effectLst>
        </p:spPr>
      </p:sp>
      <p:sp>
        <p:nvSpPr>
          <p:cNvPr id="13" name="Shape 10"/>
          <p:cNvSpPr/>
          <p:nvPr/>
        </p:nvSpPr>
        <p:spPr>
          <a:xfrm>
            <a:off x="4663440" y="1051560"/>
            <a:ext cx="4023360" cy="45720"/>
          </a:xfrm>
          <a:prstGeom prst="rect">
            <a:avLst/>
          </a:prstGeom>
          <a:solidFill>
            <a:srgbClr val="2C5F2D"/>
          </a:solidFill>
          <a:ln/>
        </p:spPr>
      </p:sp>
      <p:sp>
        <p:nvSpPr>
          <p:cNvPr id="14" name="Text 11"/>
          <p:cNvSpPr/>
          <p:nvPr/>
        </p:nvSpPr>
        <p:spPr>
          <a:xfrm>
            <a:off x="4892040" y="116128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1924</a:t>
            </a:r>
            <a:endParaRPr lang="en-US" sz="1400" dirty="0"/>
          </a:p>
        </p:txBody>
      </p:sp>
      <p:sp>
        <p:nvSpPr>
          <p:cNvPr id="15" name="Text 12"/>
          <p:cNvSpPr/>
          <p:nvPr/>
        </p:nvSpPr>
        <p:spPr>
          <a:xfrm>
            <a:off x="5532120" y="116128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Haldane</a:t>
            </a:r>
            <a:endParaRPr lang="en-US" sz="1300" dirty="0"/>
          </a:p>
        </p:txBody>
      </p:sp>
      <p:sp>
        <p:nvSpPr>
          <p:cNvPr id="16" name="Text 13"/>
          <p:cNvSpPr/>
          <p:nvPr/>
        </p:nvSpPr>
        <p:spPr>
          <a:xfrm>
            <a:off x="4892040" y="150876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A Mathematical Theory of Natural and Artificial Selection</a:t>
            </a:r>
            <a:endParaRPr lang="en-US" sz="1100" dirty="0"/>
          </a:p>
        </p:txBody>
      </p:sp>
      <p:sp>
        <p:nvSpPr>
          <p:cNvPr id="17" name="Text 14"/>
          <p:cNvSpPr/>
          <p:nvPr/>
        </p:nvSpPr>
        <p:spPr>
          <a:xfrm>
            <a:off x="4892040" y="192024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Selection coefficient concept</a:t>
            </a:r>
            <a:endParaRPr lang="en-US" sz="1000" dirty="0"/>
          </a:p>
        </p:txBody>
      </p:sp>
      <p:sp>
        <p:nvSpPr>
          <p:cNvPr id="18" name="Shape 15"/>
          <p:cNvSpPr/>
          <p:nvPr/>
        </p:nvSpPr>
        <p:spPr>
          <a:xfrm>
            <a:off x="457200" y="2377440"/>
            <a:ext cx="402336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19" name="Shape 16"/>
          <p:cNvSpPr/>
          <p:nvPr/>
        </p:nvSpPr>
        <p:spPr>
          <a:xfrm>
            <a:off x="457200" y="2377440"/>
            <a:ext cx="4023360" cy="45720"/>
          </a:xfrm>
          <a:prstGeom prst="rect">
            <a:avLst/>
          </a:prstGeom>
          <a:solidFill>
            <a:srgbClr val="2C5F2D"/>
          </a:solidFill>
          <a:ln/>
        </p:spPr>
      </p:sp>
      <p:sp>
        <p:nvSpPr>
          <p:cNvPr id="20" name="Text 17"/>
          <p:cNvSpPr/>
          <p:nvPr/>
        </p:nvSpPr>
        <p:spPr>
          <a:xfrm>
            <a:off x="685800" y="248716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1930</a:t>
            </a:r>
            <a:endParaRPr lang="en-US" sz="1400" dirty="0"/>
          </a:p>
        </p:txBody>
      </p:sp>
      <p:sp>
        <p:nvSpPr>
          <p:cNvPr id="21" name="Text 18"/>
          <p:cNvSpPr/>
          <p:nvPr/>
        </p:nvSpPr>
        <p:spPr>
          <a:xfrm>
            <a:off x="1325880" y="248716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Fisher</a:t>
            </a:r>
            <a:endParaRPr lang="en-US" sz="1300" dirty="0"/>
          </a:p>
        </p:txBody>
      </p:sp>
      <p:sp>
        <p:nvSpPr>
          <p:cNvPr id="22" name="Text 19"/>
          <p:cNvSpPr/>
          <p:nvPr/>
        </p:nvSpPr>
        <p:spPr>
          <a:xfrm>
            <a:off x="685800" y="283464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The Genetical Theory of Natural Selection</a:t>
            </a:r>
            <a:endParaRPr lang="en-US" sz="1100" dirty="0"/>
          </a:p>
        </p:txBody>
      </p:sp>
      <p:sp>
        <p:nvSpPr>
          <p:cNvPr id="23" name="Text 20"/>
          <p:cNvSpPr/>
          <p:nvPr/>
        </p:nvSpPr>
        <p:spPr>
          <a:xfrm>
            <a:off x="685800" y="324612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Fundamental theorem</a:t>
            </a:r>
            <a:endParaRPr lang="en-US" sz="1000" dirty="0"/>
          </a:p>
        </p:txBody>
      </p:sp>
      <p:sp>
        <p:nvSpPr>
          <p:cNvPr id="24" name="Shape 21"/>
          <p:cNvSpPr/>
          <p:nvPr/>
        </p:nvSpPr>
        <p:spPr>
          <a:xfrm>
            <a:off x="4663440" y="2377440"/>
            <a:ext cx="4023360" cy="1188720"/>
          </a:xfrm>
          <a:prstGeom prst="roundRect">
            <a:avLst>
              <a:gd name="adj" fmla="val 6154"/>
            </a:avLst>
          </a:prstGeom>
          <a:solidFill>
            <a:srgbClr val="F5F2E8"/>
          </a:solidFill>
          <a:ln/>
          <a:effectLst>
            <a:outerShdw sx="100000" sy="100000" kx="0" ky="0" algn="bl" rotWithShape="0" blurRad="152400" dist="50800" dir="8100000">
              <a:srgbClr val="000000">
                <a:alpha val="28000"/>
              </a:srgbClr>
            </a:outerShdw>
          </a:effectLst>
        </p:spPr>
      </p:sp>
      <p:sp>
        <p:nvSpPr>
          <p:cNvPr id="25" name="Shape 22"/>
          <p:cNvSpPr/>
          <p:nvPr/>
        </p:nvSpPr>
        <p:spPr>
          <a:xfrm>
            <a:off x="4663440" y="2377440"/>
            <a:ext cx="4023360" cy="45720"/>
          </a:xfrm>
          <a:prstGeom prst="rect">
            <a:avLst/>
          </a:prstGeom>
          <a:solidFill>
            <a:srgbClr val="2C5F2D"/>
          </a:solidFill>
          <a:ln/>
        </p:spPr>
      </p:sp>
      <p:sp>
        <p:nvSpPr>
          <p:cNvPr id="26" name="Text 23"/>
          <p:cNvSpPr/>
          <p:nvPr/>
        </p:nvSpPr>
        <p:spPr>
          <a:xfrm>
            <a:off x="4892040" y="248716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1931</a:t>
            </a:r>
            <a:endParaRPr lang="en-US" sz="1400" dirty="0"/>
          </a:p>
        </p:txBody>
      </p:sp>
      <p:sp>
        <p:nvSpPr>
          <p:cNvPr id="27" name="Text 24"/>
          <p:cNvSpPr/>
          <p:nvPr/>
        </p:nvSpPr>
        <p:spPr>
          <a:xfrm>
            <a:off x="5532120" y="248716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Wright</a:t>
            </a:r>
            <a:endParaRPr lang="en-US" sz="1300" dirty="0"/>
          </a:p>
        </p:txBody>
      </p:sp>
      <p:sp>
        <p:nvSpPr>
          <p:cNvPr id="28" name="Text 25"/>
          <p:cNvSpPr/>
          <p:nvPr/>
        </p:nvSpPr>
        <p:spPr>
          <a:xfrm>
            <a:off x="4892040" y="283464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Evolution in Mendelian Populations (PNAS)</a:t>
            </a:r>
            <a:endParaRPr lang="en-US" sz="1100" dirty="0"/>
          </a:p>
        </p:txBody>
      </p:sp>
      <p:sp>
        <p:nvSpPr>
          <p:cNvPr id="29" name="Text 26"/>
          <p:cNvSpPr/>
          <p:nvPr/>
        </p:nvSpPr>
        <p:spPr>
          <a:xfrm>
            <a:off x="4892040" y="324612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Genetic drift, Ne</a:t>
            </a:r>
            <a:endParaRPr lang="en-US" sz="1000" dirty="0"/>
          </a:p>
        </p:txBody>
      </p:sp>
      <p:sp>
        <p:nvSpPr>
          <p:cNvPr id="30" name="Shape 27"/>
          <p:cNvSpPr/>
          <p:nvPr/>
        </p:nvSpPr>
        <p:spPr>
          <a:xfrm>
            <a:off x="457200" y="3703320"/>
            <a:ext cx="4023360" cy="1188720"/>
          </a:xfrm>
          <a:prstGeom prst="roundRect">
            <a:avLst>
              <a:gd name="adj" fmla="val 6154"/>
            </a:avLst>
          </a:prstGeom>
          <a:solidFill>
            <a:srgbClr val="FFFFFF"/>
          </a:solidFill>
          <a:ln/>
          <a:effectLst>
            <a:outerShdw sx="100000" sy="100000" kx="0" ky="0" algn="bl" rotWithShape="0" blurRad="152400" dist="50800" dir="8100000">
              <a:srgbClr val="000000">
                <a:alpha val="28000"/>
              </a:srgbClr>
            </a:outerShdw>
          </a:effectLst>
        </p:spPr>
      </p:sp>
      <p:sp>
        <p:nvSpPr>
          <p:cNvPr id="31" name="Shape 28"/>
          <p:cNvSpPr/>
          <p:nvPr/>
        </p:nvSpPr>
        <p:spPr>
          <a:xfrm>
            <a:off x="457200" y="3703320"/>
            <a:ext cx="4023360" cy="45720"/>
          </a:xfrm>
          <a:prstGeom prst="rect">
            <a:avLst/>
          </a:prstGeom>
          <a:solidFill>
            <a:srgbClr val="2C5F2D"/>
          </a:solidFill>
          <a:ln/>
        </p:spPr>
      </p:sp>
      <p:sp>
        <p:nvSpPr>
          <p:cNvPr id="32" name="Text 29"/>
          <p:cNvSpPr/>
          <p:nvPr/>
        </p:nvSpPr>
        <p:spPr>
          <a:xfrm>
            <a:off x="685800" y="381304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1932</a:t>
            </a:r>
            <a:endParaRPr lang="en-US" sz="1400" dirty="0"/>
          </a:p>
        </p:txBody>
      </p:sp>
      <p:sp>
        <p:nvSpPr>
          <p:cNvPr id="33" name="Text 30"/>
          <p:cNvSpPr/>
          <p:nvPr/>
        </p:nvSpPr>
        <p:spPr>
          <a:xfrm>
            <a:off x="1325880" y="381304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Haldane</a:t>
            </a:r>
            <a:endParaRPr lang="en-US" sz="1300" dirty="0"/>
          </a:p>
        </p:txBody>
      </p:sp>
      <p:sp>
        <p:nvSpPr>
          <p:cNvPr id="34" name="Text 31"/>
          <p:cNvSpPr/>
          <p:nvPr/>
        </p:nvSpPr>
        <p:spPr>
          <a:xfrm>
            <a:off x="685800" y="416052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The Causes of Evolution</a:t>
            </a:r>
            <a:endParaRPr lang="en-US" sz="1100" dirty="0"/>
          </a:p>
        </p:txBody>
      </p:sp>
      <p:sp>
        <p:nvSpPr>
          <p:cNvPr id="35" name="Text 32"/>
          <p:cNvSpPr/>
          <p:nvPr/>
        </p:nvSpPr>
        <p:spPr>
          <a:xfrm>
            <a:off x="685800" y="457200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Cost of natural selection</a:t>
            </a:r>
            <a:endParaRPr lang="en-US" sz="1000" dirty="0"/>
          </a:p>
        </p:txBody>
      </p:sp>
      <p:sp>
        <p:nvSpPr>
          <p:cNvPr id="36" name="Shape 33"/>
          <p:cNvSpPr/>
          <p:nvPr/>
        </p:nvSpPr>
        <p:spPr>
          <a:xfrm>
            <a:off x="4663440" y="3703320"/>
            <a:ext cx="4023360" cy="1188720"/>
          </a:xfrm>
          <a:prstGeom prst="roundRect">
            <a:avLst>
              <a:gd name="adj" fmla="val 6154"/>
            </a:avLst>
          </a:prstGeom>
          <a:solidFill>
            <a:srgbClr val="F5F2E8"/>
          </a:solidFill>
          <a:ln/>
          <a:effectLst>
            <a:outerShdw sx="100000" sy="100000" kx="0" ky="0" algn="bl" rotWithShape="0" blurRad="152400" dist="50800" dir="8100000">
              <a:srgbClr val="000000">
                <a:alpha val="28000"/>
              </a:srgbClr>
            </a:outerShdw>
          </a:effectLst>
        </p:spPr>
      </p:sp>
      <p:sp>
        <p:nvSpPr>
          <p:cNvPr id="37" name="Shape 34"/>
          <p:cNvSpPr/>
          <p:nvPr/>
        </p:nvSpPr>
        <p:spPr>
          <a:xfrm>
            <a:off x="4663440" y="3703320"/>
            <a:ext cx="4023360" cy="45720"/>
          </a:xfrm>
          <a:prstGeom prst="rect">
            <a:avLst/>
          </a:prstGeom>
          <a:solidFill>
            <a:srgbClr val="2C5F2D"/>
          </a:solidFill>
          <a:ln/>
        </p:spPr>
      </p:sp>
      <p:sp>
        <p:nvSpPr>
          <p:cNvPr id="38" name="Text 35"/>
          <p:cNvSpPr/>
          <p:nvPr/>
        </p:nvSpPr>
        <p:spPr>
          <a:xfrm>
            <a:off x="4892040" y="3813048"/>
            <a:ext cx="548640" cy="27432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1937</a:t>
            </a:r>
            <a:endParaRPr lang="en-US" sz="1400" dirty="0"/>
          </a:p>
        </p:txBody>
      </p:sp>
      <p:sp>
        <p:nvSpPr>
          <p:cNvPr id="39" name="Text 36"/>
          <p:cNvSpPr/>
          <p:nvPr/>
        </p:nvSpPr>
        <p:spPr>
          <a:xfrm>
            <a:off x="5532120" y="3813048"/>
            <a:ext cx="2926080" cy="27432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Dobzhansky</a:t>
            </a:r>
            <a:endParaRPr lang="en-US" sz="1300" dirty="0"/>
          </a:p>
        </p:txBody>
      </p:sp>
      <p:sp>
        <p:nvSpPr>
          <p:cNvPr id="40" name="Text 37"/>
          <p:cNvSpPr/>
          <p:nvPr/>
        </p:nvSpPr>
        <p:spPr>
          <a:xfrm>
            <a:off x="4892040" y="4160520"/>
            <a:ext cx="3566160" cy="534924"/>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Genetics and the Origin of Species</a:t>
            </a:r>
            <a:endParaRPr lang="en-US" sz="1100" dirty="0"/>
          </a:p>
        </p:txBody>
      </p:sp>
      <p:sp>
        <p:nvSpPr>
          <p:cNvPr id="41" name="Text 38"/>
          <p:cNvSpPr/>
          <p:nvPr/>
        </p:nvSpPr>
        <p:spPr>
          <a:xfrm>
            <a:off x="4892040" y="4572000"/>
            <a:ext cx="3566160" cy="274320"/>
          </a:xfrm>
          <a:prstGeom prst="rect">
            <a:avLst/>
          </a:prstGeom>
          <a:noFill/>
          <a:ln/>
        </p:spPr>
        <p:txBody>
          <a:bodyPr wrap="square" rtlCol="0" anchor="ctr">
            <a:normAutofit/>
          </a:bodyPr>
          <a:lstStyle/>
          <a:p>
            <a:pPr indent="0" marL="0">
              <a:buNone/>
            </a:pPr>
            <a:r>
              <a:rPr lang="en-US" sz="1000" i="1" dirty="0">
                <a:solidFill>
                  <a:srgbClr val="6B7B6B"/>
                </a:solidFill>
                <a:latin typeface="Calibri" pitchFamily="34" charset="0"/>
                <a:ea typeface="Calibri" pitchFamily="34" charset="-122"/>
                <a:cs typeface="Calibri" pitchFamily="34" charset="-120"/>
              </a:rPr>
              <a:t>Modern Synthesis classic</a:t>
            </a:r>
            <a:endParaRPr lang="en-US" sz="1000" dirty="0"/>
          </a:p>
        </p:txBody>
      </p:sp>
      <p:sp>
        <p:nvSpPr>
          <p:cNvPr id="4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术语表 | Glossary</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Key terms in population genetics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886200"/>
        </p:xfrm>
        <a:graphic>
          <a:graphicData uri="http://schemas.openxmlformats.org/drawingml/2006/table">
            <a:tbl>
              <a:tblPr/>
              <a:tblGrid>
                <a:gridCol w="2560320"/>
                <a:gridCol w="1828800"/>
                <a:gridCol w="384048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English Term</a:t>
                      </a:r>
                      <a:endParaRPr lang="en-US" sz="10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中文术语</a:t>
                      </a:r>
                      <a:endParaRPr lang="en-US" sz="10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Definition</a:t>
                      </a:r>
                      <a:endParaRPr lang="en-US" sz="10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2C5F2D"/>
                    </a:solidFill>
                  </a:tcPr>
                </a:tc>
              </a:tr>
              <a:tr h="301752">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Gene/Allele Frequency</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基因频率</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Proportion of a specific allele</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Genotype Frequency</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基因型频率</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Proportion of a genotype</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Fitness (W)</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适合度</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Ability to pass alleles to offspring</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Selection Coeff. (s)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选择系数</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s = 1 - W</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Effective Pop. Size (Ne)</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有效群体大小</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Ideal population equivalent for drift</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Genetic Drift</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遗传漂变</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Random sampling effects on allele freq.</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Gene Flow</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基因流</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Migration between populations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Fixation / Loss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固定/丢失</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Allele freq reaches 1 or 0</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Polymorphism</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多态性</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Multiple alleles at a locus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Heterozygote Advantage</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杂合子优势</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Heterozygote &gt; both homozygotes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Fisher's Fundamental Theorem</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Fisher基本定理</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dW/dt = genetic variance</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FFFFF"/>
                    </a:solidFill>
                  </a:tcPr>
                </a:tc>
              </a:tr>
              <a:tr h="298938">
                <a:tc>
                  <a:txBody>
                    <a:bodyPr/>
                    <a:lstStyle/>
                    <a:p>
                      <a:pPr indent="0" marL="0">
                        <a:buNone/>
                      </a:pPr>
                      <a:r>
                        <a:rPr lang="en-US" sz="900" b="1" dirty="0">
                          <a:solidFill>
                            <a:srgbClr val="2C3E2C"/>
                          </a:solidFill>
                          <a:latin typeface="Calibri" pitchFamily="34" charset="0"/>
                          <a:ea typeface="Calibri" pitchFamily="34" charset="-122"/>
                          <a:cs typeface="Calibri" pitchFamily="34" charset="-120"/>
                        </a:rPr>
                        <a:t>Modern Synthesis</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2C3E2C"/>
                          </a:solidFill>
                          <a:latin typeface="Calibri" pitchFamily="34" charset="0"/>
                          <a:ea typeface="Calibri" pitchFamily="34" charset="-122"/>
                          <a:cs typeface="Calibri" pitchFamily="34" charset="-120"/>
                        </a:rPr>
                        <a:t>现代进化综合论</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c>
                  <a:txBody>
                    <a:bodyPr/>
                    <a:lstStyle/>
                    <a:p>
                      <a:pPr indent="0" marL="0">
                        <a:buNone/>
                      </a:pPr>
                      <a:r>
                        <a:rPr lang="en-US" sz="900" dirty="0">
                          <a:solidFill>
                            <a:srgbClr val="6B7B6B"/>
                          </a:solidFill>
                          <a:latin typeface="Calibri" pitchFamily="34" charset="0"/>
                          <a:ea typeface="Calibri" pitchFamily="34" charset="-122"/>
                          <a:cs typeface="Calibri" pitchFamily="34" charset="-120"/>
                        </a:rPr>
                        <a:t>Genetics + evolution framework</a:t>
                      </a:r>
                      <a:endParaRPr lang="en-US" sz="900" dirty="0">
                        <a:latin typeface="Calibri" charset="0"/>
                        <a:ea typeface="Calibri" charset="0"/>
                        <a:cs typeface="Calibri" charset="0"/>
                      </a:endParaRPr>
                    </a:p>
                  </a:txBody>
                  <a:tcPr marL="91440" marR="91440" marT="45720" marB="45720">
                    <a:lnL w="6350" cap="flat" cmpd="sng" algn="ctr">
                      <a:solidFill>
                        <a:srgbClr val="C8D8C0"/>
                      </a:solidFill>
                      <a:prstDash val="solid"/>
                      <a:round/>
                      <a:headEnd type="none" w="med" len="med"/>
                      <a:tailEnd type="none" w="med" len="med"/>
                    </a:lnL>
                    <a:lnR w="6350" cap="flat" cmpd="sng" algn="ctr">
                      <a:solidFill>
                        <a:srgbClr val="C8D8C0"/>
                      </a:solidFill>
                      <a:prstDash val="solid"/>
                      <a:round/>
                      <a:headEnd type="none" w="med" len="med"/>
                      <a:tailEnd type="none" w="med" len="med"/>
                    </a:lnR>
                    <a:lnT w="6350" cap="flat" cmpd="sng" algn="ctr">
                      <a:solidFill>
                        <a:srgbClr val="C8D8C0"/>
                      </a:solidFill>
                      <a:prstDash val="solid"/>
                      <a:round/>
                      <a:headEnd type="none" w="med" len="med"/>
                      <a:tailEnd type="none" w="med" len="med"/>
                    </a:lnT>
                    <a:lnB w="6350" cap="flat" cmpd="sng" algn="ctr">
                      <a:solidFill>
                        <a:srgbClr val="C8D8C0"/>
                      </a:solidFill>
                      <a:prstDash val="solid"/>
                      <a:round/>
                      <a:headEnd type="none" w="med" len="med"/>
                      <a:tailEnd type="none" w="med" len="med"/>
                    </a:lnB>
                    <a:solidFill>
                      <a:srgbClr val="F5F2E8"/>
                    </a:solidFill>
                  </a:tcPr>
                </a:tc>
              </a:tr>
            </a:tbl>
          </a:graphicData>
        </a:graphic>
      </p:graphicFrame>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思考题 | Discussion Questions</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三个关键问题 Three Key Questions</a:t>
            </a:r>
            <a:endParaRPr lang="en-US" sz="1300" dirty="0"/>
          </a:p>
        </p:txBody>
      </p:sp>
      <p:sp>
        <p:nvSpPr>
          <p:cNvPr id="6" name="Shape 3"/>
          <p:cNvSpPr/>
          <p:nvPr/>
        </p:nvSpPr>
        <p:spPr>
          <a:xfrm>
            <a:off x="457200" y="1097280"/>
            <a:ext cx="8229600" cy="1097280"/>
          </a:xfrm>
          <a:prstGeom prst="roundRect">
            <a:avLst>
              <a:gd name="adj" fmla="val 8333"/>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097280"/>
            <a:ext cx="73152" cy="1097280"/>
          </a:xfrm>
          <a:prstGeom prst="rect">
            <a:avLst/>
          </a:prstGeom>
          <a:solidFill>
            <a:srgbClr val="2C5F2D"/>
          </a:solidFill>
          <a:ln/>
        </p:spPr>
      </p:sp>
      <p:sp>
        <p:nvSpPr>
          <p:cNvPr id="8" name="Shape 5"/>
          <p:cNvSpPr/>
          <p:nvPr/>
        </p:nvSpPr>
        <p:spPr>
          <a:xfrm>
            <a:off x="640080" y="1234440"/>
            <a:ext cx="320040" cy="320040"/>
          </a:xfrm>
          <a:prstGeom prst="ellipse">
            <a:avLst/>
          </a:prstGeom>
          <a:solidFill>
            <a:srgbClr val="2C5F2D"/>
          </a:solidFill>
          <a:ln/>
        </p:spPr>
      </p:sp>
      <p:sp>
        <p:nvSpPr>
          <p:cNvPr id="9" name="Text 6"/>
          <p:cNvSpPr/>
          <p:nvPr/>
        </p:nvSpPr>
        <p:spPr>
          <a:xfrm>
            <a:off x="640080" y="1234440"/>
            <a:ext cx="320040" cy="32004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097280" y="1234440"/>
            <a:ext cx="7315200" cy="320040"/>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基因频率计算 | Gene Frequency Calculation</a:t>
            </a:r>
            <a:endParaRPr lang="en-US" sz="1400" dirty="0"/>
          </a:p>
        </p:txBody>
      </p:sp>
      <p:sp>
        <p:nvSpPr>
          <p:cNvPr id="11" name="Text 8"/>
          <p:cNvSpPr/>
          <p:nvPr/>
        </p:nvSpPr>
        <p:spPr>
          <a:xfrm>
            <a:off x="1097280" y="1645920"/>
            <a:ext cx="7315200" cy="32004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In a population of 1000 people: MM=200, MN=500, NN=300. Calculate M and N allele frequencies, and test HWE.</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在1000人群体中，MN血型分布如上，计算等位基因频率并检验HWE。</a:t>
            </a:r>
            <a:endParaRPr lang="en-US" sz="1100" dirty="0"/>
          </a:p>
        </p:txBody>
      </p:sp>
      <p:sp>
        <p:nvSpPr>
          <p:cNvPr id="12" name="Shape 9"/>
          <p:cNvSpPr/>
          <p:nvPr/>
        </p:nvSpPr>
        <p:spPr>
          <a:xfrm>
            <a:off x="457200" y="2377440"/>
            <a:ext cx="8229600" cy="1097280"/>
          </a:xfrm>
          <a:prstGeom prst="roundRect">
            <a:avLst>
              <a:gd name="adj" fmla="val 8333"/>
            </a:avLst>
          </a:prstGeom>
          <a:solidFill>
            <a:srgbClr val="FFFFFF"/>
          </a:solidFill>
          <a:ln/>
          <a:effectLst>
            <a:outerShdw sx="100000" sy="100000" kx="0" ky="0" algn="bl" rotWithShape="0" blurRad="152400" dist="50800" dir="8100000">
              <a:srgbClr val="000000">
                <a:alpha val="28000"/>
              </a:srgbClr>
            </a:outerShdw>
          </a:effectLst>
        </p:spPr>
      </p:sp>
      <p:sp>
        <p:nvSpPr>
          <p:cNvPr id="13" name="Shape 10"/>
          <p:cNvSpPr/>
          <p:nvPr/>
        </p:nvSpPr>
        <p:spPr>
          <a:xfrm>
            <a:off x="457200" y="2377440"/>
            <a:ext cx="73152" cy="1097280"/>
          </a:xfrm>
          <a:prstGeom prst="rect">
            <a:avLst/>
          </a:prstGeom>
          <a:solidFill>
            <a:srgbClr val="97BC62"/>
          </a:solidFill>
          <a:ln/>
        </p:spPr>
      </p:sp>
      <p:sp>
        <p:nvSpPr>
          <p:cNvPr id="14" name="Shape 11"/>
          <p:cNvSpPr/>
          <p:nvPr/>
        </p:nvSpPr>
        <p:spPr>
          <a:xfrm>
            <a:off x="640080" y="2514600"/>
            <a:ext cx="320040" cy="320040"/>
          </a:xfrm>
          <a:prstGeom prst="ellipse">
            <a:avLst/>
          </a:prstGeom>
          <a:solidFill>
            <a:srgbClr val="97BC62"/>
          </a:solidFill>
          <a:ln/>
        </p:spPr>
      </p:sp>
      <p:sp>
        <p:nvSpPr>
          <p:cNvPr id="15" name="Text 12"/>
          <p:cNvSpPr/>
          <p:nvPr/>
        </p:nvSpPr>
        <p:spPr>
          <a:xfrm>
            <a:off x="640080" y="2514600"/>
            <a:ext cx="320040" cy="32004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1097280" y="2514600"/>
            <a:ext cx="7315200" cy="320040"/>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遗传漂变效应 | Genetic Drift Effects</a:t>
            </a:r>
            <a:endParaRPr lang="en-US" sz="1400" dirty="0"/>
          </a:p>
        </p:txBody>
      </p:sp>
      <p:sp>
        <p:nvSpPr>
          <p:cNvPr id="17" name="Text 14"/>
          <p:cNvSpPr/>
          <p:nvPr/>
        </p:nvSpPr>
        <p:spPr>
          <a:xfrm>
            <a:off x="1097280" y="2926080"/>
            <a:ext cx="7315200" cy="32004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Compare drift effects: an island insect population of 50 vs. mainland population of 100,000. How do they differ?</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小岛50只昆虫 vs 大陆10万只，遗传漂变的影响有何不同？</a:t>
            </a:r>
            <a:endParaRPr lang="en-US" sz="1100" dirty="0"/>
          </a:p>
        </p:txBody>
      </p:sp>
      <p:sp>
        <p:nvSpPr>
          <p:cNvPr id="18" name="Shape 15"/>
          <p:cNvSpPr/>
          <p:nvPr/>
        </p:nvSpPr>
        <p:spPr>
          <a:xfrm>
            <a:off x="457200" y="3657600"/>
            <a:ext cx="8229600" cy="1097280"/>
          </a:xfrm>
          <a:prstGeom prst="roundRect">
            <a:avLst>
              <a:gd name="adj" fmla="val 8333"/>
            </a:avLst>
          </a:prstGeom>
          <a:solidFill>
            <a:srgbClr val="FFFFFF"/>
          </a:solidFill>
          <a:ln/>
          <a:effectLst>
            <a:outerShdw sx="100000" sy="100000" kx="0" ky="0" algn="bl" rotWithShape="0" blurRad="152400" dist="50800" dir="8100000">
              <a:srgbClr val="000000">
                <a:alpha val="28000"/>
              </a:srgbClr>
            </a:outerShdw>
          </a:effectLst>
        </p:spPr>
      </p:sp>
      <p:sp>
        <p:nvSpPr>
          <p:cNvPr id="19" name="Shape 16"/>
          <p:cNvSpPr/>
          <p:nvPr/>
        </p:nvSpPr>
        <p:spPr>
          <a:xfrm>
            <a:off x="457200" y="3657600"/>
            <a:ext cx="73152" cy="1097280"/>
          </a:xfrm>
          <a:prstGeom prst="rect">
            <a:avLst/>
          </a:prstGeom>
          <a:solidFill>
            <a:srgbClr val="D4A843"/>
          </a:solidFill>
          <a:ln/>
        </p:spPr>
      </p:sp>
      <p:sp>
        <p:nvSpPr>
          <p:cNvPr id="20" name="Shape 17"/>
          <p:cNvSpPr/>
          <p:nvPr/>
        </p:nvSpPr>
        <p:spPr>
          <a:xfrm>
            <a:off x="640080" y="3794760"/>
            <a:ext cx="320040" cy="320040"/>
          </a:xfrm>
          <a:prstGeom prst="ellipse">
            <a:avLst/>
          </a:prstGeom>
          <a:solidFill>
            <a:srgbClr val="D4A843"/>
          </a:solidFill>
          <a:ln/>
        </p:spPr>
      </p:sp>
      <p:sp>
        <p:nvSpPr>
          <p:cNvPr id="21" name="Text 18"/>
          <p:cNvSpPr/>
          <p:nvPr/>
        </p:nvSpPr>
        <p:spPr>
          <a:xfrm>
            <a:off x="640080" y="3794760"/>
            <a:ext cx="320040" cy="320040"/>
          </a:xfrm>
          <a:prstGeom prst="rect">
            <a:avLst/>
          </a:prstGeom>
          <a:noFill/>
          <a:ln/>
        </p:spPr>
        <p:txBody>
          <a:bodyPr wrap="square"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p:nvPr/>
        </p:nvSpPr>
        <p:spPr>
          <a:xfrm>
            <a:off x="1097280" y="3794760"/>
            <a:ext cx="7315200" cy="320040"/>
          </a:xfrm>
          <a:prstGeom prst="rect">
            <a:avLst/>
          </a:prstGeom>
          <a:noFill/>
          <a:ln/>
        </p:spPr>
        <p:txBody>
          <a:bodyPr wrap="square" rtlCol="0" anchor="ctr">
            <a:normAutofit/>
          </a:bodyPr>
          <a:lstStyle/>
          <a:p>
            <a:pPr indent="0" marL="0">
              <a:buNone/>
            </a:pPr>
            <a:r>
              <a:rPr lang="en-US" sz="1400" b="1" dirty="0">
                <a:solidFill>
                  <a:srgbClr val="2C3E2C"/>
                </a:solidFill>
                <a:latin typeface="Calibri" pitchFamily="34" charset="0"/>
                <a:ea typeface="Calibri" pitchFamily="34" charset="-122"/>
                <a:cs typeface="Calibri" pitchFamily="34" charset="-120"/>
              </a:rPr>
              <a:t>选择与变异来源 | Selection &amp; Sources of Variation</a:t>
            </a:r>
            <a:endParaRPr lang="en-US" sz="1400" dirty="0"/>
          </a:p>
        </p:txBody>
      </p:sp>
      <p:sp>
        <p:nvSpPr>
          <p:cNvPr id="23" name="Text 20"/>
          <p:cNvSpPr/>
          <p:nvPr/>
        </p:nvSpPr>
        <p:spPr>
          <a:xfrm>
            <a:off x="1097280" y="4206240"/>
            <a:ext cx="7315200" cy="320040"/>
          </a:xfrm>
          <a:prstGeom prst="rect">
            <a:avLst/>
          </a:prstGeom>
          <a:noFill/>
          <a:ln/>
        </p:spPr>
        <p:txBody>
          <a:bodyPr wrap="square" rtlCol="0" anchor="ctr"/>
          <a:lstStyle/>
          <a:p>
            <a:pPr indent="0" marL="0">
              <a:buNone/>
            </a:pPr>
            <a:r>
              <a:rPr lang="en-US" sz="1100" dirty="0">
                <a:solidFill>
                  <a:srgbClr val="2C3E2C"/>
                </a:solidFill>
                <a:latin typeface="Calibri" pitchFamily="34" charset="0"/>
                <a:ea typeface="Calibri" pitchFamily="34" charset="-122"/>
                <a:cs typeface="Calibri" pitchFamily="34" charset="-120"/>
              </a:rPr>
              <a:t>Can natural selection create new alleles? If not, where does new genetic variation come from?</a:t>
            </a:r>
            <a:endParaRPr lang="en-US" sz="1100" dirty="0"/>
          </a:p>
          <a:p>
            <a:pPr indent="0" marL="0">
              <a:buNone/>
            </a:pPr>
            <a:r>
              <a:rPr lang="en-US" sz="1100" dirty="0">
                <a:solidFill>
                  <a:srgbClr val="2C3E2C"/>
                </a:solidFill>
                <a:latin typeface="Calibri" pitchFamily="34" charset="0"/>
                <a:ea typeface="Calibri" pitchFamily="34" charset="-122"/>
                <a:cs typeface="Calibri" pitchFamily="34" charset="-120"/>
              </a:rPr>
              <a:t>自然选择能否创造新的等位基因？如果不能，新的遗传变异从何而来？</a:t>
            </a:r>
            <a:endParaRPr lang="en-US" sz="1100" dirty="0"/>
          </a:p>
        </p:txBody>
      </p:sp>
      <p:sp>
        <p:nvSpPr>
          <p:cNvPr id="2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小故事 | Anecdote</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Fisher的对数与基本定理 Fisher's Logarithm &amp; The Fundamental Theorem</a:t>
            </a:r>
            <a:endParaRPr lang="en-US" sz="1300" dirty="0"/>
          </a:p>
        </p:txBody>
      </p:sp>
      <p:sp>
        <p:nvSpPr>
          <p:cNvPr id="6" name="Shape 3"/>
          <p:cNvSpPr/>
          <p:nvPr/>
        </p:nvSpPr>
        <p:spPr>
          <a:xfrm>
            <a:off x="914400" y="1097280"/>
            <a:ext cx="7315200" cy="3383280"/>
          </a:xfrm>
          <a:prstGeom prst="roundRect">
            <a:avLst>
              <a:gd name="adj" fmla="val 3243"/>
            </a:avLst>
          </a:prstGeom>
          <a:solidFill>
            <a:srgbClr val="FFFFFF"/>
          </a:solidFill>
          <a:ln/>
          <a:effectLst>
            <a:outerShdw sx="100000" sy="100000" kx="0" ky="0" algn="bl" rotWithShape="0" blurRad="203200" dist="76200" dir="8100000">
              <a:srgbClr val="000000">
                <a:alpha val="32000"/>
              </a:srgbClr>
            </a:outerShdw>
          </a:effectLst>
        </p:spPr>
      </p:sp>
      <p:sp>
        <p:nvSpPr>
          <p:cNvPr id="7" name="Shape 4"/>
          <p:cNvSpPr/>
          <p:nvPr/>
        </p:nvSpPr>
        <p:spPr>
          <a:xfrm>
            <a:off x="914400" y="1097280"/>
            <a:ext cx="7315200" cy="54864"/>
          </a:xfrm>
          <a:prstGeom prst="rect">
            <a:avLst/>
          </a:prstGeom>
          <a:solidFill>
            <a:srgbClr val="D4A843"/>
          </a:solidFill>
          <a:ln/>
        </p:spPr>
      </p:sp>
      <p:sp>
        <p:nvSpPr>
          <p:cNvPr id="8" name="Text 5"/>
          <p:cNvSpPr/>
          <p:nvPr/>
        </p:nvSpPr>
        <p:spPr>
          <a:xfrm>
            <a:off x="1188720" y="1325880"/>
            <a:ext cx="6766560" cy="3063240"/>
          </a:xfrm>
          <a:prstGeom prst="rect">
            <a:avLst/>
          </a:prstGeom>
          <a:noFill/>
          <a:ln/>
        </p:spPr>
        <p:txBody>
          <a:bodyPr wrap="square"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The Story</a:t>
            </a:r>
            <a:endParaRPr lang="en-US" sz="1800" dirty="0"/>
          </a:p>
          <a:p>
            <a:pPr indent="0" marL="0">
              <a:buNone/>
            </a:pPr>
            <a:endParaRPr lang="en-US" sz="1800" dirty="0"/>
          </a:p>
          <a:p>
            <a:pPr indent="0" marL="0">
              <a:buNone/>
            </a:pPr>
            <a:r>
              <a:rPr lang="en-US" sz="1400" dirty="0">
                <a:solidFill>
                  <a:srgbClr val="2C3E2C"/>
                </a:solidFill>
                <a:latin typeface="Calibri" pitchFamily="34" charset="0"/>
                <a:ea typeface="Calibri" pitchFamily="34" charset="-122"/>
                <a:cs typeface="Calibri" pitchFamily="34" charset="-120"/>
              </a:rPr>
              <a:t>While walking in the Cambridge gardens, Fisher suddenly realized that </a:t>
            </a:r>
            <a:pPr indent="0" marL="0">
              <a:buNone/>
            </a:pPr>
            <a:r>
              <a:rPr lang="en-US" sz="1400" b="1" dirty="0">
                <a:solidFill>
                  <a:srgbClr val="2C5F2D"/>
                </a:solidFill>
                <a:latin typeface="Calibri" pitchFamily="34" charset="0"/>
                <a:ea typeface="Calibri" pitchFamily="34" charset="-122"/>
                <a:cs typeface="Calibri" pitchFamily="34" charset="-120"/>
              </a:rPr>
              <a:t>log fitness can be linearly decomposed</a:t>
            </a:r>
            <a:pPr indent="0" marL="0">
              <a:buNone/>
            </a:pPr>
            <a:r>
              <a:rPr lang="en-US" sz="1400" dirty="0">
                <a:solidFill>
                  <a:srgbClr val="2C3E2C"/>
                </a:solidFill>
                <a:latin typeface="Calibri" pitchFamily="34" charset="0"/>
                <a:ea typeface="Calibri" pitchFamily="34" charset="-122"/>
                <a:cs typeface="Calibri" pitchFamily="34" charset="-120"/>
              </a:rPr>
              <a:t> into the sum of average effects of individual genes.</a:t>
            </a:r>
            <a:endParaRPr lang="en-US" sz="1800" dirty="0"/>
          </a:p>
          <a:p>
            <a:pPr indent="0" marL="0">
              <a:buNone/>
            </a:pPr>
            <a:endParaRPr lang="en-US" sz="1800" dirty="0"/>
          </a:p>
          <a:p>
            <a:pPr indent="0" marL="0">
              <a:buNone/>
            </a:pPr>
            <a:r>
              <a:rPr lang="en-US" sz="1400" dirty="0">
                <a:solidFill>
                  <a:srgbClr val="2C3E2C"/>
                </a:solidFill>
                <a:latin typeface="Calibri" pitchFamily="34" charset="0"/>
                <a:ea typeface="Calibri" pitchFamily="34" charset="-122"/>
                <a:cs typeface="Calibri" pitchFamily="34" charset="-120"/>
              </a:rPr>
              <a:t>He rushed back to his office and wrote the key formula on a napkin.</a:t>
            </a:r>
            <a:endParaRPr lang="en-US" sz="1800" dirty="0"/>
          </a:p>
          <a:p>
            <a:pPr indent="0" marL="0">
              <a:buNone/>
            </a:pPr>
            <a:endParaRPr lang="en-US" sz="1800" dirty="0"/>
          </a:p>
          <a:p>
            <a:pPr indent="0" marL="0">
              <a:buNone/>
            </a:pPr>
            <a:r>
              <a:rPr lang="en-US" sz="1500" b="1" dirty="0">
                <a:solidFill>
                  <a:srgbClr val="2C5F2D"/>
                </a:solidFill>
                <a:latin typeface="Calibri" pitchFamily="34" charset="0"/>
                <a:ea typeface="Calibri" pitchFamily="34" charset="-122"/>
                <a:cs typeface="Calibri" pitchFamily="34" charset="-120"/>
              </a:rPr>
              <a:t>核心洞察 Core Insight:</a:t>
            </a:r>
            <a:endParaRPr lang="en-US" sz="1800" dirty="0"/>
          </a:p>
          <a:p>
            <a:pPr indent="0" marL="0">
              <a:buNone/>
            </a:pPr>
            <a:r>
              <a:rPr lang="en-US" sz="1300" dirty="0">
                <a:solidFill>
                  <a:srgbClr val="2C3E2C"/>
                </a:solidFill>
                <a:latin typeface="Calibri" pitchFamily="34" charset="0"/>
                <a:ea typeface="Calibri" pitchFamily="34" charset="-122"/>
                <a:cs typeface="Calibri" pitchFamily="34" charset="-120"/>
              </a:rPr>
              <a:t>Although fitness itself is nonlinear (involving genotype interactions), on a </a:t>
            </a:r>
            <a:pPr indent="0" marL="0">
              <a:buNone/>
            </a:pPr>
            <a:r>
              <a:rPr lang="en-US" sz="1300" b="1" dirty="0">
                <a:solidFill>
                  <a:srgbClr val="D4A843"/>
                </a:solidFill>
                <a:latin typeface="Calibri" pitchFamily="34" charset="0"/>
                <a:ea typeface="Calibri" pitchFamily="34" charset="-122"/>
                <a:cs typeface="Calibri" pitchFamily="34" charset="-120"/>
              </a:rPr>
              <a:t>logarithmic scale</a:t>
            </a:r>
            <a:pPr indent="0" marL="0">
              <a:buNone/>
            </a:pPr>
            <a:r>
              <a:rPr lang="en-US" sz="1300" dirty="0">
                <a:solidFill>
                  <a:srgbClr val="2C3E2C"/>
                </a:solidFill>
                <a:latin typeface="Calibri" pitchFamily="34" charset="0"/>
                <a:ea typeface="Calibri" pitchFamily="34" charset="-122"/>
                <a:cs typeface="Calibri" pitchFamily="34" charset="-120"/>
              </a:rPr>
              <a:t>, each locus contributes approximately independently. This allows natural selection to act on multiple loci simultaneously.</a:t>
            </a:r>
            <a:endParaRPr lang="en-US" sz="1800" dirty="0"/>
          </a:p>
          <a:p>
            <a:pPr indent="0" marL="0">
              <a:buNone/>
            </a:pPr>
            <a:endParaRPr lang="en-US" sz="1800" dirty="0"/>
          </a:p>
          <a:p>
            <a:pPr indent="0" marL="0">
              <a:buNone/>
            </a:pPr>
            <a:r>
              <a:rPr lang="en-US" sz="1300" i="1" dirty="0">
                <a:solidFill>
                  <a:srgbClr val="6B7B6B"/>
                </a:solidFill>
                <a:latin typeface="Georgia" pitchFamily="34" charset="0"/>
                <a:ea typeface="Georgia" pitchFamily="34" charset="-122"/>
                <a:cs typeface="Georgia" pitchFamily="34" charset="-120"/>
              </a:rPr>
              <a:t>Haldane: "Like Newton's Second Law for evolutionary biology."</a:t>
            </a:r>
            <a:endParaRPr lang="en-US" sz="18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2C5F2D"/>
          </a:solidFill>
          <a:ln/>
        </p:spPr>
      </p:sp>
      <p:sp>
        <p:nvSpPr>
          <p:cNvPr id="4"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学习资源与预告 | Resources &amp; Preview</a:t>
            </a:r>
            <a:endParaRPr lang="en-US" sz="2800" dirty="0"/>
          </a:p>
        </p:txBody>
      </p:sp>
      <p:sp>
        <p:nvSpPr>
          <p:cNvPr id="5"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B6B"/>
                </a:solidFill>
                <a:latin typeface="Calibri" pitchFamily="34" charset="0"/>
                <a:ea typeface="Calibri" pitchFamily="34" charset="-122"/>
                <a:cs typeface="Calibri" pitchFamily="34" charset="-120"/>
              </a:rPr>
              <a:t>学习资源 + Day 53预告</a:t>
            </a:r>
            <a:endParaRPr lang="en-US" sz="1300" dirty="0"/>
          </a:p>
        </p:txBody>
      </p:sp>
      <p:sp>
        <p:nvSpPr>
          <p:cNvPr id="6" name="Shape 3"/>
          <p:cNvSpPr/>
          <p:nvPr/>
        </p:nvSpPr>
        <p:spPr>
          <a:xfrm>
            <a:off x="457200" y="1097280"/>
            <a:ext cx="3931920" cy="3566160"/>
          </a:xfrm>
          <a:prstGeom prst="roundRect">
            <a:avLst>
              <a:gd name="adj" fmla="val 2564"/>
            </a:avLst>
          </a:prstGeom>
          <a:solidFill>
            <a:srgbClr val="FFFFFF"/>
          </a:solidFill>
          <a:ln/>
          <a:effectLst>
            <a:outerShdw sx="100000" sy="100000" kx="0" ky="0" algn="bl" rotWithShape="0" blurRad="152400" dist="50800" dir="8100000">
              <a:srgbClr val="000000">
                <a:alpha val="28000"/>
              </a:srgbClr>
            </a:outerShdw>
          </a:effectLst>
        </p:spPr>
      </p:sp>
      <p:sp>
        <p:nvSpPr>
          <p:cNvPr id="7" name="Text 4"/>
          <p:cNvSpPr/>
          <p:nvPr/>
        </p:nvSpPr>
        <p:spPr>
          <a:xfrm>
            <a:off x="640080" y="1234440"/>
            <a:ext cx="3566160" cy="320040"/>
          </a:xfrm>
          <a:prstGeom prst="rect">
            <a:avLst/>
          </a:prstGeom>
          <a:noFill/>
          <a:ln/>
        </p:spPr>
        <p:txBody>
          <a:bodyPr wrap="square" rtlCol="0" anchor="ctr">
            <a:normAutofit/>
          </a:bodyPr>
          <a:lstStyle/>
          <a:p>
            <a:pPr indent="0" marL="0">
              <a:buNone/>
            </a:pPr>
            <a:r>
              <a:rPr lang="en-US" sz="1400" b="1" dirty="0">
                <a:solidFill>
                  <a:srgbClr val="2C5F2D"/>
                </a:solidFill>
                <a:latin typeface="Calibri" pitchFamily="34" charset="0"/>
                <a:ea typeface="Calibri" pitchFamily="34" charset="-122"/>
                <a:cs typeface="Calibri" pitchFamily="34" charset="-120"/>
              </a:rPr>
              <a:t>学习资源 Resources</a:t>
            </a:r>
            <a:endParaRPr lang="en-US" sz="1400" dirty="0"/>
          </a:p>
        </p:txBody>
      </p:sp>
      <p:sp>
        <p:nvSpPr>
          <p:cNvPr id="8" name="Text 5"/>
          <p:cNvSpPr/>
          <p:nvPr/>
        </p:nvSpPr>
        <p:spPr>
          <a:xfrm>
            <a:off x="640080" y="1645920"/>
            <a:ext cx="3566160" cy="2743200"/>
          </a:xfrm>
          <a:prstGeom prst="rect">
            <a:avLst/>
          </a:prstGeom>
          <a:noFill/>
          <a:ln/>
        </p:spPr>
        <p:txBody>
          <a:bodyPr wrap="square" rtlCol="0" anchor="ctr"/>
          <a:lstStyle/>
          <a:p>
            <a:pPr indent="0" marL="0">
              <a:buNone/>
            </a:pPr>
            <a:r>
              <a:rPr lang="en-US" sz="1200" b="1" dirty="0">
                <a:solidFill>
                  <a:srgbClr val="2C3E2C"/>
                </a:solidFill>
                <a:latin typeface="Calibri" pitchFamily="34" charset="0"/>
                <a:ea typeface="Calibri" pitchFamily="34" charset="-122"/>
                <a:cs typeface="Calibri" pitchFamily="34" charset="-120"/>
              </a:rPr>
              <a:t>Video Resources:</a:t>
            </a:r>
            <a:endParaRPr lang="en-US" sz="1200" dirty="0"/>
          </a:p>
          <a:p>
            <a:pPr marL="342900" indent="-342900">
              <a:buSzPct val="100000"/>
              <a:buChar char="•"/>
            </a:pPr>
            <a:r>
              <a:rPr lang="en-US" sz="1100" dirty="0">
                <a:solidFill>
                  <a:srgbClr val="2C3E2C"/>
                </a:solidFill>
                <a:latin typeface="Calibri" pitchFamily="34" charset="0"/>
                <a:ea typeface="Calibri" pitchFamily="34" charset="-122"/>
                <a:cs typeface="Calibri" pitchFamily="34" charset="-120"/>
              </a:rPr>
              <a:t>Khan Academy - Gene Frequency</a:t>
            </a:r>
            <a:endParaRPr lang="en-US" sz="1200" dirty="0"/>
          </a:p>
          <a:p>
            <a:pPr marL="342900" indent="-342900">
              <a:buSzPct val="100000"/>
              <a:buChar char="•"/>
            </a:pPr>
            <a:r>
              <a:rPr lang="en-US" sz="1100" dirty="0">
                <a:solidFill>
                  <a:srgbClr val="2C3E2C"/>
                </a:solidFill>
                <a:latin typeface="Calibri" pitchFamily="34" charset="0"/>
                <a:ea typeface="Calibri" pitchFamily="34" charset="-122"/>
                <a:cs typeface="Calibri" pitchFamily="34" charset="-120"/>
              </a:rPr>
              <a:t>Hardy-Weinberg Equilibrium Explained</a:t>
            </a:r>
            <a:endParaRPr lang="en-US" sz="1200" dirty="0"/>
          </a:p>
          <a:p>
            <a:pPr indent="0" marL="0">
              <a:buNone/>
            </a:pPr>
            <a:endParaRPr lang="en-US" sz="1200" dirty="0"/>
          </a:p>
          <a:p>
            <a:pPr indent="0" marL="0">
              <a:buNone/>
            </a:pPr>
            <a:r>
              <a:rPr lang="en-US" sz="1200" b="1" dirty="0">
                <a:solidFill>
                  <a:srgbClr val="2C3E2C"/>
                </a:solidFill>
                <a:latin typeface="Calibri" pitchFamily="34" charset="0"/>
                <a:ea typeface="Calibri" pitchFamily="34" charset="-122"/>
                <a:cs typeface="Calibri" pitchFamily="34" charset="-120"/>
              </a:rPr>
              <a:t>Text Resources:</a:t>
            </a:r>
            <a:endParaRPr lang="en-US" sz="1200" dirty="0"/>
          </a:p>
          <a:p>
            <a:pPr marL="342900" indent="-342900">
              <a:buSzPct val="100000"/>
              <a:buChar char="•"/>
            </a:pPr>
            <a:r>
              <a:rPr lang="en-US" sz="1100" dirty="0">
                <a:solidFill>
                  <a:srgbClr val="2C3E2C"/>
                </a:solidFill>
                <a:latin typeface="Calibri" pitchFamily="34" charset="0"/>
                <a:ea typeface="Calibri" pitchFamily="34" charset="-122"/>
                <a:cs typeface="Calibri" pitchFamily="34" charset="-120"/>
              </a:rPr>
              <a:t>NCBI Bookshelf - Population Genetics</a:t>
            </a:r>
            <a:endParaRPr lang="en-US" sz="1200" dirty="0"/>
          </a:p>
          <a:p>
            <a:pPr marL="342900" indent="-342900">
              <a:buSzPct val="100000"/>
              <a:buChar char="•"/>
            </a:pPr>
            <a:r>
              <a:rPr lang="en-US" sz="1100" dirty="0">
                <a:solidFill>
                  <a:srgbClr val="2C3E2C"/>
                </a:solidFill>
                <a:latin typeface="Calibri" pitchFamily="34" charset="0"/>
                <a:ea typeface="Calibri" pitchFamily="34" charset="-122"/>
                <a:cs typeface="Calibri" pitchFamily="34" charset="-120"/>
              </a:rPr>
              <a:t>Stanford Encyclopedia - Modern Synthesis</a:t>
            </a:r>
            <a:endParaRPr lang="en-US" sz="1200" dirty="0"/>
          </a:p>
        </p:txBody>
      </p:sp>
      <p:sp>
        <p:nvSpPr>
          <p:cNvPr id="9" name="Shape 6"/>
          <p:cNvSpPr/>
          <p:nvPr/>
        </p:nvSpPr>
        <p:spPr>
          <a:xfrm>
            <a:off x="4617720" y="1097280"/>
            <a:ext cx="4069080" cy="3566160"/>
          </a:xfrm>
          <a:prstGeom prst="roundRect">
            <a:avLst>
              <a:gd name="adj" fmla="val 2564"/>
            </a:avLst>
          </a:prstGeom>
          <a:solidFill>
            <a:srgbClr val="2C5F2D"/>
          </a:solidFill>
          <a:ln/>
          <a:effectLst>
            <a:outerShdw sx="100000" sy="100000" kx="0" ky="0" algn="bl" rotWithShape="0" blurRad="152400" dist="50800" dir="8100000">
              <a:srgbClr val="000000">
                <a:alpha val="28000"/>
              </a:srgbClr>
            </a:outerShdw>
          </a:effectLst>
        </p:spPr>
      </p:sp>
      <p:sp>
        <p:nvSpPr>
          <p:cNvPr id="10" name="Text 7"/>
          <p:cNvSpPr/>
          <p:nvPr/>
        </p:nvSpPr>
        <p:spPr>
          <a:xfrm>
            <a:off x="4800600" y="1234440"/>
            <a:ext cx="3703320" cy="320040"/>
          </a:xfrm>
          <a:prstGeom prst="rect">
            <a:avLst/>
          </a:prstGeom>
          <a:noFill/>
          <a:ln/>
        </p:spPr>
        <p:txBody>
          <a:bodyPr wrap="square" rtlCol="0" anchor="ctr">
            <a:normAutofit/>
          </a:bodyPr>
          <a:lstStyle/>
          <a:p>
            <a:pPr indent="0" marL="0">
              <a:buNone/>
            </a:pPr>
            <a:r>
              <a:rPr lang="en-US" sz="1400" b="1" dirty="0">
                <a:solidFill>
                  <a:srgbClr val="D4A843"/>
                </a:solidFill>
                <a:latin typeface="Calibri" pitchFamily="34" charset="0"/>
                <a:ea typeface="Calibri" pitchFamily="34" charset="-122"/>
                <a:cs typeface="Calibri" pitchFamily="34" charset="-120"/>
              </a:rPr>
              <a:t>Day 53 预告 Preview</a:t>
            </a:r>
            <a:endParaRPr lang="en-US" sz="1400" dirty="0"/>
          </a:p>
        </p:txBody>
      </p:sp>
      <p:sp>
        <p:nvSpPr>
          <p:cNvPr id="11" name="Shape 8"/>
          <p:cNvSpPr/>
          <p:nvPr/>
        </p:nvSpPr>
        <p:spPr>
          <a:xfrm>
            <a:off x="4800600" y="1554480"/>
            <a:ext cx="3703320" cy="27432"/>
          </a:xfrm>
          <a:prstGeom prst="rect">
            <a:avLst/>
          </a:prstGeom>
          <a:solidFill>
            <a:srgbClr val="97BC62"/>
          </a:solidFill>
          <a:ln/>
        </p:spPr>
      </p:sp>
      <p:sp>
        <p:nvSpPr>
          <p:cNvPr id="12" name="Text 9"/>
          <p:cNvSpPr/>
          <p:nvPr/>
        </p:nvSpPr>
        <p:spPr>
          <a:xfrm>
            <a:off x="4800600" y="1691640"/>
            <a:ext cx="3703320" cy="256032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自然选择与遗传</a:t>
            </a:r>
            <a:endParaRPr lang="en-US" sz="1600" dirty="0"/>
          </a:p>
          <a:p>
            <a:pPr indent="0" marL="0">
              <a:buNone/>
            </a:pPr>
            <a:r>
              <a:rPr lang="en-US" sz="1300" dirty="0">
                <a:solidFill>
                  <a:srgbClr val="97BC62"/>
                </a:solidFill>
                <a:latin typeface="Calibri" pitchFamily="34" charset="0"/>
                <a:ea typeface="Calibri" pitchFamily="34" charset="-122"/>
                <a:cs typeface="Calibri" pitchFamily="34" charset="-120"/>
              </a:rPr>
              <a:t>Natural Selection &amp; Genetics</a:t>
            </a:r>
            <a:endParaRPr lang="en-US" sz="1600" dirty="0"/>
          </a:p>
          <a:p>
            <a:pPr indent="0" marL="0">
              <a:buNone/>
            </a:pPr>
            <a:endParaRPr lang="en-US" sz="16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Selection modes: directional, stabilizing, disruptive</a:t>
            </a:r>
            <a:endParaRPr lang="en-US" sz="16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Unit of selection debate</a:t>
            </a:r>
            <a:endParaRPr lang="en-US" sz="16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Haldane's cost of selection</a:t>
            </a:r>
            <a:endParaRPr lang="en-US" sz="16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Molecular evidence: dN/dS ratio</a:t>
            </a:r>
            <a:endParaRPr lang="en-US" sz="16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Artificial vs. natural selection</a:t>
            </a:r>
            <a:endParaRPr lang="en-US" sz="1600" dirty="0"/>
          </a:p>
        </p:txBody>
      </p:sp>
      <p:sp>
        <p:nvSpPr>
          <p:cNvPr id="1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137160"/>
          </a:xfrm>
          <a:prstGeom prst="rect">
            <a:avLst/>
          </a:prstGeom>
          <a:solidFill>
            <a:srgbClr val="2C5F2D"/>
          </a:solidFill>
          <a:ln/>
        </p:spPr>
      </p:sp>
      <p:sp>
        <p:nvSpPr>
          <p:cNvPr id="4" name="Shape 1"/>
          <p:cNvSpPr/>
          <p:nvPr/>
        </p:nvSpPr>
        <p:spPr>
          <a:xfrm>
            <a:off x="0" y="5006340"/>
            <a:ext cx="9144000" cy="137160"/>
          </a:xfrm>
          <a:prstGeom prst="rect">
            <a:avLst/>
          </a:prstGeom>
          <a:solidFill>
            <a:srgbClr val="97BC62"/>
          </a:solidFill>
          <a:ln/>
        </p:spPr>
      </p:sp>
      <p:sp>
        <p:nvSpPr>
          <p:cNvPr id="5" name="Shape 2"/>
          <p:cNvSpPr/>
          <p:nvPr/>
        </p:nvSpPr>
        <p:spPr>
          <a:xfrm>
            <a:off x="1097280" y="914400"/>
            <a:ext cx="6949440" cy="3108960"/>
          </a:xfrm>
          <a:prstGeom prst="roundRect">
            <a:avLst>
              <a:gd name="adj" fmla="val 4412"/>
            </a:avLst>
          </a:prstGeom>
          <a:solidFill>
            <a:srgbClr val="2C5F2D"/>
          </a:solidFill>
          <a:ln/>
          <a:effectLst>
            <a:outerShdw sx="100000" sy="100000" kx="0" ky="0" algn="bl" rotWithShape="0" blurRad="203200" dist="76200" dir="8100000">
              <a:srgbClr val="000000">
                <a:alpha val="32000"/>
              </a:srgbClr>
            </a:outerShdw>
          </a:effectLst>
        </p:spPr>
      </p:sp>
      <p:sp>
        <p:nvSpPr>
          <p:cNvPr id="6" name="Text 3"/>
          <p:cNvSpPr/>
          <p:nvPr/>
        </p:nvSpPr>
        <p:spPr>
          <a:xfrm>
            <a:off x="1371600" y="1097280"/>
            <a:ext cx="6400800" cy="731520"/>
          </a:xfrm>
          <a:prstGeom prst="rect">
            <a:avLst/>
          </a:prstGeom>
          <a:noFill/>
          <a:ln/>
        </p:spPr>
        <p:txBody>
          <a:bodyPr wrap="square" rtlCol="0" anchor="ctr">
            <a:normAutofit/>
          </a:bodyPr>
          <a:lstStyle/>
          <a:p>
            <a:pPr algn="ctr" indent="0" marL="0">
              <a:buNone/>
            </a:pPr>
            <a:r>
              <a:rPr lang="en-US" sz="3600" b="1" spc="250" kern="0" dirty="0">
                <a:solidFill>
                  <a:srgbClr val="FFFFFF"/>
                </a:solidFill>
                <a:latin typeface="Georgia" pitchFamily="34" charset="0"/>
                <a:ea typeface="Georgia" pitchFamily="34" charset="-122"/>
                <a:cs typeface="Georgia" pitchFamily="34" charset="-120"/>
              </a:rPr>
              <a:t>Thank You</a:t>
            </a:r>
            <a:endParaRPr lang="en-US" sz="3600" dirty="0"/>
          </a:p>
        </p:txBody>
      </p:sp>
      <p:sp>
        <p:nvSpPr>
          <p:cNvPr id="7" name="Text 4"/>
          <p:cNvSpPr/>
          <p:nvPr/>
        </p:nvSpPr>
        <p:spPr>
          <a:xfrm>
            <a:off x="1371600" y="1828800"/>
            <a:ext cx="6400800" cy="457200"/>
          </a:xfrm>
          <a:prstGeom prst="rect">
            <a:avLst/>
          </a:prstGeom>
          <a:noFill/>
          <a:ln/>
        </p:spPr>
        <p:txBody>
          <a:bodyPr wrap="square" rtlCol="0" anchor="ctr">
            <a:normAutofit/>
          </a:bodyPr>
          <a:lstStyle/>
          <a:p>
            <a:pPr algn="ctr" indent="0" marL="0">
              <a:buNone/>
            </a:pPr>
            <a:r>
              <a:rPr lang="en-US" sz="1800" spc="150" kern="0" dirty="0">
                <a:solidFill>
                  <a:srgbClr val="97BC62"/>
                </a:solidFill>
                <a:latin typeface="Georgia" pitchFamily="34" charset="0"/>
                <a:ea typeface="Georgia" pitchFamily="34" charset="-122"/>
                <a:cs typeface="Georgia" pitchFamily="34" charset="-120"/>
              </a:rPr>
              <a:t>谢谢 | 谢谢聆听</a:t>
            </a:r>
            <a:endParaRPr lang="en-US" sz="1800" dirty="0"/>
          </a:p>
        </p:txBody>
      </p:sp>
      <p:sp>
        <p:nvSpPr>
          <p:cNvPr id="8" name="Shape 5"/>
          <p:cNvSpPr/>
          <p:nvPr/>
        </p:nvSpPr>
        <p:spPr>
          <a:xfrm>
            <a:off x="3200400" y="2423160"/>
            <a:ext cx="2743200" cy="36576"/>
          </a:xfrm>
          <a:prstGeom prst="rect">
            <a:avLst/>
          </a:prstGeom>
          <a:solidFill>
            <a:srgbClr val="D4A843"/>
          </a:solidFill>
          <a:ln/>
        </p:spPr>
      </p:sp>
      <p:sp>
        <p:nvSpPr>
          <p:cNvPr id="9" name="Text 6"/>
          <p:cNvSpPr/>
          <p:nvPr/>
        </p:nvSpPr>
        <p:spPr>
          <a:xfrm>
            <a:off x="1371600" y="2606040"/>
            <a:ext cx="6400800" cy="365760"/>
          </a:xfrm>
          <a:prstGeom prst="rect">
            <a:avLst/>
          </a:prstGeom>
          <a:noFill/>
          <a:ln/>
        </p:spPr>
        <p:txBody>
          <a:bodyPr wrap="square" rtlCol="0" anchor="ctr">
            <a:normAutofit/>
          </a:bodyPr>
          <a:lstStyle/>
          <a:p>
            <a:pPr algn="ctr" indent="0" marL="0">
              <a:buNone/>
            </a:pPr>
            <a:r>
              <a:rPr lang="en-US" sz="1400" dirty="0">
                <a:solidFill>
                  <a:srgbClr val="FFFFFF"/>
                </a:solidFill>
                <a:latin typeface="Calibri" pitchFamily="34" charset="0"/>
                <a:ea typeface="Calibri" pitchFamily="34" charset="-122"/>
                <a:cs typeface="Calibri" pitchFamily="34" charset="-120"/>
              </a:rPr>
              <a:t>Day 52 | Gene Frequency and Evolution | 基因频率与进化</a:t>
            </a:r>
            <a:endParaRPr lang="en-US" sz="1400" dirty="0"/>
          </a:p>
        </p:txBody>
      </p:sp>
      <p:sp>
        <p:nvSpPr>
          <p:cNvPr id="10" name="Text 7"/>
          <p:cNvSpPr/>
          <p:nvPr/>
        </p:nvSpPr>
        <p:spPr>
          <a:xfrm>
            <a:off x="1371600" y="3017520"/>
            <a:ext cx="6400800" cy="320040"/>
          </a:xfrm>
          <a:prstGeom prst="rect">
            <a:avLst/>
          </a:prstGeom>
          <a:noFill/>
          <a:ln/>
        </p:spPr>
        <p:txBody>
          <a:bodyPr wrap="square" rtlCol="0" anchor="ctr">
            <a:normAutofit/>
          </a:bodyPr>
          <a:lstStyle/>
          <a:p>
            <a:pPr algn="ctr" indent="0" marL="0">
              <a:buNone/>
            </a:pPr>
            <a:r>
              <a:rPr lang="en-US" sz="1200" dirty="0">
                <a:solidFill>
                  <a:srgbClr val="97BC62"/>
                </a:solidFill>
                <a:latin typeface="Calibri" pitchFamily="34" charset="0"/>
                <a:ea typeface="Calibri" pitchFamily="34" charset="-122"/>
                <a:cs typeface="Calibri" pitchFamily="34" charset="-120"/>
              </a:rPr>
              <a:t>遗传学100天学习计划 | 遗传学100天学习计划</a:t>
            </a:r>
            <a:endParaRPr lang="en-US" sz="1200" dirty="0"/>
          </a:p>
        </p:txBody>
      </p:sp>
      <p:sp>
        <p:nvSpPr>
          <p:cNvPr id="11" name="Text 8"/>
          <p:cNvSpPr/>
          <p:nvPr/>
        </p:nvSpPr>
        <p:spPr>
          <a:xfrm>
            <a:off x="2743200" y="4297680"/>
            <a:ext cx="3657600" cy="457200"/>
          </a:xfrm>
          <a:prstGeom prst="rect">
            <a:avLst/>
          </a:prstGeom>
          <a:noFill/>
          <a:ln/>
        </p:spPr>
        <p:txBody>
          <a:bodyPr wrap="square" rtlCol="0" anchor="ctr">
            <a:normAutofit/>
          </a:bodyPr>
          <a:lstStyle/>
          <a:p>
            <a:pPr algn="ctr" indent="0" marL="0">
              <a:buNone/>
            </a:pPr>
            <a:r>
              <a:rPr lang="en-US" sz="1400" b="1" dirty="0">
                <a:solidFill>
                  <a:srgbClr val="2C5F2D"/>
                </a:solidFill>
                <a:latin typeface="Calibri" pitchFamily="34" charset="0"/>
                <a:ea typeface="Calibri" pitchFamily="34" charset="-122"/>
                <a:cs typeface="Calibri" pitchFamily="34" charset="-120"/>
              </a:rPr>
              <a:t>Questions? 问题讨论</a:t>
            </a:r>
            <a:endParaRPr lang="en-US" sz="1400" dirty="0"/>
          </a:p>
        </p:txBody>
      </p:sp>
      <p:sp>
        <p:nvSpPr>
          <p:cNvPr id="1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52 | Gene Frequency and Evolution | 基因频率与进化</dc:title>
  <dc:subject>PptxGenJS Presentation</dc:subject>
  <dc:creator>Genetics 100-Day Study Plan</dc:creator>
  <cp:lastModifiedBy>Genetics 100-Day Study Plan</cp:lastModifiedBy>
  <cp:revision>1</cp:revision>
  <dcterms:created xsi:type="dcterms:W3CDTF">2026-07-05T05:51:10Z</dcterms:created>
  <dcterms:modified xsi:type="dcterms:W3CDTF">2026-07-05T05:51:10Z</dcterms:modified>
</cp:coreProperties>
</file>