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D2E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184648" y="1691640"/>
            <a:ext cx="18288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9202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基因工程的应用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rgbClr val="FA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Applications of Genetic Engineering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184648" y="3474720"/>
            <a:ext cx="1828800" cy="36576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70332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遗传学100天学习计划 · Day 92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42062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2026年8月14日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727448" y="5943600"/>
            <a:ext cx="2743200" cy="36576"/>
          </a:xfrm>
          <a:prstGeom prst="rect">
            <a:avLst/>
          </a:prstGeom>
          <a:solidFill>
            <a:srgbClr val="D4A843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30352"/>
            <a:ext cx="137160" cy="1371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概览 /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80467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8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Major Application Areas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715768" cy="1280160"/>
          </a:xfrm>
          <a:prstGeom prst="roundRect">
            <a:avLst>
              <a:gd name="adj" fmla="val 7143"/>
            </a:avLst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08760"/>
            <a:ext cx="2715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A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医药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2715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10128" y="1371600"/>
            <a:ext cx="2715768" cy="1280160"/>
          </a:xfrm>
          <a:prstGeom prst="roundRect">
            <a:avLst>
              <a:gd name="adj" fmla="val 7143"/>
            </a:avLst>
          </a:prstGeom>
          <a:solidFill>
            <a:srgbClr val="97BC62"/>
          </a:solidFill>
          <a:ln/>
        </p:spPr>
      </p:sp>
      <p:sp>
        <p:nvSpPr>
          <p:cNvPr id="9" name="Text 7"/>
          <p:cNvSpPr/>
          <p:nvPr/>
        </p:nvSpPr>
        <p:spPr>
          <a:xfrm>
            <a:off x="3310128" y="1508760"/>
            <a:ext cx="2715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农业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310128" y="2011680"/>
            <a:ext cx="2715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63056" y="1371600"/>
            <a:ext cx="2715768" cy="1280160"/>
          </a:xfrm>
          <a:prstGeom prst="roundRect">
            <a:avLst>
              <a:gd name="adj" fmla="val 7143"/>
            </a:avLst>
          </a:prstGeom>
          <a:solidFill>
            <a:srgbClr val="D4A843"/>
          </a:solidFill>
          <a:ln/>
        </p:spPr>
      </p:sp>
      <p:sp>
        <p:nvSpPr>
          <p:cNvPr id="12" name="Text 10"/>
          <p:cNvSpPr/>
          <p:nvPr/>
        </p:nvSpPr>
        <p:spPr>
          <a:xfrm>
            <a:off x="6163056" y="1508760"/>
            <a:ext cx="2715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工业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163056" y="2011680"/>
            <a:ext cx="2715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015984" y="1371600"/>
            <a:ext cx="2715768" cy="1280160"/>
          </a:xfrm>
          <a:prstGeom prst="roundRect">
            <a:avLst>
              <a:gd name="adj" fmla="val 7143"/>
            </a:avLst>
          </a:prstGeom>
          <a:solidFill>
            <a:srgbClr val="1A3D2E"/>
          </a:solidFill>
          <a:ln/>
        </p:spPr>
      </p:sp>
      <p:sp>
        <p:nvSpPr>
          <p:cNvPr id="15" name="Text 13"/>
          <p:cNvSpPr/>
          <p:nvPr/>
        </p:nvSpPr>
        <p:spPr>
          <a:xfrm>
            <a:off x="9015984" y="1508760"/>
            <a:ext cx="2715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A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环保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015984" y="2011680"/>
            <a:ext cx="2715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2926080"/>
            <a:ext cx="5029200" cy="1371600"/>
          </a:xfrm>
          <a:prstGeom prst="rect">
            <a:avLst/>
          </a:prstGeom>
          <a:solidFill>
            <a:srgbClr val="E8F0E0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0175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50年发展历程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31520" y="338328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A7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1972 — 2024  |  从重组DNA到CRISPR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37490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关键技术: 重组DNA → CRISPR-Cas9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4526280"/>
            <a:ext cx="5029200" cy="1280160"/>
          </a:xfrm>
          <a:prstGeom prst="rect">
            <a:avLst/>
          </a:prstGeom>
          <a:solidFill>
            <a:srgbClr val="F5EED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61772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从实验室到四大产业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31520" y="50292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A7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Laboratory to Four Major Industries</a:t>
            </a:r>
            <a:endParaRPr lang="en-US" sz="1200" dirty="0"/>
          </a:p>
        </p:txBody>
      </p:sp>
      <p:pic>
        <p:nvPicPr>
          <p:cNvPr id="24" name="Image 0" descr="/workspace/genetics_learning/genetics_day092_image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60720" y="2926080"/>
            <a:ext cx="5971032" cy="3200400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457200" y="6537960"/>
            <a:ext cx="73152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6" name="Text 23"/>
          <p:cNvSpPr/>
          <p:nvPr/>
        </p:nvSpPr>
        <p:spPr>
          <a:xfrm>
            <a:off x="8686800" y="64008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8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92  |  2 / 16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30352"/>
            <a:ext cx="137160" cy="1371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历史时间线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80467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8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Historical Timeline  1972 — 2018</a:t>
            </a:r>
            <a:endParaRPr lang="en-US" sz="1300" dirty="0"/>
          </a:p>
        </p:txBody>
      </p:sp>
      <p:pic>
        <p:nvPicPr>
          <p:cNvPr id="5" name="Image 0" descr="/workspace/genetics_learning/genetics_day092_image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0" y="1280160"/>
            <a:ext cx="9445752" cy="3200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719072" cy="1188720"/>
          </a:xfrm>
          <a:prstGeom prst="roundRect">
            <a:avLst>
              <a:gd name="adj" fmla="val 6154"/>
            </a:avLst>
          </a:prstGeom>
          <a:solidFill>
            <a:srgbClr val="E8F0E0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4846320"/>
            <a:ext cx="1719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1972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5166360"/>
            <a:ext cx="1536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首个重组DNA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5532120"/>
            <a:ext cx="15361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8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Berg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359152" y="4754880"/>
            <a:ext cx="1719072" cy="1188720"/>
          </a:xfrm>
          <a:prstGeom prst="roundRect">
            <a:avLst>
              <a:gd name="adj" fmla="val 6154"/>
            </a:avLst>
          </a:prstGeom>
          <a:solidFill>
            <a:srgbClr val="E8F0E0"/>
          </a:solidFill>
          <a:ln/>
        </p:spPr>
      </p:sp>
      <p:sp>
        <p:nvSpPr>
          <p:cNvPr id="11" name="Text 8"/>
          <p:cNvSpPr/>
          <p:nvPr/>
        </p:nvSpPr>
        <p:spPr>
          <a:xfrm>
            <a:off x="2359152" y="4846320"/>
            <a:ext cx="1719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1973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2450592" y="5166360"/>
            <a:ext cx="1536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基因工程诞生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450592" y="5532120"/>
            <a:ext cx="15361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8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 &amp; Boyer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261104" y="4754880"/>
            <a:ext cx="1719072" cy="1188720"/>
          </a:xfrm>
          <a:prstGeom prst="roundRect">
            <a:avLst>
              <a:gd name="adj" fmla="val 6154"/>
            </a:avLst>
          </a:prstGeom>
          <a:solidFill>
            <a:srgbClr val="E8F0E0"/>
          </a:solidFill>
          <a:ln/>
        </p:spPr>
      </p:sp>
      <p:sp>
        <p:nvSpPr>
          <p:cNvPr id="15" name="Text 12"/>
          <p:cNvSpPr/>
          <p:nvPr/>
        </p:nvSpPr>
        <p:spPr>
          <a:xfrm>
            <a:off x="4261104" y="4846320"/>
            <a:ext cx="1719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1982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352544" y="5166360"/>
            <a:ext cx="1536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重组胰岛素上市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352544" y="5532120"/>
            <a:ext cx="15361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8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Humulin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163056" y="4754880"/>
            <a:ext cx="1719072" cy="1188720"/>
          </a:xfrm>
          <a:prstGeom prst="roundRect">
            <a:avLst>
              <a:gd name="adj" fmla="val 6154"/>
            </a:avLst>
          </a:prstGeom>
          <a:solidFill>
            <a:srgbClr val="E8F0E0"/>
          </a:solidFill>
          <a:ln/>
        </p:spPr>
      </p:sp>
      <p:sp>
        <p:nvSpPr>
          <p:cNvPr id="19" name="Text 16"/>
          <p:cNvSpPr/>
          <p:nvPr/>
        </p:nvSpPr>
        <p:spPr>
          <a:xfrm>
            <a:off x="6163056" y="4846320"/>
            <a:ext cx="1719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1994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254496" y="5166360"/>
            <a:ext cx="1536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首个转基因食品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254496" y="5532120"/>
            <a:ext cx="15361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8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Flavr Savr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8065008" y="4754880"/>
            <a:ext cx="1719072" cy="1188720"/>
          </a:xfrm>
          <a:prstGeom prst="roundRect">
            <a:avLst>
              <a:gd name="adj" fmla="val 6154"/>
            </a:avLst>
          </a:prstGeom>
          <a:solidFill>
            <a:srgbClr val="E8F0E0"/>
          </a:solidFill>
          <a:ln/>
        </p:spPr>
      </p:sp>
      <p:sp>
        <p:nvSpPr>
          <p:cNvPr id="23" name="Text 20"/>
          <p:cNvSpPr/>
          <p:nvPr/>
        </p:nvSpPr>
        <p:spPr>
          <a:xfrm>
            <a:off x="8065008" y="4846320"/>
            <a:ext cx="1719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2012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8156448" y="5166360"/>
            <a:ext cx="1536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CRISPR-Cas9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8156448" y="5532120"/>
            <a:ext cx="15361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8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Doudna &amp; Charpentier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9966960" y="4754880"/>
            <a:ext cx="1719072" cy="1188720"/>
          </a:xfrm>
          <a:prstGeom prst="roundRect">
            <a:avLst>
              <a:gd name="adj" fmla="val 6154"/>
            </a:avLst>
          </a:prstGeom>
          <a:solidFill>
            <a:srgbClr val="E8F0E0"/>
          </a:solidFill>
          <a:ln/>
        </p:spPr>
      </p:sp>
      <p:sp>
        <p:nvSpPr>
          <p:cNvPr id="27" name="Text 24"/>
          <p:cNvSpPr/>
          <p:nvPr/>
        </p:nvSpPr>
        <p:spPr>
          <a:xfrm>
            <a:off x="9966960" y="4846320"/>
            <a:ext cx="1719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2018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10058400" y="5166360"/>
            <a:ext cx="1536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基因编辑婴儿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10058400" y="5532120"/>
            <a:ext cx="15361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8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Storm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57200" y="6537960"/>
            <a:ext cx="73152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1" name="Text 28"/>
          <p:cNvSpPr/>
          <p:nvPr/>
        </p:nvSpPr>
        <p:spPr>
          <a:xfrm>
            <a:off x="8686800" y="64008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8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92  |  3 / 16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30352"/>
            <a:ext cx="137160" cy="1371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医药应用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80467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8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Medical Applications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486400" cy="2011680"/>
          </a:xfrm>
          <a:prstGeom prst="roundRect">
            <a:avLst>
              <a:gd name="adj" fmla="val 2727"/>
            </a:avLst>
          </a:prstGeom>
          <a:solidFill>
            <a:srgbClr val="F0F4EC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71600"/>
            <a:ext cx="109728" cy="20116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60020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A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17320" y="15544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重组蛋白药物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417320" y="190195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8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Recombinant Protein Drugs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23317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胰岛素、干扰素、EPO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26974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8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Insulin, Interferon, EPO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45352" y="1371600"/>
            <a:ext cx="5486400" cy="2011680"/>
          </a:xfrm>
          <a:prstGeom prst="roundRect">
            <a:avLst>
              <a:gd name="adj" fmla="val 2727"/>
            </a:avLst>
          </a:prstGeom>
          <a:solidFill>
            <a:srgbClr val="F0F4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245352" y="1371600"/>
            <a:ext cx="109728" cy="20116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5" name="Shape 13"/>
          <p:cNvSpPr/>
          <p:nvPr/>
        </p:nvSpPr>
        <p:spPr>
          <a:xfrm>
            <a:off x="6519672" y="160020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6519672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A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205472" y="15544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基因治疗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205472" y="190195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8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Therapy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65392" y="23317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CRISPR治疗遗传病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65392" y="26974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8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CRISPR for Genetic Diseases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657600"/>
            <a:ext cx="5486400" cy="2011680"/>
          </a:xfrm>
          <a:prstGeom prst="roundRect">
            <a:avLst>
              <a:gd name="adj" fmla="val 2727"/>
            </a:avLst>
          </a:prstGeom>
          <a:solidFill>
            <a:srgbClr val="F0F4EC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3657600"/>
            <a:ext cx="109728" cy="20116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3" name="Shape 21"/>
          <p:cNvSpPr/>
          <p:nvPr/>
        </p:nvSpPr>
        <p:spPr>
          <a:xfrm>
            <a:off x="731520" y="388620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886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A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417320" y="38404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疫苗开发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417320" y="418795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8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Vaccine Development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7240" y="46177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乙肝疫苗、mRNA疫苗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77240" y="49834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8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Hepatitis B, mRNA Vaccines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45352" y="3657600"/>
            <a:ext cx="5486400" cy="2011680"/>
          </a:xfrm>
          <a:prstGeom prst="roundRect">
            <a:avLst>
              <a:gd name="adj" fmla="val 2727"/>
            </a:avLst>
          </a:prstGeom>
          <a:solidFill>
            <a:srgbClr val="F0F4EC"/>
          </a:solidFill>
          <a:ln/>
        </p:spPr>
      </p:sp>
      <p:sp>
        <p:nvSpPr>
          <p:cNvPr id="30" name="Shape 28"/>
          <p:cNvSpPr/>
          <p:nvPr/>
        </p:nvSpPr>
        <p:spPr>
          <a:xfrm>
            <a:off x="6245352" y="3657600"/>
            <a:ext cx="109728" cy="20116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1" name="Shape 29"/>
          <p:cNvSpPr/>
          <p:nvPr/>
        </p:nvSpPr>
        <p:spPr>
          <a:xfrm>
            <a:off x="6519672" y="388620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2" name="Text 30"/>
          <p:cNvSpPr/>
          <p:nvPr/>
        </p:nvSpPr>
        <p:spPr>
          <a:xfrm>
            <a:off x="6519672" y="3886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A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7205472" y="38404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单克隆抗体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7205472" y="418795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8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Monoclonal Antibodies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565392" y="46177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癌症与免疫治疗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565392" y="49834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8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Cancer &amp; Immunotherapy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6537960"/>
            <a:ext cx="73152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8" name="Text 36"/>
          <p:cNvSpPr/>
          <p:nvPr/>
        </p:nvSpPr>
        <p:spPr>
          <a:xfrm>
            <a:off x="8686800" y="64008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8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92  |  4 / 16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30352"/>
            <a:ext cx="137160" cy="1371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农业应用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80467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8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Agricultural Applications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486400" cy="2011680"/>
          </a:xfrm>
          <a:prstGeom prst="roundRect">
            <a:avLst>
              <a:gd name="adj" fmla="val 2727"/>
            </a:avLst>
          </a:prstGeom>
          <a:solidFill>
            <a:srgbClr val="F0F4EC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71600"/>
            <a:ext cx="109728" cy="201168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600200"/>
            <a:ext cx="502920" cy="50292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17320" y="15544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Bt抗虫作物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417320" y="190195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8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 Insect-Resistant Crops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23317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棉花、玉米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26974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8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Cotton, Corn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45352" y="1371600"/>
            <a:ext cx="5486400" cy="2011680"/>
          </a:xfrm>
          <a:prstGeom prst="roundRect">
            <a:avLst>
              <a:gd name="adj" fmla="val 2727"/>
            </a:avLst>
          </a:prstGeom>
          <a:solidFill>
            <a:srgbClr val="F0F4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245352" y="1371600"/>
            <a:ext cx="109728" cy="201168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5" name="Shape 13"/>
          <p:cNvSpPr/>
          <p:nvPr/>
        </p:nvSpPr>
        <p:spPr>
          <a:xfrm>
            <a:off x="6519672" y="1600200"/>
            <a:ext cx="502920" cy="50292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6" name="Text 14"/>
          <p:cNvSpPr/>
          <p:nvPr/>
        </p:nvSpPr>
        <p:spPr>
          <a:xfrm>
            <a:off x="6519672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205472" y="15544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抗除草剂大豆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205472" y="190195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8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Herbicide-Resistant Soy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65392" y="23317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草甘膦耐受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65392" y="26974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8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Glyphosate Tolerance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657600"/>
            <a:ext cx="5486400" cy="2011680"/>
          </a:xfrm>
          <a:prstGeom prst="roundRect">
            <a:avLst>
              <a:gd name="adj" fmla="val 2727"/>
            </a:avLst>
          </a:prstGeom>
          <a:solidFill>
            <a:srgbClr val="F0F4EC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3657600"/>
            <a:ext cx="109728" cy="201168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3" name="Shape 21"/>
          <p:cNvSpPr/>
          <p:nvPr/>
        </p:nvSpPr>
        <p:spPr>
          <a:xfrm>
            <a:off x="731520" y="3886200"/>
            <a:ext cx="502920" cy="50292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886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417320" y="38404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黄金大米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417320" y="418795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8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Rice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7240" y="46177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β-胡萝卜素强化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77240" y="49834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8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Beta-Carotene Enrichment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45352" y="3657600"/>
            <a:ext cx="5486400" cy="2011680"/>
          </a:xfrm>
          <a:prstGeom prst="roundRect">
            <a:avLst>
              <a:gd name="adj" fmla="val 2727"/>
            </a:avLst>
          </a:prstGeom>
          <a:solidFill>
            <a:srgbClr val="F0F4EC"/>
          </a:solidFill>
          <a:ln/>
        </p:spPr>
      </p:sp>
      <p:sp>
        <p:nvSpPr>
          <p:cNvPr id="30" name="Shape 28"/>
          <p:cNvSpPr/>
          <p:nvPr/>
        </p:nvSpPr>
        <p:spPr>
          <a:xfrm>
            <a:off x="6245352" y="3657600"/>
            <a:ext cx="109728" cy="201168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1" name="Shape 29"/>
          <p:cNvSpPr/>
          <p:nvPr/>
        </p:nvSpPr>
        <p:spPr>
          <a:xfrm>
            <a:off x="6519672" y="3886200"/>
            <a:ext cx="502920" cy="50292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32" name="Text 30"/>
          <p:cNvSpPr/>
          <p:nvPr/>
        </p:nvSpPr>
        <p:spPr>
          <a:xfrm>
            <a:off x="6519672" y="3886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7205472" y="38404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Flavr Savr番茄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7205472" y="418795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8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Flavr Savr Tomato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565392" y="46177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延熟保鲜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565392" y="49834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8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Ripening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6537960"/>
            <a:ext cx="73152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8" name="Text 36"/>
          <p:cNvSpPr/>
          <p:nvPr/>
        </p:nvSpPr>
        <p:spPr>
          <a:xfrm>
            <a:off x="8686800" y="64008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8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92  |  5 / 16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30352"/>
            <a:ext cx="137160" cy="1371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工业与环保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80467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8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Industrial &amp; Environmental Applications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486400" cy="4572000"/>
          </a:xfrm>
          <a:prstGeom prst="roundRect">
            <a:avLst>
              <a:gd name="adj" fmla="val 1200"/>
            </a:avLst>
          </a:prstGeom>
          <a:solidFill>
            <a:srgbClr val="F0F4EC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71600"/>
            <a:ext cx="5486400" cy="5486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工业应用  Industrial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7240" y="2194560"/>
            <a:ext cx="320040" cy="32004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194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80160" y="21488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工业酶制剂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245059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8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Enzymes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" y="3063240"/>
            <a:ext cx="320040" cy="32004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0632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80160" y="30175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生物燃料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331927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8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Biofuels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7240" y="3931920"/>
            <a:ext cx="320040" cy="32004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931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80160" y="388620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生物材料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418795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8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Biomaterials (PHA)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77240" y="4800600"/>
            <a:ext cx="320040" cy="32004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800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80160" y="47548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合成生物学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80160" y="505663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8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Biology (Artemisinin)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45352" y="1371600"/>
            <a:ext cx="5486400" cy="4572000"/>
          </a:xfrm>
          <a:prstGeom prst="roundRect">
            <a:avLst>
              <a:gd name="adj" fmla="val 1200"/>
            </a:avLst>
          </a:prstGeom>
          <a:solidFill>
            <a:srgbClr val="F0F4EC"/>
          </a:solidFill>
          <a:ln/>
        </p:spPr>
      </p:sp>
      <p:sp>
        <p:nvSpPr>
          <p:cNvPr id="25" name="Shape 23"/>
          <p:cNvSpPr/>
          <p:nvPr/>
        </p:nvSpPr>
        <p:spPr>
          <a:xfrm>
            <a:off x="6245352" y="1371600"/>
            <a:ext cx="5486400" cy="54864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6" name="Text 24"/>
          <p:cNvSpPr/>
          <p:nvPr/>
        </p:nvSpPr>
        <p:spPr>
          <a:xfrm>
            <a:off x="6428232" y="137160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环保应用  Environmental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565392" y="2194560"/>
            <a:ext cx="320040" cy="32004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8" name="Text 26"/>
          <p:cNvSpPr/>
          <p:nvPr/>
        </p:nvSpPr>
        <p:spPr>
          <a:xfrm>
            <a:off x="6565392" y="2194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068312" y="21488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生物修复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068312" y="245059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8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Bioremediation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565392" y="3063240"/>
            <a:ext cx="320040" cy="32004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32" name="Text 30"/>
          <p:cNvSpPr/>
          <p:nvPr/>
        </p:nvSpPr>
        <p:spPr>
          <a:xfrm>
            <a:off x="6565392" y="30632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068312" y="30175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废水处理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068312" y="331927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8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Wastewater Treatment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565392" y="3931920"/>
            <a:ext cx="320040" cy="32004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36" name="Text 34"/>
          <p:cNvSpPr/>
          <p:nvPr/>
        </p:nvSpPr>
        <p:spPr>
          <a:xfrm>
            <a:off x="6565392" y="3931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068312" y="388620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生物传感器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7068312" y="418795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8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Biosensors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565392" y="4800600"/>
            <a:ext cx="320040" cy="32004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40" name="Text 38"/>
          <p:cNvSpPr/>
          <p:nvPr/>
        </p:nvSpPr>
        <p:spPr>
          <a:xfrm>
            <a:off x="6565392" y="4800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068312" y="47548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濒危物种保护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7068312" y="505663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8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Endangered Species Protection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7200" y="6537960"/>
            <a:ext cx="73152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4" name="Text 42"/>
          <p:cNvSpPr/>
          <p:nvPr/>
        </p:nvSpPr>
        <p:spPr>
          <a:xfrm>
            <a:off x="8686800" y="64008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8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92  |  6 / 16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30352"/>
            <a:ext cx="137160" cy="1371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科学家 — Cohen &amp; Boyer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80467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8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Founders of Genetic Engineering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486400" cy="3840480"/>
          </a:xfrm>
          <a:prstGeom prst="roundRect">
            <a:avLst>
              <a:gd name="adj" fmla="val 1429"/>
            </a:avLst>
          </a:prstGeom>
          <a:solidFill>
            <a:srgbClr val="F0F4EC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71600"/>
            <a:ext cx="548640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A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Stanley N. Cohen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77240" y="2313432"/>
            <a:ext cx="91440" cy="9144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2402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斯坦福大学医学院 / Stanford University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2971800"/>
            <a:ext cx="91440" cy="9144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89864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质粒转化技术 / Plasmid Transformation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3630168"/>
            <a:ext cx="91440" cy="9144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557016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构建pSC101重组质粒 / pSC101 Plasmid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77240" y="4288536"/>
            <a:ext cx="91440" cy="9144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215384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1973年与Boyer合作开创重组DNA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45352" y="1371600"/>
            <a:ext cx="5486400" cy="3840480"/>
          </a:xfrm>
          <a:prstGeom prst="roundRect">
            <a:avLst>
              <a:gd name="adj" fmla="val 1429"/>
            </a:avLst>
          </a:prstGeom>
          <a:solidFill>
            <a:srgbClr val="F0F4EC"/>
          </a:solidFill>
          <a:ln/>
        </p:spPr>
      </p:sp>
      <p:sp>
        <p:nvSpPr>
          <p:cNvPr id="17" name="Shape 15"/>
          <p:cNvSpPr/>
          <p:nvPr/>
        </p:nvSpPr>
        <p:spPr>
          <a:xfrm>
            <a:off x="6245352" y="1371600"/>
            <a:ext cx="5486400" cy="640080"/>
          </a:xfrm>
          <a:prstGeom prst="rect">
            <a:avLst/>
          </a:prstGeom>
          <a:solidFill>
            <a:srgbClr val="3A7D44"/>
          </a:solidFill>
          <a:ln/>
        </p:spPr>
      </p:sp>
      <p:sp>
        <p:nvSpPr>
          <p:cNvPr id="18" name="Text 16"/>
          <p:cNvSpPr/>
          <p:nvPr/>
        </p:nvSpPr>
        <p:spPr>
          <a:xfrm>
            <a:off x="6428232" y="137160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A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Herbert W. Boyer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565392" y="2313432"/>
            <a:ext cx="91440" cy="914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0" name="Text 18"/>
          <p:cNvSpPr/>
          <p:nvPr/>
        </p:nvSpPr>
        <p:spPr>
          <a:xfrm>
            <a:off x="6793992" y="22402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加州大学旧金山分校 / UCSF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565392" y="2971800"/>
            <a:ext cx="91440" cy="914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2" name="Text 20"/>
          <p:cNvSpPr/>
          <p:nvPr/>
        </p:nvSpPr>
        <p:spPr>
          <a:xfrm>
            <a:off x="6793992" y="289864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EcoRI限制性内切酶 / EcoRI Restriction Enzyme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565392" y="3630168"/>
            <a:ext cx="91440" cy="914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4" name="Text 22"/>
          <p:cNvSpPr/>
          <p:nvPr/>
        </p:nvSpPr>
        <p:spPr>
          <a:xfrm>
            <a:off x="6793992" y="3557016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粘性末端技术 / Sticky Ends Technology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565392" y="4288536"/>
            <a:ext cx="91440" cy="914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6" name="Text 24"/>
          <p:cNvSpPr/>
          <p:nvPr/>
        </p:nvSpPr>
        <p:spPr>
          <a:xfrm>
            <a:off x="6793992" y="4215384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创办Genentech — 全球首家生物技术公司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5486400"/>
            <a:ext cx="11274552" cy="731520"/>
          </a:xfrm>
          <a:prstGeom prst="roundRect">
            <a:avLst>
              <a:gd name="adj" fmla="val 7500"/>
            </a:avLst>
          </a:prstGeom>
          <a:solidFill>
            <a:srgbClr val="1A3D2E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548640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1973年合作 — 基因工程技术正式诞生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457200" y="6537960"/>
            <a:ext cx="73152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0" name="Text 28"/>
          <p:cNvSpPr/>
          <p:nvPr/>
        </p:nvSpPr>
        <p:spPr>
          <a:xfrm>
            <a:off x="8686800" y="64008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8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92  |  7 / 16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30352"/>
            <a:ext cx="137160" cy="1371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科学家 — Berg与Asilomar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80467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8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Scientific Self-Regulation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943600" cy="4114800"/>
          </a:xfrm>
          <a:prstGeom prst="roundRect">
            <a:avLst>
              <a:gd name="adj" fmla="val 1333"/>
            </a:avLst>
          </a:prstGeom>
          <a:solidFill>
            <a:srgbClr val="F0F4EC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71600"/>
            <a:ext cx="5943600" cy="640080"/>
          </a:xfrm>
          <a:prstGeom prst="rect">
            <a:avLst/>
          </a:prstGeom>
          <a:solidFill>
            <a:srgbClr val="1A3D2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5577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A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Paul Berg  (1926–2023)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31520" y="2286000"/>
            <a:ext cx="457200" cy="45720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1972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22402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构建首个重组DNA分子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254203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8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Recombinant DNA Molecule (SV40-λ)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035808"/>
            <a:ext cx="457200" cy="45720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035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1980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71600" y="299008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诺贝尔化学奖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32918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8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Nobel Prize in Chemistry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785616"/>
            <a:ext cx="457200" cy="45720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7856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1974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71600" y="3739896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主动暂停重组DNA实验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404164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8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Voluntary Moratorium on rDNA Research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4535424"/>
            <a:ext cx="457200" cy="45720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5354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1975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71600" y="4489704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组织Asilomar会议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71600" y="4791456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8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 the Asilomar Conference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702552" y="1371600"/>
            <a:ext cx="5029200" cy="4114800"/>
          </a:xfrm>
          <a:prstGeom prst="roundRect">
            <a:avLst>
              <a:gd name="adj" fmla="val 1333"/>
            </a:avLst>
          </a:prstGeom>
          <a:solidFill>
            <a:srgbClr val="1A3D2E"/>
          </a:solidFill>
          <a:ln/>
        </p:spPr>
      </p:sp>
      <p:sp>
        <p:nvSpPr>
          <p:cNvPr id="25" name="Text 23"/>
          <p:cNvSpPr/>
          <p:nvPr/>
        </p:nvSpPr>
        <p:spPr>
          <a:xfrm>
            <a:off x="6702552" y="16459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Asilomar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702552" y="2194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Conference 1975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302752" y="2697480"/>
            <a:ext cx="18288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8" name="Text 26"/>
          <p:cNvSpPr/>
          <p:nvPr/>
        </p:nvSpPr>
        <p:spPr>
          <a:xfrm>
            <a:off x="6976872" y="292608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科学家自主讨论重组DNA安全性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制定研究指导原则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702552" y="39319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科学自律的典范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702552" y="43891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of Scientific Self-Regulation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6537960"/>
            <a:ext cx="73152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2" name="Text 30"/>
          <p:cNvSpPr/>
          <p:nvPr/>
        </p:nvSpPr>
        <p:spPr>
          <a:xfrm>
            <a:off x="8686800" y="64008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8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92  |  8 / 16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30352"/>
            <a:ext cx="137160" cy="1371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科学家 — Doudna &amp; Charpentier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80467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8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CRISPR-Cas9 Pioneers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486400" cy="3200400"/>
          </a:xfrm>
          <a:prstGeom prst="roundRect">
            <a:avLst>
              <a:gd name="adj" fmla="val 1714"/>
            </a:avLst>
          </a:prstGeom>
          <a:solidFill>
            <a:srgbClr val="F0F4EC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71600"/>
            <a:ext cx="548640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A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Jennifer Doudna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77240" y="2313432"/>
            <a:ext cx="91440" cy="9144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24028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 Berkeley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" y="2953512"/>
            <a:ext cx="91440" cy="9144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88036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CRISPR-Cas9共同发现者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77240" y="3593592"/>
            <a:ext cx="91440" cy="9144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52044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2020年诺贝尔化学奖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45352" y="1371600"/>
            <a:ext cx="5486400" cy="3200400"/>
          </a:xfrm>
          <a:prstGeom prst="roundRect">
            <a:avLst>
              <a:gd name="adj" fmla="val 1714"/>
            </a:avLst>
          </a:prstGeom>
          <a:solidFill>
            <a:srgbClr val="F0F4EC"/>
          </a:solidFill>
          <a:ln/>
        </p:spPr>
      </p:sp>
      <p:sp>
        <p:nvSpPr>
          <p:cNvPr id="15" name="Shape 13"/>
          <p:cNvSpPr/>
          <p:nvPr/>
        </p:nvSpPr>
        <p:spPr>
          <a:xfrm>
            <a:off x="6245352" y="1371600"/>
            <a:ext cx="5486400" cy="640080"/>
          </a:xfrm>
          <a:prstGeom prst="rect">
            <a:avLst/>
          </a:prstGeom>
          <a:solidFill>
            <a:srgbClr val="3A7D44"/>
          </a:solidFill>
          <a:ln/>
        </p:spPr>
      </p:sp>
      <p:sp>
        <p:nvSpPr>
          <p:cNvPr id="16" name="Text 14"/>
          <p:cNvSpPr/>
          <p:nvPr/>
        </p:nvSpPr>
        <p:spPr>
          <a:xfrm>
            <a:off x="6428232" y="137160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A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Emmanuelle Charpentier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565392" y="2313432"/>
            <a:ext cx="91440" cy="914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8" name="Text 16"/>
          <p:cNvSpPr/>
          <p:nvPr/>
        </p:nvSpPr>
        <p:spPr>
          <a:xfrm>
            <a:off x="6793992" y="224028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Planck Institute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565392" y="2953512"/>
            <a:ext cx="91440" cy="914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0" name="Text 18"/>
          <p:cNvSpPr/>
          <p:nvPr/>
        </p:nvSpPr>
        <p:spPr>
          <a:xfrm>
            <a:off x="6793992" y="288036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CRISPR-Cas9共同发现者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565392" y="3593592"/>
            <a:ext cx="91440" cy="914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2" name="Text 20"/>
          <p:cNvSpPr/>
          <p:nvPr/>
        </p:nvSpPr>
        <p:spPr>
          <a:xfrm>
            <a:off x="6793992" y="352044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2020年诺贝尔化学奖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846320"/>
            <a:ext cx="11274552" cy="1371600"/>
          </a:xfrm>
          <a:prstGeom prst="roundRect">
            <a:avLst>
              <a:gd name="adj" fmla="val 4000"/>
            </a:avLst>
          </a:prstGeom>
          <a:solidFill>
            <a:srgbClr val="1A3D2E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9377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2012年里程碑论文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31520" y="534924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将crRNA与tracrRNA融合为sgRNA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引导Cas9在特定位点精准切割DNA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217920" y="4937760"/>
            <a:ext cx="36576" cy="1188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7" name="Text 25"/>
          <p:cNvSpPr/>
          <p:nvPr/>
        </p:nvSpPr>
        <p:spPr>
          <a:xfrm>
            <a:off x="6492240" y="49377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开启精准基因组编辑时代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492240" y="534924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of crRNA + tracrRNA into sgRNA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 Cas9 for precise DNA cleavage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6537960"/>
            <a:ext cx="73152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0" name="Text 28"/>
          <p:cNvSpPr/>
          <p:nvPr/>
        </p:nvSpPr>
        <p:spPr>
          <a:xfrm>
            <a:off x="8686800" y="64008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8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92  |  9 / 16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30352"/>
            <a:ext cx="137160" cy="1371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经典实验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80467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8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Classic Experiments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486400" cy="2011680"/>
          </a:xfrm>
          <a:prstGeom prst="roundRect">
            <a:avLst>
              <a:gd name="adj" fmla="val 2727"/>
            </a:avLst>
          </a:prstGeom>
          <a:solidFill>
            <a:srgbClr val="F0F4EC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645920"/>
            <a:ext cx="731520" cy="7315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45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1972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45920" y="16002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Berg: SV40-λ DNA重组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45920" y="19659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8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Recombinant DNA Molecule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56032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末端转移酶连接不同来源DNA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45352" y="1371600"/>
            <a:ext cx="5486400" cy="2011680"/>
          </a:xfrm>
          <a:prstGeom prst="roundRect">
            <a:avLst>
              <a:gd name="adj" fmla="val 2727"/>
            </a:avLst>
          </a:prstGeom>
          <a:solidFill>
            <a:srgbClr val="F0F4EC"/>
          </a:solidFill>
          <a:ln/>
        </p:spPr>
      </p:sp>
      <p:sp>
        <p:nvSpPr>
          <p:cNvPr id="12" name="Shape 10"/>
          <p:cNvSpPr/>
          <p:nvPr/>
        </p:nvSpPr>
        <p:spPr>
          <a:xfrm>
            <a:off x="6519672" y="1645920"/>
            <a:ext cx="731520" cy="7315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3" name="Text 11"/>
          <p:cNvSpPr/>
          <p:nvPr/>
        </p:nvSpPr>
        <p:spPr>
          <a:xfrm>
            <a:off x="6519672" y="1645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1973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434072" y="16002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Cohen &amp; Boyer: pSC101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434072" y="19659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8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Functional GE Bacteria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65392" y="256032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EcoRI切割 + DNA连接酶重组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657600"/>
            <a:ext cx="5486400" cy="2011680"/>
          </a:xfrm>
          <a:prstGeom prst="roundRect">
            <a:avLst>
              <a:gd name="adj" fmla="val 2727"/>
            </a:avLst>
          </a:prstGeom>
          <a:solidFill>
            <a:srgbClr val="F0F4EC"/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" y="3931920"/>
            <a:ext cx="731520" cy="7315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931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1982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645920" y="38862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Palmiter &amp; Brinster: 超级小鼠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645920" y="42519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8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Mouse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" y="484632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大鼠生长激素基因导入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45352" y="3657600"/>
            <a:ext cx="5486400" cy="2011680"/>
          </a:xfrm>
          <a:prstGeom prst="roundRect">
            <a:avLst>
              <a:gd name="adj" fmla="val 2727"/>
            </a:avLst>
          </a:prstGeom>
          <a:solidFill>
            <a:srgbClr val="F0F4EC"/>
          </a:solidFill>
          <a:ln/>
        </p:spPr>
      </p:sp>
      <p:sp>
        <p:nvSpPr>
          <p:cNvPr id="24" name="Shape 22"/>
          <p:cNvSpPr/>
          <p:nvPr/>
        </p:nvSpPr>
        <p:spPr>
          <a:xfrm>
            <a:off x="6519672" y="3931920"/>
            <a:ext cx="731520" cy="7315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5" name="Text 23"/>
          <p:cNvSpPr/>
          <p:nvPr/>
        </p:nvSpPr>
        <p:spPr>
          <a:xfrm>
            <a:off x="6519672" y="3931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1978-82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434072" y="38862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Boyer: 重组胰岛素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434072" y="42519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8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Recombinant Insulin (Humulin)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65392" y="484632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大肠杆菌生产人胰岛素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6537960"/>
            <a:ext cx="73152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0" name="Text 28"/>
          <p:cNvSpPr/>
          <p:nvPr/>
        </p:nvSpPr>
        <p:spPr>
          <a:xfrm>
            <a:off x="8686800" y="64008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8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92  |  10 / 16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30352"/>
            <a:ext cx="137160" cy="13716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CRISPR革命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80467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CRISPR Revolution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411480" cy="41148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54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4630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sgRNA + Cas9 精准编辑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18745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Editing with sgRNA &amp; Cas9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411480" cy="41148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606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25146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医学: 治愈遗传病、癌症免疫疗法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29260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Medicine: Curing Genetic Diseases, Cancer Immunotherapy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657600"/>
            <a:ext cx="411480" cy="41148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657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35661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农业: 增强作物抗逆性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34440" y="39776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Agriculture: Enhanced Crop Resilience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709160"/>
            <a:ext cx="411480" cy="41148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4440" y="46177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合成生物学新工具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34440" y="50292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Tool for Synthetic Biology</a:t>
            </a:r>
            <a:endParaRPr lang="en-US" sz="1100" dirty="0"/>
          </a:p>
        </p:txBody>
      </p:sp>
      <p:pic>
        <p:nvPicPr>
          <p:cNvPr id="21" name="Image 0" descr="/workspace/genetics_learning/ppt/images/crispr_concep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75120" y="1280160"/>
            <a:ext cx="5029200" cy="457200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457200" y="6217920"/>
            <a:ext cx="59436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3" name="Text 20"/>
          <p:cNvSpPr/>
          <p:nvPr/>
        </p:nvSpPr>
        <p:spPr>
          <a:xfrm>
            <a:off x="8686800" y="64008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92  |  11 / 16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30352"/>
            <a:ext cx="137160" cy="13716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伦理与争议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80467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Ethics &amp; Controversies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09728" cy="3657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46304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贺建奎基因编辑婴儿事件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8745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Jiankui Gene-Edited Babies (2018)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606040"/>
            <a:ext cx="109728" cy="3657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51460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转基因食品安全争议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29260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GMO Food Safety Debate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657600"/>
            <a:ext cx="109728" cy="3657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56616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基因增强 vs 治疗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39776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vs. Therapy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4709160"/>
            <a:ext cx="109728" cy="3657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461772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黄金大米推广困境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60120" y="50292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Rice Deployment Challenges</a:t>
            </a:r>
            <a:endParaRPr lang="en-US" sz="1100" dirty="0"/>
          </a:p>
        </p:txBody>
      </p:sp>
      <p:pic>
        <p:nvPicPr>
          <p:cNvPr id="17" name="Image 0" descr="/workspace/genetics_learning/ppt/images/ethics_concep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75120" y="1280160"/>
            <a:ext cx="5029200" cy="457200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457200" y="6217920"/>
            <a:ext cx="59436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9" name="Text 16"/>
          <p:cNvSpPr/>
          <p:nvPr/>
        </p:nvSpPr>
        <p:spPr>
          <a:xfrm>
            <a:off x="8686800" y="64008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92  |  12 / 16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30352"/>
            <a:ext cx="137160" cy="1371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思考题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80467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8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Discussion Questions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486400" cy="2011680"/>
          </a:xfrm>
          <a:prstGeom prst="roundRect">
            <a:avLst>
              <a:gd name="adj" fmla="val 2727"/>
            </a:avLst>
          </a:prstGeom>
          <a:solidFill>
            <a:srgbClr val="F0F4EC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64592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45920" y="164592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生殖系基因编辑的伦理边界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45920" y="2148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8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Boundaries of Germline Editing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3154680"/>
            <a:ext cx="4846320" cy="7315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1" name="Shape 9"/>
          <p:cNvSpPr/>
          <p:nvPr/>
        </p:nvSpPr>
        <p:spPr>
          <a:xfrm>
            <a:off x="6245352" y="1371600"/>
            <a:ext cx="5486400" cy="2011680"/>
          </a:xfrm>
          <a:prstGeom prst="roundRect">
            <a:avLst>
              <a:gd name="adj" fmla="val 2727"/>
            </a:avLst>
          </a:prstGeom>
          <a:solidFill>
            <a:srgbClr val="F0F4EC"/>
          </a:solidFill>
          <a:ln/>
        </p:spPr>
      </p:sp>
      <p:sp>
        <p:nvSpPr>
          <p:cNvPr id="12" name="Shape 10"/>
          <p:cNvSpPr/>
          <p:nvPr/>
        </p:nvSpPr>
        <p:spPr>
          <a:xfrm>
            <a:off x="6565392" y="1645920"/>
            <a:ext cx="640080" cy="64008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3" name="Text 11"/>
          <p:cNvSpPr/>
          <p:nvPr/>
        </p:nvSpPr>
        <p:spPr>
          <a:xfrm>
            <a:off x="6565392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434072" y="164592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Asilomar精神在现代的适用性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434072" y="2148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8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Applicability of Asilomar Spirit Today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65392" y="3154680"/>
            <a:ext cx="4846320" cy="7315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657600"/>
            <a:ext cx="5486400" cy="2011680"/>
          </a:xfrm>
          <a:prstGeom prst="roundRect">
            <a:avLst>
              <a:gd name="adj" fmla="val 2727"/>
            </a:avLst>
          </a:prstGeom>
          <a:solidFill>
            <a:srgbClr val="F0F4EC"/>
          </a:solidFill>
          <a:ln/>
        </p:spPr>
      </p:sp>
      <p:sp>
        <p:nvSpPr>
          <p:cNvPr id="18" name="Shape 16"/>
          <p:cNvSpPr/>
          <p:nvPr/>
        </p:nvSpPr>
        <p:spPr>
          <a:xfrm>
            <a:off x="777240" y="3931920"/>
            <a:ext cx="640080" cy="64008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931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645920" y="393192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专利保护与药物可及性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45920" y="4434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8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Patents vs. Drug Accessibility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77240" y="5440680"/>
            <a:ext cx="484632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3" name="Shape 21"/>
          <p:cNvSpPr/>
          <p:nvPr/>
        </p:nvSpPr>
        <p:spPr>
          <a:xfrm>
            <a:off x="6245352" y="3657600"/>
            <a:ext cx="5486400" cy="2011680"/>
          </a:xfrm>
          <a:prstGeom prst="roundRect">
            <a:avLst>
              <a:gd name="adj" fmla="val 2727"/>
            </a:avLst>
          </a:prstGeom>
          <a:solidFill>
            <a:srgbClr val="F0F4EC"/>
          </a:solidFill>
          <a:ln/>
        </p:spPr>
      </p:sp>
      <p:sp>
        <p:nvSpPr>
          <p:cNvPr id="24" name="Shape 22"/>
          <p:cNvSpPr/>
          <p:nvPr/>
        </p:nvSpPr>
        <p:spPr>
          <a:xfrm>
            <a:off x="6565392" y="3931920"/>
            <a:ext cx="640080" cy="640080"/>
          </a:xfrm>
          <a:prstGeom prst="ellipse">
            <a:avLst/>
          </a:prstGeom>
          <a:solidFill>
            <a:srgbClr val="1A3D2E"/>
          </a:solidFill>
          <a:ln/>
        </p:spPr>
      </p:sp>
      <p:sp>
        <p:nvSpPr>
          <p:cNvPr id="25" name="Text 23"/>
          <p:cNvSpPr/>
          <p:nvPr/>
        </p:nvSpPr>
        <p:spPr>
          <a:xfrm>
            <a:off x="6565392" y="3931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434072" y="393192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基因驱动与生态系统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434072" y="4434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8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Drives &amp; Ecosystems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565392" y="5440680"/>
            <a:ext cx="4846320" cy="73152"/>
          </a:xfrm>
          <a:prstGeom prst="rect">
            <a:avLst/>
          </a:prstGeom>
          <a:solidFill>
            <a:srgbClr val="1A3D2E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6537960"/>
            <a:ext cx="73152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0" name="Text 28"/>
          <p:cNvSpPr/>
          <p:nvPr/>
        </p:nvSpPr>
        <p:spPr>
          <a:xfrm>
            <a:off x="8686800" y="64008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8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92  |  13 / 16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30352"/>
            <a:ext cx="137160" cy="1371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术语要点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80467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8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Terminology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456432" cy="1325880"/>
          </a:xfrm>
          <a:prstGeom prst="roundRect">
            <a:avLst>
              <a:gd name="adj" fmla="val 4138"/>
            </a:avLst>
          </a:prstGeom>
          <a:solidFill>
            <a:srgbClr val="F0F4EC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71600"/>
            <a:ext cx="91440" cy="13258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54480"/>
            <a:ext cx="2999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基因工程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2999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8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Genetic Engineering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42232" y="1371600"/>
            <a:ext cx="3456432" cy="1325880"/>
          </a:xfrm>
          <a:prstGeom prst="roundRect">
            <a:avLst>
              <a:gd name="adj" fmla="val 4138"/>
            </a:avLst>
          </a:prstGeom>
          <a:solidFill>
            <a:srgbClr val="F0F4EC"/>
          </a:solidFill>
          <a:ln/>
        </p:spPr>
      </p:sp>
      <p:sp>
        <p:nvSpPr>
          <p:cNvPr id="10" name="Shape 8"/>
          <p:cNvSpPr/>
          <p:nvPr/>
        </p:nvSpPr>
        <p:spPr>
          <a:xfrm>
            <a:off x="4142232" y="1371600"/>
            <a:ext cx="91440" cy="13258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4416552" y="1554480"/>
            <a:ext cx="2999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重组DNA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416552" y="2011680"/>
            <a:ext cx="2999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8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Recombinant DNA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827264" y="1371600"/>
            <a:ext cx="3456432" cy="1325880"/>
          </a:xfrm>
          <a:prstGeom prst="roundRect">
            <a:avLst>
              <a:gd name="adj" fmla="val 4138"/>
            </a:avLst>
          </a:prstGeom>
          <a:solidFill>
            <a:srgbClr val="F0F4EC"/>
          </a:solidFill>
          <a:ln/>
        </p:spPr>
      </p:sp>
      <p:sp>
        <p:nvSpPr>
          <p:cNvPr id="14" name="Shape 12"/>
          <p:cNvSpPr/>
          <p:nvPr/>
        </p:nvSpPr>
        <p:spPr>
          <a:xfrm>
            <a:off x="7827264" y="1371600"/>
            <a:ext cx="91440" cy="13258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8101584" y="1554480"/>
            <a:ext cx="2999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限制性内切酶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101584" y="2011680"/>
            <a:ext cx="2999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8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Restriction Enzyme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880360"/>
            <a:ext cx="3456432" cy="1325880"/>
          </a:xfrm>
          <a:prstGeom prst="roundRect">
            <a:avLst>
              <a:gd name="adj" fmla="val 4138"/>
            </a:avLst>
          </a:prstGeom>
          <a:solidFill>
            <a:srgbClr val="F0F4EC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2880360"/>
            <a:ext cx="91440" cy="13258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063240"/>
            <a:ext cx="2999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CRISPR-Cas9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31520" y="3520440"/>
            <a:ext cx="2999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8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Editing Tool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142232" y="2880360"/>
            <a:ext cx="3456432" cy="1325880"/>
          </a:xfrm>
          <a:prstGeom prst="roundRect">
            <a:avLst>
              <a:gd name="adj" fmla="val 4138"/>
            </a:avLst>
          </a:prstGeom>
          <a:solidFill>
            <a:srgbClr val="F0F4EC"/>
          </a:solidFill>
          <a:ln/>
        </p:spPr>
      </p:sp>
      <p:sp>
        <p:nvSpPr>
          <p:cNvPr id="22" name="Shape 20"/>
          <p:cNvSpPr/>
          <p:nvPr/>
        </p:nvSpPr>
        <p:spPr>
          <a:xfrm>
            <a:off x="4142232" y="2880360"/>
            <a:ext cx="91440" cy="13258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3" name="Text 21"/>
          <p:cNvSpPr/>
          <p:nvPr/>
        </p:nvSpPr>
        <p:spPr>
          <a:xfrm>
            <a:off x="4416552" y="3063240"/>
            <a:ext cx="2999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sgRNA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416552" y="3520440"/>
            <a:ext cx="2999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8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RNA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827264" y="2880360"/>
            <a:ext cx="3456432" cy="1325880"/>
          </a:xfrm>
          <a:prstGeom prst="roundRect">
            <a:avLst>
              <a:gd name="adj" fmla="val 4138"/>
            </a:avLst>
          </a:prstGeom>
          <a:solidFill>
            <a:srgbClr val="F0F4EC"/>
          </a:solidFill>
          <a:ln/>
        </p:spPr>
      </p:sp>
      <p:sp>
        <p:nvSpPr>
          <p:cNvPr id="26" name="Shape 24"/>
          <p:cNvSpPr/>
          <p:nvPr/>
        </p:nvSpPr>
        <p:spPr>
          <a:xfrm>
            <a:off x="7827264" y="2880360"/>
            <a:ext cx="91440" cy="13258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7" name="Text 25"/>
          <p:cNvSpPr/>
          <p:nvPr/>
        </p:nvSpPr>
        <p:spPr>
          <a:xfrm>
            <a:off x="8101584" y="3063240"/>
            <a:ext cx="2999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基因编辑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8101584" y="3520440"/>
            <a:ext cx="2999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8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Editing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4389120"/>
            <a:ext cx="3456432" cy="1325880"/>
          </a:xfrm>
          <a:prstGeom prst="roundRect">
            <a:avLst>
              <a:gd name="adj" fmla="val 4138"/>
            </a:avLst>
          </a:prstGeom>
          <a:solidFill>
            <a:srgbClr val="F0F4EC"/>
          </a:solidFill>
          <a:ln/>
        </p:spPr>
      </p:sp>
      <p:sp>
        <p:nvSpPr>
          <p:cNvPr id="30" name="Shape 28"/>
          <p:cNvSpPr/>
          <p:nvPr/>
        </p:nvSpPr>
        <p:spPr>
          <a:xfrm>
            <a:off x="457200" y="4389120"/>
            <a:ext cx="91440" cy="132588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4572000"/>
            <a:ext cx="2999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转基因生物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731520" y="5029200"/>
            <a:ext cx="2999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8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GMO / Transgenic Organism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142232" y="4389120"/>
            <a:ext cx="3456432" cy="1325880"/>
          </a:xfrm>
          <a:prstGeom prst="roundRect">
            <a:avLst>
              <a:gd name="adj" fmla="val 4138"/>
            </a:avLst>
          </a:prstGeom>
          <a:solidFill>
            <a:srgbClr val="F0F4EC"/>
          </a:solidFill>
          <a:ln/>
        </p:spPr>
      </p:sp>
      <p:sp>
        <p:nvSpPr>
          <p:cNvPr id="34" name="Shape 32"/>
          <p:cNvSpPr/>
          <p:nvPr/>
        </p:nvSpPr>
        <p:spPr>
          <a:xfrm>
            <a:off x="4142232" y="4389120"/>
            <a:ext cx="91440" cy="132588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5" name="Text 33"/>
          <p:cNvSpPr/>
          <p:nvPr/>
        </p:nvSpPr>
        <p:spPr>
          <a:xfrm>
            <a:off x="4416552" y="4572000"/>
            <a:ext cx="2999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基因治疗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4416552" y="5029200"/>
            <a:ext cx="2999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8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Therapy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827264" y="4389120"/>
            <a:ext cx="3456432" cy="1325880"/>
          </a:xfrm>
          <a:prstGeom prst="roundRect">
            <a:avLst>
              <a:gd name="adj" fmla="val 4138"/>
            </a:avLst>
          </a:prstGeom>
          <a:solidFill>
            <a:srgbClr val="F0F4EC"/>
          </a:solidFill>
          <a:ln/>
        </p:spPr>
      </p:sp>
      <p:sp>
        <p:nvSpPr>
          <p:cNvPr id="38" name="Shape 36"/>
          <p:cNvSpPr/>
          <p:nvPr/>
        </p:nvSpPr>
        <p:spPr>
          <a:xfrm>
            <a:off x="7827264" y="4389120"/>
            <a:ext cx="91440" cy="132588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9" name="Text 37"/>
          <p:cNvSpPr/>
          <p:nvPr/>
        </p:nvSpPr>
        <p:spPr>
          <a:xfrm>
            <a:off x="8101584" y="4572000"/>
            <a:ext cx="2999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生物修复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8101584" y="5029200"/>
            <a:ext cx="2999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8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Bioremediation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57200" y="6537960"/>
            <a:ext cx="73152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2" name="Text 40"/>
          <p:cNvSpPr/>
          <p:nvPr/>
        </p:nvSpPr>
        <p:spPr>
          <a:xfrm>
            <a:off x="8686800" y="64008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8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92  |  14 / 16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30352"/>
            <a:ext cx="137160" cy="1371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总结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80467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8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74552" cy="960120"/>
          </a:xfrm>
          <a:prstGeom prst="roundRect">
            <a:avLst>
              <a:gd name="adj" fmla="val 5714"/>
            </a:avLst>
          </a:prstGeom>
          <a:solidFill>
            <a:srgbClr val="F0F4EC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71600"/>
            <a:ext cx="109728" cy="9601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554480"/>
            <a:ext cx="594360" cy="5943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5544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A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45920" y="1481328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50年: 从实验室到四大产业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45920" y="18745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8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Years: From Lab to Four Industries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514600"/>
            <a:ext cx="11274552" cy="960120"/>
          </a:xfrm>
          <a:prstGeom prst="roundRect">
            <a:avLst>
              <a:gd name="adj" fmla="val 5714"/>
            </a:avLst>
          </a:prstGeom>
          <a:solidFill>
            <a:srgbClr val="F0F4EC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514600"/>
            <a:ext cx="109728" cy="9601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2697480"/>
            <a:ext cx="594360" cy="59436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6974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645920" y="2624328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技术演进: 重组DNA → CRISPR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45920" y="30175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8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Evolution: rDNA to CRISPR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657600"/>
            <a:ext cx="11274552" cy="960120"/>
          </a:xfrm>
          <a:prstGeom prst="roundRect">
            <a:avLst>
              <a:gd name="adj" fmla="val 5714"/>
            </a:avLst>
          </a:prstGeom>
          <a:solidFill>
            <a:srgbClr val="F0F4EC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3657600"/>
            <a:ext cx="109728" cy="9601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9" name="Shape 17"/>
          <p:cNvSpPr/>
          <p:nvPr/>
        </p:nvSpPr>
        <p:spPr>
          <a:xfrm>
            <a:off x="777240" y="3840480"/>
            <a:ext cx="594360" cy="59436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8404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645920" y="3767328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伦理与社会责任并重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645920" y="41605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8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&amp; Social Responsibility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4800600"/>
            <a:ext cx="11274552" cy="960120"/>
          </a:xfrm>
          <a:prstGeom prst="roundRect">
            <a:avLst>
              <a:gd name="adj" fmla="val 5714"/>
            </a:avLst>
          </a:prstGeom>
          <a:solidFill>
            <a:srgbClr val="F0F4EC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4800600"/>
            <a:ext cx="109728" cy="960120"/>
          </a:xfrm>
          <a:prstGeom prst="rect">
            <a:avLst/>
          </a:prstGeom>
          <a:solidFill>
            <a:srgbClr val="1A3D2E"/>
          </a:solidFill>
          <a:ln/>
        </p:spPr>
      </p:sp>
      <p:sp>
        <p:nvSpPr>
          <p:cNvPr id="25" name="Shape 23"/>
          <p:cNvSpPr/>
          <p:nvPr/>
        </p:nvSpPr>
        <p:spPr>
          <a:xfrm>
            <a:off x="777240" y="4983480"/>
            <a:ext cx="594360" cy="594360"/>
          </a:xfrm>
          <a:prstGeom prst="ellipse">
            <a:avLst/>
          </a:prstGeom>
          <a:solidFill>
            <a:srgbClr val="1A3D2E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9834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A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645920" y="4910328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未来: 精准医学、合成生物学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645920" y="53035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8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Precision Medicine, Synthetic Biology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6537960"/>
            <a:ext cx="73152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0" name="Text 28"/>
          <p:cNvSpPr/>
          <p:nvPr/>
        </p:nvSpPr>
        <p:spPr>
          <a:xfrm>
            <a:off x="8686800" y="64008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8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92  |  15 / 16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84648" y="822960"/>
            <a:ext cx="18288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下节预告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Next: Day 93 — Bioinformatics &amp; Genetics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828800" y="2377440"/>
            <a:ext cx="8531352" cy="731520"/>
          </a:xfrm>
          <a:prstGeom prst="roundRect">
            <a:avLst>
              <a:gd name="adj" fmla="val 7500"/>
            </a:avLst>
          </a:prstGeom>
          <a:solidFill>
            <a:srgbClr val="1A3D2E"/>
          </a:solidFill>
          <a:ln/>
        </p:spPr>
      </p:sp>
      <p:sp>
        <p:nvSpPr>
          <p:cNvPr id="6" name="Shape 4"/>
          <p:cNvSpPr/>
          <p:nvPr/>
        </p:nvSpPr>
        <p:spPr>
          <a:xfrm>
            <a:off x="1828800" y="2377440"/>
            <a:ext cx="91440" cy="7315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7" name="Shape 5"/>
          <p:cNvSpPr/>
          <p:nvPr/>
        </p:nvSpPr>
        <p:spPr>
          <a:xfrm>
            <a:off x="2103120" y="2514600"/>
            <a:ext cx="457200" cy="45720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8" name="Text 6"/>
          <p:cNvSpPr/>
          <p:nvPr/>
        </p:nvSpPr>
        <p:spPr>
          <a:xfrm>
            <a:off x="210312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788920" y="24231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生物信息学与遗传学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788920" y="27432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Bioinformatics &amp; Genetics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28800" y="3291840"/>
            <a:ext cx="8531352" cy="731520"/>
          </a:xfrm>
          <a:prstGeom prst="roundRect">
            <a:avLst>
              <a:gd name="adj" fmla="val 7500"/>
            </a:avLst>
          </a:prstGeom>
          <a:solidFill>
            <a:srgbClr val="1A3D2E"/>
          </a:solidFill>
          <a:ln/>
        </p:spPr>
      </p:sp>
      <p:sp>
        <p:nvSpPr>
          <p:cNvPr id="12" name="Shape 10"/>
          <p:cNvSpPr/>
          <p:nvPr/>
        </p:nvSpPr>
        <p:spPr>
          <a:xfrm>
            <a:off x="1828800" y="3291840"/>
            <a:ext cx="91440" cy="7315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3" name="Shape 11"/>
          <p:cNvSpPr/>
          <p:nvPr/>
        </p:nvSpPr>
        <p:spPr>
          <a:xfrm>
            <a:off x="2103120" y="3429000"/>
            <a:ext cx="457200" cy="45720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4" name="Text 12"/>
          <p:cNvSpPr/>
          <p:nvPr/>
        </p:nvSpPr>
        <p:spPr>
          <a:xfrm>
            <a:off x="210312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788920" y="33375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基因组数据与计算分析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788920" y="36576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Genomic Data &amp; Computational Analysis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828800" y="4206240"/>
            <a:ext cx="8531352" cy="731520"/>
          </a:xfrm>
          <a:prstGeom prst="roundRect">
            <a:avLst>
              <a:gd name="adj" fmla="val 7500"/>
            </a:avLst>
          </a:prstGeom>
          <a:solidFill>
            <a:srgbClr val="1A3D2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28800" y="4206240"/>
            <a:ext cx="91440" cy="7315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9" name="Shape 17"/>
          <p:cNvSpPr/>
          <p:nvPr/>
        </p:nvSpPr>
        <p:spPr>
          <a:xfrm>
            <a:off x="2103120" y="4343400"/>
            <a:ext cx="457200" cy="45720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0" name="Text 18"/>
          <p:cNvSpPr/>
          <p:nvPr/>
        </p:nvSpPr>
        <p:spPr>
          <a:xfrm>
            <a:off x="2103120" y="4343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788920" y="42519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序列比对、基因预测、系统发育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788920" y="45720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Alignment, Gene Prediction, Phylogenetics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828800" y="5120640"/>
            <a:ext cx="8531352" cy="731520"/>
          </a:xfrm>
          <a:prstGeom prst="roundRect">
            <a:avLst>
              <a:gd name="adj" fmla="val 7500"/>
            </a:avLst>
          </a:prstGeom>
          <a:solidFill>
            <a:srgbClr val="1A3D2E"/>
          </a:solidFill>
          <a:ln/>
        </p:spPr>
      </p:sp>
      <p:sp>
        <p:nvSpPr>
          <p:cNvPr id="24" name="Shape 22"/>
          <p:cNvSpPr/>
          <p:nvPr/>
        </p:nvSpPr>
        <p:spPr>
          <a:xfrm>
            <a:off x="1828800" y="5120640"/>
            <a:ext cx="91440" cy="7315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5" name="Shape 23"/>
          <p:cNvSpPr/>
          <p:nvPr/>
        </p:nvSpPr>
        <p:spPr>
          <a:xfrm>
            <a:off x="2103120" y="5257800"/>
            <a:ext cx="457200" cy="45720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6" name="Text 24"/>
          <p:cNvSpPr/>
          <p:nvPr/>
        </p:nvSpPr>
        <p:spPr>
          <a:xfrm>
            <a:off x="2103120" y="5257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788920" y="51663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精准医学与进化生物学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2788920" y="54864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Medicine &amp; Evolutionary Biology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184648" y="6126480"/>
            <a:ext cx="18288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626364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  ·  谢谢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Genetics Learning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92: Applications of Genetic Engineering</dc:title>
  <dc:subject>Genetic Engineering Applications</dc:subject>
  <dc:creator>Genetics 100-Day Study Plan</dc:creator>
  <cp:lastModifiedBy>Genetics 100-Day Study Plan</cp:lastModifiedBy>
  <cp:revision>1</cp:revision>
  <dcterms:created xsi:type="dcterms:W3CDTF">2026-08-14T04:42:04Z</dcterms:created>
  <dcterms:modified xsi:type="dcterms:W3CDTF">2026-08-14T04:42:04Z</dcterms:modified>
</cp:coreProperties>
</file>