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封面页：孟德尔定律的数学基础。本节课将深入探讨孟德尔遗传学背后的数学原理，包括概率论、二项分布、卡方检验等核心数学工具，帮助理解孟德尔如何通过精确的数学分析发现了遗传学的基本定律。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日学习目录：从19世纪统计学萌芽讲起，回顾孟德尔在维也纳大学接受的数学训练，然后系统学习概率论基础、乘法法则与加法法则、二项分布、单因子和双因子杂交的数学推导，以及卡方检验方法。最后通过孟德尔的经典实验数据进行验证，并讨论费舍尔对孟德尔数据的争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历史背景第一部分：19世纪统计学萌芽。凯特勒（1796-1874）是比利时数学家和天文学家，他首次将概率论系统地应用于社会科学，提出"平均人"概念，认为大量个体的测量数据呈正态分布。高尔顿（1822-1911）是英国博学家，达尔文的表弟，他开创了生物统计学，提出了回归和相关概念，但他信奉"融合遗传"（blending inheritance），认为后代的性状是父母性状的混合，这使他无法理解孟德尔的离散遗传因子理论。高尔顿虽然比孟德尔年轻，但他的统计方法后来被皮尔逊等人发展，最终与孟德尔遗传学结合。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历史背景第二部分：孟德尔在维也纳大学的数学训练。1851年，孟德尔被派往维也纳大学学习自然科学。在那里，他跟随多普勒（Christian Doppler，1803-1853）学习实验物理学。多普勒以严谨的实验方法和定量分析著称，他强调精确测量和数据分析的重要性。同时，孟德尔还跟随埃廷豪森（Andreas von Ettingshausen，1796-1878）学习数学。埃廷豪森是组合数学领域的专家，他的《组合分析》教材直接影响了孟德尔后来的研究方法。孟德尔在维也纳大学还学习了植物学、动物学、化学等课程。正是这段经历，使孟德尔具备了同时代大多数生物学家所缺乏的数学素养，为他后来用精确的定量方法研究遗传问题奠定了基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历史背景第三部分：为什么孟德尔同时代的人没有跟上？原因有多方面：（1）数学门槛：孟德尔在论文中使用了概率计算和组合分析，而当时大多数生物学家没有接受过这种数学训练。达尔文本人虽然读过孟德尔的论文（有标注痕迹），但显然没有理解其数学内容。（2）融合遗传偏见：19世纪的主流遗传观念是"融合遗传"，认为后代的性状是父母性状的混合，就像两种颜料混合一样。孟德尔的"粒子遗传"（particulate inheritance）理论与这种直觉相悖。（3）达尔文的光芒：《物种起源》1859年出版后吸引了几乎所有生物学家的注意力。（4）连续变异vs离散变异：当时观察到的多数性状是连续变异的，而孟德尔精心选择了呈现离散变异的性状。（5）发表渠道：论文发表在不太知名的地方性期刊上。直到1900年，德弗里斯、科伦斯和切尔马克三位科学家独立发现了同样的规律，才重新发现了孟德尔的工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概率论基础：概率是衡量事件发生可能性的数值。在遗传学中，等可能事件是基本假设之一。例如，一个杂合子 Aa 在减数分裂时产生 A 配子和 a 配子的概率各为 1/2，因为等位基因的分离是随机的、等可能的。这一假设是孟德尔第一定律（分离定律）的数学基础。理解等可能事件的概念对于后续学习乘法法则和加法法则至关重要。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乘法法则与加法法则是遗传学概率计算的两个基本法则。乘法法则：当两个事件相互独立时，它们同时发生的概率等于各自概率的乘积。例如，AaBb 个体在产生配子时，A/a 的分离与 B/b 的分离是独立的，所以产生 AB 配子的概率 = P(A) x P(B) = 1/2 x 1/2 = 1/4。加法法则：当两个事件互斥时，任一事件发生的概率等于各自概率之和。例如，Aa 自交后代中，AA 和 Aa 都表现为显性表型，所以显性表型的概率 = P(AA) + P(Aa) = 1/4 + 2/4 = 3/4。这两个法则是理解孟德尔比例的数学基础。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二项分布是理解孟德尔比例的核心数学工具。当进行多次独立试验，每次试验只有两种可能结果时，结果服从二项分布。在遗传学中，每个后代个体相当于一次独立试验（如从 Aa x Aa 的后代中随机抽取一个个体），结果要么是显性（概率 p=3/4），要么是隐性（概率 q=1/4）。二项分布公式 P(k) = C(n,k) x p^k x q^(n-k) 可以精确计算任意后代数量中各种基因型或表型组合出现的概率。例如，在 Aa x Aa 的4个后代中恰好有3个显性表型的概率为 C(4,3) x (3/4)^3 x (1/4)^1 = 4 x 27/64 x 1/4 = 27/64。二项分布是后续卡方检验的理论基础。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单因子杂交的数学推导（3:1比例的来源）：以孟德尔的高茎豌豆 x 矮茎豌豆为例。P代：TT x tt，F1代全部为 Tt（杂合高茎）。F1自交 Tt x Tt 时，用庞尼特方格分析：T 配子概率 1/2，t 配子概率 1/2。后代基因型：TT（1/4）、Tt（2/4）、tt（1/4），即 1:2:1。由于 TT 和 Tt 都表现为高茎，所以表型比为 高茎:矮茎 = 3:1。这里用到了乘法法则（每个配子概率相乘得到基因型概率）和加法法则（TT 和 Tt 的概率相加得到显性表型概率）。3:1 比例是单因子杂交 F2 代的标准分离比。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双因子杂交的数学推导（9:3:3:1比例的来源）：以黄色圆滑 (YYRR) x 绿色皱缩 (yyrr) 为例。F1代全部为 YyRr。F1自交时，由于两对基因位于不同染色体上（或相距足够远），它们的分离是独立的。因此可以用乘法法则：Y/y 的分离产生 3/4 Y_ : 1/4 yy，R/r 的分离产生 3/4 R_ : 1/4 rr。两者相乘：(3/4 Y_ + 1/4 yy) x (3/4 R_ + 1/4 rr) = 9/16 Y_R_ + 3/16 Y_rr + 3/16 yyR_ + 1/16 yyrr。这就是 9:3:3:1 比例的数学来源。如果涉及 n 对独立基因，F2 表型比例的种类数为 3^n，总比例为 (3:1)^n。例如，3对基因 → 27:9:9:9:3:3:3:1。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卡方检验（Chi-Square Test）是遗传学中最常用的统计检验方法之一，由卡尔·皮尔逊（Karl Pearson）于1900年提出。卡方检验的公式为 chi-sq = Sum[(O-E)^2/E]，其中 O 是观察值，E 是期望值。计算步骤：（1）根据理论比例计算各类别的期望值 E；（2）计算每组的 (O-E)^2/E；（3）将所有组的值相加得到 chi-sq 值；（4）查卡方分布表，比较 chi-sq 值与临界值。如果 chi-sq &lt; 临界值（如 df=1 时 P=0.05 的临界值为 3.841），则接受原假设，认为观察数据与理论预期之间的差异不显著（可归因于随机误差）。如果 chi-sq &gt;= 临界值，则拒绝原假设，认为观察数据与理论预期之间存在显著差异。自由度 df = 分类数 - 1。注意：卡方检验要求每个类别的期望值不小于5。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卡方检验计算示例：以 Aa x Aa 杂交后代100个个体为例。步骤1：根据3:1理论比例计算期望值，E(显性)=75，E(隐性)=25。步骤2：假设实际观察值为显性78个、隐性22个。步骤3：逐项计算 (O-E)^2/E：显性 = (78-75)^2/75 = 9/75 = 0.12，隐性 = (22-25)^2/25 = 9/25 = 0.36。步骤4：chi-sq = 0.12 + 0.36 = 0.48。查表得 df=1, P=0.05 时临界值为 3.841。因为 0.48 &lt; 3.841，所以接受原假设，认为数据符合3:1比例。P值约为0.49，远大于0.05，说明偏差不显著。这个例子展示了卡方检验的完整计算过程。在实际研究中，如果 chi-sq 值远小于临界值，说明数据与理论拟合得非常好。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孟德尔（Gregor Johann Mendel，1822-1884）是遗传学之父。他出生于奥地利帝国西里西亚的一个农民家庭，1843年进入布尔诺的圣托马斯修道院。1851-1853年，他被派往维也纳大学学习，在那里接受了系统的数学和物理学训练。回到修道院后，他从1856年开始进行豌豆杂交实验，持续了8年，研究了约29000株豌豆植物。1865年，他在布隆自然科学学会上报告了研究成果，1866年论文正式发表。然而，他的工作在生前没有得到广泛认可。直到1900年，荷兰的德弗里斯、德国的科伦斯和奥地利的切尔马克三人独立发现了同样的遗传规律，才重新发现了孟德尔的工作。孟德尔的成功关键在于他将数学方法引入生物学研究，这在当时是非常超前的。他不仅计数了大量的后代个体，还用概率论和组合数学分析了数据，从中发现了隐藏在表面之下的遗传规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孟德尔对7对豌豆性状分别进行了单因子杂交实验。每对性状的F2代表型比例都非常接近3:1。种子形状：5474:1850 = 2.96:1；子叶颜色：6022:2001 = 3.01:1；花色：705:224 = 3.15:1；豆荚形状：882:299 = 2.95:1；豆荚颜色：428:152 = 2.82:1；花位置：651:207 = 3.14:1；茎高度：787:277 = 2.84:1。7对性状合计：显性14949个，隐性5010个，比例为2.98:1，与理论值3:1极为接近。这种高度一致性是孟德尔遗传学最有力的证据之一。值得注意的是，孟德尔实验的样本量非常大（总计约19959个个体），这保证了统计结果的可靠性。大样本量是减少随机误差、获得准确比例的关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对孟德尔7对性状数据的卡方分析。计算方法：对于每对性状，根据3:1比例计算期望值 E(显性) = 总数 x 3/4，E(隐性) = 总数 x 1/4，然后计算 chi-sq = (O显-E显)^2/E显 + (O隐-E隐)^2/E隐。结果：种子形状 chi-sq=0.26，子叶颜色 chi-sq=0.01，花色 chi-sq=0.39，豆荚形状 chi-sq=0.06，豆荚颜色 chi-sq=0.45，花位置 chi-sq=0.32，茎高度 chi-sq=0.60。合计 chi-sq=2.09。df=7时，P=0.05的临界值为14.067。因为 2.09 &lt;&lt; 14.067，所有数据都高度符合3:1理论比例。事实上，P值约为0.95，这意味着如果3:1比例是正确的，有95%的概率会观察到比孟德尔的数据更大的偏差。换言之，孟德尔的数据与理论预期拟合得"太好了"——这正是费舍尔后来质疑的焦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费舍尔争议：1936年，R.A.费舍尔发表了著名论文《孟德尔的实验结果是否可靠？》。费舍尔重新分析了孟德尔的所有数据，发现总卡方值为2.09，自由度为7，对应的P值约为0.95。这意味着如果3:1比例是正确的，有95%的概率会观察到比孟德尔的数据更大的偏差。换句话说，孟德尔的数据与理论预期拟合得太好了，好到了不太可能自然发生的程度。费舍尔推测了几种可能：（1）孟德尔的助手在计数时，遇到模糊的个体可能无意识地偏向了预期结果；（2）孟德尔可能在报告时选择了更符合预期的数据子集；（3）可能在重复实验中只报告了结果最好的那次。不过，后来的研究者提出了多种辩护：（1）孟德尔可能确实停止了某些实验（如他明确提到某些杂交因花被受损而终止）；（2）费舍尔的统计方法本身也有假设条件；（3）无论数据是否有轻微偏差，孟德尔的核心发现——遗传因子以离散单位传递、遵循特定比例——已经被无数后续实验证实。这个争议提醒我们：科学数据的完美性本身也可能是可疑的，但核心结论的有效性需要由后续独立实验来验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关键术语表：本节课涉及的核心术语。概率（Probability）是数学基础概念；等可能事件是遗传学概率计算的基本假设；乘法法则和加法法则是计算复杂遗传概率的两个基本工具；二项分布描述了多次独立试验的结果分布；卡方检验是验证实验数据与理论预期是否一致的统计方法；自由度是卡方检验中的重要参数；庞尼特方格是直观展示杂交后代基因型频率的工具；组合数用于计算特定基因型出现的概率；显著性水平是统计检验中判断是否拒绝原假设的标准。掌握这些术语是理解遗传学数学分析的基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思考题参考答案提示：第1题：等可能事件假设意味着每个等位基因有相同的概率进入配子（各1/2），这是分离定律的数学基础。如果不等可能（如致死基因），F2比例会偏离3:1。第2题：三对独立基因，A_B_C_概率 = (3/4)^3 = 27/64。表型组合数 = 2^3 = 8种。第3题：E(高)=798, E(矮)=266, chi-sq = (787-798)^2/798 + (277-266)^2/266 = 121/798 + 121/266 = 0.152 + 0.455 = 0.607。0.607 &lt; 3.841，符合3:1。第4题：可能的偏差因素包括：对模糊表型的主观判断、无意识地淘汰异常个体、选择性报告等。第5题：完全连锁时，AaBb 只产生 Ab 和 aB 两种配子（各1/2），F2比例为 1 AAbb : 2 AaBb : 1 aaBB，表型比为 1:2:1（而非9:3:3:1）。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下节预告：Day 012 将探讨孟德尔的失败与被埋没。内容包括：（1）孟德尔晚年用山柳菊（Hieracium）进行杂交实验，但山柳菊是无融合生殖的，不经过正常的减数分裂和受精，因此无法观察到孟德尔比例。这是孟德尔实验的一个重大"失败"。（2）在1866-1900年间，有几位科学家接近了孟德尔的发现，包括奈格里（Nageli）、福克（Focke）等，但他们都没有理解孟德尔工作的意义。（3）1900年，德弗里斯（de Vries）、科伦斯（Correns）和切尔马克（Tschermak）三人独立发现了同样的遗传规律，在文献检索中才发现了孟德尔的前驱工作。（4）探讨孟德尔定律被埋没35年的深层原因。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结束页。本节课我们系统学习了孟德尔遗传学背后的数学基础，包括概率论基础、乘法法则与加法法则、二项分布、单因子和双因子杂交的数学推导、卡方检验等核心内容。通过孟德尔的经典实验数据验证了3:1和9:3:3:1比例，并讨论了费舍尔对孟德尔数据"太完美"的争议。下节课将探讨孟德尔的失败与被埋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2C5F2D"/>
          </a:solidFill>
          <a:ln/>
        </p:spPr>
      </p:sp>
      <p:sp>
        <p:nvSpPr>
          <p:cNvPr id="3" name="Shape 1"/>
          <p:cNvSpPr/>
          <p:nvPr/>
        </p:nvSpPr>
        <p:spPr>
          <a:xfrm>
            <a:off x="7772400" y="457200"/>
            <a:ext cx="1097280" cy="1097280"/>
          </a:xfrm>
          <a:prstGeom prst="ellipse">
            <a:avLst/>
          </a:prstGeom>
          <a:solidFill>
            <a:srgbClr val="97BC62">
              <a:alpha val="70000"/>
            </a:srgbClr>
          </a:solidFill>
          <a:ln/>
        </p:spPr>
      </p:sp>
      <p:sp>
        <p:nvSpPr>
          <p:cNvPr id="4" name="Shape 2"/>
          <p:cNvSpPr/>
          <p:nvPr/>
        </p:nvSpPr>
        <p:spPr>
          <a:xfrm>
            <a:off x="8046720" y="1371600"/>
            <a:ext cx="822960" cy="822960"/>
          </a:xfrm>
          <a:prstGeom prst="ellipse">
            <a:avLst/>
          </a:prstGeom>
          <a:solidFill>
            <a:srgbClr val="D4A843">
              <a:alpha val="60000"/>
            </a:srgbClr>
          </a:solidFill>
          <a:ln/>
        </p:spPr>
      </p:sp>
      <p:sp>
        <p:nvSpPr>
          <p:cNvPr id="5" name="Shape 3"/>
          <p:cNvSpPr/>
          <p:nvPr/>
        </p:nvSpPr>
        <p:spPr>
          <a:xfrm>
            <a:off x="7498080" y="2103120"/>
            <a:ext cx="914400" cy="914400"/>
          </a:xfrm>
          <a:prstGeom prst="ellipse">
            <a:avLst/>
          </a:prstGeom>
          <a:solidFill>
            <a:srgbClr val="2C5F2D">
              <a:alpha val="75000"/>
            </a:srgbClr>
          </a:solidFill>
          <a:ln/>
        </p:spPr>
      </p:sp>
      <p:sp>
        <p:nvSpPr>
          <p:cNvPr id="6" name="Text 4"/>
          <p:cNvSpPr/>
          <p:nvPr/>
        </p:nvSpPr>
        <p:spPr>
          <a:xfrm>
            <a:off x="914400" y="1188720"/>
            <a:ext cx="6400800" cy="914400"/>
          </a:xfrm>
          <a:prstGeom prst="rect">
            <a:avLst/>
          </a:prstGeom>
          <a:noFill/>
          <a:ln/>
        </p:spPr>
        <p:txBody>
          <a:bodyPr wrap="square" rtlCol="0" anchor="ctr"/>
          <a:lstStyle/>
          <a:p>
            <a:pPr indent="0" marL="0">
              <a:buNone/>
            </a:pPr>
            <a:r>
              <a:rPr lang="en-US" sz="4000" b="1" dirty="0">
                <a:solidFill>
                  <a:srgbClr val="2C5F2D"/>
                </a:solidFill>
                <a:latin typeface="Georgia" pitchFamily="34" charset="0"/>
                <a:ea typeface="Georgia" pitchFamily="34" charset="-122"/>
                <a:cs typeface="Georgia" pitchFamily="34" charset="-120"/>
              </a:rPr>
              <a:t>孟德尔定律的数学基础</a:t>
            </a:r>
            <a:endParaRPr lang="en-US" sz="4000" dirty="0"/>
          </a:p>
        </p:txBody>
      </p:sp>
      <p:sp>
        <p:nvSpPr>
          <p:cNvPr id="7" name="Text 5"/>
          <p:cNvSpPr/>
          <p:nvPr/>
        </p:nvSpPr>
        <p:spPr>
          <a:xfrm>
            <a:off x="914400" y="2103120"/>
            <a:ext cx="6400800" cy="548640"/>
          </a:xfrm>
          <a:prstGeom prst="rect">
            <a:avLst/>
          </a:prstGeom>
          <a:noFill/>
          <a:ln/>
        </p:spPr>
        <p:txBody>
          <a:bodyPr wrap="square" rtlCol="0" anchor="ctr"/>
          <a:lstStyle/>
          <a:p>
            <a:pPr indent="0" marL="0">
              <a:buNone/>
            </a:pPr>
            <a:r>
              <a:rPr lang="en-US" sz="2200" i="1" dirty="0">
                <a:solidFill>
                  <a:srgbClr val="6B8E5A"/>
                </a:solidFill>
                <a:latin typeface="Georgia" pitchFamily="34" charset="0"/>
                <a:ea typeface="Georgia" pitchFamily="34" charset="-122"/>
                <a:cs typeface="Georgia" pitchFamily="34" charset="-120"/>
              </a:rPr>
              <a:t>Mathematical Foundations of Mendel's Laws</a:t>
            </a:r>
            <a:endParaRPr lang="en-US" sz="2200" dirty="0"/>
          </a:p>
        </p:txBody>
      </p:sp>
      <p:sp>
        <p:nvSpPr>
          <p:cNvPr id="8" name="Shape 6"/>
          <p:cNvSpPr/>
          <p:nvPr/>
        </p:nvSpPr>
        <p:spPr>
          <a:xfrm>
            <a:off x="914400" y="2834640"/>
            <a:ext cx="2743200" cy="36576"/>
          </a:xfrm>
          <a:prstGeom prst="rect">
            <a:avLst/>
          </a:prstGeom>
          <a:solidFill>
            <a:srgbClr val="D4A843"/>
          </a:solidFill>
          <a:ln/>
        </p:spPr>
      </p:sp>
      <p:sp>
        <p:nvSpPr>
          <p:cNvPr id="9" name="Text 7"/>
          <p:cNvSpPr/>
          <p:nvPr/>
        </p:nvSpPr>
        <p:spPr>
          <a:xfrm>
            <a:off x="914400" y="3017520"/>
            <a:ext cx="5486400" cy="365760"/>
          </a:xfrm>
          <a:prstGeom prst="rect">
            <a:avLst/>
          </a:prstGeom>
          <a:noFill/>
          <a:ln/>
        </p:spPr>
        <p:txBody>
          <a:bodyPr wrap="square" rtlCol="0" anchor="ctr"/>
          <a:lstStyle/>
          <a:p>
            <a:pPr indent="0" marL="0">
              <a:buNone/>
            </a:pPr>
            <a:r>
              <a:rPr lang="en-US" sz="1400" dirty="0">
                <a:solidFill>
                  <a:srgbClr val="2C5F2D"/>
                </a:solidFill>
                <a:latin typeface="Calibri" pitchFamily="34" charset="0"/>
                <a:ea typeface="Calibri" pitchFamily="34" charset="-122"/>
                <a:cs typeface="Calibri" pitchFamily="34" charset="-120"/>
              </a:rPr>
              <a:t>遗传学100天学习计划 | Day 011 / 100</a:t>
            </a:r>
            <a:endParaRPr lang="en-US" sz="1400" dirty="0"/>
          </a:p>
        </p:txBody>
      </p:sp>
      <p:sp>
        <p:nvSpPr>
          <p:cNvPr id="10" name="Text 8"/>
          <p:cNvSpPr/>
          <p:nvPr/>
        </p:nvSpPr>
        <p:spPr>
          <a:xfrm>
            <a:off x="914400" y="3474720"/>
            <a:ext cx="2743200" cy="274320"/>
          </a:xfrm>
          <a:prstGeom prst="rect">
            <a:avLst/>
          </a:prstGeom>
          <a:noFill/>
          <a:ln/>
        </p:spPr>
        <p:txBody>
          <a:bodyPr wrap="square" rtlCol="0" anchor="ctr"/>
          <a:lstStyle/>
          <a:p>
            <a:pPr indent="0" marL="0">
              <a:buNone/>
            </a:pPr>
            <a:r>
              <a:rPr lang="en-US" sz="1200" dirty="0">
                <a:solidFill>
                  <a:srgbClr val="6B8E5A"/>
                </a:solidFill>
                <a:latin typeface="Calibri" pitchFamily="34" charset="0"/>
                <a:ea typeface="Calibri" pitchFamily="34" charset="-122"/>
                <a:cs typeface="Calibri" pitchFamily="34" charset="-120"/>
              </a:rPr>
              <a:t>2026年5月26日</a:t>
            </a:r>
            <a:endParaRPr lang="en-US" sz="1200" dirty="0"/>
          </a:p>
        </p:txBody>
      </p:sp>
      <p:sp>
        <p:nvSpPr>
          <p:cNvPr id="11" name="Text 9"/>
          <p:cNvSpPr/>
          <p:nvPr/>
        </p:nvSpPr>
        <p:spPr>
          <a:xfrm>
            <a:off x="914400" y="3840480"/>
            <a:ext cx="2743200" cy="274320"/>
          </a:xfrm>
          <a:prstGeom prst="rect">
            <a:avLst/>
          </a:prstGeom>
          <a:noFill/>
          <a:ln/>
        </p:spPr>
        <p:txBody>
          <a:bodyPr wrap="square" rtlCol="0" anchor="ctr"/>
          <a:lstStyle/>
          <a:p>
            <a:pPr indent="0" marL="0">
              <a:buNone/>
            </a:pPr>
            <a:r>
              <a:rPr lang="en-US" sz="1100" b="1" dirty="0">
                <a:solidFill>
                  <a:srgbClr val="D4A843"/>
                </a:solidFill>
                <a:latin typeface="Calibri" pitchFamily="34" charset="0"/>
                <a:ea typeface="Calibri" pitchFamily="34" charset="-122"/>
                <a:cs typeface="Calibri" pitchFamily="34" charset="-120"/>
              </a:rPr>
              <a:t>笔记版 · Notes Mode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4A843"/>
          </a:solidFill>
          <a:ln/>
        </p:spPr>
      </p:sp>
      <p:sp>
        <p:nvSpPr>
          <p:cNvPr id="3" name="Text 1"/>
          <p:cNvSpPr/>
          <p:nvPr/>
        </p:nvSpPr>
        <p:spPr>
          <a:xfrm>
            <a:off x="457200" y="228600"/>
            <a:ext cx="8229600" cy="457200"/>
          </a:xfrm>
          <a:prstGeom prst="rect">
            <a:avLst/>
          </a:prstGeom>
          <a:noFill/>
          <a:ln/>
        </p:spPr>
        <p:txBody>
          <a:bodyPr wrap="square" rtlCol="0" anchor="ctr"/>
          <a:lstStyle/>
          <a:p>
            <a:pPr indent="0" marL="0">
              <a:buNone/>
            </a:pPr>
            <a:r>
              <a:rPr lang="en-US" sz="2800" b="1" dirty="0">
                <a:solidFill>
                  <a:srgbClr val="2C5F2D"/>
                </a:solidFill>
                <a:latin typeface="Georgia" pitchFamily="34" charset="0"/>
                <a:ea typeface="Georgia" pitchFamily="34" charset="-122"/>
                <a:cs typeface="Georgia" pitchFamily="34" charset="-120"/>
              </a:rPr>
              <a:t>目录</a:t>
            </a:r>
            <a:endParaRPr lang="en-US" sz="2800" dirty="0"/>
          </a:p>
        </p:txBody>
      </p:sp>
      <p:sp>
        <p:nvSpPr>
          <p:cNvPr id="4" name="Text 2"/>
          <p:cNvSpPr/>
          <p:nvPr/>
        </p:nvSpPr>
        <p:spPr>
          <a:xfrm>
            <a:off x="457200" y="685800"/>
            <a:ext cx="8229600" cy="274320"/>
          </a:xfrm>
          <a:prstGeom prst="rect">
            <a:avLst/>
          </a:prstGeom>
          <a:noFill/>
          <a:ln/>
        </p:spPr>
        <p:txBody>
          <a:bodyPr wrap="square" rtlCol="0" anchor="ctr"/>
          <a:lstStyle/>
          <a:p>
            <a:pPr indent="0" marL="0">
              <a:buNone/>
            </a:pPr>
            <a:r>
              <a:rPr lang="en-US" sz="1400" dirty="0">
                <a:solidFill>
                  <a:srgbClr val="6B8E5A"/>
                </a:solidFill>
                <a:latin typeface="Calibri" pitchFamily="34" charset="0"/>
                <a:ea typeface="Calibri" pitchFamily="34" charset="-122"/>
                <a:cs typeface="Calibri" pitchFamily="34" charset="-120"/>
              </a:rPr>
              <a:t>Agenda</a:t>
            </a:r>
            <a:endParaRPr lang="en-US" sz="1400" dirty="0"/>
          </a:p>
        </p:txBody>
      </p:sp>
      <p:sp>
        <p:nvSpPr>
          <p:cNvPr id="5" name="Shape 3"/>
          <p:cNvSpPr/>
          <p:nvPr/>
        </p:nvSpPr>
        <p:spPr>
          <a:xfrm>
            <a:off x="457200" y="1005840"/>
            <a:ext cx="1371600" cy="36576"/>
          </a:xfrm>
          <a:prstGeom prst="rect">
            <a:avLst/>
          </a:prstGeom>
          <a:solidFill>
            <a:srgbClr val="97BC62"/>
          </a:solidFill>
          <a:ln/>
        </p:spPr>
      </p:sp>
      <p:sp>
        <p:nvSpPr>
          <p:cNvPr id="6" name="Shape 4"/>
          <p:cNvSpPr/>
          <p:nvPr/>
        </p:nvSpPr>
        <p:spPr>
          <a:xfrm>
            <a:off x="457200" y="1280160"/>
            <a:ext cx="274320" cy="274320"/>
          </a:xfrm>
          <a:prstGeom prst="ellipse">
            <a:avLst/>
          </a:prstGeom>
          <a:solidFill>
            <a:srgbClr val="2C5F2D"/>
          </a:solidFill>
          <a:ln/>
        </p:spPr>
      </p:sp>
      <p:sp>
        <p:nvSpPr>
          <p:cNvPr id="7" name="Text 5"/>
          <p:cNvSpPr/>
          <p:nvPr/>
        </p:nvSpPr>
        <p:spPr>
          <a:xfrm>
            <a:off x="457200" y="1280160"/>
            <a:ext cx="274320" cy="27432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01</a:t>
            </a:r>
            <a:endParaRPr lang="en-US" sz="900" dirty="0"/>
          </a:p>
        </p:txBody>
      </p:sp>
      <p:sp>
        <p:nvSpPr>
          <p:cNvPr id="8" name="Text 6"/>
          <p:cNvSpPr/>
          <p:nvPr/>
        </p:nvSpPr>
        <p:spPr>
          <a:xfrm>
            <a:off x="822960" y="1280160"/>
            <a:ext cx="2560320" cy="164592"/>
          </a:xfrm>
          <a:prstGeom prst="rect">
            <a:avLst/>
          </a:prstGeom>
          <a:noFill/>
          <a:ln/>
        </p:spPr>
        <p:txBody>
          <a:bodyPr wrap="square" rtlCol="0" anchor="ctr"/>
          <a:lstStyle/>
          <a:p>
            <a:pPr indent="0" marL="0">
              <a:buNone/>
            </a:pPr>
            <a:r>
              <a:rPr lang="en-US" sz="1200" b="1" dirty="0">
                <a:solidFill>
                  <a:srgbClr val="2C5F2D"/>
                </a:solidFill>
                <a:latin typeface="Calibri" pitchFamily="34" charset="0"/>
                <a:ea typeface="Calibri" pitchFamily="34" charset="-122"/>
                <a:cs typeface="Calibri" pitchFamily="34" charset="-120"/>
              </a:rPr>
              <a:t>历史背景：统计学与数学的萌芽</a:t>
            </a:r>
            <a:endParaRPr lang="en-US" sz="1200" dirty="0"/>
          </a:p>
        </p:txBody>
      </p:sp>
      <p:sp>
        <p:nvSpPr>
          <p:cNvPr id="9" name="Text 7"/>
          <p:cNvSpPr/>
          <p:nvPr/>
        </p:nvSpPr>
        <p:spPr>
          <a:xfrm>
            <a:off x="822960" y="1426464"/>
            <a:ext cx="2560320" cy="146304"/>
          </a:xfrm>
          <a:prstGeom prst="rect">
            <a:avLst/>
          </a:prstGeom>
          <a:noFill/>
          <a:ln/>
        </p:spPr>
        <p:txBody>
          <a:bodyPr wrap="square" rtlCol="0" anchor="ctr"/>
          <a:lstStyle/>
          <a:p>
            <a:pPr indent="0" marL="0">
              <a:buNone/>
            </a:pPr>
            <a:r>
              <a:rPr lang="en-US" sz="900" dirty="0">
                <a:solidFill>
                  <a:srgbClr val="6B8E5A"/>
                </a:solidFill>
                <a:latin typeface="Calibri" pitchFamily="34" charset="0"/>
                <a:ea typeface="Calibri" pitchFamily="34" charset="-122"/>
                <a:cs typeface="Calibri" pitchFamily="34" charset="-120"/>
              </a:rPr>
              <a:t>Historical Background</a:t>
            </a:r>
            <a:endParaRPr lang="en-US" sz="900" dirty="0"/>
          </a:p>
        </p:txBody>
      </p:sp>
      <p:sp>
        <p:nvSpPr>
          <p:cNvPr id="10" name="Shape 8"/>
          <p:cNvSpPr/>
          <p:nvPr/>
        </p:nvSpPr>
        <p:spPr>
          <a:xfrm>
            <a:off x="4846320" y="1280160"/>
            <a:ext cx="274320" cy="274320"/>
          </a:xfrm>
          <a:prstGeom prst="ellipse">
            <a:avLst/>
          </a:prstGeom>
          <a:solidFill>
            <a:srgbClr val="2C5F2D"/>
          </a:solidFill>
          <a:ln/>
        </p:spPr>
      </p:sp>
      <p:sp>
        <p:nvSpPr>
          <p:cNvPr id="11" name="Text 9"/>
          <p:cNvSpPr/>
          <p:nvPr/>
        </p:nvSpPr>
        <p:spPr>
          <a:xfrm>
            <a:off x="4846320" y="1280160"/>
            <a:ext cx="274320" cy="27432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02</a:t>
            </a:r>
            <a:endParaRPr lang="en-US" sz="900" dirty="0"/>
          </a:p>
        </p:txBody>
      </p:sp>
      <p:sp>
        <p:nvSpPr>
          <p:cNvPr id="12" name="Text 10"/>
          <p:cNvSpPr/>
          <p:nvPr/>
        </p:nvSpPr>
        <p:spPr>
          <a:xfrm>
            <a:off x="5212080" y="1280160"/>
            <a:ext cx="2560320" cy="164592"/>
          </a:xfrm>
          <a:prstGeom prst="rect">
            <a:avLst/>
          </a:prstGeom>
          <a:noFill/>
          <a:ln/>
        </p:spPr>
        <p:txBody>
          <a:bodyPr wrap="square" rtlCol="0" anchor="ctr"/>
          <a:lstStyle/>
          <a:p>
            <a:pPr indent="0" marL="0">
              <a:buNone/>
            </a:pPr>
            <a:r>
              <a:rPr lang="en-US" sz="1200" b="1" dirty="0">
                <a:solidFill>
                  <a:srgbClr val="2C5F2D"/>
                </a:solidFill>
                <a:latin typeface="Calibri" pitchFamily="34" charset="0"/>
                <a:ea typeface="Calibri" pitchFamily="34" charset="-122"/>
                <a:cs typeface="Calibri" pitchFamily="34" charset="-120"/>
              </a:rPr>
              <a:t>孟德尔的数学训练</a:t>
            </a:r>
            <a:endParaRPr lang="en-US" sz="1200" dirty="0"/>
          </a:p>
        </p:txBody>
      </p:sp>
      <p:sp>
        <p:nvSpPr>
          <p:cNvPr id="13" name="Text 11"/>
          <p:cNvSpPr/>
          <p:nvPr/>
        </p:nvSpPr>
        <p:spPr>
          <a:xfrm>
            <a:off x="5212080" y="1426464"/>
            <a:ext cx="2560320" cy="146304"/>
          </a:xfrm>
          <a:prstGeom prst="rect">
            <a:avLst/>
          </a:prstGeom>
          <a:noFill/>
          <a:ln/>
        </p:spPr>
        <p:txBody>
          <a:bodyPr wrap="square" rtlCol="0" anchor="ctr"/>
          <a:lstStyle/>
          <a:p>
            <a:pPr indent="0" marL="0">
              <a:buNone/>
            </a:pPr>
            <a:r>
              <a:rPr lang="en-US" sz="900" dirty="0">
                <a:solidFill>
                  <a:srgbClr val="6B8E5A"/>
                </a:solidFill>
                <a:latin typeface="Calibri" pitchFamily="34" charset="0"/>
                <a:ea typeface="Calibri" pitchFamily="34" charset="-122"/>
                <a:cs typeface="Calibri" pitchFamily="34" charset="-120"/>
              </a:rPr>
              <a:t>Mendel's Mathematical Training</a:t>
            </a:r>
            <a:endParaRPr lang="en-US" sz="900" dirty="0"/>
          </a:p>
        </p:txBody>
      </p:sp>
      <p:sp>
        <p:nvSpPr>
          <p:cNvPr id="14" name="Shape 12"/>
          <p:cNvSpPr/>
          <p:nvPr/>
        </p:nvSpPr>
        <p:spPr>
          <a:xfrm>
            <a:off x="457200" y="1664208"/>
            <a:ext cx="274320" cy="274320"/>
          </a:xfrm>
          <a:prstGeom prst="ellipse">
            <a:avLst/>
          </a:prstGeom>
          <a:solidFill>
            <a:srgbClr val="2C5F2D"/>
          </a:solidFill>
          <a:ln/>
        </p:spPr>
      </p:sp>
      <p:sp>
        <p:nvSpPr>
          <p:cNvPr id="15" name="Text 13"/>
          <p:cNvSpPr/>
          <p:nvPr/>
        </p:nvSpPr>
        <p:spPr>
          <a:xfrm>
            <a:off x="457200" y="1664208"/>
            <a:ext cx="274320" cy="27432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03</a:t>
            </a:r>
            <a:endParaRPr lang="en-US" sz="900" dirty="0"/>
          </a:p>
        </p:txBody>
      </p:sp>
      <p:sp>
        <p:nvSpPr>
          <p:cNvPr id="16" name="Text 14"/>
          <p:cNvSpPr/>
          <p:nvPr/>
        </p:nvSpPr>
        <p:spPr>
          <a:xfrm>
            <a:off x="822960" y="1664208"/>
            <a:ext cx="2560320" cy="164592"/>
          </a:xfrm>
          <a:prstGeom prst="rect">
            <a:avLst/>
          </a:prstGeom>
          <a:noFill/>
          <a:ln/>
        </p:spPr>
        <p:txBody>
          <a:bodyPr wrap="square" rtlCol="0" anchor="ctr"/>
          <a:lstStyle/>
          <a:p>
            <a:pPr indent="0" marL="0">
              <a:buNone/>
            </a:pPr>
            <a:r>
              <a:rPr lang="en-US" sz="1200" b="1" dirty="0">
                <a:solidFill>
                  <a:srgbClr val="2C5F2D"/>
                </a:solidFill>
                <a:latin typeface="Calibri" pitchFamily="34" charset="0"/>
                <a:ea typeface="Calibri" pitchFamily="34" charset="-122"/>
                <a:cs typeface="Calibri" pitchFamily="34" charset="-120"/>
              </a:rPr>
              <a:t>概率论基础</a:t>
            </a:r>
            <a:endParaRPr lang="en-US" sz="1200" dirty="0"/>
          </a:p>
        </p:txBody>
      </p:sp>
      <p:sp>
        <p:nvSpPr>
          <p:cNvPr id="17" name="Text 15"/>
          <p:cNvSpPr/>
          <p:nvPr/>
        </p:nvSpPr>
        <p:spPr>
          <a:xfrm>
            <a:off x="822960" y="1810512"/>
            <a:ext cx="2560320" cy="146304"/>
          </a:xfrm>
          <a:prstGeom prst="rect">
            <a:avLst/>
          </a:prstGeom>
          <a:noFill/>
          <a:ln/>
        </p:spPr>
        <p:txBody>
          <a:bodyPr wrap="square" rtlCol="0" anchor="ctr"/>
          <a:lstStyle/>
          <a:p>
            <a:pPr indent="0" marL="0">
              <a:buNone/>
            </a:pPr>
            <a:r>
              <a:rPr lang="en-US" sz="900" dirty="0">
                <a:solidFill>
                  <a:srgbClr val="6B8E5A"/>
                </a:solidFill>
                <a:latin typeface="Calibri" pitchFamily="34" charset="0"/>
                <a:ea typeface="Calibri" pitchFamily="34" charset="-122"/>
                <a:cs typeface="Calibri" pitchFamily="34" charset="-120"/>
              </a:rPr>
              <a:t>Probability Fundamentals</a:t>
            </a:r>
            <a:endParaRPr lang="en-US" sz="900" dirty="0"/>
          </a:p>
        </p:txBody>
      </p:sp>
      <p:sp>
        <p:nvSpPr>
          <p:cNvPr id="18" name="Shape 16"/>
          <p:cNvSpPr/>
          <p:nvPr/>
        </p:nvSpPr>
        <p:spPr>
          <a:xfrm>
            <a:off x="4846320" y="1664208"/>
            <a:ext cx="274320" cy="274320"/>
          </a:xfrm>
          <a:prstGeom prst="ellipse">
            <a:avLst/>
          </a:prstGeom>
          <a:solidFill>
            <a:srgbClr val="2C5F2D"/>
          </a:solidFill>
          <a:ln/>
        </p:spPr>
      </p:sp>
      <p:sp>
        <p:nvSpPr>
          <p:cNvPr id="19" name="Text 17"/>
          <p:cNvSpPr/>
          <p:nvPr/>
        </p:nvSpPr>
        <p:spPr>
          <a:xfrm>
            <a:off x="4846320" y="1664208"/>
            <a:ext cx="274320" cy="27432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04</a:t>
            </a:r>
            <a:endParaRPr lang="en-US" sz="900" dirty="0"/>
          </a:p>
        </p:txBody>
      </p:sp>
      <p:sp>
        <p:nvSpPr>
          <p:cNvPr id="20" name="Text 18"/>
          <p:cNvSpPr/>
          <p:nvPr/>
        </p:nvSpPr>
        <p:spPr>
          <a:xfrm>
            <a:off x="5212080" y="1664208"/>
            <a:ext cx="2560320" cy="164592"/>
          </a:xfrm>
          <a:prstGeom prst="rect">
            <a:avLst/>
          </a:prstGeom>
          <a:noFill/>
          <a:ln/>
        </p:spPr>
        <p:txBody>
          <a:bodyPr wrap="square" rtlCol="0" anchor="ctr"/>
          <a:lstStyle/>
          <a:p>
            <a:pPr indent="0" marL="0">
              <a:buNone/>
            </a:pPr>
            <a:r>
              <a:rPr lang="en-US" sz="1200" b="1" dirty="0">
                <a:solidFill>
                  <a:srgbClr val="2C5F2D"/>
                </a:solidFill>
                <a:latin typeface="Calibri" pitchFamily="34" charset="0"/>
                <a:ea typeface="Calibri" pitchFamily="34" charset="-122"/>
                <a:cs typeface="Calibri" pitchFamily="34" charset="-120"/>
              </a:rPr>
              <a:t>乘法法则与加法法则</a:t>
            </a:r>
            <a:endParaRPr lang="en-US" sz="1200" dirty="0"/>
          </a:p>
        </p:txBody>
      </p:sp>
      <p:sp>
        <p:nvSpPr>
          <p:cNvPr id="21" name="Text 19"/>
          <p:cNvSpPr/>
          <p:nvPr/>
        </p:nvSpPr>
        <p:spPr>
          <a:xfrm>
            <a:off x="5212080" y="1810512"/>
            <a:ext cx="2560320" cy="146304"/>
          </a:xfrm>
          <a:prstGeom prst="rect">
            <a:avLst/>
          </a:prstGeom>
          <a:noFill/>
          <a:ln/>
        </p:spPr>
        <p:txBody>
          <a:bodyPr wrap="square" rtlCol="0" anchor="ctr"/>
          <a:lstStyle/>
          <a:p>
            <a:pPr indent="0" marL="0">
              <a:buNone/>
            </a:pPr>
            <a:r>
              <a:rPr lang="en-US" sz="900" dirty="0">
                <a:solidFill>
                  <a:srgbClr val="6B8E5A"/>
                </a:solidFill>
                <a:latin typeface="Calibri" pitchFamily="34" charset="0"/>
                <a:ea typeface="Calibri" pitchFamily="34" charset="-122"/>
                <a:cs typeface="Calibri" pitchFamily="34" charset="-120"/>
              </a:rPr>
              <a:t>Product &amp; Sum Rules</a:t>
            </a:r>
            <a:endParaRPr lang="en-US" sz="900" dirty="0"/>
          </a:p>
        </p:txBody>
      </p:sp>
      <p:sp>
        <p:nvSpPr>
          <p:cNvPr id="22" name="Shape 20"/>
          <p:cNvSpPr/>
          <p:nvPr/>
        </p:nvSpPr>
        <p:spPr>
          <a:xfrm>
            <a:off x="457200" y="2048256"/>
            <a:ext cx="274320" cy="274320"/>
          </a:xfrm>
          <a:prstGeom prst="ellipse">
            <a:avLst/>
          </a:prstGeom>
          <a:solidFill>
            <a:srgbClr val="2C5F2D"/>
          </a:solidFill>
          <a:ln/>
        </p:spPr>
      </p:sp>
      <p:sp>
        <p:nvSpPr>
          <p:cNvPr id="23" name="Text 21"/>
          <p:cNvSpPr/>
          <p:nvPr/>
        </p:nvSpPr>
        <p:spPr>
          <a:xfrm>
            <a:off x="457200" y="2048256"/>
            <a:ext cx="274320" cy="27432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05</a:t>
            </a:r>
            <a:endParaRPr lang="en-US" sz="900" dirty="0"/>
          </a:p>
        </p:txBody>
      </p:sp>
      <p:sp>
        <p:nvSpPr>
          <p:cNvPr id="24" name="Text 22"/>
          <p:cNvSpPr/>
          <p:nvPr/>
        </p:nvSpPr>
        <p:spPr>
          <a:xfrm>
            <a:off x="822960" y="2048256"/>
            <a:ext cx="2560320" cy="164592"/>
          </a:xfrm>
          <a:prstGeom prst="rect">
            <a:avLst/>
          </a:prstGeom>
          <a:noFill/>
          <a:ln/>
        </p:spPr>
        <p:txBody>
          <a:bodyPr wrap="square" rtlCol="0" anchor="ctr"/>
          <a:lstStyle/>
          <a:p>
            <a:pPr indent="0" marL="0">
              <a:buNone/>
            </a:pPr>
            <a:r>
              <a:rPr lang="en-US" sz="1200" b="1" dirty="0">
                <a:solidFill>
                  <a:srgbClr val="2C5F2D"/>
                </a:solidFill>
                <a:latin typeface="Calibri" pitchFamily="34" charset="0"/>
                <a:ea typeface="Calibri" pitchFamily="34" charset="-122"/>
                <a:cs typeface="Calibri" pitchFamily="34" charset="-120"/>
              </a:rPr>
              <a:t>二项分布与孟德尔比例</a:t>
            </a:r>
            <a:endParaRPr lang="en-US" sz="1200" dirty="0"/>
          </a:p>
        </p:txBody>
      </p:sp>
      <p:sp>
        <p:nvSpPr>
          <p:cNvPr id="25" name="Text 23"/>
          <p:cNvSpPr/>
          <p:nvPr/>
        </p:nvSpPr>
        <p:spPr>
          <a:xfrm>
            <a:off x="822960" y="2194560"/>
            <a:ext cx="2560320" cy="146304"/>
          </a:xfrm>
          <a:prstGeom prst="rect">
            <a:avLst/>
          </a:prstGeom>
          <a:noFill/>
          <a:ln/>
        </p:spPr>
        <p:txBody>
          <a:bodyPr wrap="square" rtlCol="0" anchor="ctr"/>
          <a:lstStyle/>
          <a:p>
            <a:pPr indent="0" marL="0">
              <a:buNone/>
            </a:pPr>
            <a:r>
              <a:rPr lang="en-US" sz="900" dirty="0">
                <a:solidFill>
                  <a:srgbClr val="6B8E5A"/>
                </a:solidFill>
                <a:latin typeface="Calibri" pitchFamily="34" charset="0"/>
                <a:ea typeface="Calibri" pitchFamily="34" charset="-122"/>
                <a:cs typeface="Calibri" pitchFamily="34" charset="-120"/>
              </a:rPr>
              <a:t>Binomial Distribution</a:t>
            </a:r>
            <a:endParaRPr lang="en-US" sz="900" dirty="0"/>
          </a:p>
        </p:txBody>
      </p:sp>
      <p:sp>
        <p:nvSpPr>
          <p:cNvPr id="26" name="Shape 24"/>
          <p:cNvSpPr/>
          <p:nvPr/>
        </p:nvSpPr>
        <p:spPr>
          <a:xfrm>
            <a:off x="4846320" y="2048256"/>
            <a:ext cx="274320" cy="274320"/>
          </a:xfrm>
          <a:prstGeom prst="ellipse">
            <a:avLst/>
          </a:prstGeom>
          <a:solidFill>
            <a:srgbClr val="2C5F2D"/>
          </a:solidFill>
          <a:ln/>
        </p:spPr>
      </p:sp>
      <p:sp>
        <p:nvSpPr>
          <p:cNvPr id="27" name="Text 25"/>
          <p:cNvSpPr/>
          <p:nvPr/>
        </p:nvSpPr>
        <p:spPr>
          <a:xfrm>
            <a:off x="4846320" y="2048256"/>
            <a:ext cx="274320" cy="27432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06</a:t>
            </a:r>
            <a:endParaRPr lang="en-US" sz="900" dirty="0"/>
          </a:p>
        </p:txBody>
      </p:sp>
      <p:sp>
        <p:nvSpPr>
          <p:cNvPr id="28" name="Text 26"/>
          <p:cNvSpPr/>
          <p:nvPr/>
        </p:nvSpPr>
        <p:spPr>
          <a:xfrm>
            <a:off x="5212080" y="2048256"/>
            <a:ext cx="2560320" cy="164592"/>
          </a:xfrm>
          <a:prstGeom prst="rect">
            <a:avLst/>
          </a:prstGeom>
          <a:noFill/>
          <a:ln/>
        </p:spPr>
        <p:txBody>
          <a:bodyPr wrap="square" rtlCol="0" anchor="ctr"/>
          <a:lstStyle/>
          <a:p>
            <a:pPr indent="0" marL="0">
              <a:buNone/>
            </a:pPr>
            <a:r>
              <a:rPr lang="en-US" sz="1200" b="1" dirty="0">
                <a:solidFill>
                  <a:srgbClr val="2C5F2D"/>
                </a:solidFill>
                <a:latin typeface="Calibri" pitchFamily="34" charset="0"/>
                <a:ea typeface="Calibri" pitchFamily="34" charset="-122"/>
                <a:cs typeface="Calibri" pitchFamily="34" charset="-120"/>
              </a:rPr>
              <a:t>单因子杂交数学推导</a:t>
            </a:r>
            <a:endParaRPr lang="en-US" sz="1200" dirty="0"/>
          </a:p>
        </p:txBody>
      </p:sp>
      <p:sp>
        <p:nvSpPr>
          <p:cNvPr id="29" name="Text 27"/>
          <p:cNvSpPr/>
          <p:nvPr/>
        </p:nvSpPr>
        <p:spPr>
          <a:xfrm>
            <a:off x="5212080" y="2194560"/>
            <a:ext cx="2560320" cy="146304"/>
          </a:xfrm>
          <a:prstGeom prst="rect">
            <a:avLst/>
          </a:prstGeom>
          <a:noFill/>
          <a:ln/>
        </p:spPr>
        <p:txBody>
          <a:bodyPr wrap="square" rtlCol="0" anchor="ctr"/>
          <a:lstStyle/>
          <a:p>
            <a:pPr indent="0" marL="0">
              <a:buNone/>
            </a:pPr>
            <a:r>
              <a:rPr lang="en-US" sz="900" dirty="0">
                <a:solidFill>
                  <a:srgbClr val="6B8E5A"/>
                </a:solidFill>
                <a:latin typeface="Calibri" pitchFamily="34" charset="0"/>
                <a:ea typeface="Calibri" pitchFamily="34" charset="-122"/>
                <a:cs typeface="Calibri" pitchFamily="34" charset="-120"/>
              </a:rPr>
              <a:t>Monohybrid Derivation</a:t>
            </a:r>
            <a:endParaRPr lang="en-US" sz="900" dirty="0"/>
          </a:p>
        </p:txBody>
      </p:sp>
      <p:sp>
        <p:nvSpPr>
          <p:cNvPr id="30" name="Shape 28"/>
          <p:cNvSpPr/>
          <p:nvPr/>
        </p:nvSpPr>
        <p:spPr>
          <a:xfrm>
            <a:off x="457200" y="2432304"/>
            <a:ext cx="274320" cy="274320"/>
          </a:xfrm>
          <a:prstGeom prst="ellipse">
            <a:avLst/>
          </a:prstGeom>
          <a:solidFill>
            <a:srgbClr val="2C5F2D"/>
          </a:solidFill>
          <a:ln/>
        </p:spPr>
      </p:sp>
      <p:sp>
        <p:nvSpPr>
          <p:cNvPr id="31" name="Text 29"/>
          <p:cNvSpPr/>
          <p:nvPr/>
        </p:nvSpPr>
        <p:spPr>
          <a:xfrm>
            <a:off x="457200" y="2432304"/>
            <a:ext cx="274320" cy="27432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07</a:t>
            </a:r>
            <a:endParaRPr lang="en-US" sz="900" dirty="0"/>
          </a:p>
        </p:txBody>
      </p:sp>
      <p:sp>
        <p:nvSpPr>
          <p:cNvPr id="32" name="Text 30"/>
          <p:cNvSpPr/>
          <p:nvPr/>
        </p:nvSpPr>
        <p:spPr>
          <a:xfrm>
            <a:off x="822960" y="2432304"/>
            <a:ext cx="2560320" cy="164592"/>
          </a:xfrm>
          <a:prstGeom prst="rect">
            <a:avLst/>
          </a:prstGeom>
          <a:noFill/>
          <a:ln/>
        </p:spPr>
        <p:txBody>
          <a:bodyPr wrap="square" rtlCol="0" anchor="ctr"/>
          <a:lstStyle/>
          <a:p>
            <a:pPr indent="0" marL="0">
              <a:buNone/>
            </a:pPr>
            <a:r>
              <a:rPr lang="en-US" sz="1200" b="1" dirty="0">
                <a:solidFill>
                  <a:srgbClr val="2C5F2D"/>
                </a:solidFill>
                <a:latin typeface="Calibri" pitchFamily="34" charset="0"/>
                <a:ea typeface="Calibri" pitchFamily="34" charset="-122"/>
                <a:cs typeface="Calibri" pitchFamily="34" charset="-120"/>
              </a:rPr>
              <a:t>双因子杂交数学推导</a:t>
            </a:r>
            <a:endParaRPr lang="en-US" sz="1200" dirty="0"/>
          </a:p>
        </p:txBody>
      </p:sp>
      <p:sp>
        <p:nvSpPr>
          <p:cNvPr id="33" name="Text 31"/>
          <p:cNvSpPr/>
          <p:nvPr/>
        </p:nvSpPr>
        <p:spPr>
          <a:xfrm>
            <a:off x="822960" y="2578608"/>
            <a:ext cx="2560320" cy="146304"/>
          </a:xfrm>
          <a:prstGeom prst="rect">
            <a:avLst/>
          </a:prstGeom>
          <a:noFill/>
          <a:ln/>
        </p:spPr>
        <p:txBody>
          <a:bodyPr wrap="square" rtlCol="0" anchor="ctr"/>
          <a:lstStyle/>
          <a:p>
            <a:pPr indent="0" marL="0">
              <a:buNone/>
            </a:pPr>
            <a:r>
              <a:rPr lang="en-US" sz="900" dirty="0">
                <a:solidFill>
                  <a:srgbClr val="6B8E5A"/>
                </a:solidFill>
                <a:latin typeface="Calibri" pitchFamily="34" charset="0"/>
                <a:ea typeface="Calibri" pitchFamily="34" charset="-122"/>
                <a:cs typeface="Calibri" pitchFamily="34" charset="-120"/>
              </a:rPr>
              <a:t>Dihybrid Derivation</a:t>
            </a:r>
            <a:endParaRPr lang="en-US" sz="900" dirty="0"/>
          </a:p>
        </p:txBody>
      </p:sp>
      <p:sp>
        <p:nvSpPr>
          <p:cNvPr id="34" name="Shape 32"/>
          <p:cNvSpPr/>
          <p:nvPr/>
        </p:nvSpPr>
        <p:spPr>
          <a:xfrm>
            <a:off x="4846320" y="2432304"/>
            <a:ext cx="274320" cy="274320"/>
          </a:xfrm>
          <a:prstGeom prst="ellipse">
            <a:avLst/>
          </a:prstGeom>
          <a:solidFill>
            <a:srgbClr val="2C5F2D"/>
          </a:solidFill>
          <a:ln/>
        </p:spPr>
      </p:sp>
      <p:sp>
        <p:nvSpPr>
          <p:cNvPr id="35" name="Text 33"/>
          <p:cNvSpPr/>
          <p:nvPr/>
        </p:nvSpPr>
        <p:spPr>
          <a:xfrm>
            <a:off x="4846320" y="2432304"/>
            <a:ext cx="274320" cy="27432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08</a:t>
            </a:r>
            <a:endParaRPr lang="en-US" sz="900" dirty="0"/>
          </a:p>
        </p:txBody>
      </p:sp>
      <p:sp>
        <p:nvSpPr>
          <p:cNvPr id="36" name="Text 34"/>
          <p:cNvSpPr/>
          <p:nvPr/>
        </p:nvSpPr>
        <p:spPr>
          <a:xfrm>
            <a:off x="5212080" y="2432304"/>
            <a:ext cx="2560320" cy="164592"/>
          </a:xfrm>
          <a:prstGeom prst="rect">
            <a:avLst/>
          </a:prstGeom>
          <a:noFill/>
          <a:ln/>
        </p:spPr>
        <p:txBody>
          <a:bodyPr wrap="square" rtlCol="0" anchor="ctr"/>
          <a:lstStyle/>
          <a:p>
            <a:pPr indent="0" marL="0">
              <a:buNone/>
            </a:pPr>
            <a:r>
              <a:rPr lang="en-US" sz="1200" b="1" dirty="0">
                <a:solidFill>
                  <a:srgbClr val="2C5F2D"/>
                </a:solidFill>
                <a:latin typeface="Calibri" pitchFamily="34" charset="0"/>
                <a:ea typeface="Calibri" pitchFamily="34" charset="-122"/>
                <a:cs typeface="Calibri" pitchFamily="34" charset="-120"/>
              </a:rPr>
              <a:t>卡方检验</a:t>
            </a:r>
            <a:endParaRPr lang="en-US" sz="1200" dirty="0"/>
          </a:p>
        </p:txBody>
      </p:sp>
      <p:sp>
        <p:nvSpPr>
          <p:cNvPr id="37" name="Text 35"/>
          <p:cNvSpPr/>
          <p:nvPr/>
        </p:nvSpPr>
        <p:spPr>
          <a:xfrm>
            <a:off x="5212080" y="2578608"/>
            <a:ext cx="2560320" cy="146304"/>
          </a:xfrm>
          <a:prstGeom prst="rect">
            <a:avLst/>
          </a:prstGeom>
          <a:noFill/>
          <a:ln/>
        </p:spPr>
        <p:txBody>
          <a:bodyPr wrap="square" rtlCol="0" anchor="ctr"/>
          <a:lstStyle/>
          <a:p>
            <a:pPr indent="0" marL="0">
              <a:buNone/>
            </a:pPr>
            <a:r>
              <a:rPr lang="en-US" sz="900" dirty="0">
                <a:solidFill>
                  <a:srgbClr val="6B8E5A"/>
                </a:solidFill>
                <a:latin typeface="Calibri" pitchFamily="34" charset="0"/>
                <a:ea typeface="Calibri" pitchFamily="34" charset="-122"/>
                <a:cs typeface="Calibri" pitchFamily="34" charset="-120"/>
              </a:rPr>
              <a:t>Chi-Square Test</a:t>
            </a:r>
            <a:endParaRPr lang="en-US" sz="900" dirty="0"/>
          </a:p>
        </p:txBody>
      </p:sp>
      <p:sp>
        <p:nvSpPr>
          <p:cNvPr id="38" name="Shape 36"/>
          <p:cNvSpPr/>
          <p:nvPr/>
        </p:nvSpPr>
        <p:spPr>
          <a:xfrm>
            <a:off x="457200" y="2816352"/>
            <a:ext cx="274320" cy="274320"/>
          </a:xfrm>
          <a:prstGeom prst="ellipse">
            <a:avLst/>
          </a:prstGeom>
          <a:solidFill>
            <a:srgbClr val="2C5F2D"/>
          </a:solidFill>
          <a:ln/>
        </p:spPr>
      </p:sp>
      <p:sp>
        <p:nvSpPr>
          <p:cNvPr id="39" name="Text 37"/>
          <p:cNvSpPr/>
          <p:nvPr/>
        </p:nvSpPr>
        <p:spPr>
          <a:xfrm>
            <a:off x="457200" y="2816352"/>
            <a:ext cx="274320" cy="27432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09</a:t>
            </a:r>
            <a:endParaRPr lang="en-US" sz="900" dirty="0"/>
          </a:p>
        </p:txBody>
      </p:sp>
      <p:sp>
        <p:nvSpPr>
          <p:cNvPr id="40" name="Text 38"/>
          <p:cNvSpPr/>
          <p:nvPr/>
        </p:nvSpPr>
        <p:spPr>
          <a:xfrm>
            <a:off x="822960" y="2816352"/>
            <a:ext cx="2560320" cy="164592"/>
          </a:xfrm>
          <a:prstGeom prst="rect">
            <a:avLst/>
          </a:prstGeom>
          <a:noFill/>
          <a:ln/>
        </p:spPr>
        <p:txBody>
          <a:bodyPr wrap="square" rtlCol="0" anchor="ctr"/>
          <a:lstStyle/>
          <a:p>
            <a:pPr indent="0" marL="0">
              <a:buNone/>
            </a:pPr>
            <a:r>
              <a:rPr lang="en-US" sz="1200" b="1" dirty="0">
                <a:solidFill>
                  <a:srgbClr val="2C5F2D"/>
                </a:solidFill>
                <a:latin typeface="Calibri" pitchFamily="34" charset="0"/>
                <a:ea typeface="Calibri" pitchFamily="34" charset="-122"/>
                <a:cs typeface="Calibri" pitchFamily="34" charset="-120"/>
              </a:rPr>
              <a:t>经典实验数据验证</a:t>
            </a:r>
            <a:endParaRPr lang="en-US" sz="1200" dirty="0"/>
          </a:p>
        </p:txBody>
      </p:sp>
      <p:sp>
        <p:nvSpPr>
          <p:cNvPr id="41" name="Text 39"/>
          <p:cNvSpPr/>
          <p:nvPr/>
        </p:nvSpPr>
        <p:spPr>
          <a:xfrm>
            <a:off x="822960" y="2962656"/>
            <a:ext cx="2560320" cy="146304"/>
          </a:xfrm>
          <a:prstGeom prst="rect">
            <a:avLst/>
          </a:prstGeom>
          <a:noFill/>
          <a:ln/>
        </p:spPr>
        <p:txBody>
          <a:bodyPr wrap="square" rtlCol="0" anchor="ctr"/>
          <a:lstStyle/>
          <a:p>
            <a:pPr indent="0" marL="0">
              <a:buNone/>
            </a:pPr>
            <a:r>
              <a:rPr lang="en-US" sz="900" dirty="0">
                <a:solidFill>
                  <a:srgbClr val="6B8E5A"/>
                </a:solidFill>
                <a:latin typeface="Calibri" pitchFamily="34" charset="0"/>
                <a:ea typeface="Calibri" pitchFamily="34" charset="-122"/>
                <a:cs typeface="Calibri" pitchFamily="34" charset="-120"/>
              </a:rPr>
              <a:t>Experimental Verification</a:t>
            </a:r>
            <a:endParaRPr lang="en-US" sz="900" dirty="0"/>
          </a:p>
        </p:txBody>
      </p:sp>
      <p:sp>
        <p:nvSpPr>
          <p:cNvPr id="42" name="Shape 40"/>
          <p:cNvSpPr/>
          <p:nvPr/>
        </p:nvSpPr>
        <p:spPr>
          <a:xfrm>
            <a:off x="4846320" y="2816352"/>
            <a:ext cx="274320" cy="274320"/>
          </a:xfrm>
          <a:prstGeom prst="ellipse">
            <a:avLst/>
          </a:prstGeom>
          <a:solidFill>
            <a:srgbClr val="2C5F2D"/>
          </a:solidFill>
          <a:ln/>
        </p:spPr>
      </p:sp>
      <p:sp>
        <p:nvSpPr>
          <p:cNvPr id="43" name="Text 41"/>
          <p:cNvSpPr/>
          <p:nvPr/>
        </p:nvSpPr>
        <p:spPr>
          <a:xfrm>
            <a:off x="4846320" y="2816352"/>
            <a:ext cx="274320" cy="27432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10</a:t>
            </a:r>
            <a:endParaRPr lang="en-US" sz="900" dirty="0"/>
          </a:p>
        </p:txBody>
      </p:sp>
      <p:sp>
        <p:nvSpPr>
          <p:cNvPr id="44" name="Text 42"/>
          <p:cNvSpPr/>
          <p:nvPr/>
        </p:nvSpPr>
        <p:spPr>
          <a:xfrm>
            <a:off x="5212080" y="2816352"/>
            <a:ext cx="2560320" cy="164592"/>
          </a:xfrm>
          <a:prstGeom prst="rect">
            <a:avLst/>
          </a:prstGeom>
          <a:noFill/>
          <a:ln/>
        </p:spPr>
        <p:txBody>
          <a:bodyPr wrap="square" rtlCol="0" anchor="ctr"/>
          <a:lstStyle/>
          <a:p>
            <a:pPr indent="0" marL="0">
              <a:buNone/>
            </a:pPr>
            <a:r>
              <a:rPr lang="en-US" sz="1200" b="1" dirty="0">
                <a:solidFill>
                  <a:srgbClr val="2C5F2D"/>
                </a:solidFill>
                <a:latin typeface="Calibri" pitchFamily="34" charset="0"/>
                <a:ea typeface="Calibri" pitchFamily="34" charset="-122"/>
                <a:cs typeface="Calibri" pitchFamily="34" charset="-120"/>
              </a:rPr>
              <a:t>思考题与总结</a:t>
            </a:r>
            <a:endParaRPr lang="en-US" sz="1200" dirty="0"/>
          </a:p>
        </p:txBody>
      </p:sp>
      <p:sp>
        <p:nvSpPr>
          <p:cNvPr id="45" name="Text 43"/>
          <p:cNvSpPr/>
          <p:nvPr/>
        </p:nvSpPr>
        <p:spPr>
          <a:xfrm>
            <a:off x="5212080" y="2962656"/>
            <a:ext cx="2560320" cy="146304"/>
          </a:xfrm>
          <a:prstGeom prst="rect">
            <a:avLst/>
          </a:prstGeom>
          <a:noFill/>
          <a:ln/>
        </p:spPr>
        <p:txBody>
          <a:bodyPr wrap="square" rtlCol="0" anchor="ctr"/>
          <a:lstStyle/>
          <a:p>
            <a:pPr indent="0" marL="0">
              <a:buNone/>
            </a:pPr>
            <a:r>
              <a:rPr lang="en-US" sz="900" dirty="0">
                <a:solidFill>
                  <a:srgbClr val="6B8E5A"/>
                </a:solidFill>
                <a:latin typeface="Calibri" pitchFamily="34" charset="0"/>
                <a:ea typeface="Calibri" pitchFamily="34" charset="-122"/>
                <a:cs typeface="Calibri" pitchFamily="34" charset="-120"/>
              </a:rPr>
              <a:t>Review &amp; Summary</a:t>
            </a:r>
            <a:endParaRPr lang="en-US" sz="900" dirty="0"/>
          </a:p>
        </p:txBody>
      </p:sp>
      <p:sp>
        <p:nvSpPr>
          <p:cNvPr id="46" name="Text 44"/>
          <p:cNvSpPr/>
          <p:nvPr/>
        </p:nvSpPr>
        <p:spPr>
          <a:xfrm>
            <a:off x="8046720" y="4777740"/>
            <a:ext cx="914400" cy="274320"/>
          </a:xfrm>
          <a:prstGeom prst="rect">
            <a:avLst/>
          </a:prstGeom>
          <a:noFill/>
          <a:ln/>
        </p:spPr>
        <p:txBody>
          <a:bodyPr wrap="square" rtlCol="0" anchor="ctr"/>
          <a:lstStyle/>
          <a:p>
            <a:pPr algn="r" indent="0" marL="0">
              <a:buNone/>
            </a:pPr>
            <a:r>
              <a:rPr lang="en-US" sz="1000" dirty="0">
                <a:solidFill>
                  <a:srgbClr val="6B8E5A"/>
                </a:solidFill>
                <a:latin typeface="Calibri" pitchFamily="34" charset="0"/>
                <a:ea typeface="Calibri" pitchFamily="34" charset="-122"/>
                <a:cs typeface="Calibri" pitchFamily="34" charset="-120"/>
              </a:rPr>
              <a:t>2 / 20</a:t>
            </a:r>
            <a:endParaRPr lang="en-US" sz="1000" dirty="0"/>
          </a:p>
        </p:txBody>
      </p:sp>
      <p:sp>
        <p:nvSpPr>
          <p:cNvPr id="47" name="Shape 45"/>
          <p:cNvSpPr/>
          <p:nvPr/>
        </p:nvSpPr>
        <p:spPr>
          <a:xfrm>
            <a:off x="0" y="5097780"/>
            <a:ext cx="9144000" cy="45720"/>
          </a:xfrm>
          <a:prstGeom prst="rect">
            <a:avLst/>
          </a:prstGeom>
          <a:solidFill>
            <a:srgbClr val="2C5F2D"/>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4A843"/>
          </a:solidFill>
          <a:ln/>
        </p:spPr>
      </p:sp>
      <p:sp>
        <p:nvSpPr>
          <p:cNvPr id="3" name="Text 1"/>
          <p:cNvSpPr/>
          <p:nvPr/>
        </p:nvSpPr>
        <p:spPr>
          <a:xfrm>
            <a:off x="457200" y="228600"/>
            <a:ext cx="8229600" cy="457200"/>
          </a:xfrm>
          <a:prstGeom prst="rect">
            <a:avLst/>
          </a:prstGeom>
          <a:noFill/>
          <a:ln/>
        </p:spPr>
        <p:txBody>
          <a:bodyPr wrap="square" rtlCol="0" anchor="ctr"/>
          <a:lstStyle/>
          <a:p>
            <a:pPr indent="0" marL="0">
              <a:buNone/>
            </a:pPr>
            <a:r>
              <a:rPr lang="en-US" sz="2800" b="1" dirty="0">
                <a:solidFill>
                  <a:srgbClr val="2C5F2D"/>
                </a:solidFill>
                <a:latin typeface="Georgia" pitchFamily="34" charset="0"/>
                <a:ea typeface="Georgia" pitchFamily="34" charset="-122"/>
                <a:cs typeface="Georgia" pitchFamily="34" charset="-120"/>
              </a:rPr>
              <a:t>历史背景（一）：19世纪的统计学萌芽</a:t>
            </a:r>
            <a:endParaRPr lang="en-US" sz="2800" dirty="0"/>
          </a:p>
        </p:txBody>
      </p:sp>
      <p:sp>
        <p:nvSpPr>
          <p:cNvPr id="4" name="Text 2"/>
          <p:cNvSpPr/>
          <p:nvPr/>
        </p:nvSpPr>
        <p:spPr>
          <a:xfrm>
            <a:off x="457200" y="685800"/>
            <a:ext cx="8229600" cy="274320"/>
          </a:xfrm>
          <a:prstGeom prst="rect">
            <a:avLst/>
          </a:prstGeom>
          <a:noFill/>
          <a:ln/>
        </p:spPr>
        <p:txBody>
          <a:bodyPr wrap="square" rtlCol="0" anchor="ctr"/>
          <a:lstStyle/>
          <a:p>
            <a:pPr indent="0" marL="0">
              <a:buNone/>
            </a:pPr>
            <a:r>
              <a:rPr lang="en-US" sz="1400" dirty="0">
                <a:solidFill>
                  <a:srgbClr val="6B8E5A"/>
                </a:solidFill>
                <a:latin typeface="Calibri" pitchFamily="34" charset="0"/>
                <a:ea typeface="Calibri" pitchFamily="34" charset="-122"/>
                <a:cs typeface="Calibri" pitchFamily="34" charset="-120"/>
              </a:rPr>
              <a:t>The Birth of Statistics in the 19th Century</a:t>
            </a:r>
            <a:endParaRPr lang="en-US" sz="1400" dirty="0"/>
          </a:p>
        </p:txBody>
      </p:sp>
      <p:sp>
        <p:nvSpPr>
          <p:cNvPr id="5" name="Shape 3"/>
          <p:cNvSpPr/>
          <p:nvPr/>
        </p:nvSpPr>
        <p:spPr>
          <a:xfrm>
            <a:off x="457200" y="1005840"/>
            <a:ext cx="1371600" cy="36576"/>
          </a:xfrm>
          <a:prstGeom prst="rect">
            <a:avLst/>
          </a:prstGeom>
          <a:solidFill>
            <a:srgbClr val="97BC62"/>
          </a:solidFill>
          <a:ln/>
        </p:spPr>
      </p:sp>
      <p:sp>
        <p:nvSpPr>
          <p:cNvPr id="6" name="Shape 4"/>
          <p:cNvSpPr/>
          <p:nvPr/>
        </p:nvSpPr>
        <p:spPr>
          <a:xfrm>
            <a:off x="457200" y="1280160"/>
            <a:ext cx="8229600" cy="1371600"/>
          </a:xfrm>
          <a:prstGeom prst="rect">
            <a:avLst/>
          </a:prstGeom>
          <a:solidFill>
            <a:srgbClr val="FFFFFF"/>
          </a:solidFill>
          <a:ln w="12700">
            <a:solidFill>
              <a:srgbClr val="97BC62"/>
            </a:solidFill>
            <a:prstDash val="solid"/>
          </a:ln>
        </p:spPr>
      </p:sp>
      <p:sp>
        <p:nvSpPr>
          <p:cNvPr id="7" name="Text 5"/>
          <p:cNvSpPr/>
          <p:nvPr/>
        </p:nvSpPr>
        <p:spPr>
          <a:xfrm>
            <a:off x="731520" y="1371600"/>
            <a:ext cx="7680960" cy="1188720"/>
          </a:xfrm>
          <a:prstGeom prst="rect">
            <a:avLst/>
          </a:prstGeom>
          <a:noFill/>
          <a:ln/>
        </p:spPr>
        <p:txBody>
          <a:bodyPr wrap="square" rtlCol="0" anchor="ctr"/>
          <a:lstStyle/>
          <a:p>
            <a:pPr indent="0" marL="0">
              <a:buNone/>
            </a:pPr>
            <a:r>
              <a:rPr lang="en-US" sz="1300" dirty="0">
                <a:solidFill>
                  <a:srgbClr val="2C5F2D"/>
                </a:solidFill>
                <a:latin typeface="Calibri" pitchFamily="34" charset="0"/>
                <a:ea typeface="Calibri" pitchFamily="34" charset="-122"/>
                <a:cs typeface="Calibri" pitchFamily="34" charset="-120"/>
              </a:rPr>
              <a:t>19世纪是统计学蓬勃发展的时代。概率论从赌博问题走向科学应用，统计思维开始渗透到生物学和社会科学领域。</a:t>
            </a:r>
            <a:endParaRPr lang="en-US" sz="1300" dirty="0"/>
          </a:p>
        </p:txBody>
      </p:sp>
      <p:sp>
        <p:nvSpPr>
          <p:cNvPr id="8" name="Shape 6"/>
          <p:cNvSpPr/>
          <p:nvPr/>
        </p:nvSpPr>
        <p:spPr>
          <a:xfrm>
            <a:off x="457200" y="2834640"/>
            <a:ext cx="3931920" cy="1828800"/>
          </a:xfrm>
          <a:prstGeom prst="rect">
            <a:avLst/>
          </a:prstGeom>
          <a:solidFill>
            <a:srgbClr val="FFFFFF"/>
          </a:solidFill>
          <a:ln w="12700">
            <a:solidFill>
              <a:srgbClr val="2C5F2D"/>
            </a:solidFill>
            <a:prstDash val="solid"/>
          </a:ln>
        </p:spPr>
      </p:sp>
      <p:sp>
        <p:nvSpPr>
          <p:cNvPr id="9" name="Shape 7"/>
          <p:cNvSpPr/>
          <p:nvPr/>
        </p:nvSpPr>
        <p:spPr>
          <a:xfrm>
            <a:off x="457200" y="2834640"/>
            <a:ext cx="3931920" cy="365760"/>
          </a:xfrm>
          <a:prstGeom prst="rect">
            <a:avLst/>
          </a:prstGeom>
          <a:solidFill>
            <a:srgbClr val="2C5F2D"/>
          </a:solidFill>
          <a:ln/>
        </p:spPr>
      </p:sp>
      <p:sp>
        <p:nvSpPr>
          <p:cNvPr id="10" name="Text 8"/>
          <p:cNvSpPr/>
          <p:nvPr/>
        </p:nvSpPr>
        <p:spPr>
          <a:xfrm>
            <a:off x="594360" y="2834640"/>
            <a:ext cx="3657600" cy="365760"/>
          </a:xfrm>
          <a:prstGeom prst="rect">
            <a:avLst/>
          </a:prstGeom>
          <a:noFill/>
          <a:ln/>
        </p:spPr>
        <p:txBody>
          <a:bodyPr wrap="square"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阿道夫·凯特勒 (Adolphe Quetelet)</a:t>
            </a:r>
            <a:endParaRPr lang="en-US" sz="1200" dirty="0"/>
          </a:p>
        </p:txBody>
      </p:sp>
      <p:sp>
        <p:nvSpPr>
          <p:cNvPr id="11" name="Text 9"/>
          <p:cNvSpPr/>
          <p:nvPr/>
        </p:nvSpPr>
        <p:spPr>
          <a:xfrm>
            <a:off x="594360" y="3246120"/>
            <a:ext cx="3657600" cy="1280160"/>
          </a:xfrm>
          <a:prstGeom prst="rect">
            <a:avLst/>
          </a:prstGeom>
          <a:noFill/>
          <a:ln/>
        </p:spPr>
        <p:txBody>
          <a:bodyPr wrap="square" rtlCol="0" anchor="ctr"/>
          <a:lstStyle/>
          <a:p>
            <a:pPr indent="0" marL="0">
              <a:spcAft>
                <a:spcPts val="400"/>
              </a:spcAft>
              <a:buNone/>
            </a:pPr>
            <a:r>
              <a:rPr lang="en-US" sz="1100" dirty="0">
                <a:solidFill>
                  <a:srgbClr val="2C5F2D"/>
                </a:solidFill>
                <a:latin typeface="Calibri" pitchFamily="34" charset="0"/>
                <a:ea typeface="Calibri" pitchFamily="34" charset="-122"/>
                <a:cs typeface="Calibri" pitchFamily="34" charset="-120"/>
              </a:rPr>
              <a:t>• "平均人" (l'homme moyen) 概念的提出者</a:t>
            </a:r>
            <a:endParaRPr lang="en-US" sz="1100" dirty="0"/>
          </a:p>
          <a:p>
            <a:pPr indent="0" marL="0">
              <a:spcAft>
                <a:spcPts val="400"/>
              </a:spcAft>
              <a:buNone/>
            </a:pPr>
            <a:r>
              <a:rPr lang="en-US" sz="1100" dirty="0">
                <a:solidFill>
                  <a:srgbClr val="2C5F2D"/>
                </a:solidFill>
                <a:latin typeface="Calibri" pitchFamily="34" charset="0"/>
                <a:ea typeface="Calibri" pitchFamily="34" charset="-122"/>
                <a:cs typeface="Calibri" pitchFamily="34" charset="-120"/>
              </a:rPr>
              <a:t>• 将正态分布应用于人体测量数据</a:t>
            </a:r>
            <a:endParaRPr lang="en-US" sz="1100" dirty="0"/>
          </a:p>
          <a:p>
            <a:pPr indent="0" marL="0">
              <a:spcAft>
                <a:spcPts val="400"/>
              </a:spcAft>
              <a:buNone/>
            </a:pPr>
            <a:r>
              <a:rPr lang="en-US" sz="1100" dirty="0">
                <a:solidFill>
                  <a:srgbClr val="2C5F2D"/>
                </a:solidFill>
                <a:latin typeface="Calibri" pitchFamily="34" charset="0"/>
                <a:ea typeface="Calibri" pitchFamily="34" charset="-122"/>
                <a:cs typeface="Calibri" pitchFamily="34" charset="-120"/>
              </a:rPr>
              <a:t>• 开创社会统计学先河</a:t>
            </a:r>
            <a:endParaRPr lang="en-US" sz="1100" dirty="0"/>
          </a:p>
          <a:p>
            <a:pPr indent="0" marL="0">
              <a:spcAft>
                <a:spcPts val="400"/>
              </a:spcAft>
              <a:buNone/>
            </a:pPr>
            <a:r>
              <a:rPr lang="en-US" sz="1100" dirty="0">
                <a:solidFill>
                  <a:srgbClr val="2C5F2D"/>
                </a:solidFill>
                <a:latin typeface="Calibri" pitchFamily="34" charset="0"/>
                <a:ea typeface="Calibri" pitchFamily="34" charset="-122"/>
                <a:cs typeface="Calibri" pitchFamily="34" charset="-120"/>
              </a:rPr>
              <a:t>• 1835年《论人及其才能的发展》</a:t>
            </a:r>
            <a:endParaRPr lang="en-US" sz="1100" dirty="0"/>
          </a:p>
        </p:txBody>
      </p:sp>
      <p:sp>
        <p:nvSpPr>
          <p:cNvPr id="12" name="Shape 10"/>
          <p:cNvSpPr/>
          <p:nvPr/>
        </p:nvSpPr>
        <p:spPr>
          <a:xfrm>
            <a:off x="4754880" y="2834640"/>
            <a:ext cx="3931920" cy="1828800"/>
          </a:xfrm>
          <a:prstGeom prst="rect">
            <a:avLst/>
          </a:prstGeom>
          <a:solidFill>
            <a:srgbClr val="FFFFFF"/>
          </a:solidFill>
          <a:ln w="12700">
            <a:solidFill>
              <a:srgbClr val="D4A843"/>
            </a:solidFill>
            <a:prstDash val="solid"/>
          </a:ln>
        </p:spPr>
      </p:sp>
      <p:sp>
        <p:nvSpPr>
          <p:cNvPr id="13" name="Shape 11"/>
          <p:cNvSpPr/>
          <p:nvPr/>
        </p:nvSpPr>
        <p:spPr>
          <a:xfrm>
            <a:off x="4754880" y="2834640"/>
            <a:ext cx="3931920" cy="365760"/>
          </a:xfrm>
          <a:prstGeom prst="rect">
            <a:avLst/>
          </a:prstGeom>
          <a:solidFill>
            <a:srgbClr val="D4A843"/>
          </a:solidFill>
          <a:ln/>
        </p:spPr>
      </p:sp>
      <p:sp>
        <p:nvSpPr>
          <p:cNvPr id="14" name="Text 12"/>
          <p:cNvSpPr/>
          <p:nvPr/>
        </p:nvSpPr>
        <p:spPr>
          <a:xfrm>
            <a:off x="4892040" y="2834640"/>
            <a:ext cx="3657600" cy="365760"/>
          </a:xfrm>
          <a:prstGeom prst="rect">
            <a:avLst/>
          </a:prstGeom>
          <a:noFill/>
          <a:ln/>
        </p:spPr>
        <p:txBody>
          <a:bodyPr wrap="square"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弗朗西斯·高尔顿 (Francis Galton)</a:t>
            </a:r>
            <a:endParaRPr lang="en-US" sz="1200" dirty="0"/>
          </a:p>
        </p:txBody>
      </p:sp>
      <p:sp>
        <p:nvSpPr>
          <p:cNvPr id="15" name="Text 13"/>
          <p:cNvSpPr/>
          <p:nvPr/>
        </p:nvSpPr>
        <p:spPr>
          <a:xfrm>
            <a:off x="4892040" y="3246120"/>
            <a:ext cx="3657600" cy="1280160"/>
          </a:xfrm>
          <a:prstGeom prst="rect">
            <a:avLst/>
          </a:prstGeom>
          <a:noFill/>
          <a:ln/>
        </p:spPr>
        <p:txBody>
          <a:bodyPr wrap="square" rtlCol="0" anchor="ctr"/>
          <a:lstStyle/>
          <a:p>
            <a:pPr indent="0" marL="0">
              <a:spcAft>
                <a:spcPts val="400"/>
              </a:spcAft>
              <a:buNone/>
            </a:pPr>
            <a:r>
              <a:rPr lang="en-US" sz="1100" dirty="0">
                <a:solidFill>
                  <a:srgbClr val="2C5F2D"/>
                </a:solidFill>
                <a:latin typeface="Calibri" pitchFamily="34" charset="0"/>
                <a:ea typeface="Calibri" pitchFamily="34" charset="-122"/>
                <a:cs typeface="Calibri" pitchFamily="34" charset="-120"/>
              </a:rPr>
              <a:t>• 达尔文的表弟，生物统计学的先驱</a:t>
            </a:r>
            <a:endParaRPr lang="en-US" sz="1100" dirty="0"/>
          </a:p>
          <a:p>
            <a:pPr indent="0" marL="0">
              <a:spcAft>
                <a:spcPts val="400"/>
              </a:spcAft>
              <a:buNone/>
            </a:pPr>
            <a:r>
              <a:rPr lang="en-US" sz="1100" dirty="0">
                <a:solidFill>
                  <a:srgbClr val="2C5F2D"/>
                </a:solidFill>
                <a:latin typeface="Calibri" pitchFamily="34" charset="0"/>
                <a:ea typeface="Calibri" pitchFamily="34" charset="-122"/>
                <a:cs typeface="Calibri" pitchFamily="34" charset="-120"/>
              </a:rPr>
              <a:t>• 提出"回归"与"相关"概念</a:t>
            </a:r>
            <a:endParaRPr lang="en-US" sz="1100" dirty="0"/>
          </a:p>
          <a:p>
            <a:pPr indent="0" marL="0">
              <a:spcAft>
                <a:spcPts val="400"/>
              </a:spcAft>
              <a:buNone/>
            </a:pPr>
            <a:r>
              <a:rPr lang="en-US" sz="1100" dirty="0">
                <a:solidFill>
                  <a:srgbClr val="2C5F2D"/>
                </a:solidFill>
                <a:latin typeface="Calibri" pitchFamily="34" charset="0"/>
                <a:ea typeface="Calibri" pitchFamily="34" charset="-122"/>
                <a:cs typeface="Calibri" pitchFamily="34" charset="-120"/>
              </a:rPr>
              <a:t>• 研究遗传与天赋的关系</a:t>
            </a:r>
            <a:endParaRPr lang="en-US" sz="1100" dirty="0"/>
          </a:p>
          <a:p>
            <a:pPr indent="0" marL="0">
              <a:spcAft>
                <a:spcPts val="400"/>
              </a:spcAft>
              <a:buNone/>
            </a:pPr>
            <a:r>
              <a:rPr lang="en-US" sz="1100" dirty="0">
                <a:solidFill>
                  <a:srgbClr val="2C5F2D"/>
                </a:solidFill>
                <a:latin typeface="Calibri" pitchFamily="34" charset="0"/>
                <a:ea typeface="Calibri" pitchFamily="34" charset="-122"/>
                <a:cs typeface="Calibri" pitchFamily="34" charset="-120"/>
              </a:rPr>
              <a:t>• 但未能理解孟德尔的离散遗传</a:t>
            </a:r>
            <a:endParaRPr lang="en-US" sz="1100" dirty="0"/>
          </a:p>
        </p:txBody>
      </p:sp>
      <p:sp>
        <p:nvSpPr>
          <p:cNvPr id="16" name="Text 14"/>
          <p:cNvSpPr/>
          <p:nvPr/>
        </p:nvSpPr>
        <p:spPr>
          <a:xfrm>
            <a:off x="8046720" y="4777740"/>
            <a:ext cx="914400" cy="274320"/>
          </a:xfrm>
          <a:prstGeom prst="rect">
            <a:avLst/>
          </a:prstGeom>
          <a:noFill/>
          <a:ln/>
        </p:spPr>
        <p:txBody>
          <a:bodyPr wrap="square" rtlCol="0" anchor="ctr"/>
          <a:lstStyle/>
          <a:p>
            <a:pPr algn="r" indent="0" marL="0">
              <a:buNone/>
            </a:pPr>
            <a:r>
              <a:rPr lang="en-US" sz="1000" dirty="0">
                <a:solidFill>
                  <a:srgbClr val="6B8E5A"/>
                </a:solidFill>
                <a:latin typeface="Calibri" pitchFamily="34" charset="0"/>
                <a:ea typeface="Calibri" pitchFamily="34" charset="-122"/>
                <a:cs typeface="Calibri" pitchFamily="34" charset="-120"/>
              </a:rPr>
              <a:t>3 / 20</a:t>
            </a:r>
            <a:endParaRPr lang="en-US" sz="1000" dirty="0"/>
          </a:p>
        </p:txBody>
      </p:sp>
      <p:sp>
        <p:nvSpPr>
          <p:cNvPr id="17" name="Shape 15"/>
          <p:cNvSpPr/>
          <p:nvPr/>
        </p:nvSpPr>
        <p:spPr>
          <a:xfrm>
            <a:off x="0" y="5097780"/>
            <a:ext cx="9144000" cy="45720"/>
          </a:xfrm>
          <a:prstGeom prst="rect">
            <a:avLst/>
          </a:prstGeom>
          <a:solidFill>
            <a:srgbClr val="2C5F2D"/>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4A843"/>
          </a:solidFill>
          <a:ln/>
        </p:spPr>
      </p:sp>
      <p:sp>
        <p:nvSpPr>
          <p:cNvPr id="3" name="Text 1"/>
          <p:cNvSpPr/>
          <p:nvPr/>
        </p:nvSpPr>
        <p:spPr>
          <a:xfrm>
            <a:off x="457200" y="228600"/>
            <a:ext cx="8229600" cy="457200"/>
          </a:xfrm>
          <a:prstGeom prst="rect">
            <a:avLst/>
          </a:prstGeom>
          <a:noFill/>
          <a:ln/>
        </p:spPr>
        <p:txBody>
          <a:bodyPr wrap="square" rtlCol="0" anchor="ctr"/>
          <a:lstStyle/>
          <a:p>
            <a:pPr indent="0" marL="0">
              <a:buNone/>
            </a:pPr>
            <a:r>
              <a:rPr lang="en-US" sz="2800" b="1" dirty="0">
                <a:solidFill>
                  <a:srgbClr val="2C5F2D"/>
                </a:solidFill>
                <a:latin typeface="Georgia" pitchFamily="34" charset="0"/>
                <a:ea typeface="Georgia" pitchFamily="34" charset="-122"/>
                <a:cs typeface="Georgia" pitchFamily="34" charset="-120"/>
              </a:rPr>
              <a:t>历史背景（二）：孟德尔的维也纳大学训练</a:t>
            </a:r>
            <a:endParaRPr lang="en-US" sz="2800" dirty="0"/>
          </a:p>
        </p:txBody>
      </p:sp>
      <p:sp>
        <p:nvSpPr>
          <p:cNvPr id="4" name="Text 2"/>
          <p:cNvSpPr/>
          <p:nvPr/>
        </p:nvSpPr>
        <p:spPr>
          <a:xfrm>
            <a:off x="457200" y="685800"/>
            <a:ext cx="8229600" cy="274320"/>
          </a:xfrm>
          <a:prstGeom prst="rect">
            <a:avLst/>
          </a:prstGeom>
          <a:noFill/>
          <a:ln/>
        </p:spPr>
        <p:txBody>
          <a:bodyPr wrap="square" rtlCol="0" anchor="ctr"/>
          <a:lstStyle/>
          <a:p>
            <a:pPr indent="0" marL="0">
              <a:buNone/>
            </a:pPr>
            <a:r>
              <a:rPr lang="en-US" sz="1400" dirty="0">
                <a:solidFill>
                  <a:srgbClr val="6B8E5A"/>
                </a:solidFill>
                <a:latin typeface="Calibri" pitchFamily="34" charset="0"/>
                <a:ea typeface="Calibri" pitchFamily="34" charset="-122"/>
                <a:cs typeface="Calibri" pitchFamily="34" charset="-120"/>
              </a:rPr>
              <a:t>Mendel's Training at the University of Vienna</a:t>
            </a:r>
            <a:endParaRPr lang="en-US" sz="1400" dirty="0"/>
          </a:p>
        </p:txBody>
      </p:sp>
      <p:sp>
        <p:nvSpPr>
          <p:cNvPr id="5" name="Shape 3"/>
          <p:cNvSpPr/>
          <p:nvPr/>
        </p:nvSpPr>
        <p:spPr>
          <a:xfrm>
            <a:off x="457200" y="1005840"/>
            <a:ext cx="1371600" cy="36576"/>
          </a:xfrm>
          <a:prstGeom prst="rect">
            <a:avLst/>
          </a:prstGeom>
          <a:solidFill>
            <a:srgbClr val="97BC62"/>
          </a:solidFill>
          <a:ln/>
        </p:spPr>
      </p:sp>
      <p:sp>
        <p:nvSpPr>
          <p:cNvPr id="6" name="Text 4"/>
          <p:cNvSpPr/>
          <p:nvPr/>
        </p:nvSpPr>
        <p:spPr>
          <a:xfrm>
            <a:off x="457200" y="1280160"/>
            <a:ext cx="8229600" cy="640080"/>
          </a:xfrm>
          <a:prstGeom prst="rect">
            <a:avLst/>
          </a:prstGeom>
          <a:noFill/>
          <a:ln/>
        </p:spPr>
        <p:txBody>
          <a:bodyPr wrap="square" rtlCol="0" anchor="ctr"/>
          <a:lstStyle/>
          <a:p>
            <a:pPr indent="0" marL="0">
              <a:buNone/>
            </a:pPr>
            <a:r>
              <a:rPr lang="en-US" sz="1300" dirty="0">
                <a:solidFill>
                  <a:srgbClr val="2C5F2D"/>
                </a:solidFill>
                <a:latin typeface="Calibri" pitchFamily="34" charset="0"/>
                <a:ea typeface="Calibri" pitchFamily="34" charset="-122"/>
                <a:cs typeface="Calibri" pitchFamily="34" charset="-120"/>
              </a:rPr>
              <a:t>1851-1853年，孟德尔在维也纳大学学习，师从多位数学和物理学大师。这段经历为他后来的豌豆杂交实验奠定了坚实的数学基础。</a:t>
            </a:r>
            <a:endParaRPr lang="en-US" sz="1300" dirty="0"/>
          </a:p>
        </p:txBody>
      </p:sp>
      <p:sp>
        <p:nvSpPr>
          <p:cNvPr id="7" name="Shape 5"/>
          <p:cNvSpPr/>
          <p:nvPr/>
        </p:nvSpPr>
        <p:spPr>
          <a:xfrm>
            <a:off x="457200" y="2103120"/>
            <a:ext cx="2560320" cy="2286000"/>
          </a:xfrm>
          <a:prstGeom prst="rect">
            <a:avLst/>
          </a:prstGeom>
          <a:solidFill>
            <a:srgbClr val="FFFFFF"/>
          </a:solidFill>
          <a:ln w="12700">
            <a:solidFill>
              <a:srgbClr val="2C5F2D"/>
            </a:solidFill>
            <a:prstDash val="solid"/>
          </a:ln>
        </p:spPr>
      </p:sp>
      <p:sp>
        <p:nvSpPr>
          <p:cNvPr id="8" name="Shape 6"/>
          <p:cNvSpPr/>
          <p:nvPr/>
        </p:nvSpPr>
        <p:spPr>
          <a:xfrm>
            <a:off x="457200" y="2103120"/>
            <a:ext cx="2560320" cy="365760"/>
          </a:xfrm>
          <a:prstGeom prst="rect">
            <a:avLst/>
          </a:prstGeom>
          <a:solidFill>
            <a:srgbClr val="2C5F2D"/>
          </a:solidFill>
          <a:ln/>
        </p:spPr>
      </p:sp>
      <p:sp>
        <p:nvSpPr>
          <p:cNvPr id="9" name="Text 7"/>
          <p:cNvSpPr/>
          <p:nvPr/>
        </p:nvSpPr>
        <p:spPr>
          <a:xfrm>
            <a:off x="548640" y="2103120"/>
            <a:ext cx="2377440" cy="365760"/>
          </a:xfrm>
          <a:prstGeom prst="rect">
            <a:avLst/>
          </a:prstGeom>
          <a:noFill/>
          <a:ln/>
        </p:spPr>
        <p:txBody>
          <a:bodyPr wrap="square"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克里斯蒂安·多普勒</a:t>
            </a:r>
            <a:endParaRPr lang="en-US" sz="1200" dirty="0"/>
          </a:p>
        </p:txBody>
      </p:sp>
      <p:sp>
        <p:nvSpPr>
          <p:cNvPr id="10" name="Text 8"/>
          <p:cNvSpPr/>
          <p:nvPr/>
        </p:nvSpPr>
        <p:spPr>
          <a:xfrm>
            <a:off x="548640" y="2468880"/>
            <a:ext cx="2377440" cy="228600"/>
          </a:xfrm>
          <a:prstGeom prst="rect">
            <a:avLst/>
          </a:prstGeom>
          <a:noFill/>
          <a:ln/>
        </p:spPr>
        <p:txBody>
          <a:bodyPr wrap="square" rtlCol="0" anchor="ctr"/>
          <a:lstStyle/>
          <a:p>
            <a:pPr indent="0" marL="0">
              <a:buNone/>
            </a:pPr>
            <a:r>
              <a:rPr lang="en-US" sz="1000" i="1" dirty="0">
                <a:solidFill>
                  <a:srgbClr val="6B8E5A"/>
                </a:solidFill>
                <a:latin typeface="Calibri" pitchFamily="34" charset="0"/>
                <a:ea typeface="Calibri" pitchFamily="34" charset="-122"/>
                <a:cs typeface="Calibri" pitchFamily="34" charset="-120"/>
              </a:rPr>
              <a:t>Christian Doppler</a:t>
            </a:r>
            <a:endParaRPr lang="en-US" sz="1000" dirty="0"/>
          </a:p>
        </p:txBody>
      </p:sp>
      <p:sp>
        <p:nvSpPr>
          <p:cNvPr id="11" name="Text 9"/>
          <p:cNvSpPr/>
          <p:nvPr/>
        </p:nvSpPr>
        <p:spPr>
          <a:xfrm>
            <a:off x="548640" y="2743200"/>
            <a:ext cx="2377440" cy="1463040"/>
          </a:xfrm>
          <a:prstGeom prst="rect">
            <a:avLst/>
          </a:prstGeom>
          <a:noFill/>
          <a:ln/>
        </p:spPr>
        <p:txBody>
          <a:bodyPr wrap="square" rtlCol="0" anchor="ctr"/>
          <a:lstStyle/>
          <a:p>
            <a:pPr indent="0" marL="0">
              <a:spcAft>
                <a:spcPts val="400"/>
              </a:spcAft>
              <a:buNone/>
            </a:pPr>
            <a:r>
              <a:rPr lang="en-US" sz="1100" dirty="0">
                <a:solidFill>
                  <a:srgbClr val="2C5F2D"/>
                </a:solidFill>
                <a:latin typeface="Calibri" pitchFamily="34" charset="0"/>
                <a:ea typeface="Calibri" pitchFamily="34" charset="-122"/>
                <a:cs typeface="Calibri" pitchFamily="34" charset="-120"/>
              </a:rPr>
              <a:t>• "多普勒效应"的发现者</a:t>
            </a:r>
            <a:endParaRPr lang="en-US" sz="1100" dirty="0"/>
          </a:p>
          <a:p>
            <a:pPr indent="0" marL="0">
              <a:spcAft>
                <a:spcPts val="400"/>
              </a:spcAft>
              <a:buNone/>
            </a:pPr>
            <a:r>
              <a:rPr lang="en-US" sz="1100" dirty="0">
                <a:solidFill>
                  <a:srgbClr val="2C5F2D"/>
                </a:solidFill>
                <a:latin typeface="Calibri" pitchFamily="34" charset="0"/>
                <a:ea typeface="Calibri" pitchFamily="34" charset="-122"/>
                <a:cs typeface="Calibri" pitchFamily="34" charset="-120"/>
              </a:rPr>
              <a:t>• 强调实验数据的精确性</a:t>
            </a:r>
            <a:endParaRPr lang="en-US" sz="1100" dirty="0"/>
          </a:p>
          <a:p>
            <a:pPr indent="0" marL="0">
              <a:spcAft>
                <a:spcPts val="400"/>
              </a:spcAft>
              <a:buNone/>
            </a:pPr>
            <a:r>
              <a:rPr lang="en-US" sz="1100" dirty="0">
                <a:solidFill>
                  <a:srgbClr val="2C5F2D"/>
                </a:solidFill>
                <a:latin typeface="Calibri" pitchFamily="34" charset="0"/>
                <a:ea typeface="Calibri" pitchFamily="34" charset="-122"/>
                <a:cs typeface="Calibri" pitchFamily="34" charset="-120"/>
              </a:rPr>
              <a:t>• 教授孟德尔实验物理学</a:t>
            </a:r>
            <a:endParaRPr lang="en-US" sz="1100" dirty="0"/>
          </a:p>
          <a:p>
            <a:pPr indent="0" marL="0">
              <a:spcAft>
                <a:spcPts val="400"/>
              </a:spcAft>
              <a:buNone/>
            </a:pPr>
            <a:r>
              <a:rPr lang="en-US" sz="1100" dirty="0">
                <a:solidFill>
                  <a:srgbClr val="2C5F2D"/>
                </a:solidFill>
                <a:latin typeface="Calibri" pitchFamily="34" charset="0"/>
                <a:ea typeface="Calibri" pitchFamily="34" charset="-122"/>
                <a:cs typeface="Calibri" pitchFamily="34" charset="-120"/>
              </a:rPr>
              <a:t>• 影响孟德尔的定量思维</a:t>
            </a:r>
            <a:endParaRPr lang="en-US" sz="1100" dirty="0"/>
          </a:p>
        </p:txBody>
      </p:sp>
      <p:sp>
        <p:nvSpPr>
          <p:cNvPr id="12" name="Shape 10"/>
          <p:cNvSpPr/>
          <p:nvPr/>
        </p:nvSpPr>
        <p:spPr>
          <a:xfrm>
            <a:off x="3291840" y="2103120"/>
            <a:ext cx="2560320" cy="2286000"/>
          </a:xfrm>
          <a:prstGeom prst="rect">
            <a:avLst/>
          </a:prstGeom>
          <a:solidFill>
            <a:srgbClr val="FFFFFF"/>
          </a:solidFill>
          <a:ln w="12700">
            <a:solidFill>
              <a:srgbClr val="97BC62"/>
            </a:solidFill>
            <a:prstDash val="solid"/>
          </a:ln>
        </p:spPr>
      </p:sp>
      <p:sp>
        <p:nvSpPr>
          <p:cNvPr id="13" name="Shape 11"/>
          <p:cNvSpPr/>
          <p:nvPr/>
        </p:nvSpPr>
        <p:spPr>
          <a:xfrm>
            <a:off x="3291840" y="2103120"/>
            <a:ext cx="2560320" cy="365760"/>
          </a:xfrm>
          <a:prstGeom prst="rect">
            <a:avLst/>
          </a:prstGeom>
          <a:solidFill>
            <a:srgbClr val="97BC62"/>
          </a:solidFill>
          <a:ln/>
        </p:spPr>
      </p:sp>
      <p:sp>
        <p:nvSpPr>
          <p:cNvPr id="14" name="Text 12"/>
          <p:cNvSpPr/>
          <p:nvPr/>
        </p:nvSpPr>
        <p:spPr>
          <a:xfrm>
            <a:off x="3383280" y="2103120"/>
            <a:ext cx="2377440" cy="365760"/>
          </a:xfrm>
          <a:prstGeom prst="rect">
            <a:avLst/>
          </a:prstGeom>
          <a:noFill/>
          <a:ln/>
        </p:spPr>
        <p:txBody>
          <a:bodyPr wrap="square"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安德烈亚斯·埃廷豪森</a:t>
            </a:r>
            <a:endParaRPr lang="en-US" sz="1200" dirty="0"/>
          </a:p>
        </p:txBody>
      </p:sp>
      <p:sp>
        <p:nvSpPr>
          <p:cNvPr id="15" name="Text 13"/>
          <p:cNvSpPr/>
          <p:nvPr/>
        </p:nvSpPr>
        <p:spPr>
          <a:xfrm>
            <a:off x="3383280" y="2468880"/>
            <a:ext cx="2377440" cy="228600"/>
          </a:xfrm>
          <a:prstGeom prst="rect">
            <a:avLst/>
          </a:prstGeom>
          <a:noFill/>
          <a:ln/>
        </p:spPr>
        <p:txBody>
          <a:bodyPr wrap="square" rtlCol="0" anchor="ctr"/>
          <a:lstStyle/>
          <a:p>
            <a:pPr indent="0" marL="0">
              <a:buNone/>
            </a:pPr>
            <a:r>
              <a:rPr lang="en-US" sz="1000" i="1" dirty="0">
                <a:solidFill>
                  <a:srgbClr val="6B8E5A"/>
                </a:solidFill>
                <a:latin typeface="Calibri" pitchFamily="34" charset="0"/>
                <a:ea typeface="Calibri" pitchFamily="34" charset="-122"/>
                <a:cs typeface="Calibri" pitchFamily="34" charset="-120"/>
              </a:rPr>
              <a:t>Andreas von Ettingshausen</a:t>
            </a:r>
            <a:endParaRPr lang="en-US" sz="1000" dirty="0"/>
          </a:p>
        </p:txBody>
      </p:sp>
      <p:sp>
        <p:nvSpPr>
          <p:cNvPr id="16" name="Text 14"/>
          <p:cNvSpPr/>
          <p:nvPr/>
        </p:nvSpPr>
        <p:spPr>
          <a:xfrm>
            <a:off x="3383280" y="2743200"/>
            <a:ext cx="2377440" cy="1463040"/>
          </a:xfrm>
          <a:prstGeom prst="rect">
            <a:avLst/>
          </a:prstGeom>
          <a:noFill/>
          <a:ln/>
        </p:spPr>
        <p:txBody>
          <a:bodyPr wrap="square" rtlCol="0" anchor="ctr"/>
          <a:lstStyle/>
          <a:p>
            <a:pPr indent="0" marL="0">
              <a:spcAft>
                <a:spcPts val="400"/>
              </a:spcAft>
              <a:buNone/>
            </a:pPr>
            <a:r>
              <a:rPr lang="en-US" sz="1100" dirty="0">
                <a:solidFill>
                  <a:srgbClr val="2C5F2D"/>
                </a:solidFill>
                <a:latin typeface="Calibri" pitchFamily="34" charset="0"/>
                <a:ea typeface="Calibri" pitchFamily="34" charset="-122"/>
                <a:cs typeface="Calibri" pitchFamily="34" charset="-120"/>
              </a:rPr>
              <a:t>• 数学家，组合数学专家</a:t>
            </a:r>
            <a:endParaRPr lang="en-US" sz="1100" dirty="0"/>
          </a:p>
          <a:p>
            <a:pPr indent="0" marL="0">
              <a:spcAft>
                <a:spcPts val="400"/>
              </a:spcAft>
              <a:buNone/>
            </a:pPr>
            <a:r>
              <a:rPr lang="en-US" sz="1100" dirty="0">
                <a:solidFill>
                  <a:srgbClr val="2C5F2D"/>
                </a:solidFill>
                <a:latin typeface="Calibri" pitchFamily="34" charset="0"/>
                <a:ea typeface="Calibri" pitchFamily="34" charset="-122"/>
                <a:cs typeface="Calibri" pitchFamily="34" charset="-120"/>
              </a:rPr>
              <a:t>• 著有《组合分析》</a:t>
            </a:r>
            <a:endParaRPr lang="en-US" sz="1100" dirty="0"/>
          </a:p>
          <a:p>
            <a:pPr indent="0" marL="0">
              <a:spcAft>
                <a:spcPts val="400"/>
              </a:spcAft>
              <a:buNone/>
            </a:pPr>
            <a:r>
              <a:rPr lang="en-US" sz="1100" dirty="0">
                <a:solidFill>
                  <a:srgbClr val="2C5F2D"/>
                </a:solidFill>
                <a:latin typeface="Calibri" pitchFamily="34" charset="0"/>
                <a:ea typeface="Calibri" pitchFamily="34" charset="-122"/>
                <a:cs typeface="Calibri" pitchFamily="34" charset="-120"/>
              </a:rPr>
              <a:t>• 教授孟德尔数学方法</a:t>
            </a:r>
            <a:endParaRPr lang="en-US" sz="1100" dirty="0"/>
          </a:p>
          <a:p>
            <a:pPr indent="0" marL="0">
              <a:spcAft>
                <a:spcPts val="400"/>
              </a:spcAft>
              <a:buNone/>
            </a:pPr>
            <a:r>
              <a:rPr lang="en-US" sz="1100" dirty="0">
                <a:solidFill>
                  <a:srgbClr val="2C5F2D"/>
                </a:solidFill>
                <a:latin typeface="Calibri" pitchFamily="34" charset="0"/>
                <a:ea typeface="Calibri" pitchFamily="34" charset="-122"/>
                <a:cs typeface="Calibri" pitchFamily="34" charset="-120"/>
              </a:rPr>
              <a:t>• 直接影响孟德尔使用组合分析</a:t>
            </a:r>
            <a:endParaRPr lang="en-US" sz="1100" dirty="0"/>
          </a:p>
        </p:txBody>
      </p:sp>
      <p:sp>
        <p:nvSpPr>
          <p:cNvPr id="17" name="Shape 15"/>
          <p:cNvSpPr/>
          <p:nvPr/>
        </p:nvSpPr>
        <p:spPr>
          <a:xfrm>
            <a:off x="6583680" y="2103120"/>
            <a:ext cx="2103120" cy="2286000"/>
          </a:xfrm>
          <a:prstGeom prst="rect">
            <a:avLst/>
          </a:prstGeom>
          <a:solidFill>
            <a:srgbClr val="F0F4E8"/>
          </a:solidFill>
          <a:ln w="12700">
            <a:solidFill>
              <a:srgbClr val="D4A843"/>
            </a:solidFill>
            <a:prstDash val="solid"/>
          </a:ln>
        </p:spPr>
      </p:sp>
      <p:sp>
        <p:nvSpPr>
          <p:cNvPr id="18" name="Text 16"/>
          <p:cNvSpPr/>
          <p:nvPr/>
        </p:nvSpPr>
        <p:spPr>
          <a:xfrm>
            <a:off x="6675120" y="2194560"/>
            <a:ext cx="1920240" cy="320040"/>
          </a:xfrm>
          <a:prstGeom prst="rect">
            <a:avLst/>
          </a:prstGeom>
          <a:noFill/>
          <a:ln/>
        </p:spPr>
        <p:txBody>
          <a:bodyPr wrap="square" rtlCol="0" anchor="ctr"/>
          <a:lstStyle/>
          <a:p>
            <a:pPr indent="0" marL="0">
              <a:buNone/>
            </a:pPr>
            <a:r>
              <a:rPr lang="en-US" sz="1300" b="1" dirty="0">
                <a:solidFill>
                  <a:srgbClr val="D4A843"/>
                </a:solidFill>
                <a:latin typeface="Georgia" pitchFamily="34" charset="0"/>
                <a:ea typeface="Georgia" pitchFamily="34" charset="-122"/>
                <a:cs typeface="Georgia" pitchFamily="34" charset="-120"/>
              </a:rPr>
              <a:t>关键启示</a:t>
            </a:r>
            <a:endParaRPr lang="en-US" sz="1300" dirty="0"/>
          </a:p>
        </p:txBody>
      </p:sp>
      <p:sp>
        <p:nvSpPr>
          <p:cNvPr id="19" name="Text 17"/>
          <p:cNvSpPr/>
          <p:nvPr/>
        </p:nvSpPr>
        <p:spPr>
          <a:xfrm>
            <a:off x="6675120" y="2560320"/>
            <a:ext cx="1920240" cy="1645920"/>
          </a:xfrm>
          <a:prstGeom prst="rect">
            <a:avLst/>
          </a:prstGeom>
          <a:noFill/>
          <a:ln/>
        </p:spPr>
        <p:txBody>
          <a:bodyPr wrap="square" rtlCol="0" anchor="ctr"/>
          <a:lstStyle/>
          <a:p>
            <a:pPr indent="0" marL="0">
              <a:spcAft>
                <a:spcPts val="300"/>
              </a:spcAft>
              <a:buNone/>
            </a:pPr>
            <a:r>
              <a:rPr lang="en-US" sz="1000" dirty="0">
                <a:solidFill>
                  <a:srgbClr val="2C5F2D"/>
                </a:solidFill>
                <a:latin typeface="Calibri" pitchFamily="34" charset="0"/>
                <a:ea typeface="Calibri" pitchFamily="34" charset="-122"/>
                <a:cs typeface="Calibri" pitchFamily="34" charset="-120"/>
              </a:rPr>
              <a:t>孟德尔是同时代生物学家中极少数接受过系统数学训练的人。</a:t>
            </a:r>
            <a:endParaRPr lang="en-US" sz="1000" dirty="0"/>
          </a:p>
          <a:p>
            <a:pPr indent="0" marL="0">
              <a:spcAft>
                <a:spcPts val="300"/>
              </a:spcAft>
              <a:buNone/>
            </a:pPr>
            <a:endParaRPr lang="en-US" sz="1000" dirty="0"/>
          </a:p>
          <a:p>
            <a:pPr indent="0" marL="0">
              <a:spcAft>
                <a:spcPts val="300"/>
              </a:spcAft>
              <a:buNone/>
            </a:pPr>
            <a:r>
              <a:rPr lang="en-US" sz="1000" dirty="0">
                <a:solidFill>
                  <a:srgbClr val="2C5F2D"/>
                </a:solidFill>
                <a:latin typeface="Calibri" pitchFamily="34" charset="0"/>
                <a:ea typeface="Calibri" pitchFamily="34" charset="-122"/>
                <a:cs typeface="Calibri" pitchFamily="34" charset="-120"/>
              </a:rPr>
              <a:t>他用组合数学分析杂交后代的各种基因型组合，用概率论预测后代比例。</a:t>
            </a:r>
            <a:endParaRPr lang="en-US" sz="1000" dirty="0"/>
          </a:p>
          <a:p>
            <a:pPr indent="0" marL="0">
              <a:spcAft>
                <a:spcPts val="300"/>
              </a:spcAft>
              <a:buNone/>
            </a:pPr>
            <a:endParaRPr lang="en-US" sz="1000" dirty="0"/>
          </a:p>
          <a:p>
            <a:pPr indent="0" marL="0">
              <a:spcAft>
                <a:spcPts val="300"/>
              </a:spcAft>
              <a:buNone/>
            </a:pPr>
            <a:r>
              <a:rPr lang="en-US" sz="1000" dirty="0">
                <a:solidFill>
                  <a:srgbClr val="2C5F2D"/>
                </a:solidFill>
                <a:latin typeface="Calibri" pitchFamily="34" charset="0"/>
                <a:ea typeface="Calibri" pitchFamily="34" charset="-122"/>
                <a:cs typeface="Calibri" pitchFamily="34" charset="-120"/>
              </a:rPr>
              <a:t>这种"数学+生物学"的跨学科思维，在当时是革命性的。</a:t>
            </a:r>
            <a:endParaRPr lang="en-US" sz="1000" dirty="0"/>
          </a:p>
        </p:txBody>
      </p:sp>
      <p:sp>
        <p:nvSpPr>
          <p:cNvPr id="20" name="Text 18"/>
          <p:cNvSpPr/>
          <p:nvPr/>
        </p:nvSpPr>
        <p:spPr>
          <a:xfrm>
            <a:off x="8046720" y="4777740"/>
            <a:ext cx="914400" cy="274320"/>
          </a:xfrm>
          <a:prstGeom prst="rect">
            <a:avLst/>
          </a:prstGeom>
          <a:noFill/>
          <a:ln/>
        </p:spPr>
        <p:txBody>
          <a:bodyPr wrap="square" rtlCol="0" anchor="ctr"/>
          <a:lstStyle/>
          <a:p>
            <a:pPr algn="r" indent="0" marL="0">
              <a:buNone/>
            </a:pPr>
            <a:r>
              <a:rPr lang="en-US" sz="1000" dirty="0">
                <a:solidFill>
                  <a:srgbClr val="6B8E5A"/>
                </a:solidFill>
                <a:latin typeface="Calibri" pitchFamily="34" charset="0"/>
                <a:ea typeface="Calibri" pitchFamily="34" charset="-122"/>
                <a:cs typeface="Calibri" pitchFamily="34" charset="-120"/>
              </a:rPr>
              <a:t>4 / 20</a:t>
            </a:r>
            <a:endParaRPr lang="en-US" sz="1000" dirty="0"/>
          </a:p>
        </p:txBody>
      </p:sp>
      <p:sp>
        <p:nvSpPr>
          <p:cNvPr id="21" name="Shape 19"/>
          <p:cNvSpPr/>
          <p:nvPr/>
        </p:nvSpPr>
        <p:spPr>
          <a:xfrm>
            <a:off x="0" y="5097780"/>
            <a:ext cx="9144000" cy="45720"/>
          </a:xfrm>
          <a:prstGeom prst="rect">
            <a:avLst/>
          </a:prstGeom>
          <a:solidFill>
            <a:srgbClr val="2C5F2D"/>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4A843"/>
          </a:solidFill>
          <a:ln/>
        </p:spPr>
      </p:sp>
      <p:sp>
        <p:nvSpPr>
          <p:cNvPr id="3" name="Text 1"/>
          <p:cNvSpPr/>
          <p:nvPr/>
        </p:nvSpPr>
        <p:spPr>
          <a:xfrm>
            <a:off x="457200" y="228600"/>
            <a:ext cx="8229600" cy="457200"/>
          </a:xfrm>
          <a:prstGeom prst="rect">
            <a:avLst/>
          </a:prstGeom>
          <a:noFill/>
          <a:ln/>
        </p:spPr>
        <p:txBody>
          <a:bodyPr wrap="square" rtlCol="0" anchor="ctr"/>
          <a:lstStyle/>
          <a:p>
            <a:pPr indent="0" marL="0">
              <a:buNone/>
            </a:pPr>
            <a:r>
              <a:rPr lang="en-US" sz="2800" b="1" dirty="0">
                <a:solidFill>
                  <a:srgbClr val="2C5F2D"/>
                </a:solidFill>
                <a:latin typeface="Georgia" pitchFamily="34" charset="0"/>
                <a:ea typeface="Georgia" pitchFamily="34" charset="-122"/>
                <a:cs typeface="Georgia" pitchFamily="34" charset="-120"/>
              </a:rPr>
              <a:t>历史背景（三）：为什么同时代的人没有跟上？</a:t>
            </a:r>
            <a:endParaRPr lang="en-US" sz="2800" dirty="0"/>
          </a:p>
        </p:txBody>
      </p:sp>
      <p:sp>
        <p:nvSpPr>
          <p:cNvPr id="4" name="Text 2"/>
          <p:cNvSpPr/>
          <p:nvPr/>
        </p:nvSpPr>
        <p:spPr>
          <a:xfrm>
            <a:off x="457200" y="685800"/>
            <a:ext cx="8229600" cy="274320"/>
          </a:xfrm>
          <a:prstGeom prst="rect">
            <a:avLst/>
          </a:prstGeom>
          <a:noFill/>
          <a:ln/>
        </p:spPr>
        <p:txBody>
          <a:bodyPr wrap="square" rtlCol="0" anchor="ctr"/>
          <a:lstStyle/>
          <a:p>
            <a:pPr indent="0" marL="0">
              <a:buNone/>
            </a:pPr>
            <a:r>
              <a:rPr lang="en-US" sz="1400" dirty="0">
                <a:solidFill>
                  <a:srgbClr val="6B8E5A"/>
                </a:solidFill>
                <a:latin typeface="Calibri" pitchFamily="34" charset="0"/>
                <a:ea typeface="Calibri" pitchFamily="34" charset="-122"/>
                <a:cs typeface="Calibri" pitchFamily="34" charset="-120"/>
              </a:rPr>
              <a:t>Why Did Mendel's Contemporaries Fail to Follow?</a:t>
            </a:r>
            <a:endParaRPr lang="en-US" sz="1400" dirty="0"/>
          </a:p>
        </p:txBody>
      </p:sp>
      <p:sp>
        <p:nvSpPr>
          <p:cNvPr id="5" name="Shape 3"/>
          <p:cNvSpPr/>
          <p:nvPr/>
        </p:nvSpPr>
        <p:spPr>
          <a:xfrm>
            <a:off x="457200" y="1005840"/>
            <a:ext cx="1371600" cy="36576"/>
          </a:xfrm>
          <a:prstGeom prst="rect">
            <a:avLst/>
          </a:prstGeom>
          <a:solidFill>
            <a:srgbClr val="97BC62"/>
          </a:solidFill>
          <a:ln/>
        </p:spPr>
      </p:sp>
      <p:sp>
        <p:nvSpPr>
          <p:cNvPr id="6" name="Shape 4"/>
          <p:cNvSpPr/>
          <p:nvPr/>
        </p:nvSpPr>
        <p:spPr>
          <a:xfrm>
            <a:off x="457200" y="1280160"/>
            <a:ext cx="8229600" cy="1097280"/>
          </a:xfrm>
          <a:prstGeom prst="rect">
            <a:avLst/>
          </a:prstGeom>
          <a:solidFill>
            <a:srgbClr val="FFFFFF"/>
          </a:solidFill>
          <a:ln w="12700">
            <a:solidFill>
              <a:srgbClr val="97BC62"/>
            </a:solidFill>
            <a:prstDash val="solid"/>
          </a:ln>
        </p:spPr>
      </p:sp>
      <p:sp>
        <p:nvSpPr>
          <p:cNvPr id="7" name="Text 5"/>
          <p:cNvSpPr/>
          <p:nvPr/>
        </p:nvSpPr>
        <p:spPr>
          <a:xfrm>
            <a:off x="731520" y="1371600"/>
            <a:ext cx="7680960" cy="914400"/>
          </a:xfrm>
          <a:prstGeom prst="rect">
            <a:avLst/>
          </a:prstGeom>
          <a:noFill/>
          <a:ln/>
        </p:spPr>
        <p:txBody>
          <a:bodyPr wrap="square" rtlCol="0" anchor="ctr"/>
          <a:lstStyle/>
          <a:p>
            <a:pPr indent="0" marL="0">
              <a:buNone/>
            </a:pPr>
            <a:r>
              <a:rPr lang="en-US" sz="1300" dirty="0">
                <a:solidFill>
                  <a:srgbClr val="2C5F2D"/>
                </a:solidFill>
                <a:latin typeface="Calibri" pitchFamily="34" charset="0"/>
                <a:ea typeface="Calibri" pitchFamily="34" charset="-122"/>
                <a:cs typeface="Calibri" pitchFamily="34" charset="-120"/>
              </a:rPr>
              <a:t>孟德尔1865年发表演讲、1866年发表论文，但直到1900年才被重新发现。长达35年的沉寂，背后有多重原因：</a:t>
            </a:r>
            <a:endParaRPr lang="en-US" sz="1300" dirty="0"/>
          </a:p>
        </p:txBody>
      </p:sp>
      <p:sp>
        <p:nvSpPr>
          <p:cNvPr id="8" name="Shape 6"/>
          <p:cNvSpPr/>
          <p:nvPr/>
        </p:nvSpPr>
        <p:spPr>
          <a:xfrm>
            <a:off x="457200" y="2560320"/>
            <a:ext cx="1371600" cy="365760"/>
          </a:xfrm>
          <a:prstGeom prst="rect">
            <a:avLst/>
          </a:prstGeom>
          <a:solidFill>
            <a:srgbClr val="2C5F2D"/>
          </a:solidFill>
          <a:ln/>
        </p:spPr>
      </p:sp>
      <p:sp>
        <p:nvSpPr>
          <p:cNvPr id="9" name="Text 7"/>
          <p:cNvSpPr/>
          <p:nvPr/>
        </p:nvSpPr>
        <p:spPr>
          <a:xfrm>
            <a:off x="457200" y="2560320"/>
            <a:ext cx="1371600" cy="36576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数学门槛</a:t>
            </a:r>
            <a:endParaRPr lang="en-US" sz="1000" dirty="0"/>
          </a:p>
        </p:txBody>
      </p:sp>
      <p:sp>
        <p:nvSpPr>
          <p:cNvPr id="10" name="Text 8"/>
          <p:cNvSpPr/>
          <p:nvPr/>
        </p:nvSpPr>
        <p:spPr>
          <a:xfrm>
            <a:off x="1920240" y="2560320"/>
            <a:ext cx="6766560" cy="365760"/>
          </a:xfrm>
          <a:prstGeom prst="rect">
            <a:avLst/>
          </a:prstGeom>
          <a:noFill/>
          <a:ln/>
        </p:spPr>
        <p:txBody>
          <a:bodyPr wrap="square" rtlCol="0" anchor="ctr"/>
          <a:lstStyle/>
          <a:p>
            <a:pPr indent="0" marL="0">
              <a:buNone/>
            </a:pPr>
            <a:r>
              <a:rPr lang="en-US" sz="1000" dirty="0">
                <a:solidFill>
                  <a:srgbClr val="2C5F2D"/>
                </a:solidFill>
                <a:latin typeface="Calibri" pitchFamily="34" charset="0"/>
                <a:ea typeface="Calibri" pitchFamily="34" charset="-122"/>
                <a:cs typeface="Calibri" pitchFamily="34" charset="-120"/>
              </a:rPr>
              <a:t>孟德尔使用了概率论和组合数学，而当时的生物学家普遍缺乏数学训练，无法理解其数学推导过程。</a:t>
            </a:r>
            <a:endParaRPr lang="en-US" sz="1000" dirty="0"/>
          </a:p>
        </p:txBody>
      </p:sp>
      <p:sp>
        <p:nvSpPr>
          <p:cNvPr id="11" name="Shape 9"/>
          <p:cNvSpPr/>
          <p:nvPr/>
        </p:nvSpPr>
        <p:spPr>
          <a:xfrm>
            <a:off x="457200" y="3017520"/>
            <a:ext cx="1371600" cy="365760"/>
          </a:xfrm>
          <a:prstGeom prst="rect">
            <a:avLst/>
          </a:prstGeom>
          <a:solidFill>
            <a:srgbClr val="97BC62"/>
          </a:solidFill>
          <a:ln/>
        </p:spPr>
      </p:sp>
      <p:sp>
        <p:nvSpPr>
          <p:cNvPr id="12" name="Text 10"/>
          <p:cNvSpPr/>
          <p:nvPr/>
        </p:nvSpPr>
        <p:spPr>
          <a:xfrm>
            <a:off x="457200" y="3017520"/>
            <a:ext cx="1371600" cy="36576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融合遗传偏见</a:t>
            </a:r>
            <a:endParaRPr lang="en-US" sz="1000" dirty="0"/>
          </a:p>
        </p:txBody>
      </p:sp>
      <p:sp>
        <p:nvSpPr>
          <p:cNvPr id="13" name="Text 11"/>
          <p:cNvSpPr/>
          <p:nvPr/>
        </p:nvSpPr>
        <p:spPr>
          <a:xfrm>
            <a:off x="1920240" y="3017520"/>
            <a:ext cx="6766560" cy="365760"/>
          </a:xfrm>
          <a:prstGeom prst="rect">
            <a:avLst/>
          </a:prstGeom>
          <a:noFill/>
          <a:ln/>
        </p:spPr>
        <p:txBody>
          <a:bodyPr wrap="square" rtlCol="0" anchor="ctr"/>
          <a:lstStyle/>
          <a:p>
            <a:pPr indent="0" marL="0">
              <a:buNone/>
            </a:pPr>
            <a:r>
              <a:rPr lang="en-US" sz="1000" dirty="0">
                <a:solidFill>
                  <a:srgbClr val="2C5F2D"/>
                </a:solidFill>
                <a:latin typeface="Calibri" pitchFamily="34" charset="0"/>
                <a:ea typeface="Calibri" pitchFamily="34" charset="-122"/>
                <a:cs typeface="Calibri" pitchFamily="34" charset="-120"/>
              </a:rPr>
              <a:t>19世纪主流观点认为遗传是"融合"的（如颜料混合），孟德尔的"粒子遗传"思想与直觉相悖。</a:t>
            </a:r>
            <a:endParaRPr lang="en-US" sz="1000" dirty="0"/>
          </a:p>
        </p:txBody>
      </p:sp>
      <p:sp>
        <p:nvSpPr>
          <p:cNvPr id="14" name="Shape 12"/>
          <p:cNvSpPr/>
          <p:nvPr/>
        </p:nvSpPr>
        <p:spPr>
          <a:xfrm>
            <a:off x="457200" y="3474720"/>
            <a:ext cx="1371600" cy="365760"/>
          </a:xfrm>
          <a:prstGeom prst="rect">
            <a:avLst/>
          </a:prstGeom>
          <a:solidFill>
            <a:srgbClr val="2C5F2D"/>
          </a:solidFill>
          <a:ln/>
        </p:spPr>
      </p:sp>
      <p:sp>
        <p:nvSpPr>
          <p:cNvPr id="15" name="Text 13"/>
          <p:cNvSpPr/>
          <p:nvPr/>
        </p:nvSpPr>
        <p:spPr>
          <a:xfrm>
            <a:off x="457200" y="3474720"/>
            <a:ext cx="1371600" cy="36576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达尔文的光芒</a:t>
            </a:r>
            <a:endParaRPr lang="en-US" sz="1000" dirty="0"/>
          </a:p>
        </p:txBody>
      </p:sp>
      <p:sp>
        <p:nvSpPr>
          <p:cNvPr id="16" name="Text 14"/>
          <p:cNvSpPr/>
          <p:nvPr/>
        </p:nvSpPr>
        <p:spPr>
          <a:xfrm>
            <a:off x="1920240" y="3474720"/>
            <a:ext cx="6766560" cy="365760"/>
          </a:xfrm>
          <a:prstGeom prst="rect">
            <a:avLst/>
          </a:prstGeom>
          <a:noFill/>
          <a:ln/>
        </p:spPr>
        <p:txBody>
          <a:bodyPr wrap="square" rtlCol="0" anchor="ctr"/>
          <a:lstStyle/>
          <a:p>
            <a:pPr indent="0" marL="0">
              <a:buNone/>
            </a:pPr>
            <a:r>
              <a:rPr lang="en-US" sz="1000" dirty="0">
                <a:solidFill>
                  <a:srgbClr val="2C5F2D"/>
                </a:solidFill>
                <a:latin typeface="Calibri" pitchFamily="34" charset="0"/>
                <a:ea typeface="Calibri" pitchFamily="34" charset="-122"/>
                <a:cs typeface="Calibri" pitchFamily="34" charset="-120"/>
              </a:rPr>
              <a:t>《物种起源》1859年出版后，科学界的注意力集中在进化论上，孟德尔的小众论文被忽视。</a:t>
            </a:r>
            <a:endParaRPr lang="en-US" sz="1000" dirty="0"/>
          </a:p>
        </p:txBody>
      </p:sp>
      <p:sp>
        <p:nvSpPr>
          <p:cNvPr id="17" name="Shape 15"/>
          <p:cNvSpPr/>
          <p:nvPr/>
        </p:nvSpPr>
        <p:spPr>
          <a:xfrm>
            <a:off x="457200" y="3931920"/>
            <a:ext cx="1371600" cy="365760"/>
          </a:xfrm>
          <a:prstGeom prst="rect">
            <a:avLst/>
          </a:prstGeom>
          <a:solidFill>
            <a:srgbClr val="97BC62"/>
          </a:solidFill>
          <a:ln/>
        </p:spPr>
      </p:sp>
      <p:sp>
        <p:nvSpPr>
          <p:cNvPr id="18" name="Text 16"/>
          <p:cNvSpPr/>
          <p:nvPr/>
        </p:nvSpPr>
        <p:spPr>
          <a:xfrm>
            <a:off x="457200" y="3931920"/>
            <a:ext cx="1371600" cy="36576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连续变异 vs 离散变异</a:t>
            </a:r>
            <a:endParaRPr lang="en-US" sz="1000" dirty="0"/>
          </a:p>
        </p:txBody>
      </p:sp>
      <p:sp>
        <p:nvSpPr>
          <p:cNvPr id="19" name="Text 17"/>
          <p:cNvSpPr/>
          <p:nvPr/>
        </p:nvSpPr>
        <p:spPr>
          <a:xfrm>
            <a:off x="1920240" y="3931920"/>
            <a:ext cx="6766560" cy="365760"/>
          </a:xfrm>
          <a:prstGeom prst="rect">
            <a:avLst/>
          </a:prstGeom>
          <a:noFill/>
          <a:ln/>
        </p:spPr>
        <p:txBody>
          <a:bodyPr wrap="square" rtlCol="0" anchor="ctr"/>
          <a:lstStyle/>
          <a:p>
            <a:pPr indent="0" marL="0">
              <a:buNone/>
            </a:pPr>
            <a:r>
              <a:rPr lang="en-US" sz="1000" dirty="0">
                <a:solidFill>
                  <a:srgbClr val="2C5F2D"/>
                </a:solidFill>
                <a:latin typeface="Calibri" pitchFamily="34" charset="0"/>
                <a:ea typeface="Calibri" pitchFamily="34" charset="-122"/>
                <a:cs typeface="Calibri" pitchFamily="34" charset="-120"/>
              </a:rPr>
              <a:t>当时的生物学家观察到的大多数性状是连续变异的（如身高），而孟德尔研究的是离散性状。</a:t>
            </a:r>
            <a:endParaRPr lang="en-US" sz="1000" dirty="0"/>
          </a:p>
        </p:txBody>
      </p:sp>
      <p:sp>
        <p:nvSpPr>
          <p:cNvPr id="20" name="Shape 18"/>
          <p:cNvSpPr/>
          <p:nvPr/>
        </p:nvSpPr>
        <p:spPr>
          <a:xfrm>
            <a:off x="457200" y="4389120"/>
            <a:ext cx="1371600" cy="365760"/>
          </a:xfrm>
          <a:prstGeom prst="rect">
            <a:avLst/>
          </a:prstGeom>
          <a:solidFill>
            <a:srgbClr val="2C5F2D"/>
          </a:solidFill>
          <a:ln/>
        </p:spPr>
      </p:sp>
      <p:sp>
        <p:nvSpPr>
          <p:cNvPr id="21" name="Text 19"/>
          <p:cNvSpPr/>
          <p:nvPr/>
        </p:nvSpPr>
        <p:spPr>
          <a:xfrm>
            <a:off x="457200" y="4389120"/>
            <a:ext cx="1371600" cy="36576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发表渠道有限</a:t>
            </a:r>
            <a:endParaRPr lang="en-US" sz="1000" dirty="0"/>
          </a:p>
        </p:txBody>
      </p:sp>
      <p:sp>
        <p:nvSpPr>
          <p:cNvPr id="22" name="Text 20"/>
          <p:cNvSpPr/>
          <p:nvPr/>
        </p:nvSpPr>
        <p:spPr>
          <a:xfrm>
            <a:off x="1920240" y="4389120"/>
            <a:ext cx="6766560" cy="365760"/>
          </a:xfrm>
          <a:prstGeom prst="rect">
            <a:avLst/>
          </a:prstGeom>
          <a:noFill/>
          <a:ln/>
        </p:spPr>
        <p:txBody>
          <a:bodyPr wrap="square" rtlCol="0" anchor="ctr"/>
          <a:lstStyle/>
          <a:p>
            <a:pPr indent="0" marL="0">
              <a:buNone/>
            </a:pPr>
            <a:r>
              <a:rPr lang="en-US" sz="1000" dirty="0">
                <a:solidFill>
                  <a:srgbClr val="2C5F2D"/>
                </a:solidFill>
                <a:latin typeface="Calibri" pitchFamily="34" charset="0"/>
                <a:ea typeface="Calibri" pitchFamily="34" charset="-122"/>
                <a:cs typeface="Calibri" pitchFamily="34" charset="-120"/>
              </a:rPr>
              <a:t>论文发表在《布隆自然科学学会会刊》上，这本地方性期刊的读者群非常有限。</a:t>
            </a:r>
            <a:endParaRPr lang="en-US" sz="1000" dirty="0"/>
          </a:p>
        </p:txBody>
      </p:sp>
      <p:sp>
        <p:nvSpPr>
          <p:cNvPr id="23" name="Text 21"/>
          <p:cNvSpPr/>
          <p:nvPr/>
        </p:nvSpPr>
        <p:spPr>
          <a:xfrm>
            <a:off x="8046720" y="4777740"/>
            <a:ext cx="914400" cy="274320"/>
          </a:xfrm>
          <a:prstGeom prst="rect">
            <a:avLst/>
          </a:prstGeom>
          <a:noFill/>
          <a:ln/>
        </p:spPr>
        <p:txBody>
          <a:bodyPr wrap="square" rtlCol="0" anchor="ctr"/>
          <a:lstStyle/>
          <a:p>
            <a:pPr algn="r" indent="0" marL="0">
              <a:buNone/>
            </a:pPr>
            <a:r>
              <a:rPr lang="en-US" sz="1000" dirty="0">
                <a:solidFill>
                  <a:srgbClr val="6B8E5A"/>
                </a:solidFill>
                <a:latin typeface="Calibri" pitchFamily="34" charset="0"/>
                <a:ea typeface="Calibri" pitchFamily="34" charset="-122"/>
                <a:cs typeface="Calibri" pitchFamily="34" charset="-120"/>
              </a:rPr>
              <a:t>5 / 20</a:t>
            </a:r>
            <a:endParaRPr lang="en-US" sz="1000" dirty="0"/>
          </a:p>
        </p:txBody>
      </p:sp>
      <p:sp>
        <p:nvSpPr>
          <p:cNvPr id="24" name="Shape 22"/>
          <p:cNvSpPr/>
          <p:nvPr/>
        </p:nvSpPr>
        <p:spPr>
          <a:xfrm>
            <a:off x="0" y="5097780"/>
            <a:ext cx="9144000" cy="45720"/>
          </a:xfrm>
          <a:prstGeom prst="rect">
            <a:avLst/>
          </a:prstGeom>
          <a:solidFill>
            <a:srgbClr val="2C5F2D"/>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4A843"/>
          </a:solidFill>
          <a:ln/>
        </p:spPr>
      </p:sp>
      <p:sp>
        <p:nvSpPr>
          <p:cNvPr id="3" name="Text 1"/>
          <p:cNvSpPr/>
          <p:nvPr/>
        </p:nvSpPr>
        <p:spPr>
          <a:xfrm>
            <a:off x="457200" y="228600"/>
            <a:ext cx="8229600" cy="457200"/>
          </a:xfrm>
          <a:prstGeom prst="rect">
            <a:avLst/>
          </a:prstGeom>
          <a:noFill/>
          <a:ln/>
        </p:spPr>
        <p:txBody>
          <a:bodyPr wrap="square" rtlCol="0" anchor="ctr"/>
          <a:lstStyle/>
          <a:p>
            <a:pPr indent="0" marL="0">
              <a:buNone/>
            </a:pPr>
            <a:r>
              <a:rPr lang="en-US" sz="2800" b="1" dirty="0">
                <a:solidFill>
                  <a:srgbClr val="2C5F2D"/>
                </a:solidFill>
                <a:latin typeface="Georgia" pitchFamily="34" charset="0"/>
                <a:ea typeface="Georgia" pitchFamily="34" charset="-122"/>
                <a:cs typeface="Georgia" pitchFamily="34" charset="-120"/>
              </a:rPr>
              <a:t>核心概念（一）：概率论基础</a:t>
            </a:r>
            <a:endParaRPr lang="en-US" sz="2800" dirty="0"/>
          </a:p>
        </p:txBody>
      </p:sp>
      <p:sp>
        <p:nvSpPr>
          <p:cNvPr id="4" name="Text 2"/>
          <p:cNvSpPr/>
          <p:nvPr/>
        </p:nvSpPr>
        <p:spPr>
          <a:xfrm>
            <a:off x="457200" y="685800"/>
            <a:ext cx="8229600" cy="274320"/>
          </a:xfrm>
          <a:prstGeom prst="rect">
            <a:avLst/>
          </a:prstGeom>
          <a:noFill/>
          <a:ln/>
        </p:spPr>
        <p:txBody>
          <a:bodyPr wrap="square" rtlCol="0" anchor="ctr"/>
          <a:lstStyle/>
          <a:p>
            <a:pPr indent="0" marL="0">
              <a:buNone/>
            </a:pPr>
            <a:r>
              <a:rPr lang="en-US" sz="1400" dirty="0">
                <a:solidFill>
                  <a:srgbClr val="6B8E5A"/>
                </a:solidFill>
                <a:latin typeface="Calibri" pitchFamily="34" charset="0"/>
                <a:ea typeface="Calibri" pitchFamily="34" charset="-122"/>
                <a:cs typeface="Calibri" pitchFamily="34" charset="-120"/>
              </a:rPr>
              <a:t>Probability Fundamentals</a:t>
            </a:r>
            <a:endParaRPr lang="en-US" sz="1400" dirty="0"/>
          </a:p>
        </p:txBody>
      </p:sp>
      <p:sp>
        <p:nvSpPr>
          <p:cNvPr id="5" name="Shape 3"/>
          <p:cNvSpPr/>
          <p:nvPr/>
        </p:nvSpPr>
        <p:spPr>
          <a:xfrm>
            <a:off x="457200" y="1005840"/>
            <a:ext cx="1371600" cy="36576"/>
          </a:xfrm>
          <a:prstGeom prst="rect">
            <a:avLst/>
          </a:prstGeom>
          <a:solidFill>
            <a:srgbClr val="97BC62"/>
          </a:solidFill>
          <a:ln/>
        </p:spPr>
      </p:sp>
      <p:sp>
        <p:nvSpPr>
          <p:cNvPr id="6" name="Shape 4"/>
          <p:cNvSpPr/>
          <p:nvPr/>
        </p:nvSpPr>
        <p:spPr>
          <a:xfrm>
            <a:off x="457200" y="1280160"/>
            <a:ext cx="8229600" cy="914400"/>
          </a:xfrm>
          <a:prstGeom prst="rect">
            <a:avLst/>
          </a:prstGeom>
          <a:solidFill>
            <a:srgbClr val="FFFFFF"/>
          </a:solidFill>
          <a:ln w="12700">
            <a:solidFill>
              <a:srgbClr val="97BC62"/>
            </a:solidFill>
            <a:prstDash val="solid"/>
          </a:ln>
        </p:spPr>
      </p:sp>
      <p:sp>
        <p:nvSpPr>
          <p:cNvPr id="7" name="Text 5"/>
          <p:cNvSpPr/>
          <p:nvPr/>
        </p:nvSpPr>
        <p:spPr>
          <a:xfrm>
            <a:off x="731520" y="1371600"/>
            <a:ext cx="7680960" cy="731520"/>
          </a:xfrm>
          <a:prstGeom prst="rect">
            <a:avLst/>
          </a:prstGeom>
          <a:noFill/>
          <a:ln/>
        </p:spPr>
        <p:txBody>
          <a:bodyPr wrap="square" rtlCol="0" anchor="ctr"/>
          <a:lstStyle/>
          <a:p>
            <a:pPr indent="0" marL="0">
              <a:buNone/>
            </a:pPr>
            <a:r>
              <a:rPr lang="en-US" sz="1300" dirty="0">
                <a:solidFill>
                  <a:srgbClr val="2C5F2D"/>
                </a:solidFill>
                <a:latin typeface="Calibri" pitchFamily="34" charset="0"/>
                <a:ea typeface="Calibri" pitchFamily="34" charset="-122"/>
                <a:cs typeface="Calibri" pitchFamily="34" charset="-120"/>
              </a:rPr>
              <a:t>概率（Probability）：衡量某一事件发生可能性的数值，取值范围 [0, 1]。P(A) = 0 表示不可能事件，P(A) = 1 表示必然事件。</a:t>
            </a:r>
            <a:endParaRPr lang="en-US" sz="1300" dirty="0"/>
          </a:p>
        </p:txBody>
      </p:sp>
      <p:sp>
        <p:nvSpPr>
          <p:cNvPr id="8" name="Text 6"/>
          <p:cNvSpPr/>
          <p:nvPr/>
        </p:nvSpPr>
        <p:spPr>
          <a:xfrm>
            <a:off x="457200" y="2377440"/>
            <a:ext cx="8229600" cy="365760"/>
          </a:xfrm>
          <a:prstGeom prst="rect">
            <a:avLst/>
          </a:prstGeom>
          <a:noFill/>
          <a:ln/>
        </p:spPr>
        <p:txBody>
          <a:bodyPr wrap="square" rtlCol="0" anchor="ctr"/>
          <a:lstStyle/>
          <a:p>
            <a:pPr indent="0" marL="0">
              <a:buNone/>
            </a:pPr>
            <a:r>
              <a:rPr lang="en-US" sz="1600" b="1" dirty="0">
                <a:solidFill>
                  <a:srgbClr val="2C5F2D"/>
                </a:solidFill>
                <a:latin typeface="Georgia" pitchFamily="34" charset="0"/>
                <a:ea typeface="Georgia" pitchFamily="34" charset="-122"/>
                <a:cs typeface="Georgia" pitchFamily="34" charset="-120"/>
              </a:rPr>
              <a:t>等可能事件 (Equally Likely Events)</a:t>
            </a:r>
            <a:endParaRPr lang="en-US" sz="1600" dirty="0"/>
          </a:p>
        </p:txBody>
      </p:sp>
      <p:sp>
        <p:nvSpPr>
          <p:cNvPr id="9" name="Text 7"/>
          <p:cNvSpPr/>
          <p:nvPr/>
        </p:nvSpPr>
        <p:spPr>
          <a:xfrm>
            <a:off x="457200" y="2743200"/>
            <a:ext cx="8229600" cy="320040"/>
          </a:xfrm>
          <a:prstGeom prst="rect">
            <a:avLst/>
          </a:prstGeom>
          <a:noFill/>
          <a:ln/>
        </p:spPr>
        <p:txBody>
          <a:bodyPr wrap="square" rtlCol="0" anchor="ctr"/>
          <a:lstStyle/>
          <a:p>
            <a:pPr indent="0" marL="0">
              <a:buNone/>
            </a:pPr>
            <a:r>
              <a:rPr lang="en-US" sz="1200" dirty="0">
                <a:solidFill>
                  <a:srgbClr val="2C5F2D"/>
                </a:solidFill>
                <a:latin typeface="Calibri" pitchFamily="34" charset="0"/>
                <a:ea typeface="Calibri" pitchFamily="34" charset="-122"/>
                <a:cs typeface="Calibri" pitchFamily="34" charset="-120"/>
              </a:rPr>
              <a:t>如果样本空间中每个基本事件发生的概率相等，则称为等可能事件。</a:t>
            </a:r>
            <a:endParaRPr lang="en-US" sz="1200" dirty="0"/>
          </a:p>
        </p:txBody>
      </p:sp>
      <p:sp>
        <p:nvSpPr>
          <p:cNvPr id="10" name="Shape 8"/>
          <p:cNvSpPr/>
          <p:nvPr/>
        </p:nvSpPr>
        <p:spPr>
          <a:xfrm>
            <a:off x="457200" y="3200400"/>
            <a:ext cx="3931920" cy="1371600"/>
          </a:xfrm>
          <a:prstGeom prst="rect">
            <a:avLst/>
          </a:prstGeom>
          <a:solidFill>
            <a:srgbClr val="FFFFFF"/>
          </a:solidFill>
          <a:ln w="12700">
            <a:solidFill>
              <a:srgbClr val="2C5F2D"/>
            </a:solidFill>
            <a:prstDash val="solid"/>
          </a:ln>
        </p:spPr>
      </p:sp>
      <p:sp>
        <p:nvSpPr>
          <p:cNvPr id="11" name="Shape 9"/>
          <p:cNvSpPr/>
          <p:nvPr/>
        </p:nvSpPr>
        <p:spPr>
          <a:xfrm>
            <a:off x="457200" y="3200400"/>
            <a:ext cx="3931920" cy="320040"/>
          </a:xfrm>
          <a:prstGeom prst="rect">
            <a:avLst/>
          </a:prstGeom>
          <a:solidFill>
            <a:srgbClr val="2C5F2D"/>
          </a:solidFill>
          <a:ln/>
        </p:spPr>
      </p:sp>
      <p:sp>
        <p:nvSpPr>
          <p:cNvPr id="12" name="Text 10"/>
          <p:cNvSpPr/>
          <p:nvPr/>
        </p:nvSpPr>
        <p:spPr>
          <a:xfrm>
            <a:off x="548640" y="3200400"/>
            <a:ext cx="3749040" cy="32004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掷硬币</a:t>
            </a:r>
            <a:endParaRPr lang="en-US" sz="1200" dirty="0"/>
          </a:p>
        </p:txBody>
      </p:sp>
      <p:sp>
        <p:nvSpPr>
          <p:cNvPr id="13" name="Text 11"/>
          <p:cNvSpPr/>
          <p:nvPr/>
        </p:nvSpPr>
        <p:spPr>
          <a:xfrm>
            <a:off x="640080" y="3611880"/>
            <a:ext cx="3566160" cy="822960"/>
          </a:xfrm>
          <a:prstGeom prst="rect">
            <a:avLst/>
          </a:prstGeom>
          <a:noFill/>
          <a:ln/>
        </p:spPr>
        <p:txBody>
          <a:bodyPr wrap="square" rtlCol="0" anchor="ctr"/>
          <a:lstStyle/>
          <a:p>
            <a:pPr indent="0" marL="0">
              <a:spcAft>
                <a:spcPts val="400"/>
              </a:spcAft>
              <a:buNone/>
            </a:pPr>
            <a:r>
              <a:rPr lang="en-US" sz="1200" dirty="0">
                <a:solidFill>
                  <a:srgbClr val="2C5F2D"/>
                </a:solidFill>
                <a:latin typeface="Calibri" pitchFamily="34" charset="0"/>
                <a:ea typeface="Calibri" pitchFamily="34" charset="-122"/>
                <a:cs typeface="Calibri" pitchFamily="34" charset="-120"/>
              </a:rPr>
              <a:t>P(正面) = 1/2 = 0.5</a:t>
            </a:r>
            <a:endParaRPr lang="en-US" sz="1200" dirty="0"/>
          </a:p>
          <a:p>
            <a:pPr indent="0" marL="0">
              <a:spcAft>
                <a:spcPts val="400"/>
              </a:spcAft>
              <a:buNone/>
            </a:pPr>
            <a:r>
              <a:rPr lang="en-US" sz="1200" dirty="0">
                <a:solidFill>
                  <a:srgbClr val="2C5F2D"/>
                </a:solidFill>
                <a:latin typeface="Calibri" pitchFamily="34" charset="0"/>
                <a:ea typeface="Calibri" pitchFamily="34" charset="-122"/>
                <a:cs typeface="Calibri" pitchFamily="34" charset="-120"/>
              </a:rPr>
              <a:t>P(反面) = 1/2 = 0.5</a:t>
            </a:r>
            <a:endParaRPr lang="en-US" sz="1200" dirty="0"/>
          </a:p>
          <a:p>
            <a:pPr indent="0" marL="0">
              <a:spcAft>
                <a:spcPts val="400"/>
              </a:spcAft>
              <a:buNone/>
            </a:pPr>
            <a:r>
              <a:rPr lang="en-US" sz="1200" dirty="0">
                <a:solidFill>
                  <a:srgbClr val="2C5F2D"/>
                </a:solidFill>
                <a:latin typeface="Calibri" pitchFamily="34" charset="0"/>
                <a:ea typeface="Calibri" pitchFamily="34" charset="-122"/>
                <a:cs typeface="Calibri" pitchFamily="34" charset="-120"/>
              </a:rPr>
              <a:t>P(正面) + P(反面) = 1</a:t>
            </a:r>
            <a:endParaRPr lang="en-US" sz="1200" dirty="0"/>
          </a:p>
        </p:txBody>
      </p:sp>
      <p:sp>
        <p:nvSpPr>
          <p:cNvPr id="14" name="Shape 12"/>
          <p:cNvSpPr/>
          <p:nvPr/>
        </p:nvSpPr>
        <p:spPr>
          <a:xfrm>
            <a:off x="4754880" y="3200400"/>
            <a:ext cx="3931920" cy="1371600"/>
          </a:xfrm>
          <a:prstGeom prst="rect">
            <a:avLst/>
          </a:prstGeom>
          <a:solidFill>
            <a:srgbClr val="FFFFFF"/>
          </a:solidFill>
          <a:ln w="12700">
            <a:solidFill>
              <a:srgbClr val="D4A843"/>
            </a:solidFill>
            <a:prstDash val="solid"/>
          </a:ln>
        </p:spPr>
      </p:sp>
      <p:sp>
        <p:nvSpPr>
          <p:cNvPr id="15" name="Shape 13"/>
          <p:cNvSpPr/>
          <p:nvPr/>
        </p:nvSpPr>
        <p:spPr>
          <a:xfrm>
            <a:off x="4754880" y="3200400"/>
            <a:ext cx="3931920" cy="320040"/>
          </a:xfrm>
          <a:prstGeom prst="rect">
            <a:avLst/>
          </a:prstGeom>
          <a:solidFill>
            <a:srgbClr val="D4A843"/>
          </a:solidFill>
          <a:ln/>
        </p:spPr>
      </p:sp>
      <p:sp>
        <p:nvSpPr>
          <p:cNvPr id="16" name="Text 14"/>
          <p:cNvSpPr/>
          <p:nvPr/>
        </p:nvSpPr>
        <p:spPr>
          <a:xfrm>
            <a:off x="4846320" y="3200400"/>
            <a:ext cx="3749040" cy="32004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杂合子 Aa 产生配子</a:t>
            </a:r>
            <a:endParaRPr lang="en-US" sz="1200" dirty="0"/>
          </a:p>
        </p:txBody>
      </p:sp>
      <p:sp>
        <p:nvSpPr>
          <p:cNvPr id="17" name="Text 15"/>
          <p:cNvSpPr/>
          <p:nvPr/>
        </p:nvSpPr>
        <p:spPr>
          <a:xfrm>
            <a:off x="4937760" y="3611880"/>
            <a:ext cx="3566160" cy="822960"/>
          </a:xfrm>
          <a:prstGeom prst="rect">
            <a:avLst/>
          </a:prstGeom>
          <a:noFill/>
          <a:ln/>
        </p:spPr>
        <p:txBody>
          <a:bodyPr wrap="square" rtlCol="0" anchor="ctr"/>
          <a:lstStyle/>
          <a:p>
            <a:pPr indent="0" marL="0">
              <a:spcAft>
                <a:spcPts val="400"/>
              </a:spcAft>
              <a:buNone/>
            </a:pPr>
            <a:r>
              <a:rPr lang="en-US" sz="1200" dirty="0">
                <a:solidFill>
                  <a:srgbClr val="2C5F2D"/>
                </a:solidFill>
                <a:latin typeface="Calibri" pitchFamily="34" charset="0"/>
                <a:ea typeface="Calibri" pitchFamily="34" charset="-122"/>
                <a:cs typeface="Calibri" pitchFamily="34" charset="-120"/>
              </a:rPr>
              <a:t>P(A配子) = 1/2</a:t>
            </a:r>
            <a:endParaRPr lang="en-US" sz="1200" dirty="0"/>
          </a:p>
          <a:p>
            <a:pPr indent="0" marL="0">
              <a:spcAft>
                <a:spcPts val="400"/>
              </a:spcAft>
              <a:buNone/>
            </a:pPr>
            <a:r>
              <a:rPr lang="en-US" sz="1200" dirty="0">
                <a:solidFill>
                  <a:srgbClr val="2C5F2D"/>
                </a:solidFill>
                <a:latin typeface="Calibri" pitchFamily="34" charset="0"/>
                <a:ea typeface="Calibri" pitchFamily="34" charset="-122"/>
                <a:cs typeface="Calibri" pitchFamily="34" charset="-120"/>
              </a:rPr>
              <a:t>P(a配子) = 1/2</a:t>
            </a:r>
            <a:endParaRPr lang="en-US" sz="1200" dirty="0"/>
          </a:p>
          <a:p>
            <a:pPr indent="0" marL="0">
              <a:spcAft>
                <a:spcPts val="400"/>
              </a:spcAft>
              <a:buNone/>
            </a:pPr>
            <a:r>
              <a:rPr lang="en-US" sz="1200" dirty="0">
                <a:solidFill>
                  <a:srgbClr val="2C5F2D"/>
                </a:solidFill>
                <a:latin typeface="Calibri" pitchFamily="34" charset="0"/>
                <a:ea typeface="Calibri" pitchFamily="34" charset="-122"/>
                <a:cs typeface="Calibri" pitchFamily="34" charset="-120"/>
              </a:rPr>
              <a:t>等位基因分离是等可能事件</a:t>
            </a:r>
            <a:endParaRPr lang="en-US" sz="1200" dirty="0"/>
          </a:p>
        </p:txBody>
      </p:sp>
      <p:sp>
        <p:nvSpPr>
          <p:cNvPr id="18" name="Text 16"/>
          <p:cNvSpPr/>
          <p:nvPr/>
        </p:nvSpPr>
        <p:spPr>
          <a:xfrm>
            <a:off x="8046720" y="4777740"/>
            <a:ext cx="914400" cy="274320"/>
          </a:xfrm>
          <a:prstGeom prst="rect">
            <a:avLst/>
          </a:prstGeom>
          <a:noFill/>
          <a:ln/>
        </p:spPr>
        <p:txBody>
          <a:bodyPr wrap="square" rtlCol="0" anchor="ctr"/>
          <a:lstStyle/>
          <a:p>
            <a:pPr algn="r" indent="0" marL="0">
              <a:buNone/>
            </a:pPr>
            <a:r>
              <a:rPr lang="en-US" sz="1000" dirty="0">
                <a:solidFill>
                  <a:srgbClr val="6B8E5A"/>
                </a:solidFill>
                <a:latin typeface="Calibri" pitchFamily="34" charset="0"/>
                <a:ea typeface="Calibri" pitchFamily="34" charset="-122"/>
                <a:cs typeface="Calibri" pitchFamily="34" charset="-120"/>
              </a:rPr>
              <a:t>6 / 20</a:t>
            </a:r>
            <a:endParaRPr lang="en-US" sz="1000" dirty="0"/>
          </a:p>
        </p:txBody>
      </p:sp>
      <p:sp>
        <p:nvSpPr>
          <p:cNvPr id="19" name="Shape 17"/>
          <p:cNvSpPr/>
          <p:nvPr/>
        </p:nvSpPr>
        <p:spPr>
          <a:xfrm>
            <a:off x="0" y="5097780"/>
            <a:ext cx="9144000" cy="45720"/>
          </a:xfrm>
          <a:prstGeom prst="rect">
            <a:avLst/>
          </a:prstGeom>
          <a:solidFill>
            <a:srgbClr val="2C5F2D"/>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4A843"/>
          </a:solidFill>
          <a:ln/>
        </p:spPr>
      </p:sp>
      <p:sp>
        <p:nvSpPr>
          <p:cNvPr id="3" name="Text 1"/>
          <p:cNvSpPr/>
          <p:nvPr/>
        </p:nvSpPr>
        <p:spPr>
          <a:xfrm>
            <a:off x="457200" y="228600"/>
            <a:ext cx="8229600" cy="457200"/>
          </a:xfrm>
          <a:prstGeom prst="rect">
            <a:avLst/>
          </a:prstGeom>
          <a:noFill/>
          <a:ln/>
        </p:spPr>
        <p:txBody>
          <a:bodyPr wrap="square" rtlCol="0" anchor="ctr"/>
          <a:lstStyle/>
          <a:p>
            <a:pPr indent="0" marL="0">
              <a:buNone/>
            </a:pPr>
            <a:r>
              <a:rPr lang="en-US" sz="2800" b="1" dirty="0">
                <a:solidFill>
                  <a:srgbClr val="2C5F2D"/>
                </a:solidFill>
                <a:latin typeface="Georgia" pitchFamily="34" charset="0"/>
                <a:ea typeface="Georgia" pitchFamily="34" charset="-122"/>
                <a:cs typeface="Georgia" pitchFamily="34" charset="-120"/>
              </a:rPr>
              <a:t>核心概念（二）：乘法法则与加法法则</a:t>
            </a:r>
            <a:endParaRPr lang="en-US" sz="2800" dirty="0"/>
          </a:p>
        </p:txBody>
      </p:sp>
      <p:sp>
        <p:nvSpPr>
          <p:cNvPr id="4" name="Text 2"/>
          <p:cNvSpPr/>
          <p:nvPr/>
        </p:nvSpPr>
        <p:spPr>
          <a:xfrm>
            <a:off x="457200" y="685800"/>
            <a:ext cx="8229600" cy="274320"/>
          </a:xfrm>
          <a:prstGeom prst="rect">
            <a:avLst/>
          </a:prstGeom>
          <a:noFill/>
          <a:ln/>
        </p:spPr>
        <p:txBody>
          <a:bodyPr wrap="square" rtlCol="0" anchor="ctr"/>
          <a:lstStyle/>
          <a:p>
            <a:pPr indent="0" marL="0">
              <a:buNone/>
            </a:pPr>
            <a:r>
              <a:rPr lang="en-US" sz="1400" dirty="0">
                <a:solidFill>
                  <a:srgbClr val="6B8E5A"/>
                </a:solidFill>
                <a:latin typeface="Calibri" pitchFamily="34" charset="0"/>
                <a:ea typeface="Calibri" pitchFamily="34" charset="-122"/>
                <a:cs typeface="Calibri" pitchFamily="34" charset="-120"/>
              </a:rPr>
              <a:t>Product Rule &amp; Sum Rule</a:t>
            </a:r>
            <a:endParaRPr lang="en-US" sz="1400" dirty="0"/>
          </a:p>
        </p:txBody>
      </p:sp>
      <p:sp>
        <p:nvSpPr>
          <p:cNvPr id="5" name="Shape 3"/>
          <p:cNvSpPr/>
          <p:nvPr/>
        </p:nvSpPr>
        <p:spPr>
          <a:xfrm>
            <a:off x="457200" y="1005840"/>
            <a:ext cx="1371600" cy="36576"/>
          </a:xfrm>
          <a:prstGeom prst="rect">
            <a:avLst/>
          </a:prstGeom>
          <a:solidFill>
            <a:srgbClr val="97BC62"/>
          </a:solidFill>
          <a:ln/>
        </p:spPr>
      </p:sp>
      <p:sp>
        <p:nvSpPr>
          <p:cNvPr id="6" name="Shape 4"/>
          <p:cNvSpPr/>
          <p:nvPr/>
        </p:nvSpPr>
        <p:spPr>
          <a:xfrm>
            <a:off x="457200" y="1280160"/>
            <a:ext cx="8229600" cy="1645920"/>
          </a:xfrm>
          <a:prstGeom prst="rect">
            <a:avLst/>
          </a:prstGeom>
          <a:solidFill>
            <a:srgbClr val="FFFFFF"/>
          </a:solidFill>
          <a:ln w="12700">
            <a:solidFill>
              <a:srgbClr val="2C5F2D"/>
            </a:solidFill>
            <a:prstDash val="solid"/>
          </a:ln>
        </p:spPr>
      </p:sp>
      <p:sp>
        <p:nvSpPr>
          <p:cNvPr id="7" name="Shape 5"/>
          <p:cNvSpPr/>
          <p:nvPr/>
        </p:nvSpPr>
        <p:spPr>
          <a:xfrm>
            <a:off x="457200" y="1280160"/>
            <a:ext cx="8229600" cy="365760"/>
          </a:xfrm>
          <a:prstGeom prst="rect">
            <a:avLst/>
          </a:prstGeom>
          <a:solidFill>
            <a:srgbClr val="2C5F2D"/>
          </a:solidFill>
          <a:ln/>
        </p:spPr>
      </p:sp>
      <p:sp>
        <p:nvSpPr>
          <p:cNvPr id="8" name="Text 6"/>
          <p:cNvSpPr/>
          <p:nvPr/>
        </p:nvSpPr>
        <p:spPr>
          <a:xfrm>
            <a:off x="594360" y="1280160"/>
            <a:ext cx="7955280" cy="365760"/>
          </a:xfrm>
          <a:prstGeom prst="rect">
            <a:avLst/>
          </a:prstGeom>
          <a:noFill/>
          <a:ln/>
        </p:spPr>
        <p:txBody>
          <a:bodyPr wrap="square"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乘法法则 (Product Rule)</a:t>
            </a:r>
            <a:endParaRPr lang="en-US" sz="1400" dirty="0"/>
          </a:p>
        </p:txBody>
      </p:sp>
      <p:sp>
        <p:nvSpPr>
          <p:cNvPr id="9" name="Text 7"/>
          <p:cNvSpPr/>
          <p:nvPr/>
        </p:nvSpPr>
        <p:spPr>
          <a:xfrm>
            <a:off x="640080" y="1737360"/>
            <a:ext cx="7863840" cy="320040"/>
          </a:xfrm>
          <a:prstGeom prst="rect">
            <a:avLst/>
          </a:prstGeom>
          <a:noFill/>
          <a:ln/>
        </p:spPr>
        <p:txBody>
          <a:bodyPr wrap="square" rtlCol="0" anchor="ctr"/>
          <a:lstStyle/>
          <a:p>
            <a:pPr indent="0" marL="0">
              <a:buNone/>
            </a:pPr>
            <a:r>
              <a:rPr lang="en-US" sz="1200" dirty="0">
                <a:solidFill>
                  <a:srgbClr val="2C5F2D"/>
                </a:solidFill>
                <a:latin typeface="Calibri" pitchFamily="34" charset="0"/>
                <a:ea typeface="Calibri" pitchFamily="34" charset="-122"/>
                <a:cs typeface="Calibri" pitchFamily="34" charset="-120"/>
              </a:rPr>
              <a:t>如果两个事件相互独立，则它们同时发生的概率等于各自概率的乘积。</a:t>
            </a:r>
            <a:endParaRPr lang="en-US" sz="1200" dirty="0"/>
          </a:p>
        </p:txBody>
      </p:sp>
      <p:sp>
        <p:nvSpPr>
          <p:cNvPr id="10" name="Text 8"/>
          <p:cNvSpPr/>
          <p:nvPr/>
        </p:nvSpPr>
        <p:spPr>
          <a:xfrm>
            <a:off x="640080" y="2103120"/>
            <a:ext cx="7863840" cy="365760"/>
          </a:xfrm>
          <a:prstGeom prst="rect">
            <a:avLst/>
          </a:prstGeom>
          <a:noFill/>
          <a:ln/>
        </p:spPr>
        <p:txBody>
          <a:bodyPr wrap="square" rtlCol="0" anchor="ctr"/>
          <a:lstStyle/>
          <a:p>
            <a:pPr indent="0" marL="0">
              <a:buNone/>
            </a:pPr>
            <a:r>
              <a:rPr lang="en-US" sz="1800" b="1" dirty="0">
                <a:solidFill>
                  <a:srgbClr val="D4A843"/>
                </a:solidFill>
                <a:latin typeface="Georgia" pitchFamily="34" charset="0"/>
                <a:ea typeface="Georgia" pitchFamily="34" charset="-122"/>
                <a:cs typeface="Georgia" pitchFamily="34" charset="-120"/>
              </a:rPr>
              <a:t>P(A 且 B) = P(A) x P(B)</a:t>
            </a:r>
            <a:endParaRPr lang="en-US" sz="1800" dirty="0"/>
          </a:p>
        </p:txBody>
      </p:sp>
      <p:sp>
        <p:nvSpPr>
          <p:cNvPr id="11" name="Text 9"/>
          <p:cNvSpPr/>
          <p:nvPr/>
        </p:nvSpPr>
        <p:spPr>
          <a:xfrm>
            <a:off x="640080" y="2514600"/>
            <a:ext cx="7863840" cy="274320"/>
          </a:xfrm>
          <a:prstGeom prst="rect">
            <a:avLst/>
          </a:prstGeom>
          <a:noFill/>
          <a:ln/>
        </p:spPr>
        <p:txBody>
          <a:bodyPr wrap="square" rtlCol="0" anchor="ctr"/>
          <a:lstStyle/>
          <a:p>
            <a:pPr indent="0" marL="0">
              <a:buNone/>
            </a:pPr>
            <a:r>
              <a:rPr lang="en-US" sz="1100" dirty="0">
                <a:solidFill>
                  <a:srgbClr val="6B8E5A"/>
                </a:solidFill>
                <a:latin typeface="Calibri" pitchFamily="34" charset="0"/>
                <a:ea typeface="Calibri" pitchFamily="34" charset="-122"/>
                <a:cs typeface="Calibri" pitchFamily="34" charset="-120"/>
              </a:rPr>
              <a:t>示例：AaBb 产生 AB 配子的概率 = P(A) x P(B) = 1/2 x 1/2 = 1/4</a:t>
            </a:r>
            <a:endParaRPr lang="en-US" sz="1100" dirty="0"/>
          </a:p>
        </p:txBody>
      </p:sp>
      <p:sp>
        <p:nvSpPr>
          <p:cNvPr id="12" name="Shape 10"/>
          <p:cNvSpPr/>
          <p:nvPr/>
        </p:nvSpPr>
        <p:spPr>
          <a:xfrm>
            <a:off x="457200" y="3108960"/>
            <a:ext cx="8229600" cy="1645920"/>
          </a:xfrm>
          <a:prstGeom prst="rect">
            <a:avLst/>
          </a:prstGeom>
          <a:solidFill>
            <a:srgbClr val="FFFFFF"/>
          </a:solidFill>
          <a:ln w="12700">
            <a:solidFill>
              <a:srgbClr val="D4A843"/>
            </a:solidFill>
            <a:prstDash val="solid"/>
          </a:ln>
        </p:spPr>
      </p:sp>
      <p:sp>
        <p:nvSpPr>
          <p:cNvPr id="13" name="Shape 11"/>
          <p:cNvSpPr/>
          <p:nvPr/>
        </p:nvSpPr>
        <p:spPr>
          <a:xfrm>
            <a:off x="457200" y="3108960"/>
            <a:ext cx="8229600" cy="365760"/>
          </a:xfrm>
          <a:prstGeom prst="rect">
            <a:avLst/>
          </a:prstGeom>
          <a:solidFill>
            <a:srgbClr val="D4A843"/>
          </a:solidFill>
          <a:ln/>
        </p:spPr>
      </p:sp>
      <p:sp>
        <p:nvSpPr>
          <p:cNvPr id="14" name="Text 12"/>
          <p:cNvSpPr/>
          <p:nvPr/>
        </p:nvSpPr>
        <p:spPr>
          <a:xfrm>
            <a:off x="594360" y="3108960"/>
            <a:ext cx="7955280" cy="365760"/>
          </a:xfrm>
          <a:prstGeom prst="rect">
            <a:avLst/>
          </a:prstGeom>
          <a:noFill/>
          <a:ln/>
        </p:spPr>
        <p:txBody>
          <a:bodyPr wrap="square"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加法法则 (Sum Rule)</a:t>
            </a:r>
            <a:endParaRPr lang="en-US" sz="1400" dirty="0"/>
          </a:p>
        </p:txBody>
      </p:sp>
      <p:sp>
        <p:nvSpPr>
          <p:cNvPr id="15" name="Text 13"/>
          <p:cNvSpPr/>
          <p:nvPr/>
        </p:nvSpPr>
        <p:spPr>
          <a:xfrm>
            <a:off x="640080" y="3566160"/>
            <a:ext cx="7863840" cy="320040"/>
          </a:xfrm>
          <a:prstGeom prst="rect">
            <a:avLst/>
          </a:prstGeom>
          <a:noFill/>
          <a:ln/>
        </p:spPr>
        <p:txBody>
          <a:bodyPr wrap="square" rtlCol="0" anchor="ctr"/>
          <a:lstStyle/>
          <a:p>
            <a:pPr indent="0" marL="0">
              <a:buNone/>
            </a:pPr>
            <a:r>
              <a:rPr lang="en-US" sz="1200" dirty="0">
                <a:solidFill>
                  <a:srgbClr val="2C5F2D"/>
                </a:solidFill>
                <a:latin typeface="Calibri" pitchFamily="34" charset="0"/>
                <a:ea typeface="Calibri" pitchFamily="34" charset="-122"/>
                <a:cs typeface="Calibri" pitchFamily="34" charset="-120"/>
              </a:rPr>
              <a:t>如果两个事件互斥（不能同时发生），则它们中任一事件发生的概率等于各自概率之和。</a:t>
            </a:r>
            <a:endParaRPr lang="en-US" sz="1200" dirty="0"/>
          </a:p>
        </p:txBody>
      </p:sp>
      <p:sp>
        <p:nvSpPr>
          <p:cNvPr id="16" name="Text 14"/>
          <p:cNvSpPr/>
          <p:nvPr/>
        </p:nvSpPr>
        <p:spPr>
          <a:xfrm>
            <a:off x="640080" y="3931920"/>
            <a:ext cx="7863840" cy="365760"/>
          </a:xfrm>
          <a:prstGeom prst="rect">
            <a:avLst/>
          </a:prstGeom>
          <a:noFill/>
          <a:ln/>
        </p:spPr>
        <p:txBody>
          <a:bodyPr wrap="square" rtlCol="0" anchor="ctr"/>
          <a:lstStyle/>
          <a:p>
            <a:pPr indent="0" marL="0">
              <a:buNone/>
            </a:pPr>
            <a:r>
              <a:rPr lang="en-US" sz="1800" b="1" dirty="0">
                <a:solidFill>
                  <a:srgbClr val="2C5F2D"/>
                </a:solidFill>
                <a:latin typeface="Georgia" pitchFamily="34" charset="0"/>
                <a:ea typeface="Georgia" pitchFamily="34" charset="-122"/>
                <a:cs typeface="Georgia" pitchFamily="34" charset="-120"/>
              </a:rPr>
              <a:t>P(A 或 B) = P(A) + P(B)</a:t>
            </a:r>
            <a:endParaRPr lang="en-US" sz="1800" dirty="0"/>
          </a:p>
        </p:txBody>
      </p:sp>
      <p:sp>
        <p:nvSpPr>
          <p:cNvPr id="17" name="Text 15"/>
          <p:cNvSpPr/>
          <p:nvPr/>
        </p:nvSpPr>
        <p:spPr>
          <a:xfrm>
            <a:off x="640080" y="4343400"/>
            <a:ext cx="7863840" cy="274320"/>
          </a:xfrm>
          <a:prstGeom prst="rect">
            <a:avLst/>
          </a:prstGeom>
          <a:noFill/>
          <a:ln/>
        </p:spPr>
        <p:txBody>
          <a:bodyPr wrap="square" rtlCol="0" anchor="ctr"/>
          <a:lstStyle/>
          <a:p>
            <a:pPr indent="0" marL="0">
              <a:buNone/>
            </a:pPr>
            <a:r>
              <a:rPr lang="en-US" sz="1100" dirty="0">
                <a:solidFill>
                  <a:srgbClr val="6B8E5A"/>
                </a:solidFill>
                <a:latin typeface="Calibri" pitchFamily="34" charset="0"/>
                <a:ea typeface="Calibri" pitchFamily="34" charset="-122"/>
                <a:cs typeface="Calibri" pitchFamily="34" charset="-120"/>
              </a:rPr>
              <a:t>示例：Aa 自交后代中显性表型的概率 = P(AA) + P(Aa) = 1/4 + 1/2 = 3/4</a:t>
            </a:r>
            <a:endParaRPr lang="en-US" sz="1100" dirty="0"/>
          </a:p>
        </p:txBody>
      </p:sp>
      <p:sp>
        <p:nvSpPr>
          <p:cNvPr id="18" name="Text 16"/>
          <p:cNvSpPr/>
          <p:nvPr/>
        </p:nvSpPr>
        <p:spPr>
          <a:xfrm>
            <a:off x="8046720" y="4777740"/>
            <a:ext cx="914400" cy="274320"/>
          </a:xfrm>
          <a:prstGeom prst="rect">
            <a:avLst/>
          </a:prstGeom>
          <a:noFill/>
          <a:ln/>
        </p:spPr>
        <p:txBody>
          <a:bodyPr wrap="square" rtlCol="0" anchor="ctr"/>
          <a:lstStyle/>
          <a:p>
            <a:pPr algn="r" indent="0" marL="0">
              <a:buNone/>
            </a:pPr>
            <a:r>
              <a:rPr lang="en-US" sz="1000" dirty="0">
                <a:solidFill>
                  <a:srgbClr val="6B8E5A"/>
                </a:solidFill>
                <a:latin typeface="Calibri" pitchFamily="34" charset="0"/>
                <a:ea typeface="Calibri" pitchFamily="34" charset="-122"/>
                <a:cs typeface="Calibri" pitchFamily="34" charset="-120"/>
              </a:rPr>
              <a:t>7 / 20</a:t>
            </a:r>
            <a:endParaRPr lang="en-US" sz="1000" dirty="0"/>
          </a:p>
        </p:txBody>
      </p:sp>
      <p:sp>
        <p:nvSpPr>
          <p:cNvPr id="19" name="Shape 17"/>
          <p:cNvSpPr/>
          <p:nvPr/>
        </p:nvSpPr>
        <p:spPr>
          <a:xfrm>
            <a:off x="0" y="5097780"/>
            <a:ext cx="9144000" cy="45720"/>
          </a:xfrm>
          <a:prstGeom prst="rect">
            <a:avLst/>
          </a:prstGeom>
          <a:solidFill>
            <a:srgbClr val="2C5F2D"/>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4A843"/>
          </a:solidFill>
          <a:ln/>
        </p:spPr>
      </p:sp>
      <p:sp>
        <p:nvSpPr>
          <p:cNvPr id="3" name="Text 1"/>
          <p:cNvSpPr/>
          <p:nvPr/>
        </p:nvSpPr>
        <p:spPr>
          <a:xfrm>
            <a:off x="457200" y="228600"/>
            <a:ext cx="8229600" cy="457200"/>
          </a:xfrm>
          <a:prstGeom prst="rect">
            <a:avLst/>
          </a:prstGeom>
          <a:noFill/>
          <a:ln/>
        </p:spPr>
        <p:txBody>
          <a:bodyPr wrap="square" rtlCol="0" anchor="ctr"/>
          <a:lstStyle/>
          <a:p>
            <a:pPr indent="0" marL="0">
              <a:buNone/>
            </a:pPr>
            <a:r>
              <a:rPr lang="en-US" sz="2800" b="1" dirty="0">
                <a:solidFill>
                  <a:srgbClr val="2C5F2D"/>
                </a:solidFill>
                <a:latin typeface="Georgia" pitchFamily="34" charset="0"/>
                <a:ea typeface="Georgia" pitchFamily="34" charset="-122"/>
                <a:cs typeface="Georgia" pitchFamily="34" charset="-120"/>
              </a:rPr>
              <a:t>核心概念（三）：二项分布与孟德尔比例</a:t>
            </a:r>
            <a:endParaRPr lang="en-US" sz="2800" dirty="0"/>
          </a:p>
        </p:txBody>
      </p:sp>
      <p:sp>
        <p:nvSpPr>
          <p:cNvPr id="4" name="Text 2"/>
          <p:cNvSpPr/>
          <p:nvPr/>
        </p:nvSpPr>
        <p:spPr>
          <a:xfrm>
            <a:off x="457200" y="685800"/>
            <a:ext cx="8229600" cy="274320"/>
          </a:xfrm>
          <a:prstGeom prst="rect">
            <a:avLst/>
          </a:prstGeom>
          <a:noFill/>
          <a:ln/>
        </p:spPr>
        <p:txBody>
          <a:bodyPr wrap="square" rtlCol="0" anchor="ctr"/>
          <a:lstStyle/>
          <a:p>
            <a:pPr indent="0" marL="0">
              <a:buNone/>
            </a:pPr>
            <a:r>
              <a:rPr lang="en-US" sz="1400" dirty="0">
                <a:solidFill>
                  <a:srgbClr val="6B8E5A"/>
                </a:solidFill>
                <a:latin typeface="Calibri" pitchFamily="34" charset="0"/>
                <a:ea typeface="Calibri" pitchFamily="34" charset="-122"/>
                <a:cs typeface="Calibri" pitchFamily="34" charset="-120"/>
              </a:rPr>
              <a:t>Binomial Distribution &amp; Mendelian Ratios</a:t>
            </a:r>
            <a:endParaRPr lang="en-US" sz="1400" dirty="0"/>
          </a:p>
        </p:txBody>
      </p:sp>
      <p:sp>
        <p:nvSpPr>
          <p:cNvPr id="5" name="Shape 3"/>
          <p:cNvSpPr/>
          <p:nvPr/>
        </p:nvSpPr>
        <p:spPr>
          <a:xfrm>
            <a:off x="457200" y="1005840"/>
            <a:ext cx="1371600" cy="36576"/>
          </a:xfrm>
          <a:prstGeom prst="rect">
            <a:avLst/>
          </a:prstGeom>
          <a:solidFill>
            <a:srgbClr val="97BC62"/>
          </a:solidFill>
          <a:ln/>
        </p:spPr>
      </p:sp>
      <p:sp>
        <p:nvSpPr>
          <p:cNvPr id="6" name="Text 4"/>
          <p:cNvSpPr/>
          <p:nvPr/>
        </p:nvSpPr>
        <p:spPr>
          <a:xfrm>
            <a:off x="457200" y="1280160"/>
            <a:ext cx="8229600" cy="548640"/>
          </a:xfrm>
          <a:prstGeom prst="rect">
            <a:avLst/>
          </a:prstGeom>
          <a:noFill/>
          <a:ln/>
        </p:spPr>
        <p:txBody>
          <a:bodyPr wrap="square" rtlCol="0" anchor="ctr"/>
          <a:lstStyle/>
          <a:p>
            <a:pPr indent="0" marL="0">
              <a:buNone/>
            </a:pPr>
            <a:r>
              <a:rPr lang="en-US" sz="1200" dirty="0">
                <a:solidFill>
                  <a:srgbClr val="2C5F2D"/>
                </a:solidFill>
                <a:latin typeface="Calibri" pitchFamily="34" charset="0"/>
                <a:ea typeface="Calibri" pitchFamily="34" charset="-122"/>
                <a:cs typeface="Calibri" pitchFamily="34" charset="-120"/>
              </a:rPr>
              <a:t>当每次试验只有两种结果（如显性/隐性），且各次试验独立、概率不变时，n 次试验中出现 k 次某种结果的概率服从二项分布。</a:t>
            </a:r>
            <a:endParaRPr lang="en-US" sz="1200" dirty="0"/>
          </a:p>
        </p:txBody>
      </p:sp>
      <p:sp>
        <p:nvSpPr>
          <p:cNvPr id="7" name="Shape 5"/>
          <p:cNvSpPr/>
          <p:nvPr/>
        </p:nvSpPr>
        <p:spPr>
          <a:xfrm>
            <a:off x="1371600" y="1920240"/>
            <a:ext cx="7315200" cy="731520"/>
          </a:xfrm>
          <a:prstGeom prst="rect">
            <a:avLst/>
          </a:prstGeom>
          <a:solidFill>
            <a:srgbClr val="F0F4E8"/>
          </a:solidFill>
          <a:ln w="25400">
            <a:solidFill>
              <a:srgbClr val="2C5F2D"/>
            </a:solidFill>
            <a:prstDash val="solid"/>
          </a:ln>
        </p:spPr>
      </p:sp>
      <p:sp>
        <p:nvSpPr>
          <p:cNvPr id="8" name="Text 6"/>
          <p:cNvSpPr/>
          <p:nvPr/>
        </p:nvSpPr>
        <p:spPr>
          <a:xfrm>
            <a:off x="1371600" y="1920240"/>
            <a:ext cx="7315200" cy="731520"/>
          </a:xfrm>
          <a:prstGeom prst="rect">
            <a:avLst/>
          </a:prstGeom>
          <a:noFill/>
          <a:ln/>
        </p:spPr>
        <p:txBody>
          <a:bodyPr wrap="square" rtlCol="0" anchor="ctr"/>
          <a:lstStyle/>
          <a:p>
            <a:pPr algn="ctr" indent="0" marL="0">
              <a:buNone/>
            </a:pPr>
            <a:r>
              <a:rPr lang="en-US" sz="2200" b="1" dirty="0">
                <a:solidFill>
                  <a:srgbClr val="2C5F2D"/>
                </a:solidFill>
                <a:latin typeface="Georgia" pitchFamily="34" charset="0"/>
                <a:ea typeface="Georgia" pitchFamily="34" charset="-122"/>
                <a:cs typeface="Georgia" pitchFamily="34" charset="-120"/>
              </a:rPr>
              <a:t>P(k) = C(n,k) x p^k x q^(n-k)</a:t>
            </a:r>
            <a:endParaRPr lang="en-US" sz="2200" dirty="0"/>
          </a:p>
        </p:txBody>
      </p:sp>
      <p:sp>
        <p:nvSpPr>
          <p:cNvPr id="9" name="Shape 7"/>
          <p:cNvSpPr/>
          <p:nvPr/>
        </p:nvSpPr>
        <p:spPr>
          <a:xfrm>
            <a:off x="457200" y="2834640"/>
            <a:ext cx="3931920" cy="1828800"/>
          </a:xfrm>
          <a:prstGeom prst="rect">
            <a:avLst/>
          </a:prstGeom>
          <a:solidFill>
            <a:srgbClr val="FFFFFF"/>
          </a:solidFill>
          <a:ln w="12700">
            <a:solidFill>
              <a:srgbClr val="97BC62"/>
            </a:solidFill>
            <a:prstDash val="solid"/>
          </a:ln>
        </p:spPr>
      </p:sp>
      <p:sp>
        <p:nvSpPr>
          <p:cNvPr id="10" name="Text 8"/>
          <p:cNvSpPr/>
          <p:nvPr/>
        </p:nvSpPr>
        <p:spPr>
          <a:xfrm>
            <a:off x="594360" y="2880360"/>
            <a:ext cx="3657600" cy="274320"/>
          </a:xfrm>
          <a:prstGeom prst="rect">
            <a:avLst/>
          </a:prstGeom>
          <a:noFill/>
          <a:ln/>
        </p:spPr>
        <p:txBody>
          <a:bodyPr wrap="square" rtlCol="0" anchor="ctr"/>
          <a:lstStyle/>
          <a:p>
            <a:pPr indent="0" marL="0">
              <a:buNone/>
            </a:pPr>
            <a:r>
              <a:rPr lang="en-US" sz="1300" b="1" dirty="0">
                <a:solidFill>
                  <a:srgbClr val="2C5F2D"/>
                </a:solidFill>
                <a:latin typeface="Georgia" pitchFamily="34" charset="0"/>
                <a:ea typeface="Georgia" pitchFamily="34" charset="-122"/>
                <a:cs typeface="Georgia" pitchFamily="34" charset="-120"/>
              </a:rPr>
              <a:t>变量说明</a:t>
            </a:r>
            <a:endParaRPr lang="en-US" sz="1300" dirty="0"/>
          </a:p>
        </p:txBody>
      </p:sp>
      <p:sp>
        <p:nvSpPr>
          <p:cNvPr id="11" name="Text 9"/>
          <p:cNvSpPr/>
          <p:nvPr/>
        </p:nvSpPr>
        <p:spPr>
          <a:xfrm>
            <a:off x="594360" y="3200400"/>
            <a:ext cx="3657600" cy="1371600"/>
          </a:xfrm>
          <a:prstGeom prst="rect">
            <a:avLst/>
          </a:prstGeom>
          <a:noFill/>
          <a:ln/>
        </p:spPr>
        <p:txBody>
          <a:bodyPr wrap="square" rtlCol="0" anchor="ctr"/>
          <a:lstStyle/>
          <a:p>
            <a:pPr indent="0" marL="0">
              <a:spcAft>
                <a:spcPts val="300"/>
              </a:spcAft>
              <a:buNone/>
            </a:pPr>
            <a:r>
              <a:rPr lang="en-US" sz="1100" dirty="0">
                <a:solidFill>
                  <a:srgbClr val="2C5F2D"/>
                </a:solidFill>
                <a:latin typeface="Calibri" pitchFamily="34" charset="0"/>
                <a:ea typeface="Calibri" pitchFamily="34" charset="-122"/>
                <a:cs typeface="Calibri" pitchFamily="34" charset="-120"/>
              </a:rPr>
              <a:t>n = 试验总次数（后代个体数）</a:t>
            </a:r>
            <a:endParaRPr lang="en-US" sz="1100" dirty="0"/>
          </a:p>
          <a:p>
            <a:pPr indent="0" marL="0">
              <a:spcAft>
                <a:spcPts val="300"/>
              </a:spcAft>
              <a:buNone/>
            </a:pPr>
            <a:r>
              <a:rPr lang="en-US" sz="1100" dirty="0">
                <a:solidFill>
                  <a:srgbClr val="2C5F2D"/>
                </a:solidFill>
                <a:latin typeface="Calibri" pitchFamily="34" charset="0"/>
                <a:ea typeface="Calibri" pitchFamily="34" charset="-122"/>
                <a:cs typeface="Calibri" pitchFamily="34" charset="-120"/>
              </a:rPr>
              <a:t>k = 目标结果出现的次数</a:t>
            </a:r>
            <a:endParaRPr lang="en-US" sz="1100" dirty="0"/>
          </a:p>
          <a:p>
            <a:pPr indent="0" marL="0">
              <a:spcAft>
                <a:spcPts val="300"/>
              </a:spcAft>
              <a:buNone/>
            </a:pPr>
            <a:r>
              <a:rPr lang="en-US" sz="1100" dirty="0">
                <a:solidFill>
                  <a:srgbClr val="2C5F2D"/>
                </a:solidFill>
                <a:latin typeface="Calibri" pitchFamily="34" charset="0"/>
                <a:ea typeface="Calibri" pitchFamily="34" charset="-122"/>
                <a:cs typeface="Calibri" pitchFamily="34" charset="-120"/>
              </a:rPr>
              <a:t>p = 每次试验出现目标结果的概率</a:t>
            </a:r>
            <a:endParaRPr lang="en-US" sz="1100" dirty="0"/>
          </a:p>
          <a:p>
            <a:pPr indent="0" marL="0">
              <a:spcAft>
                <a:spcPts val="300"/>
              </a:spcAft>
              <a:buNone/>
            </a:pPr>
            <a:r>
              <a:rPr lang="en-US" sz="1100" dirty="0">
                <a:solidFill>
                  <a:srgbClr val="2C5F2D"/>
                </a:solidFill>
                <a:latin typeface="Calibri" pitchFamily="34" charset="0"/>
                <a:ea typeface="Calibri" pitchFamily="34" charset="-122"/>
                <a:cs typeface="Calibri" pitchFamily="34" charset="-120"/>
              </a:rPr>
              <a:t>q = 1 - p（出现另一结果的概率）</a:t>
            </a:r>
            <a:endParaRPr lang="en-US" sz="1100" dirty="0"/>
          </a:p>
          <a:p>
            <a:pPr indent="0" marL="0">
              <a:spcAft>
                <a:spcPts val="300"/>
              </a:spcAft>
              <a:buNone/>
            </a:pPr>
            <a:r>
              <a:rPr lang="en-US" sz="1100" dirty="0">
                <a:solidFill>
                  <a:srgbClr val="2C5F2D"/>
                </a:solidFill>
                <a:latin typeface="Calibri" pitchFamily="34" charset="0"/>
                <a:ea typeface="Calibri" pitchFamily="34" charset="-122"/>
                <a:cs typeface="Calibri" pitchFamily="34" charset="-120"/>
              </a:rPr>
              <a:t>C(n,k) = n! / [k!(n-k)!]（组合数）</a:t>
            </a:r>
            <a:endParaRPr lang="en-US" sz="1100" dirty="0"/>
          </a:p>
        </p:txBody>
      </p:sp>
      <p:sp>
        <p:nvSpPr>
          <p:cNvPr id="12" name="Shape 10"/>
          <p:cNvSpPr/>
          <p:nvPr/>
        </p:nvSpPr>
        <p:spPr>
          <a:xfrm>
            <a:off x="4754880" y="2834640"/>
            <a:ext cx="3931920" cy="1828800"/>
          </a:xfrm>
          <a:prstGeom prst="rect">
            <a:avLst/>
          </a:prstGeom>
          <a:solidFill>
            <a:srgbClr val="FFFFFF"/>
          </a:solidFill>
          <a:ln w="12700">
            <a:solidFill>
              <a:srgbClr val="D4A843"/>
            </a:solidFill>
            <a:prstDash val="solid"/>
          </a:ln>
        </p:spPr>
      </p:sp>
      <p:sp>
        <p:nvSpPr>
          <p:cNvPr id="13" name="Text 11"/>
          <p:cNvSpPr/>
          <p:nvPr/>
        </p:nvSpPr>
        <p:spPr>
          <a:xfrm>
            <a:off x="4892040" y="2880360"/>
            <a:ext cx="3657600" cy="274320"/>
          </a:xfrm>
          <a:prstGeom prst="rect">
            <a:avLst/>
          </a:prstGeom>
          <a:noFill/>
          <a:ln/>
        </p:spPr>
        <p:txBody>
          <a:bodyPr wrap="square" rtlCol="0" anchor="ctr"/>
          <a:lstStyle/>
          <a:p>
            <a:pPr indent="0" marL="0">
              <a:buNone/>
            </a:pPr>
            <a:r>
              <a:rPr lang="en-US" sz="1300" b="1" dirty="0">
                <a:solidFill>
                  <a:srgbClr val="D4A843"/>
                </a:solidFill>
                <a:latin typeface="Georgia" pitchFamily="34" charset="0"/>
                <a:ea typeface="Georgia" pitchFamily="34" charset="-122"/>
                <a:cs typeface="Georgia" pitchFamily="34" charset="-120"/>
              </a:rPr>
              <a:t>计算示例</a:t>
            </a:r>
            <a:endParaRPr lang="en-US" sz="1300" dirty="0"/>
          </a:p>
        </p:txBody>
      </p:sp>
      <p:sp>
        <p:nvSpPr>
          <p:cNvPr id="14" name="Text 12"/>
          <p:cNvSpPr/>
          <p:nvPr/>
        </p:nvSpPr>
        <p:spPr>
          <a:xfrm>
            <a:off x="4892040" y="3200400"/>
            <a:ext cx="3657600" cy="1371600"/>
          </a:xfrm>
          <a:prstGeom prst="rect">
            <a:avLst/>
          </a:prstGeom>
          <a:noFill/>
          <a:ln/>
        </p:spPr>
        <p:txBody>
          <a:bodyPr wrap="square" rtlCol="0" anchor="ctr"/>
          <a:lstStyle/>
          <a:p>
            <a:pPr indent="0" marL="0">
              <a:spcAft>
                <a:spcPts val="200"/>
              </a:spcAft>
              <a:buNone/>
            </a:pPr>
            <a:r>
              <a:rPr lang="en-US" sz="1100" dirty="0">
                <a:solidFill>
                  <a:srgbClr val="2C5F2D"/>
                </a:solidFill>
                <a:latin typeface="Calibri" pitchFamily="34" charset="0"/>
                <a:ea typeface="Calibri" pitchFamily="34" charset="-122"/>
                <a:cs typeface="Calibri" pitchFamily="34" charset="-120"/>
              </a:rPr>
              <a:t>Aa x Aa，后代4个个体中恰好</a:t>
            </a:r>
            <a:endParaRPr lang="en-US" sz="1100" dirty="0"/>
          </a:p>
          <a:p>
            <a:pPr indent="0" marL="0">
              <a:spcAft>
                <a:spcPts val="200"/>
              </a:spcAft>
              <a:buNone/>
            </a:pPr>
            <a:r>
              <a:rPr lang="en-US" sz="1100" dirty="0">
                <a:solidFill>
                  <a:srgbClr val="2C5F2D"/>
                </a:solidFill>
                <a:latin typeface="Calibri" pitchFamily="34" charset="0"/>
                <a:ea typeface="Calibri" pitchFamily="34" charset="-122"/>
                <a:cs typeface="Calibri" pitchFamily="34" charset="-120"/>
              </a:rPr>
              <a:t>3个显性的概率：</a:t>
            </a:r>
            <a:endParaRPr lang="en-US" sz="1100" dirty="0"/>
          </a:p>
          <a:p>
            <a:pPr indent="0" marL="0">
              <a:spcAft>
                <a:spcPts val="200"/>
              </a:spcAft>
              <a:buNone/>
            </a:pPr>
            <a:endParaRPr lang="en-US" sz="1100" dirty="0"/>
          </a:p>
          <a:p>
            <a:pPr indent="0" marL="0">
              <a:spcAft>
                <a:spcPts val="200"/>
              </a:spcAft>
              <a:buNone/>
            </a:pPr>
            <a:r>
              <a:rPr lang="en-US" sz="1100" dirty="0">
                <a:solidFill>
                  <a:srgbClr val="2C5F2D"/>
                </a:solidFill>
                <a:latin typeface="Calibri" pitchFamily="34" charset="0"/>
                <a:ea typeface="Calibri" pitchFamily="34" charset="-122"/>
                <a:cs typeface="Calibri" pitchFamily="34" charset="-120"/>
              </a:rPr>
              <a:t>P(3) = C(4,3) x (3/4)^3 x (1/4)^1</a:t>
            </a:r>
            <a:endParaRPr lang="en-US" sz="1100" dirty="0"/>
          </a:p>
          <a:p>
            <a:pPr indent="0" marL="0">
              <a:spcAft>
                <a:spcPts val="200"/>
              </a:spcAft>
              <a:buNone/>
            </a:pPr>
            <a:r>
              <a:rPr lang="en-US" sz="1100" dirty="0">
                <a:solidFill>
                  <a:srgbClr val="2C5F2D"/>
                </a:solidFill>
                <a:latin typeface="Calibri" pitchFamily="34" charset="0"/>
                <a:ea typeface="Calibri" pitchFamily="34" charset="-122"/>
                <a:cs typeface="Calibri" pitchFamily="34" charset="-120"/>
              </a:rPr>
              <a:t>     = 4 x 27/64 x 1/4</a:t>
            </a:r>
            <a:endParaRPr lang="en-US" sz="1100" dirty="0"/>
          </a:p>
          <a:p>
            <a:pPr indent="0" marL="0">
              <a:spcAft>
                <a:spcPts val="200"/>
              </a:spcAft>
              <a:buNone/>
            </a:pPr>
            <a:r>
              <a:rPr lang="en-US" sz="1100" dirty="0">
                <a:solidFill>
                  <a:srgbClr val="2C5F2D"/>
                </a:solidFill>
                <a:latin typeface="Calibri" pitchFamily="34" charset="0"/>
                <a:ea typeface="Calibri" pitchFamily="34" charset="-122"/>
                <a:cs typeface="Calibri" pitchFamily="34" charset="-120"/>
              </a:rPr>
              <a:t>     = 108/256 = 27/64</a:t>
            </a:r>
            <a:endParaRPr lang="en-US" sz="1100" dirty="0"/>
          </a:p>
          <a:p>
            <a:pPr indent="0" marL="0">
              <a:spcAft>
                <a:spcPts val="200"/>
              </a:spcAft>
              <a:buNone/>
            </a:pPr>
            <a:r>
              <a:rPr lang="en-US" sz="1100" dirty="0">
                <a:solidFill>
                  <a:srgbClr val="2C5F2D"/>
                </a:solidFill>
                <a:latin typeface="Calibri" pitchFamily="34" charset="0"/>
                <a:ea typeface="Calibri" pitchFamily="34" charset="-122"/>
                <a:cs typeface="Calibri" pitchFamily="34" charset="-120"/>
              </a:rPr>
              <a:t>     = 0.4219 (42.19%)</a:t>
            </a:r>
            <a:endParaRPr lang="en-US" sz="1100" dirty="0"/>
          </a:p>
        </p:txBody>
      </p:sp>
      <p:sp>
        <p:nvSpPr>
          <p:cNvPr id="15" name="Text 13"/>
          <p:cNvSpPr/>
          <p:nvPr/>
        </p:nvSpPr>
        <p:spPr>
          <a:xfrm>
            <a:off x="8046720" y="4777740"/>
            <a:ext cx="914400" cy="274320"/>
          </a:xfrm>
          <a:prstGeom prst="rect">
            <a:avLst/>
          </a:prstGeom>
          <a:noFill/>
          <a:ln/>
        </p:spPr>
        <p:txBody>
          <a:bodyPr wrap="square" rtlCol="0" anchor="ctr"/>
          <a:lstStyle/>
          <a:p>
            <a:pPr algn="r" indent="0" marL="0">
              <a:buNone/>
            </a:pPr>
            <a:r>
              <a:rPr lang="en-US" sz="1000" dirty="0">
                <a:solidFill>
                  <a:srgbClr val="6B8E5A"/>
                </a:solidFill>
                <a:latin typeface="Calibri" pitchFamily="34" charset="0"/>
                <a:ea typeface="Calibri" pitchFamily="34" charset="-122"/>
                <a:cs typeface="Calibri" pitchFamily="34" charset="-120"/>
              </a:rPr>
              <a:t>8 / 20</a:t>
            </a:r>
            <a:endParaRPr lang="en-US" sz="1000" dirty="0"/>
          </a:p>
        </p:txBody>
      </p:sp>
      <p:sp>
        <p:nvSpPr>
          <p:cNvPr id="16" name="Shape 14"/>
          <p:cNvSpPr/>
          <p:nvPr/>
        </p:nvSpPr>
        <p:spPr>
          <a:xfrm>
            <a:off x="0" y="5097780"/>
            <a:ext cx="9144000" cy="45720"/>
          </a:xfrm>
          <a:prstGeom prst="rect">
            <a:avLst/>
          </a:prstGeom>
          <a:solidFill>
            <a:srgbClr val="2C5F2D"/>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4A843"/>
          </a:solidFill>
          <a:ln/>
        </p:spPr>
      </p:sp>
      <p:sp>
        <p:nvSpPr>
          <p:cNvPr id="3" name="Text 1"/>
          <p:cNvSpPr/>
          <p:nvPr/>
        </p:nvSpPr>
        <p:spPr>
          <a:xfrm>
            <a:off x="457200" y="228600"/>
            <a:ext cx="8229600" cy="457200"/>
          </a:xfrm>
          <a:prstGeom prst="rect">
            <a:avLst/>
          </a:prstGeom>
          <a:noFill/>
          <a:ln/>
        </p:spPr>
        <p:txBody>
          <a:bodyPr wrap="square" rtlCol="0" anchor="ctr"/>
          <a:lstStyle/>
          <a:p>
            <a:pPr indent="0" marL="0">
              <a:buNone/>
            </a:pPr>
            <a:r>
              <a:rPr lang="en-US" sz="2800" b="1" dirty="0">
                <a:solidFill>
                  <a:srgbClr val="2C5F2D"/>
                </a:solidFill>
                <a:latin typeface="Georgia" pitchFamily="34" charset="0"/>
                <a:ea typeface="Georgia" pitchFamily="34" charset="-122"/>
                <a:cs typeface="Georgia" pitchFamily="34" charset="-120"/>
              </a:rPr>
              <a:t>核心概念（四）：单因子杂交的数学推导</a:t>
            </a:r>
            <a:endParaRPr lang="en-US" sz="2800" dirty="0"/>
          </a:p>
        </p:txBody>
      </p:sp>
      <p:sp>
        <p:nvSpPr>
          <p:cNvPr id="4" name="Text 2"/>
          <p:cNvSpPr/>
          <p:nvPr/>
        </p:nvSpPr>
        <p:spPr>
          <a:xfrm>
            <a:off x="457200" y="685800"/>
            <a:ext cx="8229600" cy="274320"/>
          </a:xfrm>
          <a:prstGeom prst="rect">
            <a:avLst/>
          </a:prstGeom>
          <a:noFill/>
          <a:ln/>
        </p:spPr>
        <p:txBody>
          <a:bodyPr wrap="square" rtlCol="0" anchor="ctr"/>
          <a:lstStyle/>
          <a:p>
            <a:pPr indent="0" marL="0">
              <a:buNone/>
            </a:pPr>
            <a:r>
              <a:rPr lang="en-US" sz="1400" dirty="0">
                <a:solidFill>
                  <a:srgbClr val="6B8E5A"/>
                </a:solidFill>
                <a:latin typeface="Calibri" pitchFamily="34" charset="0"/>
                <a:ea typeface="Calibri" pitchFamily="34" charset="-122"/>
                <a:cs typeface="Calibri" pitchFamily="34" charset="-120"/>
              </a:rPr>
              <a:t>Monohybrid Cross - Mathematical Derivation of 3:1</a:t>
            </a:r>
            <a:endParaRPr lang="en-US" sz="1400" dirty="0"/>
          </a:p>
        </p:txBody>
      </p:sp>
      <p:sp>
        <p:nvSpPr>
          <p:cNvPr id="5" name="Shape 3"/>
          <p:cNvSpPr/>
          <p:nvPr/>
        </p:nvSpPr>
        <p:spPr>
          <a:xfrm>
            <a:off x="457200" y="1005840"/>
            <a:ext cx="1371600" cy="36576"/>
          </a:xfrm>
          <a:prstGeom prst="rect">
            <a:avLst/>
          </a:prstGeom>
          <a:solidFill>
            <a:srgbClr val="97BC62"/>
          </a:solidFill>
          <a:ln/>
        </p:spPr>
      </p:sp>
      <p:sp>
        <p:nvSpPr>
          <p:cNvPr id="6" name="Text 4"/>
          <p:cNvSpPr/>
          <p:nvPr/>
        </p:nvSpPr>
        <p:spPr>
          <a:xfrm>
            <a:off x="457200" y="1280160"/>
            <a:ext cx="8229600" cy="320040"/>
          </a:xfrm>
          <a:prstGeom prst="rect">
            <a:avLst/>
          </a:prstGeom>
          <a:noFill/>
          <a:ln/>
        </p:spPr>
        <p:txBody>
          <a:bodyPr wrap="square" rtlCol="0" anchor="ctr"/>
          <a:lstStyle/>
          <a:p>
            <a:pPr indent="0" marL="0">
              <a:buNone/>
            </a:pPr>
            <a:r>
              <a:rPr lang="en-US" sz="1300" dirty="0">
                <a:solidFill>
                  <a:srgbClr val="2C5F2D"/>
                </a:solidFill>
                <a:latin typeface="Calibri" pitchFamily="34" charset="0"/>
                <a:ea typeface="Calibri" pitchFamily="34" charset="-122"/>
                <a:cs typeface="Calibri" pitchFamily="34" charset="-120"/>
              </a:rPr>
              <a:t>以孟德尔的经典实验为例：纯合高茎 (TT) x 纯合矮茎 (tt)</a:t>
            </a:r>
            <a:endParaRPr lang="en-US" sz="1300" dirty="0"/>
          </a:p>
        </p:txBody>
      </p:sp>
      <p:sp>
        <p:nvSpPr>
          <p:cNvPr id="7" name="Shape 5"/>
          <p:cNvSpPr/>
          <p:nvPr/>
        </p:nvSpPr>
        <p:spPr>
          <a:xfrm>
            <a:off x="457200" y="1737360"/>
            <a:ext cx="8229600" cy="457200"/>
          </a:xfrm>
          <a:prstGeom prst="rect">
            <a:avLst/>
          </a:prstGeom>
          <a:solidFill>
            <a:srgbClr val="2C5F2D"/>
          </a:solidFill>
          <a:ln/>
        </p:spPr>
      </p:sp>
      <p:sp>
        <p:nvSpPr>
          <p:cNvPr id="8" name="Text 6"/>
          <p:cNvSpPr/>
          <p:nvPr/>
        </p:nvSpPr>
        <p:spPr>
          <a:xfrm>
            <a:off x="457200" y="1737360"/>
            <a:ext cx="8229600" cy="45720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P:  TT  x  tt</a:t>
            </a:r>
            <a:endParaRPr lang="en-US" sz="1600" dirty="0"/>
          </a:p>
        </p:txBody>
      </p:sp>
      <p:sp>
        <p:nvSpPr>
          <p:cNvPr id="9" name="Text 7"/>
          <p:cNvSpPr/>
          <p:nvPr/>
        </p:nvSpPr>
        <p:spPr>
          <a:xfrm>
            <a:off x="4434840" y="2148840"/>
            <a:ext cx="274320" cy="228600"/>
          </a:xfrm>
          <a:prstGeom prst="rect">
            <a:avLst/>
          </a:prstGeom>
          <a:noFill/>
          <a:ln/>
        </p:spPr>
        <p:txBody>
          <a:bodyPr wrap="square" rtlCol="0" anchor="ctr"/>
          <a:lstStyle/>
          <a:p>
            <a:pPr algn="ctr" indent="0" marL="0">
              <a:buNone/>
            </a:pPr>
            <a:r>
              <a:rPr lang="en-US" sz="1400" dirty="0">
                <a:solidFill>
                  <a:srgbClr val="6B8E5A"/>
                </a:solidFill>
                <a:latin typeface="Calibri" pitchFamily="34" charset="0"/>
                <a:ea typeface="Calibri" pitchFamily="34" charset="-122"/>
                <a:cs typeface="Calibri" pitchFamily="34" charset="-120"/>
              </a:rPr>
              <a:t>v</a:t>
            </a:r>
            <a:endParaRPr lang="en-US" sz="1400" dirty="0"/>
          </a:p>
        </p:txBody>
      </p:sp>
      <p:sp>
        <p:nvSpPr>
          <p:cNvPr id="10" name="Shape 8"/>
          <p:cNvSpPr/>
          <p:nvPr/>
        </p:nvSpPr>
        <p:spPr>
          <a:xfrm>
            <a:off x="1371600" y="2331720"/>
            <a:ext cx="7315200" cy="411480"/>
          </a:xfrm>
          <a:prstGeom prst="rect">
            <a:avLst/>
          </a:prstGeom>
          <a:solidFill>
            <a:srgbClr val="97BC62">
              <a:alpha val="80000"/>
            </a:srgbClr>
          </a:solidFill>
          <a:ln w="12700">
            <a:solidFill>
              <a:srgbClr val="97BC62"/>
            </a:solidFill>
            <a:prstDash val="solid"/>
          </a:ln>
        </p:spPr>
      </p:sp>
      <p:sp>
        <p:nvSpPr>
          <p:cNvPr id="11" name="Text 9"/>
          <p:cNvSpPr/>
          <p:nvPr/>
        </p:nvSpPr>
        <p:spPr>
          <a:xfrm>
            <a:off x="1371600" y="2331720"/>
            <a:ext cx="7315200" cy="411480"/>
          </a:xfrm>
          <a:prstGeom prst="rect">
            <a:avLst/>
          </a:prstGeom>
          <a:noFill/>
          <a:ln/>
        </p:spPr>
        <p:txBody>
          <a:bodyPr wrap="square" rtlCol="0" anchor="ctr"/>
          <a:lstStyle/>
          <a:p>
            <a:pPr algn="ctr" indent="0" marL="0">
              <a:buNone/>
            </a:pPr>
            <a:r>
              <a:rPr lang="en-US" sz="1400" dirty="0">
                <a:solidFill>
                  <a:srgbClr val="2C5F2D"/>
                </a:solidFill>
                <a:latin typeface="Georgia" pitchFamily="34" charset="0"/>
                <a:ea typeface="Georgia" pitchFamily="34" charset="-122"/>
                <a:cs typeface="Georgia" pitchFamily="34" charset="-120"/>
              </a:rPr>
              <a:t>F1: 全部 Tt（杂合子，高茎）</a:t>
            </a:r>
            <a:endParaRPr lang="en-US" sz="1400" dirty="0"/>
          </a:p>
        </p:txBody>
      </p:sp>
      <p:sp>
        <p:nvSpPr>
          <p:cNvPr id="12" name="Text 10"/>
          <p:cNvSpPr/>
          <p:nvPr/>
        </p:nvSpPr>
        <p:spPr>
          <a:xfrm>
            <a:off x="4434840" y="2697480"/>
            <a:ext cx="274320" cy="228600"/>
          </a:xfrm>
          <a:prstGeom prst="rect">
            <a:avLst/>
          </a:prstGeom>
          <a:noFill/>
          <a:ln/>
        </p:spPr>
        <p:txBody>
          <a:bodyPr wrap="square" rtlCol="0" anchor="ctr"/>
          <a:lstStyle/>
          <a:p>
            <a:pPr algn="ctr" indent="0" marL="0">
              <a:buNone/>
            </a:pPr>
            <a:r>
              <a:rPr lang="en-US" sz="1400" dirty="0">
                <a:solidFill>
                  <a:srgbClr val="6B8E5A"/>
                </a:solidFill>
                <a:latin typeface="Calibri" pitchFamily="34" charset="0"/>
                <a:ea typeface="Calibri" pitchFamily="34" charset="-122"/>
                <a:cs typeface="Calibri" pitchFamily="34" charset="-120"/>
              </a:rPr>
              <a:t>v</a:t>
            </a:r>
            <a:endParaRPr lang="en-US" sz="1400" dirty="0"/>
          </a:p>
        </p:txBody>
      </p:sp>
      <p:sp>
        <p:nvSpPr>
          <p:cNvPr id="13" name="Shape 11"/>
          <p:cNvSpPr/>
          <p:nvPr/>
        </p:nvSpPr>
        <p:spPr>
          <a:xfrm>
            <a:off x="457200" y="2880360"/>
            <a:ext cx="8229600" cy="411480"/>
          </a:xfrm>
          <a:prstGeom prst="rect">
            <a:avLst/>
          </a:prstGeom>
          <a:solidFill>
            <a:srgbClr val="D4A843">
              <a:alpha val="80000"/>
            </a:srgbClr>
          </a:solidFill>
          <a:ln w="12700">
            <a:solidFill>
              <a:srgbClr val="D4A843"/>
            </a:solidFill>
            <a:prstDash val="solid"/>
          </a:ln>
        </p:spPr>
      </p:sp>
      <p:sp>
        <p:nvSpPr>
          <p:cNvPr id="14" name="Text 12"/>
          <p:cNvSpPr/>
          <p:nvPr/>
        </p:nvSpPr>
        <p:spPr>
          <a:xfrm>
            <a:off x="457200" y="2880360"/>
            <a:ext cx="8229600" cy="411480"/>
          </a:xfrm>
          <a:prstGeom prst="rect">
            <a:avLst/>
          </a:prstGeom>
          <a:noFill/>
          <a:ln/>
        </p:spPr>
        <p:txBody>
          <a:bodyPr wrap="square" rtlCol="0" anchor="ctr"/>
          <a:lstStyle/>
          <a:p>
            <a:pPr algn="ctr" indent="0" marL="0">
              <a:buNone/>
            </a:pPr>
            <a:r>
              <a:rPr lang="en-US" sz="1400" dirty="0">
                <a:solidFill>
                  <a:srgbClr val="2C5F2D"/>
                </a:solidFill>
                <a:latin typeface="Georgia" pitchFamily="34" charset="0"/>
                <a:ea typeface="Georgia" pitchFamily="34" charset="-122"/>
                <a:cs typeface="Georgia" pitchFamily="34" charset="-120"/>
              </a:rPr>
              <a:t>F1 x F1:  Tt  x  Tt</a:t>
            </a:r>
            <a:endParaRPr lang="en-US" sz="1400" dirty="0"/>
          </a:p>
        </p:txBody>
      </p:sp>
      <p:sp>
        <p:nvSpPr>
          <p:cNvPr id="15" name="Text 13"/>
          <p:cNvSpPr/>
          <p:nvPr/>
        </p:nvSpPr>
        <p:spPr>
          <a:xfrm>
            <a:off x="4434840" y="3246120"/>
            <a:ext cx="274320" cy="228600"/>
          </a:xfrm>
          <a:prstGeom prst="rect">
            <a:avLst/>
          </a:prstGeom>
          <a:noFill/>
          <a:ln/>
        </p:spPr>
        <p:txBody>
          <a:bodyPr wrap="square" rtlCol="0" anchor="ctr"/>
          <a:lstStyle/>
          <a:p>
            <a:pPr algn="ctr" indent="0" marL="0">
              <a:buNone/>
            </a:pPr>
            <a:r>
              <a:rPr lang="en-US" sz="1400" dirty="0">
                <a:solidFill>
                  <a:srgbClr val="6B8E5A"/>
                </a:solidFill>
                <a:latin typeface="Calibri" pitchFamily="34" charset="0"/>
                <a:ea typeface="Calibri" pitchFamily="34" charset="-122"/>
                <a:cs typeface="Calibri" pitchFamily="34" charset="-120"/>
              </a:rPr>
              <a:t>v</a:t>
            </a:r>
            <a:endParaRPr lang="en-US" sz="1400" dirty="0"/>
          </a:p>
        </p:txBody>
      </p:sp>
      <p:sp>
        <p:nvSpPr>
          <p:cNvPr id="16" name="Text 14"/>
          <p:cNvSpPr/>
          <p:nvPr/>
        </p:nvSpPr>
        <p:spPr>
          <a:xfrm>
            <a:off x="457200" y="3474720"/>
            <a:ext cx="8229600" cy="274320"/>
          </a:xfrm>
          <a:prstGeom prst="rect">
            <a:avLst/>
          </a:prstGeom>
          <a:noFill/>
          <a:ln/>
        </p:spPr>
        <p:txBody>
          <a:bodyPr wrap="square" rtlCol="0" anchor="ctr"/>
          <a:lstStyle/>
          <a:p>
            <a:pPr indent="0" marL="0">
              <a:buNone/>
            </a:pPr>
            <a:r>
              <a:rPr lang="en-US" sz="1200" b="1" dirty="0">
                <a:solidFill>
                  <a:srgbClr val="2C5F2D"/>
                </a:solidFill>
                <a:latin typeface="Calibri" pitchFamily="34" charset="0"/>
                <a:ea typeface="Calibri" pitchFamily="34" charset="-122"/>
                <a:cs typeface="Calibri" pitchFamily="34" charset="-120"/>
              </a:rPr>
              <a:t>F2 基因型频率（庞尼特方格）：</a:t>
            </a:r>
            <a:endParaRPr lang="en-US" sz="1200" dirty="0"/>
          </a:p>
        </p:txBody>
      </p:sp>
      <p:sp>
        <p:nvSpPr>
          <p:cNvPr id="17" name="Shape 15"/>
          <p:cNvSpPr/>
          <p:nvPr/>
        </p:nvSpPr>
        <p:spPr>
          <a:xfrm>
            <a:off x="2286000" y="3749040"/>
            <a:ext cx="731520" cy="320040"/>
          </a:xfrm>
          <a:prstGeom prst="rect">
            <a:avLst/>
          </a:prstGeom>
          <a:solidFill>
            <a:srgbClr val="2C5F2D"/>
          </a:solidFill>
          <a:ln/>
        </p:spPr>
      </p:sp>
      <p:sp>
        <p:nvSpPr>
          <p:cNvPr id="18" name="Text 16"/>
          <p:cNvSpPr/>
          <p:nvPr/>
        </p:nvSpPr>
        <p:spPr>
          <a:xfrm>
            <a:off x="2286000" y="3749040"/>
            <a:ext cx="731520" cy="32004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T</a:t>
            </a:r>
            <a:endParaRPr lang="en-US" sz="1400" dirty="0"/>
          </a:p>
        </p:txBody>
      </p:sp>
      <p:sp>
        <p:nvSpPr>
          <p:cNvPr id="19" name="Shape 17"/>
          <p:cNvSpPr/>
          <p:nvPr/>
        </p:nvSpPr>
        <p:spPr>
          <a:xfrm>
            <a:off x="3017520" y="3749040"/>
            <a:ext cx="731520" cy="320040"/>
          </a:xfrm>
          <a:prstGeom prst="rect">
            <a:avLst/>
          </a:prstGeom>
          <a:solidFill>
            <a:srgbClr val="2C5F2D"/>
          </a:solidFill>
          <a:ln/>
        </p:spPr>
      </p:sp>
      <p:sp>
        <p:nvSpPr>
          <p:cNvPr id="20" name="Text 18"/>
          <p:cNvSpPr/>
          <p:nvPr/>
        </p:nvSpPr>
        <p:spPr>
          <a:xfrm>
            <a:off x="3017520" y="3749040"/>
            <a:ext cx="731520" cy="32004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t</a:t>
            </a:r>
            <a:endParaRPr lang="en-US" sz="1400" dirty="0"/>
          </a:p>
        </p:txBody>
      </p:sp>
      <p:sp>
        <p:nvSpPr>
          <p:cNvPr id="21" name="Shape 19"/>
          <p:cNvSpPr/>
          <p:nvPr/>
        </p:nvSpPr>
        <p:spPr>
          <a:xfrm>
            <a:off x="1554480" y="4069080"/>
            <a:ext cx="731520" cy="320040"/>
          </a:xfrm>
          <a:prstGeom prst="rect">
            <a:avLst/>
          </a:prstGeom>
          <a:solidFill>
            <a:srgbClr val="2C5F2D"/>
          </a:solidFill>
          <a:ln/>
        </p:spPr>
      </p:sp>
      <p:sp>
        <p:nvSpPr>
          <p:cNvPr id="22" name="Text 20"/>
          <p:cNvSpPr/>
          <p:nvPr/>
        </p:nvSpPr>
        <p:spPr>
          <a:xfrm>
            <a:off x="1554480" y="4069080"/>
            <a:ext cx="731520" cy="32004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T</a:t>
            </a:r>
            <a:endParaRPr lang="en-US" sz="1400" dirty="0"/>
          </a:p>
        </p:txBody>
      </p:sp>
      <p:sp>
        <p:nvSpPr>
          <p:cNvPr id="23" name="Shape 21"/>
          <p:cNvSpPr/>
          <p:nvPr/>
        </p:nvSpPr>
        <p:spPr>
          <a:xfrm>
            <a:off x="2286000" y="4069080"/>
            <a:ext cx="731520" cy="320040"/>
          </a:xfrm>
          <a:prstGeom prst="rect">
            <a:avLst/>
          </a:prstGeom>
          <a:solidFill>
            <a:srgbClr val="F0F4E8"/>
          </a:solidFill>
          <a:ln w="6350">
            <a:solidFill>
              <a:srgbClr val="97BC62"/>
            </a:solidFill>
            <a:prstDash val="solid"/>
          </a:ln>
        </p:spPr>
      </p:sp>
      <p:sp>
        <p:nvSpPr>
          <p:cNvPr id="24" name="Text 22"/>
          <p:cNvSpPr/>
          <p:nvPr/>
        </p:nvSpPr>
        <p:spPr>
          <a:xfrm>
            <a:off x="2286000" y="4069080"/>
            <a:ext cx="731520" cy="320040"/>
          </a:xfrm>
          <a:prstGeom prst="rect">
            <a:avLst/>
          </a:prstGeom>
          <a:noFill/>
          <a:ln/>
        </p:spPr>
        <p:txBody>
          <a:bodyPr wrap="square" rtlCol="0" anchor="ctr"/>
          <a:lstStyle/>
          <a:p>
            <a:pPr algn="ctr" indent="0" marL="0">
              <a:buNone/>
            </a:pPr>
            <a:r>
              <a:rPr lang="en-US" sz="1200" b="1" dirty="0">
                <a:solidFill>
                  <a:srgbClr val="2C5F2D"/>
                </a:solidFill>
                <a:latin typeface="Calibri" pitchFamily="34" charset="0"/>
                <a:ea typeface="Calibri" pitchFamily="34" charset="-122"/>
                <a:cs typeface="Calibri" pitchFamily="34" charset="-120"/>
              </a:rPr>
              <a:t>TT</a:t>
            </a:r>
            <a:endParaRPr lang="en-US" sz="1200" dirty="0"/>
          </a:p>
        </p:txBody>
      </p:sp>
      <p:sp>
        <p:nvSpPr>
          <p:cNvPr id="25" name="Shape 23"/>
          <p:cNvSpPr/>
          <p:nvPr/>
        </p:nvSpPr>
        <p:spPr>
          <a:xfrm>
            <a:off x="3017520" y="4069080"/>
            <a:ext cx="731520" cy="320040"/>
          </a:xfrm>
          <a:prstGeom prst="rect">
            <a:avLst/>
          </a:prstGeom>
          <a:solidFill>
            <a:srgbClr val="F0F4E8"/>
          </a:solidFill>
          <a:ln w="6350">
            <a:solidFill>
              <a:srgbClr val="97BC62"/>
            </a:solidFill>
            <a:prstDash val="solid"/>
          </a:ln>
        </p:spPr>
      </p:sp>
      <p:sp>
        <p:nvSpPr>
          <p:cNvPr id="26" name="Text 24"/>
          <p:cNvSpPr/>
          <p:nvPr/>
        </p:nvSpPr>
        <p:spPr>
          <a:xfrm>
            <a:off x="3017520" y="4069080"/>
            <a:ext cx="731520" cy="320040"/>
          </a:xfrm>
          <a:prstGeom prst="rect">
            <a:avLst/>
          </a:prstGeom>
          <a:noFill/>
          <a:ln/>
        </p:spPr>
        <p:txBody>
          <a:bodyPr wrap="square" rtlCol="0" anchor="ctr"/>
          <a:lstStyle/>
          <a:p>
            <a:pPr algn="ctr" indent="0" marL="0">
              <a:buNone/>
            </a:pPr>
            <a:r>
              <a:rPr lang="en-US" sz="1200" dirty="0">
                <a:solidFill>
                  <a:srgbClr val="2C5F2D"/>
                </a:solidFill>
                <a:latin typeface="Calibri" pitchFamily="34" charset="0"/>
                <a:ea typeface="Calibri" pitchFamily="34" charset="-122"/>
                <a:cs typeface="Calibri" pitchFamily="34" charset="-120"/>
              </a:rPr>
              <a:t>Tt</a:t>
            </a:r>
            <a:endParaRPr lang="en-US" sz="1200" dirty="0"/>
          </a:p>
        </p:txBody>
      </p:sp>
      <p:sp>
        <p:nvSpPr>
          <p:cNvPr id="27" name="Shape 25"/>
          <p:cNvSpPr/>
          <p:nvPr/>
        </p:nvSpPr>
        <p:spPr>
          <a:xfrm>
            <a:off x="1554480" y="4389120"/>
            <a:ext cx="731520" cy="320040"/>
          </a:xfrm>
          <a:prstGeom prst="rect">
            <a:avLst/>
          </a:prstGeom>
          <a:solidFill>
            <a:srgbClr val="2C5F2D"/>
          </a:solidFill>
          <a:ln/>
        </p:spPr>
      </p:sp>
      <p:sp>
        <p:nvSpPr>
          <p:cNvPr id="28" name="Text 26"/>
          <p:cNvSpPr/>
          <p:nvPr/>
        </p:nvSpPr>
        <p:spPr>
          <a:xfrm>
            <a:off x="1554480" y="4389120"/>
            <a:ext cx="731520" cy="32004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t</a:t>
            </a:r>
            <a:endParaRPr lang="en-US" sz="1400" dirty="0"/>
          </a:p>
        </p:txBody>
      </p:sp>
      <p:sp>
        <p:nvSpPr>
          <p:cNvPr id="29" name="Shape 27"/>
          <p:cNvSpPr/>
          <p:nvPr/>
        </p:nvSpPr>
        <p:spPr>
          <a:xfrm>
            <a:off x="2286000" y="4389120"/>
            <a:ext cx="731520" cy="320040"/>
          </a:xfrm>
          <a:prstGeom prst="rect">
            <a:avLst/>
          </a:prstGeom>
          <a:solidFill>
            <a:srgbClr val="F0F4E8"/>
          </a:solidFill>
          <a:ln w="6350">
            <a:solidFill>
              <a:srgbClr val="97BC62"/>
            </a:solidFill>
            <a:prstDash val="solid"/>
          </a:ln>
        </p:spPr>
      </p:sp>
      <p:sp>
        <p:nvSpPr>
          <p:cNvPr id="30" name="Text 28"/>
          <p:cNvSpPr/>
          <p:nvPr/>
        </p:nvSpPr>
        <p:spPr>
          <a:xfrm>
            <a:off x="2286000" y="4389120"/>
            <a:ext cx="731520" cy="320040"/>
          </a:xfrm>
          <a:prstGeom prst="rect">
            <a:avLst/>
          </a:prstGeom>
          <a:noFill/>
          <a:ln/>
        </p:spPr>
        <p:txBody>
          <a:bodyPr wrap="square" rtlCol="0" anchor="ctr"/>
          <a:lstStyle/>
          <a:p>
            <a:pPr algn="ctr" indent="0" marL="0">
              <a:buNone/>
            </a:pPr>
            <a:r>
              <a:rPr lang="en-US" sz="1200" dirty="0">
                <a:solidFill>
                  <a:srgbClr val="2C5F2D"/>
                </a:solidFill>
                <a:latin typeface="Calibri" pitchFamily="34" charset="0"/>
                <a:ea typeface="Calibri" pitchFamily="34" charset="-122"/>
                <a:cs typeface="Calibri" pitchFamily="34" charset="-120"/>
              </a:rPr>
              <a:t>Tt</a:t>
            </a:r>
            <a:endParaRPr lang="en-US" sz="1200" dirty="0"/>
          </a:p>
        </p:txBody>
      </p:sp>
      <p:sp>
        <p:nvSpPr>
          <p:cNvPr id="31" name="Shape 29"/>
          <p:cNvSpPr/>
          <p:nvPr/>
        </p:nvSpPr>
        <p:spPr>
          <a:xfrm>
            <a:off x="3017520" y="4389120"/>
            <a:ext cx="731520" cy="320040"/>
          </a:xfrm>
          <a:prstGeom prst="rect">
            <a:avLst/>
          </a:prstGeom>
          <a:solidFill>
            <a:srgbClr val="F0F4E8"/>
          </a:solidFill>
          <a:ln w="6350">
            <a:solidFill>
              <a:srgbClr val="97BC62"/>
            </a:solidFill>
            <a:prstDash val="solid"/>
          </a:ln>
        </p:spPr>
      </p:sp>
      <p:sp>
        <p:nvSpPr>
          <p:cNvPr id="32" name="Text 30"/>
          <p:cNvSpPr/>
          <p:nvPr/>
        </p:nvSpPr>
        <p:spPr>
          <a:xfrm>
            <a:off x="3017520" y="4389120"/>
            <a:ext cx="731520" cy="320040"/>
          </a:xfrm>
          <a:prstGeom prst="rect">
            <a:avLst/>
          </a:prstGeom>
          <a:noFill/>
          <a:ln/>
        </p:spPr>
        <p:txBody>
          <a:bodyPr wrap="square" rtlCol="0" anchor="ctr"/>
          <a:lstStyle/>
          <a:p>
            <a:pPr algn="ctr" indent="0" marL="0">
              <a:buNone/>
            </a:pPr>
            <a:r>
              <a:rPr lang="en-US" sz="1200" dirty="0">
                <a:solidFill>
                  <a:srgbClr val="2C5F2D"/>
                </a:solidFill>
                <a:latin typeface="Calibri" pitchFamily="34" charset="0"/>
                <a:ea typeface="Calibri" pitchFamily="34" charset="-122"/>
                <a:cs typeface="Calibri" pitchFamily="34" charset="-120"/>
              </a:rPr>
              <a:t>tt</a:t>
            </a:r>
            <a:endParaRPr lang="en-US" sz="1200" dirty="0"/>
          </a:p>
        </p:txBody>
      </p:sp>
      <p:sp>
        <p:nvSpPr>
          <p:cNvPr id="33" name="Shape 31"/>
          <p:cNvSpPr/>
          <p:nvPr/>
        </p:nvSpPr>
        <p:spPr>
          <a:xfrm>
            <a:off x="5029200" y="3657600"/>
            <a:ext cx="3657600" cy="1097280"/>
          </a:xfrm>
          <a:prstGeom prst="rect">
            <a:avLst/>
          </a:prstGeom>
          <a:solidFill>
            <a:srgbClr val="F0F4E8"/>
          </a:solidFill>
          <a:ln w="12700">
            <a:solidFill>
              <a:srgbClr val="2C5F2D"/>
            </a:solidFill>
            <a:prstDash val="solid"/>
          </a:ln>
        </p:spPr>
      </p:sp>
      <p:sp>
        <p:nvSpPr>
          <p:cNvPr id="34" name="Text 32"/>
          <p:cNvSpPr/>
          <p:nvPr/>
        </p:nvSpPr>
        <p:spPr>
          <a:xfrm>
            <a:off x="5120640" y="3703320"/>
            <a:ext cx="3474720" cy="274320"/>
          </a:xfrm>
          <a:prstGeom prst="rect">
            <a:avLst/>
          </a:prstGeom>
          <a:noFill/>
          <a:ln/>
        </p:spPr>
        <p:txBody>
          <a:bodyPr wrap="square" rtlCol="0" anchor="ctr"/>
          <a:lstStyle/>
          <a:p>
            <a:pPr indent="0" marL="0">
              <a:buNone/>
            </a:pPr>
            <a:r>
              <a:rPr lang="en-US" sz="1200" b="1" dirty="0">
                <a:solidFill>
                  <a:srgbClr val="2C5F2D"/>
                </a:solidFill>
                <a:latin typeface="Georgia" pitchFamily="34" charset="0"/>
                <a:ea typeface="Georgia" pitchFamily="34" charset="-122"/>
                <a:cs typeface="Georgia" pitchFamily="34" charset="-120"/>
              </a:rPr>
              <a:t>F2 表型比例</a:t>
            </a:r>
            <a:endParaRPr lang="en-US" sz="1200" dirty="0"/>
          </a:p>
        </p:txBody>
      </p:sp>
      <p:sp>
        <p:nvSpPr>
          <p:cNvPr id="35" name="Text 33"/>
          <p:cNvSpPr/>
          <p:nvPr/>
        </p:nvSpPr>
        <p:spPr>
          <a:xfrm>
            <a:off x="5120640" y="3977640"/>
            <a:ext cx="3474720" cy="731520"/>
          </a:xfrm>
          <a:prstGeom prst="rect">
            <a:avLst/>
          </a:prstGeom>
          <a:noFill/>
          <a:ln/>
        </p:spPr>
        <p:txBody>
          <a:bodyPr wrap="square" rtlCol="0" anchor="ctr"/>
          <a:lstStyle/>
          <a:p>
            <a:pPr indent="0" marL="0">
              <a:spcAft>
                <a:spcPts val="300"/>
              </a:spcAft>
              <a:buNone/>
            </a:pPr>
            <a:r>
              <a:rPr lang="en-US" sz="1100" dirty="0">
                <a:solidFill>
                  <a:srgbClr val="2C5F2D"/>
                </a:solidFill>
                <a:latin typeface="Calibri" pitchFamily="34" charset="0"/>
                <a:ea typeface="Calibri" pitchFamily="34" charset="-122"/>
                <a:cs typeface="Calibri" pitchFamily="34" charset="-120"/>
              </a:rPr>
              <a:t>TT : Tt : tt = 1 : 2 : 1（基因型比）</a:t>
            </a:r>
            <a:endParaRPr lang="en-US" sz="1100" dirty="0"/>
          </a:p>
          <a:p>
            <a:pPr indent="0" marL="0">
              <a:spcAft>
                <a:spcPts val="300"/>
              </a:spcAft>
              <a:buNone/>
            </a:pPr>
            <a:r>
              <a:rPr lang="en-US" sz="1100" dirty="0">
                <a:solidFill>
                  <a:srgbClr val="2C5F2D"/>
                </a:solidFill>
                <a:latin typeface="Calibri" pitchFamily="34" charset="0"/>
                <a:ea typeface="Calibri" pitchFamily="34" charset="-122"/>
                <a:cs typeface="Calibri" pitchFamily="34" charset="-120"/>
              </a:rPr>
              <a:t>高茎 : 矮茎 = 3 : 1（表型比）</a:t>
            </a:r>
            <a:endParaRPr lang="en-US" sz="1100" dirty="0"/>
          </a:p>
          <a:p>
            <a:pPr indent="0" marL="0">
              <a:spcAft>
                <a:spcPts val="300"/>
              </a:spcAft>
              <a:buNone/>
            </a:pPr>
            <a:r>
              <a:rPr lang="en-US" sz="1100" dirty="0">
                <a:solidFill>
                  <a:srgbClr val="2C5F2D"/>
                </a:solidFill>
                <a:latin typeface="Calibri" pitchFamily="34" charset="0"/>
                <a:ea typeface="Calibri" pitchFamily="34" charset="-122"/>
                <a:cs typeface="Calibri" pitchFamily="34" charset="-120"/>
              </a:rPr>
              <a:t>P(高茎) = 1/4 + 2/4 = 3/4（加法法则）</a:t>
            </a:r>
            <a:endParaRPr lang="en-US" sz="1100" dirty="0"/>
          </a:p>
        </p:txBody>
      </p:sp>
      <p:sp>
        <p:nvSpPr>
          <p:cNvPr id="36" name="Text 34"/>
          <p:cNvSpPr/>
          <p:nvPr/>
        </p:nvSpPr>
        <p:spPr>
          <a:xfrm>
            <a:off x="8046720" y="4777740"/>
            <a:ext cx="914400" cy="274320"/>
          </a:xfrm>
          <a:prstGeom prst="rect">
            <a:avLst/>
          </a:prstGeom>
          <a:noFill/>
          <a:ln/>
        </p:spPr>
        <p:txBody>
          <a:bodyPr wrap="square" rtlCol="0" anchor="ctr"/>
          <a:lstStyle/>
          <a:p>
            <a:pPr algn="r" indent="0" marL="0">
              <a:buNone/>
            </a:pPr>
            <a:r>
              <a:rPr lang="en-US" sz="1000" dirty="0">
                <a:solidFill>
                  <a:srgbClr val="6B8E5A"/>
                </a:solidFill>
                <a:latin typeface="Calibri" pitchFamily="34" charset="0"/>
                <a:ea typeface="Calibri" pitchFamily="34" charset="-122"/>
                <a:cs typeface="Calibri" pitchFamily="34" charset="-120"/>
              </a:rPr>
              <a:t>9 / 20</a:t>
            </a:r>
            <a:endParaRPr lang="en-US" sz="1000" dirty="0"/>
          </a:p>
        </p:txBody>
      </p:sp>
      <p:sp>
        <p:nvSpPr>
          <p:cNvPr id="37" name="Shape 35"/>
          <p:cNvSpPr/>
          <p:nvPr/>
        </p:nvSpPr>
        <p:spPr>
          <a:xfrm>
            <a:off x="0" y="5097780"/>
            <a:ext cx="9144000" cy="45720"/>
          </a:xfrm>
          <a:prstGeom prst="rect">
            <a:avLst/>
          </a:prstGeom>
          <a:solidFill>
            <a:srgbClr val="2C5F2D"/>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4A843"/>
          </a:solidFill>
          <a:ln/>
        </p:spPr>
      </p:sp>
      <p:sp>
        <p:nvSpPr>
          <p:cNvPr id="3" name="Text 1"/>
          <p:cNvSpPr/>
          <p:nvPr/>
        </p:nvSpPr>
        <p:spPr>
          <a:xfrm>
            <a:off x="457200" y="228600"/>
            <a:ext cx="8229600" cy="457200"/>
          </a:xfrm>
          <a:prstGeom prst="rect">
            <a:avLst/>
          </a:prstGeom>
          <a:noFill/>
          <a:ln/>
        </p:spPr>
        <p:txBody>
          <a:bodyPr wrap="square" rtlCol="0" anchor="ctr"/>
          <a:lstStyle/>
          <a:p>
            <a:pPr indent="0" marL="0">
              <a:buNone/>
            </a:pPr>
            <a:r>
              <a:rPr lang="en-US" sz="2800" b="1" dirty="0">
                <a:solidFill>
                  <a:srgbClr val="2C5F2D"/>
                </a:solidFill>
                <a:latin typeface="Georgia" pitchFamily="34" charset="0"/>
                <a:ea typeface="Georgia" pitchFamily="34" charset="-122"/>
                <a:cs typeface="Georgia" pitchFamily="34" charset="-120"/>
              </a:rPr>
              <a:t>核心概念（五）：双因子杂交的数学推导</a:t>
            </a:r>
            <a:endParaRPr lang="en-US" sz="2800" dirty="0"/>
          </a:p>
        </p:txBody>
      </p:sp>
      <p:sp>
        <p:nvSpPr>
          <p:cNvPr id="4" name="Text 2"/>
          <p:cNvSpPr/>
          <p:nvPr/>
        </p:nvSpPr>
        <p:spPr>
          <a:xfrm>
            <a:off x="457200" y="685800"/>
            <a:ext cx="8229600" cy="274320"/>
          </a:xfrm>
          <a:prstGeom prst="rect">
            <a:avLst/>
          </a:prstGeom>
          <a:noFill/>
          <a:ln/>
        </p:spPr>
        <p:txBody>
          <a:bodyPr wrap="square" rtlCol="0" anchor="ctr"/>
          <a:lstStyle/>
          <a:p>
            <a:pPr indent="0" marL="0">
              <a:buNone/>
            </a:pPr>
            <a:r>
              <a:rPr lang="en-US" sz="1400" dirty="0">
                <a:solidFill>
                  <a:srgbClr val="6B8E5A"/>
                </a:solidFill>
                <a:latin typeface="Calibri" pitchFamily="34" charset="0"/>
                <a:ea typeface="Calibri" pitchFamily="34" charset="-122"/>
                <a:cs typeface="Calibri" pitchFamily="34" charset="-120"/>
              </a:rPr>
              <a:t>Dihybrid Cross - Mathematical Derivation of 9:3:3:1</a:t>
            </a:r>
            <a:endParaRPr lang="en-US" sz="1400" dirty="0"/>
          </a:p>
        </p:txBody>
      </p:sp>
      <p:sp>
        <p:nvSpPr>
          <p:cNvPr id="5" name="Shape 3"/>
          <p:cNvSpPr/>
          <p:nvPr/>
        </p:nvSpPr>
        <p:spPr>
          <a:xfrm>
            <a:off x="457200" y="1005840"/>
            <a:ext cx="1371600" cy="36576"/>
          </a:xfrm>
          <a:prstGeom prst="rect">
            <a:avLst/>
          </a:prstGeom>
          <a:solidFill>
            <a:srgbClr val="97BC62"/>
          </a:solidFill>
          <a:ln/>
        </p:spPr>
      </p:sp>
      <p:sp>
        <p:nvSpPr>
          <p:cNvPr id="6" name="Text 4"/>
          <p:cNvSpPr/>
          <p:nvPr/>
        </p:nvSpPr>
        <p:spPr>
          <a:xfrm>
            <a:off x="457200" y="1280160"/>
            <a:ext cx="8229600" cy="320040"/>
          </a:xfrm>
          <a:prstGeom prst="rect">
            <a:avLst/>
          </a:prstGeom>
          <a:noFill/>
          <a:ln/>
        </p:spPr>
        <p:txBody>
          <a:bodyPr wrap="square" rtlCol="0" anchor="ctr"/>
          <a:lstStyle/>
          <a:p>
            <a:pPr indent="0" marL="0">
              <a:buNone/>
            </a:pPr>
            <a:r>
              <a:rPr lang="en-US" sz="1300" dirty="0">
                <a:solidFill>
                  <a:srgbClr val="2C5F2D"/>
                </a:solidFill>
                <a:latin typeface="Calibri" pitchFamily="34" charset="0"/>
                <a:ea typeface="Calibri" pitchFamily="34" charset="-122"/>
                <a:cs typeface="Calibri" pitchFamily="34" charset="-120"/>
              </a:rPr>
              <a:t>以黄色圆滑 (YYRR) x 绿色皱缩 (yyrr) 为例</a:t>
            </a:r>
            <a:endParaRPr lang="en-US" sz="1300" dirty="0"/>
          </a:p>
        </p:txBody>
      </p:sp>
      <p:sp>
        <p:nvSpPr>
          <p:cNvPr id="7" name="Shape 5"/>
          <p:cNvSpPr/>
          <p:nvPr/>
        </p:nvSpPr>
        <p:spPr>
          <a:xfrm>
            <a:off x="914400" y="1691640"/>
            <a:ext cx="8229600" cy="548640"/>
          </a:xfrm>
          <a:prstGeom prst="rect">
            <a:avLst/>
          </a:prstGeom>
          <a:solidFill>
            <a:srgbClr val="F0F4E8"/>
          </a:solidFill>
          <a:ln w="25400">
            <a:solidFill>
              <a:srgbClr val="2C5F2D"/>
            </a:solidFill>
            <a:prstDash val="solid"/>
          </a:ln>
        </p:spPr>
      </p:sp>
      <p:sp>
        <p:nvSpPr>
          <p:cNvPr id="8" name="Text 6"/>
          <p:cNvSpPr/>
          <p:nvPr/>
        </p:nvSpPr>
        <p:spPr>
          <a:xfrm>
            <a:off x="914400" y="1691640"/>
            <a:ext cx="8229600" cy="548640"/>
          </a:xfrm>
          <a:prstGeom prst="rect">
            <a:avLst/>
          </a:prstGeom>
          <a:noFill/>
          <a:ln/>
        </p:spPr>
        <p:txBody>
          <a:bodyPr wrap="square" rtlCol="0" anchor="ctr"/>
          <a:lstStyle/>
          <a:p>
            <a:pPr algn="ctr" indent="0" marL="0">
              <a:buNone/>
            </a:pPr>
            <a:r>
              <a:rPr lang="en-US" sz="1600" b="1" dirty="0">
                <a:solidFill>
                  <a:srgbClr val="2C5F2D"/>
                </a:solidFill>
                <a:latin typeface="Georgia" pitchFamily="34" charset="0"/>
                <a:ea typeface="Georgia" pitchFamily="34" charset="-122"/>
                <a:cs typeface="Georgia" pitchFamily="34" charset="-120"/>
              </a:rPr>
              <a:t>核心思想：两对基因独立分离 → 两个 3:1 的乘积</a:t>
            </a:r>
            <a:endParaRPr lang="en-US" sz="1600" dirty="0"/>
          </a:p>
        </p:txBody>
      </p:sp>
      <p:sp>
        <p:nvSpPr>
          <p:cNvPr id="9" name="Text 7"/>
          <p:cNvSpPr/>
          <p:nvPr/>
        </p:nvSpPr>
        <p:spPr>
          <a:xfrm>
            <a:off x="457200" y="2331720"/>
            <a:ext cx="8229600" cy="365760"/>
          </a:xfrm>
          <a:prstGeom prst="rect">
            <a:avLst/>
          </a:prstGeom>
          <a:noFill/>
          <a:ln/>
        </p:spPr>
        <p:txBody>
          <a:bodyPr wrap="square" rtlCol="0" anchor="ctr"/>
          <a:lstStyle/>
          <a:p>
            <a:pPr algn="ctr" indent="0" marL="0">
              <a:buNone/>
            </a:pPr>
            <a:r>
              <a:rPr lang="en-US" sz="1500" dirty="0">
                <a:solidFill>
                  <a:srgbClr val="2C5F2D"/>
                </a:solidFill>
                <a:latin typeface="Georgia" pitchFamily="34" charset="0"/>
                <a:ea typeface="Georgia" pitchFamily="34" charset="-122"/>
                <a:cs typeface="Georgia" pitchFamily="34" charset="-120"/>
              </a:rPr>
              <a:t>(3 Y_ : 1 yy) x (3 R_ : 1 rr) = 9 Y_R_ : 3 Y_rr : 3 yyR_ : 1 yyrr</a:t>
            </a:r>
            <a:endParaRPr lang="en-US" sz="1500" dirty="0"/>
          </a:p>
        </p:txBody>
      </p:sp>
      <p:sp>
        <p:nvSpPr>
          <p:cNvPr id="10" name="Shape 8"/>
          <p:cNvSpPr/>
          <p:nvPr/>
        </p:nvSpPr>
        <p:spPr>
          <a:xfrm>
            <a:off x="457200" y="2880360"/>
            <a:ext cx="1965960" cy="1645920"/>
          </a:xfrm>
          <a:prstGeom prst="rect">
            <a:avLst/>
          </a:prstGeom>
          <a:solidFill>
            <a:srgbClr val="FFFFFF"/>
          </a:solidFill>
          <a:ln w="25400">
            <a:solidFill>
              <a:srgbClr val="2C5F2D"/>
            </a:solidFill>
            <a:prstDash val="solid"/>
          </a:ln>
        </p:spPr>
      </p:sp>
      <p:sp>
        <p:nvSpPr>
          <p:cNvPr id="11" name="Shape 9"/>
          <p:cNvSpPr/>
          <p:nvPr/>
        </p:nvSpPr>
        <p:spPr>
          <a:xfrm>
            <a:off x="457200" y="2880360"/>
            <a:ext cx="1965960" cy="54864"/>
          </a:xfrm>
          <a:prstGeom prst="rect">
            <a:avLst/>
          </a:prstGeom>
          <a:solidFill>
            <a:srgbClr val="2C5F2D"/>
          </a:solidFill>
          <a:ln/>
        </p:spPr>
      </p:sp>
      <p:sp>
        <p:nvSpPr>
          <p:cNvPr id="12" name="Text 10"/>
          <p:cNvSpPr/>
          <p:nvPr/>
        </p:nvSpPr>
        <p:spPr>
          <a:xfrm>
            <a:off x="457200" y="3017520"/>
            <a:ext cx="1965960" cy="411480"/>
          </a:xfrm>
          <a:prstGeom prst="rect">
            <a:avLst/>
          </a:prstGeom>
          <a:noFill/>
          <a:ln/>
        </p:spPr>
        <p:txBody>
          <a:bodyPr wrap="square" rtlCol="0" anchor="ctr"/>
          <a:lstStyle/>
          <a:p>
            <a:pPr algn="ctr" indent="0" marL="0">
              <a:buNone/>
            </a:pPr>
            <a:r>
              <a:rPr lang="en-US" sz="2400" b="1" dirty="0">
                <a:solidFill>
                  <a:srgbClr val="2C5F2D"/>
                </a:solidFill>
                <a:latin typeface="Georgia" pitchFamily="34" charset="0"/>
                <a:ea typeface="Georgia" pitchFamily="34" charset="-122"/>
                <a:cs typeface="Georgia" pitchFamily="34" charset="-120"/>
              </a:rPr>
              <a:t>9/16</a:t>
            </a:r>
            <a:endParaRPr lang="en-US" sz="2400" dirty="0"/>
          </a:p>
        </p:txBody>
      </p:sp>
      <p:sp>
        <p:nvSpPr>
          <p:cNvPr id="13" name="Text 11"/>
          <p:cNvSpPr/>
          <p:nvPr/>
        </p:nvSpPr>
        <p:spPr>
          <a:xfrm>
            <a:off x="457200" y="3474720"/>
            <a:ext cx="1965960" cy="320040"/>
          </a:xfrm>
          <a:prstGeom prst="rect">
            <a:avLst/>
          </a:prstGeom>
          <a:noFill/>
          <a:ln/>
        </p:spPr>
        <p:txBody>
          <a:bodyPr wrap="square" rtlCol="0" anchor="ctr"/>
          <a:lstStyle/>
          <a:p>
            <a:pPr algn="ctr" indent="0" marL="0">
              <a:buNone/>
            </a:pPr>
            <a:r>
              <a:rPr lang="en-US" sz="1300" dirty="0">
                <a:solidFill>
                  <a:srgbClr val="2C5F2D"/>
                </a:solidFill>
                <a:latin typeface="Calibri" pitchFamily="34" charset="0"/>
                <a:ea typeface="Calibri" pitchFamily="34" charset="-122"/>
                <a:cs typeface="Calibri" pitchFamily="34" charset="-120"/>
              </a:rPr>
              <a:t>黄色圆滑</a:t>
            </a:r>
            <a:endParaRPr lang="en-US" sz="1300" dirty="0"/>
          </a:p>
        </p:txBody>
      </p:sp>
      <p:sp>
        <p:nvSpPr>
          <p:cNvPr id="14" name="Text 12"/>
          <p:cNvSpPr/>
          <p:nvPr/>
        </p:nvSpPr>
        <p:spPr>
          <a:xfrm>
            <a:off x="457200" y="3794760"/>
            <a:ext cx="1965960" cy="274320"/>
          </a:xfrm>
          <a:prstGeom prst="rect">
            <a:avLst/>
          </a:prstGeom>
          <a:noFill/>
          <a:ln/>
        </p:spPr>
        <p:txBody>
          <a:bodyPr wrap="square" rtlCol="0" anchor="ctr"/>
          <a:lstStyle/>
          <a:p>
            <a:pPr algn="ctr" indent="0" marL="0">
              <a:buNone/>
            </a:pPr>
            <a:r>
              <a:rPr lang="en-US" sz="1100" dirty="0">
                <a:solidFill>
                  <a:srgbClr val="6B8E5A"/>
                </a:solidFill>
                <a:latin typeface="Calibri" pitchFamily="34" charset="0"/>
                <a:ea typeface="Calibri" pitchFamily="34" charset="-122"/>
                <a:cs typeface="Calibri" pitchFamily="34" charset="-120"/>
              </a:rPr>
              <a:t>Y_R_</a:t>
            </a:r>
            <a:endParaRPr lang="en-US" sz="1100" dirty="0"/>
          </a:p>
        </p:txBody>
      </p:sp>
      <p:sp>
        <p:nvSpPr>
          <p:cNvPr id="15" name="Shape 13"/>
          <p:cNvSpPr/>
          <p:nvPr/>
        </p:nvSpPr>
        <p:spPr>
          <a:xfrm>
            <a:off x="2606040" y="2880360"/>
            <a:ext cx="1965960" cy="1645920"/>
          </a:xfrm>
          <a:prstGeom prst="rect">
            <a:avLst/>
          </a:prstGeom>
          <a:solidFill>
            <a:srgbClr val="FFFFFF"/>
          </a:solidFill>
          <a:ln w="25400">
            <a:solidFill>
              <a:srgbClr val="97BC62"/>
            </a:solidFill>
            <a:prstDash val="solid"/>
          </a:ln>
        </p:spPr>
      </p:sp>
      <p:sp>
        <p:nvSpPr>
          <p:cNvPr id="16" name="Shape 14"/>
          <p:cNvSpPr/>
          <p:nvPr/>
        </p:nvSpPr>
        <p:spPr>
          <a:xfrm>
            <a:off x="2606040" y="2880360"/>
            <a:ext cx="1965960" cy="54864"/>
          </a:xfrm>
          <a:prstGeom prst="rect">
            <a:avLst/>
          </a:prstGeom>
          <a:solidFill>
            <a:srgbClr val="97BC62"/>
          </a:solidFill>
          <a:ln/>
        </p:spPr>
      </p:sp>
      <p:sp>
        <p:nvSpPr>
          <p:cNvPr id="17" name="Text 15"/>
          <p:cNvSpPr/>
          <p:nvPr/>
        </p:nvSpPr>
        <p:spPr>
          <a:xfrm>
            <a:off x="2606040" y="3017520"/>
            <a:ext cx="1965960" cy="411480"/>
          </a:xfrm>
          <a:prstGeom prst="rect">
            <a:avLst/>
          </a:prstGeom>
          <a:noFill/>
          <a:ln/>
        </p:spPr>
        <p:txBody>
          <a:bodyPr wrap="square" rtlCol="0" anchor="ctr"/>
          <a:lstStyle/>
          <a:p>
            <a:pPr algn="ctr" indent="0" marL="0">
              <a:buNone/>
            </a:pPr>
            <a:r>
              <a:rPr lang="en-US" sz="2400" b="1" dirty="0">
                <a:solidFill>
                  <a:srgbClr val="97BC62"/>
                </a:solidFill>
                <a:latin typeface="Georgia" pitchFamily="34" charset="0"/>
                <a:ea typeface="Georgia" pitchFamily="34" charset="-122"/>
                <a:cs typeface="Georgia" pitchFamily="34" charset="-120"/>
              </a:rPr>
              <a:t>3/16</a:t>
            </a:r>
            <a:endParaRPr lang="en-US" sz="2400" dirty="0"/>
          </a:p>
        </p:txBody>
      </p:sp>
      <p:sp>
        <p:nvSpPr>
          <p:cNvPr id="18" name="Text 16"/>
          <p:cNvSpPr/>
          <p:nvPr/>
        </p:nvSpPr>
        <p:spPr>
          <a:xfrm>
            <a:off x="2606040" y="3474720"/>
            <a:ext cx="1965960" cy="320040"/>
          </a:xfrm>
          <a:prstGeom prst="rect">
            <a:avLst/>
          </a:prstGeom>
          <a:noFill/>
          <a:ln/>
        </p:spPr>
        <p:txBody>
          <a:bodyPr wrap="square" rtlCol="0" anchor="ctr"/>
          <a:lstStyle/>
          <a:p>
            <a:pPr algn="ctr" indent="0" marL="0">
              <a:buNone/>
            </a:pPr>
            <a:r>
              <a:rPr lang="en-US" sz="1300" dirty="0">
                <a:solidFill>
                  <a:srgbClr val="2C5F2D"/>
                </a:solidFill>
                <a:latin typeface="Calibri" pitchFamily="34" charset="0"/>
                <a:ea typeface="Calibri" pitchFamily="34" charset="-122"/>
                <a:cs typeface="Calibri" pitchFamily="34" charset="-120"/>
              </a:rPr>
              <a:t>黄色皱缩</a:t>
            </a:r>
            <a:endParaRPr lang="en-US" sz="1300" dirty="0"/>
          </a:p>
        </p:txBody>
      </p:sp>
      <p:sp>
        <p:nvSpPr>
          <p:cNvPr id="19" name="Text 17"/>
          <p:cNvSpPr/>
          <p:nvPr/>
        </p:nvSpPr>
        <p:spPr>
          <a:xfrm>
            <a:off x="2606040" y="3794760"/>
            <a:ext cx="1965960" cy="274320"/>
          </a:xfrm>
          <a:prstGeom prst="rect">
            <a:avLst/>
          </a:prstGeom>
          <a:noFill/>
          <a:ln/>
        </p:spPr>
        <p:txBody>
          <a:bodyPr wrap="square" rtlCol="0" anchor="ctr"/>
          <a:lstStyle/>
          <a:p>
            <a:pPr algn="ctr" indent="0" marL="0">
              <a:buNone/>
            </a:pPr>
            <a:r>
              <a:rPr lang="en-US" sz="1100" dirty="0">
                <a:solidFill>
                  <a:srgbClr val="6B8E5A"/>
                </a:solidFill>
                <a:latin typeface="Calibri" pitchFamily="34" charset="0"/>
                <a:ea typeface="Calibri" pitchFamily="34" charset="-122"/>
                <a:cs typeface="Calibri" pitchFamily="34" charset="-120"/>
              </a:rPr>
              <a:t>Y_rr</a:t>
            </a:r>
            <a:endParaRPr lang="en-US" sz="1100" dirty="0"/>
          </a:p>
        </p:txBody>
      </p:sp>
      <p:sp>
        <p:nvSpPr>
          <p:cNvPr id="20" name="Shape 18"/>
          <p:cNvSpPr/>
          <p:nvPr/>
        </p:nvSpPr>
        <p:spPr>
          <a:xfrm>
            <a:off x="4754880" y="2880360"/>
            <a:ext cx="1965960" cy="1645920"/>
          </a:xfrm>
          <a:prstGeom prst="rect">
            <a:avLst/>
          </a:prstGeom>
          <a:solidFill>
            <a:srgbClr val="FFFFFF"/>
          </a:solidFill>
          <a:ln w="25400">
            <a:solidFill>
              <a:srgbClr val="D4A843"/>
            </a:solidFill>
            <a:prstDash val="solid"/>
          </a:ln>
        </p:spPr>
      </p:sp>
      <p:sp>
        <p:nvSpPr>
          <p:cNvPr id="21" name="Shape 19"/>
          <p:cNvSpPr/>
          <p:nvPr/>
        </p:nvSpPr>
        <p:spPr>
          <a:xfrm>
            <a:off x="4754880" y="2880360"/>
            <a:ext cx="1965960" cy="54864"/>
          </a:xfrm>
          <a:prstGeom prst="rect">
            <a:avLst/>
          </a:prstGeom>
          <a:solidFill>
            <a:srgbClr val="D4A843"/>
          </a:solidFill>
          <a:ln/>
        </p:spPr>
      </p:sp>
      <p:sp>
        <p:nvSpPr>
          <p:cNvPr id="22" name="Text 20"/>
          <p:cNvSpPr/>
          <p:nvPr/>
        </p:nvSpPr>
        <p:spPr>
          <a:xfrm>
            <a:off x="4754880" y="3017520"/>
            <a:ext cx="1965960" cy="411480"/>
          </a:xfrm>
          <a:prstGeom prst="rect">
            <a:avLst/>
          </a:prstGeom>
          <a:noFill/>
          <a:ln/>
        </p:spPr>
        <p:txBody>
          <a:bodyPr wrap="square" rtlCol="0" anchor="ctr"/>
          <a:lstStyle/>
          <a:p>
            <a:pPr algn="ctr" indent="0" marL="0">
              <a:buNone/>
            </a:pPr>
            <a:r>
              <a:rPr lang="en-US" sz="2400" b="1" dirty="0">
                <a:solidFill>
                  <a:srgbClr val="D4A843"/>
                </a:solidFill>
                <a:latin typeface="Georgia" pitchFamily="34" charset="0"/>
                <a:ea typeface="Georgia" pitchFamily="34" charset="-122"/>
                <a:cs typeface="Georgia" pitchFamily="34" charset="-120"/>
              </a:rPr>
              <a:t>3/16</a:t>
            </a:r>
            <a:endParaRPr lang="en-US" sz="2400" dirty="0"/>
          </a:p>
        </p:txBody>
      </p:sp>
      <p:sp>
        <p:nvSpPr>
          <p:cNvPr id="23" name="Text 21"/>
          <p:cNvSpPr/>
          <p:nvPr/>
        </p:nvSpPr>
        <p:spPr>
          <a:xfrm>
            <a:off x="4754880" y="3474720"/>
            <a:ext cx="1965960" cy="320040"/>
          </a:xfrm>
          <a:prstGeom prst="rect">
            <a:avLst/>
          </a:prstGeom>
          <a:noFill/>
          <a:ln/>
        </p:spPr>
        <p:txBody>
          <a:bodyPr wrap="square" rtlCol="0" anchor="ctr"/>
          <a:lstStyle/>
          <a:p>
            <a:pPr algn="ctr" indent="0" marL="0">
              <a:buNone/>
            </a:pPr>
            <a:r>
              <a:rPr lang="en-US" sz="1300" dirty="0">
                <a:solidFill>
                  <a:srgbClr val="2C5F2D"/>
                </a:solidFill>
                <a:latin typeface="Calibri" pitchFamily="34" charset="0"/>
                <a:ea typeface="Calibri" pitchFamily="34" charset="-122"/>
                <a:cs typeface="Calibri" pitchFamily="34" charset="-120"/>
              </a:rPr>
              <a:t>绿色圆滑</a:t>
            </a:r>
            <a:endParaRPr lang="en-US" sz="1300" dirty="0"/>
          </a:p>
        </p:txBody>
      </p:sp>
      <p:sp>
        <p:nvSpPr>
          <p:cNvPr id="24" name="Text 22"/>
          <p:cNvSpPr/>
          <p:nvPr/>
        </p:nvSpPr>
        <p:spPr>
          <a:xfrm>
            <a:off x="4754880" y="3794760"/>
            <a:ext cx="1965960" cy="274320"/>
          </a:xfrm>
          <a:prstGeom prst="rect">
            <a:avLst/>
          </a:prstGeom>
          <a:noFill/>
          <a:ln/>
        </p:spPr>
        <p:txBody>
          <a:bodyPr wrap="square" rtlCol="0" anchor="ctr"/>
          <a:lstStyle/>
          <a:p>
            <a:pPr algn="ctr" indent="0" marL="0">
              <a:buNone/>
            </a:pPr>
            <a:r>
              <a:rPr lang="en-US" sz="1100" dirty="0">
                <a:solidFill>
                  <a:srgbClr val="6B8E5A"/>
                </a:solidFill>
                <a:latin typeface="Calibri" pitchFamily="34" charset="0"/>
                <a:ea typeface="Calibri" pitchFamily="34" charset="-122"/>
                <a:cs typeface="Calibri" pitchFamily="34" charset="-120"/>
              </a:rPr>
              <a:t>yyR_</a:t>
            </a:r>
            <a:endParaRPr lang="en-US" sz="1100" dirty="0"/>
          </a:p>
        </p:txBody>
      </p:sp>
      <p:sp>
        <p:nvSpPr>
          <p:cNvPr id="25" name="Shape 23"/>
          <p:cNvSpPr/>
          <p:nvPr/>
        </p:nvSpPr>
        <p:spPr>
          <a:xfrm>
            <a:off x="6903720" y="2880360"/>
            <a:ext cx="1965960" cy="1645920"/>
          </a:xfrm>
          <a:prstGeom prst="rect">
            <a:avLst/>
          </a:prstGeom>
          <a:solidFill>
            <a:srgbClr val="FFFFFF"/>
          </a:solidFill>
          <a:ln w="25400">
            <a:solidFill>
              <a:srgbClr val="6B8E5A"/>
            </a:solidFill>
            <a:prstDash val="solid"/>
          </a:ln>
        </p:spPr>
      </p:sp>
      <p:sp>
        <p:nvSpPr>
          <p:cNvPr id="26" name="Shape 24"/>
          <p:cNvSpPr/>
          <p:nvPr/>
        </p:nvSpPr>
        <p:spPr>
          <a:xfrm>
            <a:off x="6903720" y="2880360"/>
            <a:ext cx="1965960" cy="54864"/>
          </a:xfrm>
          <a:prstGeom prst="rect">
            <a:avLst/>
          </a:prstGeom>
          <a:solidFill>
            <a:srgbClr val="6B8E5A"/>
          </a:solidFill>
          <a:ln/>
        </p:spPr>
      </p:sp>
      <p:sp>
        <p:nvSpPr>
          <p:cNvPr id="27" name="Text 25"/>
          <p:cNvSpPr/>
          <p:nvPr/>
        </p:nvSpPr>
        <p:spPr>
          <a:xfrm>
            <a:off x="6903720" y="3017520"/>
            <a:ext cx="1965960" cy="411480"/>
          </a:xfrm>
          <a:prstGeom prst="rect">
            <a:avLst/>
          </a:prstGeom>
          <a:noFill/>
          <a:ln/>
        </p:spPr>
        <p:txBody>
          <a:bodyPr wrap="square" rtlCol="0" anchor="ctr"/>
          <a:lstStyle/>
          <a:p>
            <a:pPr algn="ctr" indent="0" marL="0">
              <a:buNone/>
            </a:pPr>
            <a:r>
              <a:rPr lang="en-US" sz="2400" b="1" dirty="0">
                <a:solidFill>
                  <a:srgbClr val="6B8E5A"/>
                </a:solidFill>
                <a:latin typeface="Georgia" pitchFamily="34" charset="0"/>
                <a:ea typeface="Georgia" pitchFamily="34" charset="-122"/>
                <a:cs typeface="Georgia" pitchFamily="34" charset="-120"/>
              </a:rPr>
              <a:t>1/16</a:t>
            </a:r>
            <a:endParaRPr lang="en-US" sz="2400" dirty="0"/>
          </a:p>
        </p:txBody>
      </p:sp>
      <p:sp>
        <p:nvSpPr>
          <p:cNvPr id="28" name="Text 26"/>
          <p:cNvSpPr/>
          <p:nvPr/>
        </p:nvSpPr>
        <p:spPr>
          <a:xfrm>
            <a:off x="6903720" y="3474720"/>
            <a:ext cx="1965960" cy="320040"/>
          </a:xfrm>
          <a:prstGeom prst="rect">
            <a:avLst/>
          </a:prstGeom>
          <a:noFill/>
          <a:ln/>
        </p:spPr>
        <p:txBody>
          <a:bodyPr wrap="square" rtlCol="0" anchor="ctr"/>
          <a:lstStyle/>
          <a:p>
            <a:pPr algn="ctr" indent="0" marL="0">
              <a:buNone/>
            </a:pPr>
            <a:r>
              <a:rPr lang="en-US" sz="1300" dirty="0">
                <a:solidFill>
                  <a:srgbClr val="2C5F2D"/>
                </a:solidFill>
                <a:latin typeface="Calibri" pitchFamily="34" charset="0"/>
                <a:ea typeface="Calibri" pitchFamily="34" charset="-122"/>
                <a:cs typeface="Calibri" pitchFamily="34" charset="-120"/>
              </a:rPr>
              <a:t>绿色皱缩</a:t>
            </a:r>
            <a:endParaRPr lang="en-US" sz="1300" dirty="0"/>
          </a:p>
        </p:txBody>
      </p:sp>
      <p:sp>
        <p:nvSpPr>
          <p:cNvPr id="29" name="Text 27"/>
          <p:cNvSpPr/>
          <p:nvPr/>
        </p:nvSpPr>
        <p:spPr>
          <a:xfrm>
            <a:off x="6903720" y="3794760"/>
            <a:ext cx="1965960" cy="274320"/>
          </a:xfrm>
          <a:prstGeom prst="rect">
            <a:avLst/>
          </a:prstGeom>
          <a:noFill/>
          <a:ln/>
        </p:spPr>
        <p:txBody>
          <a:bodyPr wrap="square" rtlCol="0" anchor="ctr"/>
          <a:lstStyle/>
          <a:p>
            <a:pPr algn="ctr" indent="0" marL="0">
              <a:buNone/>
            </a:pPr>
            <a:r>
              <a:rPr lang="en-US" sz="1100" dirty="0">
                <a:solidFill>
                  <a:srgbClr val="6B8E5A"/>
                </a:solidFill>
                <a:latin typeface="Calibri" pitchFamily="34" charset="0"/>
                <a:ea typeface="Calibri" pitchFamily="34" charset="-122"/>
                <a:cs typeface="Calibri" pitchFamily="34" charset="-120"/>
              </a:rPr>
              <a:t>yyrr</a:t>
            </a:r>
            <a:endParaRPr lang="en-US" sz="1100" dirty="0"/>
          </a:p>
        </p:txBody>
      </p:sp>
      <p:sp>
        <p:nvSpPr>
          <p:cNvPr id="30" name="Text 28"/>
          <p:cNvSpPr/>
          <p:nvPr/>
        </p:nvSpPr>
        <p:spPr>
          <a:xfrm>
            <a:off x="457200" y="4663440"/>
            <a:ext cx="8229600" cy="274320"/>
          </a:xfrm>
          <a:prstGeom prst="rect">
            <a:avLst/>
          </a:prstGeom>
          <a:noFill/>
          <a:ln/>
        </p:spPr>
        <p:txBody>
          <a:bodyPr wrap="square" rtlCol="0" anchor="ctr"/>
          <a:lstStyle/>
          <a:p>
            <a:pPr indent="0" marL="0">
              <a:buNone/>
            </a:pPr>
            <a:r>
              <a:rPr lang="en-US" sz="1100" b="1" dirty="0">
                <a:solidFill>
                  <a:srgbClr val="D4A843"/>
                </a:solidFill>
                <a:latin typeface="Calibri" pitchFamily="34" charset="0"/>
                <a:ea typeface="Calibri" pitchFamily="34" charset="-122"/>
                <a:cs typeface="Calibri" pitchFamily="34" charset="-120"/>
              </a:rPr>
              <a:t>乘法法则应用：P(Y_R_) = P(Y_) x P(R_) = 3/4 x 3/4 = 9/16</a:t>
            </a:r>
            <a:endParaRPr lang="en-US" sz="1100" dirty="0"/>
          </a:p>
        </p:txBody>
      </p:sp>
      <p:sp>
        <p:nvSpPr>
          <p:cNvPr id="31" name="Text 29"/>
          <p:cNvSpPr/>
          <p:nvPr/>
        </p:nvSpPr>
        <p:spPr>
          <a:xfrm>
            <a:off x="8046720" y="4777740"/>
            <a:ext cx="914400" cy="274320"/>
          </a:xfrm>
          <a:prstGeom prst="rect">
            <a:avLst/>
          </a:prstGeom>
          <a:noFill/>
          <a:ln/>
        </p:spPr>
        <p:txBody>
          <a:bodyPr wrap="square" rtlCol="0" anchor="ctr"/>
          <a:lstStyle/>
          <a:p>
            <a:pPr algn="r" indent="0" marL="0">
              <a:buNone/>
            </a:pPr>
            <a:r>
              <a:rPr lang="en-US" sz="1000" dirty="0">
                <a:solidFill>
                  <a:srgbClr val="6B8E5A"/>
                </a:solidFill>
                <a:latin typeface="Calibri" pitchFamily="34" charset="0"/>
                <a:ea typeface="Calibri" pitchFamily="34" charset="-122"/>
                <a:cs typeface="Calibri" pitchFamily="34" charset="-120"/>
              </a:rPr>
              <a:t>10 / 20</a:t>
            </a:r>
            <a:endParaRPr lang="en-US" sz="1000" dirty="0"/>
          </a:p>
        </p:txBody>
      </p:sp>
      <p:sp>
        <p:nvSpPr>
          <p:cNvPr id="32" name="Shape 30"/>
          <p:cNvSpPr/>
          <p:nvPr/>
        </p:nvSpPr>
        <p:spPr>
          <a:xfrm>
            <a:off x="0" y="5097780"/>
            <a:ext cx="9144000" cy="45720"/>
          </a:xfrm>
          <a:prstGeom prst="rect">
            <a:avLst/>
          </a:prstGeom>
          <a:solidFill>
            <a:srgbClr val="2C5F2D"/>
          </a:solidFill>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4A843"/>
          </a:solidFill>
          <a:ln/>
        </p:spPr>
      </p:sp>
      <p:sp>
        <p:nvSpPr>
          <p:cNvPr id="3" name="Text 1"/>
          <p:cNvSpPr/>
          <p:nvPr/>
        </p:nvSpPr>
        <p:spPr>
          <a:xfrm>
            <a:off x="457200" y="228600"/>
            <a:ext cx="8229600" cy="457200"/>
          </a:xfrm>
          <a:prstGeom prst="rect">
            <a:avLst/>
          </a:prstGeom>
          <a:noFill/>
          <a:ln/>
        </p:spPr>
        <p:txBody>
          <a:bodyPr wrap="square" rtlCol="0" anchor="ctr"/>
          <a:lstStyle/>
          <a:p>
            <a:pPr indent="0" marL="0">
              <a:buNone/>
            </a:pPr>
            <a:r>
              <a:rPr lang="en-US" sz="2800" b="1" dirty="0">
                <a:solidFill>
                  <a:srgbClr val="2C5F2D"/>
                </a:solidFill>
                <a:latin typeface="Georgia" pitchFamily="34" charset="0"/>
                <a:ea typeface="Georgia" pitchFamily="34" charset="-122"/>
                <a:cs typeface="Georgia" pitchFamily="34" charset="-120"/>
              </a:rPr>
              <a:t>核心概念（六）：卡方检验</a:t>
            </a:r>
            <a:endParaRPr lang="en-US" sz="2800" dirty="0"/>
          </a:p>
        </p:txBody>
      </p:sp>
      <p:sp>
        <p:nvSpPr>
          <p:cNvPr id="4" name="Text 2"/>
          <p:cNvSpPr/>
          <p:nvPr/>
        </p:nvSpPr>
        <p:spPr>
          <a:xfrm>
            <a:off x="457200" y="685800"/>
            <a:ext cx="8229600" cy="274320"/>
          </a:xfrm>
          <a:prstGeom prst="rect">
            <a:avLst/>
          </a:prstGeom>
          <a:noFill/>
          <a:ln/>
        </p:spPr>
        <p:txBody>
          <a:bodyPr wrap="square" rtlCol="0" anchor="ctr"/>
          <a:lstStyle/>
          <a:p>
            <a:pPr indent="0" marL="0">
              <a:buNone/>
            </a:pPr>
            <a:r>
              <a:rPr lang="en-US" sz="1400" dirty="0">
                <a:solidFill>
                  <a:srgbClr val="6B8E5A"/>
                </a:solidFill>
                <a:latin typeface="Calibri" pitchFamily="34" charset="0"/>
                <a:ea typeface="Calibri" pitchFamily="34" charset="-122"/>
                <a:cs typeface="Calibri" pitchFamily="34" charset="-120"/>
              </a:rPr>
              <a:t>Chi-Square Test (Goodness of Fit)</a:t>
            </a:r>
            <a:endParaRPr lang="en-US" sz="1400" dirty="0"/>
          </a:p>
        </p:txBody>
      </p:sp>
      <p:sp>
        <p:nvSpPr>
          <p:cNvPr id="5" name="Shape 3"/>
          <p:cNvSpPr/>
          <p:nvPr/>
        </p:nvSpPr>
        <p:spPr>
          <a:xfrm>
            <a:off x="457200" y="1005840"/>
            <a:ext cx="1371600" cy="36576"/>
          </a:xfrm>
          <a:prstGeom prst="rect">
            <a:avLst/>
          </a:prstGeom>
          <a:solidFill>
            <a:srgbClr val="97BC62"/>
          </a:solidFill>
          <a:ln/>
        </p:spPr>
      </p:sp>
      <p:sp>
        <p:nvSpPr>
          <p:cNvPr id="6" name="Text 4"/>
          <p:cNvSpPr/>
          <p:nvPr/>
        </p:nvSpPr>
        <p:spPr>
          <a:xfrm>
            <a:off x="457200" y="1280160"/>
            <a:ext cx="8229600" cy="640080"/>
          </a:xfrm>
          <a:prstGeom prst="rect">
            <a:avLst/>
          </a:prstGeom>
          <a:noFill/>
          <a:ln/>
        </p:spPr>
        <p:txBody>
          <a:bodyPr wrap="square" rtlCol="0" anchor="ctr"/>
          <a:lstStyle/>
          <a:p>
            <a:pPr indent="0" marL="0">
              <a:buNone/>
            </a:pPr>
            <a:r>
              <a:rPr lang="en-US" sz="1200" dirty="0">
                <a:solidFill>
                  <a:srgbClr val="2C5F2D"/>
                </a:solidFill>
                <a:latin typeface="Calibri" pitchFamily="34" charset="0"/>
                <a:ea typeface="Calibri" pitchFamily="34" charset="-122"/>
                <a:cs typeface="Calibri" pitchFamily="34" charset="-120"/>
              </a:rPr>
              <a:t>卡方检验用于判断实验观察数据与理论预期之间的差异是否具有统计学显著性，即差异是由随机误差引起的，还是因为理论模型本身有问题。</a:t>
            </a:r>
            <a:endParaRPr lang="en-US" sz="1200" dirty="0"/>
          </a:p>
        </p:txBody>
      </p:sp>
      <p:sp>
        <p:nvSpPr>
          <p:cNvPr id="7" name="Shape 5"/>
          <p:cNvSpPr/>
          <p:nvPr/>
        </p:nvSpPr>
        <p:spPr>
          <a:xfrm>
            <a:off x="1371600" y="2011680"/>
            <a:ext cx="7315200" cy="640080"/>
          </a:xfrm>
          <a:prstGeom prst="rect">
            <a:avLst/>
          </a:prstGeom>
          <a:solidFill>
            <a:srgbClr val="F0F4E8"/>
          </a:solidFill>
          <a:ln w="25400">
            <a:solidFill>
              <a:srgbClr val="2C5F2D"/>
            </a:solidFill>
            <a:prstDash val="solid"/>
          </a:ln>
        </p:spPr>
      </p:sp>
      <p:sp>
        <p:nvSpPr>
          <p:cNvPr id="8" name="Text 6"/>
          <p:cNvSpPr/>
          <p:nvPr/>
        </p:nvSpPr>
        <p:spPr>
          <a:xfrm>
            <a:off x="1371600" y="2011680"/>
            <a:ext cx="7315200" cy="640080"/>
          </a:xfrm>
          <a:prstGeom prst="rect">
            <a:avLst/>
          </a:prstGeom>
          <a:noFill/>
          <a:ln/>
        </p:spPr>
        <p:txBody>
          <a:bodyPr wrap="square" rtlCol="0" anchor="ctr"/>
          <a:lstStyle/>
          <a:p>
            <a:pPr algn="ctr" indent="0" marL="0">
              <a:buNone/>
            </a:pPr>
            <a:r>
              <a:rPr lang="en-US" sz="2000" b="1" dirty="0">
                <a:solidFill>
                  <a:srgbClr val="2C5F2D"/>
                </a:solidFill>
                <a:latin typeface="Georgia" pitchFamily="34" charset="0"/>
                <a:ea typeface="Georgia" pitchFamily="34" charset="-122"/>
                <a:cs typeface="Georgia" pitchFamily="34" charset="-120"/>
              </a:rPr>
              <a:t>chi-sq = Sum[(O - E)^2 / E]</a:t>
            </a:r>
            <a:endParaRPr lang="en-US" sz="2000" dirty="0"/>
          </a:p>
        </p:txBody>
      </p:sp>
      <p:sp>
        <p:nvSpPr>
          <p:cNvPr id="9" name="Text 7"/>
          <p:cNvSpPr/>
          <p:nvPr/>
        </p:nvSpPr>
        <p:spPr>
          <a:xfrm>
            <a:off x="457200" y="2743200"/>
            <a:ext cx="8229600" cy="274320"/>
          </a:xfrm>
          <a:prstGeom prst="rect">
            <a:avLst/>
          </a:prstGeom>
          <a:noFill/>
          <a:ln/>
        </p:spPr>
        <p:txBody>
          <a:bodyPr wrap="square" rtlCol="0" anchor="ctr"/>
          <a:lstStyle/>
          <a:p>
            <a:pPr indent="0" marL="0">
              <a:buNone/>
            </a:pPr>
            <a:r>
              <a:rPr lang="en-US" sz="1100" dirty="0">
                <a:solidFill>
                  <a:srgbClr val="2C5F2D"/>
                </a:solidFill>
                <a:latin typeface="Calibri" pitchFamily="34" charset="0"/>
                <a:ea typeface="Calibri" pitchFamily="34" charset="-122"/>
                <a:cs typeface="Calibri" pitchFamily="34" charset="-120"/>
              </a:rPr>
              <a:t>O = 观察值 (Observed)    E = 期望值 (Expected)    df = 自由度 = 分类数 - 1</a:t>
            </a:r>
            <a:endParaRPr lang="en-US" sz="1100" dirty="0"/>
          </a:p>
        </p:txBody>
      </p:sp>
      <p:sp>
        <p:nvSpPr>
          <p:cNvPr id="10" name="Text 8"/>
          <p:cNvSpPr/>
          <p:nvPr/>
        </p:nvSpPr>
        <p:spPr>
          <a:xfrm>
            <a:off x="457200" y="3108960"/>
            <a:ext cx="8229600" cy="274320"/>
          </a:xfrm>
          <a:prstGeom prst="rect">
            <a:avLst/>
          </a:prstGeom>
          <a:noFill/>
          <a:ln/>
        </p:spPr>
        <p:txBody>
          <a:bodyPr wrap="square" rtlCol="0" anchor="ctr"/>
          <a:lstStyle/>
          <a:p>
            <a:pPr indent="0" marL="0">
              <a:buNone/>
            </a:pPr>
            <a:r>
              <a:rPr lang="en-US" sz="1300" b="1" dirty="0">
                <a:solidFill>
                  <a:srgbClr val="2C5F2D"/>
                </a:solidFill>
                <a:latin typeface="Georgia" pitchFamily="34" charset="0"/>
                <a:ea typeface="Georgia" pitchFamily="34" charset="-122"/>
                <a:cs typeface="Georgia" pitchFamily="34" charset="-120"/>
              </a:rPr>
              <a:t>判断标准：</a:t>
            </a:r>
            <a:endParaRPr lang="en-US" sz="1300" dirty="0"/>
          </a:p>
        </p:txBody>
      </p:sp>
      <p:sp>
        <p:nvSpPr>
          <p:cNvPr id="11" name="Shape 9"/>
          <p:cNvSpPr/>
          <p:nvPr/>
        </p:nvSpPr>
        <p:spPr>
          <a:xfrm>
            <a:off x="457200" y="3383280"/>
            <a:ext cx="2286000" cy="320040"/>
          </a:xfrm>
          <a:prstGeom prst="rect">
            <a:avLst/>
          </a:prstGeom>
          <a:solidFill>
            <a:srgbClr val="2C5F2D"/>
          </a:solidFill>
          <a:ln/>
        </p:spPr>
      </p:sp>
      <p:sp>
        <p:nvSpPr>
          <p:cNvPr id="12" name="Text 10"/>
          <p:cNvSpPr/>
          <p:nvPr/>
        </p:nvSpPr>
        <p:spPr>
          <a:xfrm>
            <a:off x="457200" y="3383280"/>
            <a:ext cx="228600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自由度 (df)</a:t>
            </a:r>
            <a:endParaRPr lang="en-US" sz="1100" dirty="0"/>
          </a:p>
        </p:txBody>
      </p:sp>
      <p:sp>
        <p:nvSpPr>
          <p:cNvPr id="13" name="Shape 11"/>
          <p:cNvSpPr/>
          <p:nvPr/>
        </p:nvSpPr>
        <p:spPr>
          <a:xfrm>
            <a:off x="2743200" y="3383280"/>
            <a:ext cx="2286000" cy="320040"/>
          </a:xfrm>
          <a:prstGeom prst="rect">
            <a:avLst/>
          </a:prstGeom>
          <a:solidFill>
            <a:srgbClr val="2C5F2D"/>
          </a:solidFill>
          <a:ln/>
        </p:spPr>
      </p:sp>
      <p:sp>
        <p:nvSpPr>
          <p:cNvPr id="14" name="Text 12"/>
          <p:cNvSpPr/>
          <p:nvPr/>
        </p:nvSpPr>
        <p:spPr>
          <a:xfrm>
            <a:off x="2743200" y="3383280"/>
            <a:ext cx="228600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显著性水平</a:t>
            </a:r>
            <a:endParaRPr lang="en-US" sz="1100" dirty="0"/>
          </a:p>
        </p:txBody>
      </p:sp>
      <p:sp>
        <p:nvSpPr>
          <p:cNvPr id="15" name="Shape 13"/>
          <p:cNvSpPr/>
          <p:nvPr/>
        </p:nvSpPr>
        <p:spPr>
          <a:xfrm>
            <a:off x="5029200" y="3383280"/>
            <a:ext cx="4114800" cy="320040"/>
          </a:xfrm>
          <a:prstGeom prst="rect">
            <a:avLst/>
          </a:prstGeom>
          <a:solidFill>
            <a:srgbClr val="2C5F2D"/>
          </a:solidFill>
          <a:ln/>
        </p:spPr>
      </p:sp>
      <p:sp>
        <p:nvSpPr>
          <p:cNvPr id="16" name="Text 14"/>
          <p:cNvSpPr/>
          <p:nvPr/>
        </p:nvSpPr>
        <p:spPr>
          <a:xfrm>
            <a:off x="5029200" y="3383280"/>
            <a:ext cx="411480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判断标准</a:t>
            </a:r>
            <a:endParaRPr lang="en-US" sz="1100" dirty="0"/>
          </a:p>
        </p:txBody>
      </p:sp>
      <p:sp>
        <p:nvSpPr>
          <p:cNvPr id="17" name="Shape 15"/>
          <p:cNvSpPr/>
          <p:nvPr/>
        </p:nvSpPr>
        <p:spPr>
          <a:xfrm>
            <a:off x="457200" y="3703320"/>
            <a:ext cx="2286000" cy="274320"/>
          </a:xfrm>
          <a:prstGeom prst="rect">
            <a:avLst/>
          </a:prstGeom>
          <a:solidFill>
            <a:srgbClr val="FFFFFF"/>
          </a:solidFill>
          <a:ln w="6350">
            <a:solidFill>
              <a:srgbClr val="97BC62"/>
            </a:solidFill>
            <a:prstDash val="solid"/>
          </a:ln>
        </p:spPr>
      </p:sp>
      <p:sp>
        <p:nvSpPr>
          <p:cNvPr id="18" name="Text 16"/>
          <p:cNvSpPr/>
          <p:nvPr/>
        </p:nvSpPr>
        <p:spPr>
          <a:xfrm>
            <a:off x="457200" y="3703320"/>
            <a:ext cx="228600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1</a:t>
            </a:r>
            <a:endParaRPr lang="en-US" sz="1000" dirty="0"/>
          </a:p>
        </p:txBody>
      </p:sp>
      <p:sp>
        <p:nvSpPr>
          <p:cNvPr id="19" name="Shape 17"/>
          <p:cNvSpPr/>
          <p:nvPr/>
        </p:nvSpPr>
        <p:spPr>
          <a:xfrm>
            <a:off x="2743200" y="3703320"/>
            <a:ext cx="2286000" cy="274320"/>
          </a:xfrm>
          <a:prstGeom prst="rect">
            <a:avLst/>
          </a:prstGeom>
          <a:solidFill>
            <a:srgbClr val="FFFFFF"/>
          </a:solidFill>
          <a:ln w="6350">
            <a:solidFill>
              <a:srgbClr val="97BC62"/>
            </a:solidFill>
            <a:prstDash val="solid"/>
          </a:ln>
        </p:spPr>
      </p:sp>
      <p:sp>
        <p:nvSpPr>
          <p:cNvPr id="20" name="Text 18"/>
          <p:cNvSpPr/>
          <p:nvPr/>
        </p:nvSpPr>
        <p:spPr>
          <a:xfrm>
            <a:off x="2743200" y="3703320"/>
            <a:ext cx="228600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P = 0.05</a:t>
            </a:r>
            <a:endParaRPr lang="en-US" sz="1000" dirty="0"/>
          </a:p>
        </p:txBody>
      </p:sp>
      <p:sp>
        <p:nvSpPr>
          <p:cNvPr id="21" name="Shape 19"/>
          <p:cNvSpPr/>
          <p:nvPr/>
        </p:nvSpPr>
        <p:spPr>
          <a:xfrm>
            <a:off x="5029200" y="3703320"/>
            <a:ext cx="4114800" cy="274320"/>
          </a:xfrm>
          <a:prstGeom prst="rect">
            <a:avLst/>
          </a:prstGeom>
          <a:solidFill>
            <a:srgbClr val="FFFFFF"/>
          </a:solidFill>
          <a:ln w="6350">
            <a:solidFill>
              <a:srgbClr val="97BC62"/>
            </a:solidFill>
            <a:prstDash val="solid"/>
          </a:ln>
        </p:spPr>
      </p:sp>
      <p:sp>
        <p:nvSpPr>
          <p:cNvPr id="22" name="Text 20"/>
          <p:cNvSpPr/>
          <p:nvPr/>
        </p:nvSpPr>
        <p:spPr>
          <a:xfrm>
            <a:off x="5029200" y="3703320"/>
            <a:ext cx="411480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chi-sq = 3.841</a:t>
            </a:r>
            <a:endParaRPr lang="en-US" sz="1000" dirty="0"/>
          </a:p>
        </p:txBody>
      </p:sp>
      <p:sp>
        <p:nvSpPr>
          <p:cNvPr id="23" name="Shape 21"/>
          <p:cNvSpPr/>
          <p:nvPr/>
        </p:nvSpPr>
        <p:spPr>
          <a:xfrm>
            <a:off x="457200" y="3977640"/>
            <a:ext cx="2286000" cy="274320"/>
          </a:xfrm>
          <a:prstGeom prst="rect">
            <a:avLst/>
          </a:prstGeom>
          <a:solidFill>
            <a:srgbClr val="FFFFFF"/>
          </a:solidFill>
          <a:ln w="6350">
            <a:solidFill>
              <a:srgbClr val="97BC62"/>
            </a:solidFill>
            <a:prstDash val="solid"/>
          </a:ln>
        </p:spPr>
      </p:sp>
      <p:sp>
        <p:nvSpPr>
          <p:cNvPr id="24" name="Text 22"/>
          <p:cNvSpPr/>
          <p:nvPr/>
        </p:nvSpPr>
        <p:spPr>
          <a:xfrm>
            <a:off x="457200" y="3977640"/>
            <a:ext cx="228600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1</a:t>
            </a:r>
            <a:endParaRPr lang="en-US" sz="1000" dirty="0"/>
          </a:p>
        </p:txBody>
      </p:sp>
      <p:sp>
        <p:nvSpPr>
          <p:cNvPr id="25" name="Shape 23"/>
          <p:cNvSpPr/>
          <p:nvPr/>
        </p:nvSpPr>
        <p:spPr>
          <a:xfrm>
            <a:off x="2743200" y="3977640"/>
            <a:ext cx="2286000" cy="274320"/>
          </a:xfrm>
          <a:prstGeom prst="rect">
            <a:avLst/>
          </a:prstGeom>
          <a:solidFill>
            <a:srgbClr val="FFFFFF"/>
          </a:solidFill>
          <a:ln w="6350">
            <a:solidFill>
              <a:srgbClr val="97BC62"/>
            </a:solidFill>
            <a:prstDash val="solid"/>
          </a:ln>
        </p:spPr>
      </p:sp>
      <p:sp>
        <p:nvSpPr>
          <p:cNvPr id="26" name="Text 24"/>
          <p:cNvSpPr/>
          <p:nvPr/>
        </p:nvSpPr>
        <p:spPr>
          <a:xfrm>
            <a:off x="2743200" y="3977640"/>
            <a:ext cx="228600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P = 0.01</a:t>
            </a:r>
            <a:endParaRPr lang="en-US" sz="1000" dirty="0"/>
          </a:p>
        </p:txBody>
      </p:sp>
      <p:sp>
        <p:nvSpPr>
          <p:cNvPr id="27" name="Shape 25"/>
          <p:cNvSpPr/>
          <p:nvPr/>
        </p:nvSpPr>
        <p:spPr>
          <a:xfrm>
            <a:off x="5029200" y="3977640"/>
            <a:ext cx="4114800" cy="274320"/>
          </a:xfrm>
          <a:prstGeom prst="rect">
            <a:avLst/>
          </a:prstGeom>
          <a:solidFill>
            <a:srgbClr val="FFFFFF"/>
          </a:solidFill>
          <a:ln w="6350">
            <a:solidFill>
              <a:srgbClr val="97BC62"/>
            </a:solidFill>
            <a:prstDash val="solid"/>
          </a:ln>
        </p:spPr>
      </p:sp>
      <p:sp>
        <p:nvSpPr>
          <p:cNvPr id="28" name="Text 26"/>
          <p:cNvSpPr/>
          <p:nvPr/>
        </p:nvSpPr>
        <p:spPr>
          <a:xfrm>
            <a:off x="5029200" y="3977640"/>
            <a:ext cx="411480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chi-sq = 6.635</a:t>
            </a:r>
            <a:endParaRPr lang="en-US" sz="1000" dirty="0"/>
          </a:p>
        </p:txBody>
      </p:sp>
      <p:sp>
        <p:nvSpPr>
          <p:cNvPr id="29" name="Shape 27"/>
          <p:cNvSpPr/>
          <p:nvPr/>
        </p:nvSpPr>
        <p:spPr>
          <a:xfrm>
            <a:off x="457200" y="4251960"/>
            <a:ext cx="2286000" cy="274320"/>
          </a:xfrm>
          <a:prstGeom prst="rect">
            <a:avLst/>
          </a:prstGeom>
          <a:solidFill>
            <a:srgbClr val="FFFFFF"/>
          </a:solidFill>
          <a:ln w="6350">
            <a:solidFill>
              <a:srgbClr val="97BC62"/>
            </a:solidFill>
            <a:prstDash val="solid"/>
          </a:ln>
        </p:spPr>
      </p:sp>
      <p:sp>
        <p:nvSpPr>
          <p:cNvPr id="30" name="Text 28"/>
          <p:cNvSpPr/>
          <p:nvPr/>
        </p:nvSpPr>
        <p:spPr>
          <a:xfrm>
            <a:off x="457200" y="4251960"/>
            <a:ext cx="228600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2</a:t>
            </a:r>
            <a:endParaRPr lang="en-US" sz="1000" dirty="0"/>
          </a:p>
        </p:txBody>
      </p:sp>
      <p:sp>
        <p:nvSpPr>
          <p:cNvPr id="31" name="Shape 29"/>
          <p:cNvSpPr/>
          <p:nvPr/>
        </p:nvSpPr>
        <p:spPr>
          <a:xfrm>
            <a:off x="2743200" y="4251960"/>
            <a:ext cx="2286000" cy="274320"/>
          </a:xfrm>
          <a:prstGeom prst="rect">
            <a:avLst/>
          </a:prstGeom>
          <a:solidFill>
            <a:srgbClr val="FFFFFF"/>
          </a:solidFill>
          <a:ln w="6350">
            <a:solidFill>
              <a:srgbClr val="97BC62"/>
            </a:solidFill>
            <a:prstDash val="solid"/>
          </a:ln>
        </p:spPr>
      </p:sp>
      <p:sp>
        <p:nvSpPr>
          <p:cNvPr id="32" name="Text 30"/>
          <p:cNvSpPr/>
          <p:nvPr/>
        </p:nvSpPr>
        <p:spPr>
          <a:xfrm>
            <a:off x="2743200" y="4251960"/>
            <a:ext cx="228600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P = 0.05</a:t>
            </a:r>
            <a:endParaRPr lang="en-US" sz="1000" dirty="0"/>
          </a:p>
        </p:txBody>
      </p:sp>
      <p:sp>
        <p:nvSpPr>
          <p:cNvPr id="33" name="Shape 31"/>
          <p:cNvSpPr/>
          <p:nvPr/>
        </p:nvSpPr>
        <p:spPr>
          <a:xfrm>
            <a:off x="5029200" y="4251960"/>
            <a:ext cx="4114800" cy="274320"/>
          </a:xfrm>
          <a:prstGeom prst="rect">
            <a:avLst/>
          </a:prstGeom>
          <a:solidFill>
            <a:srgbClr val="FFFFFF"/>
          </a:solidFill>
          <a:ln w="6350">
            <a:solidFill>
              <a:srgbClr val="97BC62"/>
            </a:solidFill>
            <a:prstDash val="solid"/>
          </a:ln>
        </p:spPr>
      </p:sp>
      <p:sp>
        <p:nvSpPr>
          <p:cNvPr id="34" name="Text 32"/>
          <p:cNvSpPr/>
          <p:nvPr/>
        </p:nvSpPr>
        <p:spPr>
          <a:xfrm>
            <a:off x="5029200" y="4251960"/>
            <a:ext cx="411480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chi-sq = 5.991</a:t>
            </a:r>
            <a:endParaRPr lang="en-US" sz="1000" dirty="0"/>
          </a:p>
        </p:txBody>
      </p:sp>
      <p:sp>
        <p:nvSpPr>
          <p:cNvPr id="35" name="Shape 33"/>
          <p:cNvSpPr/>
          <p:nvPr/>
        </p:nvSpPr>
        <p:spPr>
          <a:xfrm>
            <a:off x="457200" y="4526280"/>
            <a:ext cx="2286000" cy="274320"/>
          </a:xfrm>
          <a:prstGeom prst="rect">
            <a:avLst/>
          </a:prstGeom>
          <a:solidFill>
            <a:srgbClr val="FFFFFF"/>
          </a:solidFill>
          <a:ln w="6350">
            <a:solidFill>
              <a:srgbClr val="97BC62"/>
            </a:solidFill>
            <a:prstDash val="solid"/>
          </a:ln>
        </p:spPr>
      </p:sp>
      <p:sp>
        <p:nvSpPr>
          <p:cNvPr id="36" name="Text 34"/>
          <p:cNvSpPr/>
          <p:nvPr/>
        </p:nvSpPr>
        <p:spPr>
          <a:xfrm>
            <a:off x="457200" y="4526280"/>
            <a:ext cx="228600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3</a:t>
            </a:r>
            <a:endParaRPr lang="en-US" sz="1000" dirty="0"/>
          </a:p>
        </p:txBody>
      </p:sp>
      <p:sp>
        <p:nvSpPr>
          <p:cNvPr id="37" name="Shape 35"/>
          <p:cNvSpPr/>
          <p:nvPr/>
        </p:nvSpPr>
        <p:spPr>
          <a:xfrm>
            <a:off x="2743200" y="4526280"/>
            <a:ext cx="2286000" cy="274320"/>
          </a:xfrm>
          <a:prstGeom prst="rect">
            <a:avLst/>
          </a:prstGeom>
          <a:solidFill>
            <a:srgbClr val="FFFFFF"/>
          </a:solidFill>
          <a:ln w="6350">
            <a:solidFill>
              <a:srgbClr val="97BC62"/>
            </a:solidFill>
            <a:prstDash val="solid"/>
          </a:ln>
        </p:spPr>
      </p:sp>
      <p:sp>
        <p:nvSpPr>
          <p:cNvPr id="38" name="Text 36"/>
          <p:cNvSpPr/>
          <p:nvPr/>
        </p:nvSpPr>
        <p:spPr>
          <a:xfrm>
            <a:off x="2743200" y="4526280"/>
            <a:ext cx="228600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P = 0.05</a:t>
            </a:r>
            <a:endParaRPr lang="en-US" sz="1000" dirty="0"/>
          </a:p>
        </p:txBody>
      </p:sp>
      <p:sp>
        <p:nvSpPr>
          <p:cNvPr id="39" name="Shape 37"/>
          <p:cNvSpPr/>
          <p:nvPr/>
        </p:nvSpPr>
        <p:spPr>
          <a:xfrm>
            <a:off x="5029200" y="4526280"/>
            <a:ext cx="4114800" cy="274320"/>
          </a:xfrm>
          <a:prstGeom prst="rect">
            <a:avLst/>
          </a:prstGeom>
          <a:solidFill>
            <a:srgbClr val="FFFFFF"/>
          </a:solidFill>
          <a:ln w="6350">
            <a:solidFill>
              <a:srgbClr val="97BC62"/>
            </a:solidFill>
            <a:prstDash val="solid"/>
          </a:ln>
        </p:spPr>
      </p:sp>
      <p:sp>
        <p:nvSpPr>
          <p:cNvPr id="40" name="Text 38"/>
          <p:cNvSpPr/>
          <p:nvPr/>
        </p:nvSpPr>
        <p:spPr>
          <a:xfrm>
            <a:off x="5029200" y="4526280"/>
            <a:ext cx="411480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chi-sq = 7.815</a:t>
            </a:r>
            <a:endParaRPr lang="en-US" sz="1000" dirty="0"/>
          </a:p>
        </p:txBody>
      </p:sp>
      <p:sp>
        <p:nvSpPr>
          <p:cNvPr id="41" name="Shape 39"/>
          <p:cNvSpPr/>
          <p:nvPr/>
        </p:nvSpPr>
        <p:spPr>
          <a:xfrm>
            <a:off x="6858000" y="3108960"/>
            <a:ext cx="1828800" cy="1691640"/>
          </a:xfrm>
          <a:prstGeom prst="rect">
            <a:avLst/>
          </a:prstGeom>
          <a:solidFill>
            <a:srgbClr val="D4A843">
              <a:alpha val="85000"/>
            </a:srgbClr>
          </a:solidFill>
          <a:ln w="12700">
            <a:solidFill>
              <a:srgbClr val="D4A843"/>
            </a:solidFill>
            <a:prstDash val="solid"/>
          </a:ln>
        </p:spPr>
      </p:sp>
      <p:sp>
        <p:nvSpPr>
          <p:cNvPr id="42" name="Text 40"/>
          <p:cNvSpPr/>
          <p:nvPr/>
        </p:nvSpPr>
        <p:spPr>
          <a:xfrm>
            <a:off x="6949440" y="3154680"/>
            <a:ext cx="1645920" cy="1554480"/>
          </a:xfrm>
          <a:prstGeom prst="rect">
            <a:avLst/>
          </a:prstGeom>
          <a:noFill/>
          <a:ln/>
        </p:spPr>
        <p:txBody>
          <a:bodyPr wrap="square" rtlCol="0" anchor="ctr"/>
          <a:lstStyle/>
          <a:p>
            <a:pPr indent="0" marL="0">
              <a:spcAft>
                <a:spcPts val="100"/>
              </a:spcAft>
              <a:buNone/>
            </a:pPr>
            <a:r>
              <a:rPr lang="en-US" sz="900" b="1" dirty="0">
                <a:solidFill>
                  <a:srgbClr val="2C5F2D"/>
                </a:solidFill>
                <a:latin typeface="Calibri" pitchFamily="34" charset="0"/>
                <a:ea typeface="Calibri" pitchFamily="34" charset="-122"/>
                <a:cs typeface="Calibri" pitchFamily="34" charset="-120"/>
              </a:rPr>
              <a:t>判断规则：</a:t>
            </a:r>
            <a:endParaRPr lang="en-US" sz="900" dirty="0"/>
          </a:p>
          <a:p>
            <a:pPr indent="0" marL="0">
              <a:spcAft>
                <a:spcPts val="100"/>
              </a:spcAft>
              <a:buNone/>
            </a:pPr>
            <a:endParaRPr lang="en-US" sz="900" dirty="0"/>
          </a:p>
          <a:p>
            <a:pPr indent="0" marL="0">
              <a:spcAft>
                <a:spcPts val="100"/>
              </a:spcAft>
              <a:buNone/>
            </a:pPr>
            <a:r>
              <a:rPr lang="en-US" sz="900" dirty="0">
                <a:solidFill>
                  <a:srgbClr val="2C5F2D"/>
                </a:solidFill>
                <a:latin typeface="Calibri" pitchFamily="34" charset="0"/>
                <a:ea typeface="Calibri" pitchFamily="34" charset="-122"/>
                <a:cs typeface="Calibri" pitchFamily="34" charset="-120"/>
              </a:rPr>
              <a:t>chi-sq &lt; 临界值</a:t>
            </a:r>
            <a:endParaRPr lang="en-US" sz="900" dirty="0"/>
          </a:p>
          <a:p>
            <a:pPr indent="0" marL="0">
              <a:spcAft>
                <a:spcPts val="100"/>
              </a:spcAft>
              <a:buNone/>
            </a:pPr>
            <a:r>
              <a:rPr lang="en-US" sz="900" dirty="0">
                <a:solidFill>
                  <a:srgbClr val="2C5F2D"/>
                </a:solidFill>
                <a:latin typeface="Calibri" pitchFamily="34" charset="0"/>
                <a:ea typeface="Calibri" pitchFamily="34" charset="-122"/>
                <a:cs typeface="Calibri" pitchFamily="34" charset="-120"/>
              </a:rPr>
              <a:t>→ 接受原假设</a:t>
            </a:r>
            <a:endParaRPr lang="en-US" sz="900" dirty="0"/>
          </a:p>
          <a:p>
            <a:pPr indent="0" marL="0">
              <a:spcAft>
                <a:spcPts val="100"/>
              </a:spcAft>
              <a:buNone/>
            </a:pPr>
            <a:r>
              <a:rPr lang="en-US" sz="900" dirty="0">
                <a:solidFill>
                  <a:srgbClr val="2C5F2D"/>
                </a:solidFill>
                <a:latin typeface="Calibri" pitchFamily="34" charset="0"/>
                <a:ea typeface="Calibri" pitchFamily="34" charset="-122"/>
                <a:cs typeface="Calibri" pitchFamily="34" charset="-120"/>
              </a:rPr>
              <a:t>（数据符合理论）</a:t>
            </a:r>
            <a:endParaRPr lang="en-US" sz="900" dirty="0"/>
          </a:p>
          <a:p>
            <a:pPr indent="0" marL="0">
              <a:spcAft>
                <a:spcPts val="100"/>
              </a:spcAft>
              <a:buNone/>
            </a:pPr>
            <a:endParaRPr lang="en-US" sz="900" dirty="0"/>
          </a:p>
          <a:p>
            <a:pPr indent="0" marL="0">
              <a:spcAft>
                <a:spcPts val="100"/>
              </a:spcAft>
              <a:buNone/>
            </a:pPr>
            <a:r>
              <a:rPr lang="en-US" sz="900" dirty="0">
                <a:solidFill>
                  <a:srgbClr val="2C5F2D"/>
                </a:solidFill>
                <a:latin typeface="Calibri" pitchFamily="34" charset="0"/>
                <a:ea typeface="Calibri" pitchFamily="34" charset="-122"/>
                <a:cs typeface="Calibri" pitchFamily="34" charset="-120"/>
              </a:rPr>
              <a:t>chi-sq &gt;= 临界值</a:t>
            </a:r>
            <a:endParaRPr lang="en-US" sz="900" dirty="0"/>
          </a:p>
          <a:p>
            <a:pPr indent="0" marL="0">
              <a:spcAft>
                <a:spcPts val="100"/>
              </a:spcAft>
              <a:buNone/>
            </a:pPr>
            <a:r>
              <a:rPr lang="en-US" sz="900" dirty="0">
                <a:solidFill>
                  <a:srgbClr val="2C5F2D"/>
                </a:solidFill>
                <a:latin typeface="Calibri" pitchFamily="34" charset="0"/>
                <a:ea typeface="Calibri" pitchFamily="34" charset="-122"/>
                <a:cs typeface="Calibri" pitchFamily="34" charset="-120"/>
              </a:rPr>
              <a:t>→ 拒绝原假设</a:t>
            </a:r>
            <a:endParaRPr lang="en-US" sz="900" dirty="0"/>
          </a:p>
          <a:p>
            <a:pPr indent="0" marL="0">
              <a:spcAft>
                <a:spcPts val="100"/>
              </a:spcAft>
              <a:buNone/>
            </a:pPr>
            <a:r>
              <a:rPr lang="en-US" sz="900" dirty="0">
                <a:solidFill>
                  <a:srgbClr val="2C5F2D"/>
                </a:solidFill>
                <a:latin typeface="Calibri" pitchFamily="34" charset="0"/>
                <a:ea typeface="Calibri" pitchFamily="34" charset="-122"/>
                <a:cs typeface="Calibri" pitchFamily="34" charset="-120"/>
              </a:rPr>
              <a:t>（数据不符合理论）</a:t>
            </a:r>
            <a:endParaRPr lang="en-US" sz="900" dirty="0"/>
          </a:p>
        </p:txBody>
      </p:sp>
      <p:sp>
        <p:nvSpPr>
          <p:cNvPr id="43" name="Text 41"/>
          <p:cNvSpPr/>
          <p:nvPr/>
        </p:nvSpPr>
        <p:spPr>
          <a:xfrm>
            <a:off x="8046720" y="4777740"/>
            <a:ext cx="914400" cy="274320"/>
          </a:xfrm>
          <a:prstGeom prst="rect">
            <a:avLst/>
          </a:prstGeom>
          <a:noFill/>
          <a:ln/>
        </p:spPr>
        <p:txBody>
          <a:bodyPr wrap="square" rtlCol="0" anchor="ctr"/>
          <a:lstStyle/>
          <a:p>
            <a:pPr algn="r" indent="0" marL="0">
              <a:buNone/>
            </a:pPr>
            <a:r>
              <a:rPr lang="en-US" sz="1000" dirty="0">
                <a:solidFill>
                  <a:srgbClr val="6B8E5A"/>
                </a:solidFill>
                <a:latin typeface="Calibri" pitchFamily="34" charset="0"/>
                <a:ea typeface="Calibri" pitchFamily="34" charset="-122"/>
                <a:cs typeface="Calibri" pitchFamily="34" charset="-120"/>
              </a:rPr>
              <a:t>11 / 20</a:t>
            </a:r>
            <a:endParaRPr lang="en-US" sz="1000" dirty="0"/>
          </a:p>
        </p:txBody>
      </p:sp>
      <p:sp>
        <p:nvSpPr>
          <p:cNvPr id="44" name="Shape 42"/>
          <p:cNvSpPr/>
          <p:nvPr/>
        </p:nvSpPr>
        <p:spPr>
          <a:xfrm>
            <a:off x="0" y="5097780"/>
            <a:ext cx="9144000" cy="45720"/>
          </a:xfrm>
          <a:prstGeom prst="rect">
            <a:avLst/>
          </a:prstGeom>
          <a:solidFill>
            <a:srgbClr val="2C5F2D"/>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4A843"/>
          </a:solidFill>
          <a:ln/>
        </p:spPr>
      </p:sp>
      <p:sp>
        <p:nvSpPr>
          <p:cNvPr id="3" name="Text 1"/>
          <p:cNvSpPr/>
          <p:nvPr/>
        </p:nvSpPr>
        <p:spPr>
          <a:xfrm>
            <a:off x="457200" y="228600"/>
            <a:ext cx="8229600" cy="457200"/>
          </a:xfrm>
          <a:prstGeom prst="rect">
            <a:avLst/>
          </a:prstGeom>
          <a:noFill/>
          <a:ln/>
        </p:spPr>
        <p:txBody>
          <a:bodyPr wrap="square" rtlCol="0" anchor="ctr"/>
          <a:lstStyle/>
          <a:p>
            <a:pPr indent="0" marL="0">
              <a:buNone/>
            </a:pPr>
            <a:r>
              <a:rPr lang="en-US" sz="2800" b="1" dirty="0">
                <a:solidFill>
                  <a:srgbClr val="2C5F2D"/>
                </a:solidFill>
                <a:latin typeface="Georgia" pitchFamily="34" charset="0"/>
                <a:ea typeface="Georgia" pitchFamily="34" charset="-122"/>
                <a:cs typeface="Georgia" pitchFamily="34" charset="-120"/>
              </a:rPr>
              <a:t>核心概念（七）：卡方检验计算示例</a:t>
            </a:r>
            <a:endParaRPr lang="en-US" sz="2800" dirty="0"/>
          </a:p>
        </p:txBody>
      </p:sp>
      <p:sp>
        <p:nvSpPr>
          <p:cNvPr id="4" name="Text 2"/>
          <p:cNvSpPr/>
          <p:nvPr/>
        </p:nvSpPr>
        <p:spPr>
          <a:xfrm>
            <a:off x="457200" y="685800"/>
            <a:ext cx="8229600" cy="274320"/>
          </a:xfrm>
          <a:prstGeom prst="rect">
            <a:avLst/>
          </a:prstGeom>
          <a:noFill/>
          <a:ln/>
        </p:spPr>
        <p:txBody>
          <a:bodyPr wrap="square" rtlCol="0" anchor="ctr"/>
          <a:lstStyle/>
          <a:p>
            <a:pPr indent="0" marL="0">
              <a:buNone/>
            </a:pPr>
            <a:r>
              <a:rPr lang="en-US" sz="1400" dirty="0">
                <a:solidFill>
                  <a:srgbClr val="6B8E5A"/>
                </a:solidFill>
                <a:latin typeface="Calibri" pitchFamily="34" charset="0"/>
                <a:ea typeface="Calibri" pitchFamily="34" charset="-122"/>
                <a:cs typeface="Calibri" pitchFamily="34" charset="-120"/>
              </a:rPr>
              <a:t>Chi-Square Calculation Example</a:t>
            </a:r>
            <a:endParaRPr lang="en-US" sz="1400" dirty="0"/>
          </a:p>
        </p:txBody>
      </p:sp>
      <p:sp>
        <p:nvSpPr>
          <p:cNvPr id="5" name="Shape 3"/>
          <p:cNvSpPr/>
          <p:nvPr/>
        </p:nvSpPr>
        <p:spPr>
          <a:xfrm>
            <a:off x="457200" y="1005840"/>
            <a:ext cx="1371600" cy="36576"/>
          </a:xfrm>
          <a:prstGeom prst="rect">
            <a:avLst/>
          </a:prstGeom>
          <a:solidFill>
            <a:srgbClr val="97BC62"/>
          </a:solidFill>
          <a:ln/>
        </p:spPr>
      </p:sp>
      <p:sp>
        <p:nvSpPr>
          <p:cNvPr id="6" name="Text 4"/>
          <p:cNvSpPr/>
          <p:nvPr/>
        </p:nvSpPr>
        <p:spPr>
          <a:xfrm>
            <a:off x="457200" y="1280160"/>
            <a:ext cx="8229600" cy="320040"/>
          </a:xfrm>
          <a:prstGeom prst="rect">
            <a:avLst/>
          </a:prstGeom>
          <a:noFill/>
          <a:ln/>
        </p:spPr>
        <p:txBody>
          <a:bodyPr wrap="square" rtlCol="0" anchor="ctr"/>
          <a:lstStyle/>
          <a:p>
            <a:pPr indent="0" marL="0">
              <a:buNone/>
            </a:pPr>
            <a:r>
              <a:rPr lang="en-US" sz="1300" dirty="0">
                <a:solidFill>
                  <a:srgbClr val="2C5F2D"/>
                </a:solidFill>
                <a:latin typeface="Calibri" pitchFamily="34" charset="0"/>
                <a:ea typeface="Calibri" pitchFamily="34" charset="-122"/>
                <a:cs typeface="Calibri" pitchFamily="34" charset="-120"/>
              </a:rPr>
              <a:t>例题：Aa x Aa 杂交，后代100个个体中，显性75个，隐性25个。是否符合 3:1 比例？</a:t>
            </a:r>
            <a:endParaRPr lang="en-US" sz="1300" dirty="0"/>
          </a:p>
        </p:txBody>
      </p:sp>
      <p:sp>
        <p:nvSpPr>
          <p:cNvPr id="7" name="Shape 5"/>
          <p:cNvSpPr/>
          <p:nvPr/>
        </p:nvSpPr>
        <p:spPr>
          <a:xfrm>
            <a:off x="457200" y="1737360"/>
            <a:ext cx="731520" cy="274320"/>
          </a:xfrm>
          <a:prstGeom prst="rect">
            <a:avLst/>
          </a:prstGeom>
          <a:solidFill>
            <a:srgbClr val="2C5F2D"/>
          </a:solidFill>
          <a:ln/>
        </p:spPr>
      </p:sp>
      <p:sp>
        <p:nvSpPr>
          <p:cNvPr id="8" name="Text 6"/>
          <p:cNvSpPr/>
          <p:nvPr/>
        </p:nvSpPr>
        <p:spPr>
          <a:xfrm>
            <a:off x="457200" y="1737360"/>
            <a:ext cx="731520" cy="2743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Step 1</a:t>
            </a:r>
            <a:endParaRPr lang="en-US" sz="1000" dirty="0"/>
          </a:p>
        </p:txBody>
      </p:sp>
      <p:sp>
        <p:nvSpPr>
          <p:cNvPr id="9" name="Text 7"/>
          <p:cNvSpPr/>
          <p:nvPr/>
        </p:nvSpPr>
        <p:spPr>
          <a:xfrm>
            <a:off x="1280160" y="1737360"/>
            <a:ext cx="7406640" cy="274320"/>
          </a:xfrm>
          <a:prstGeom prst="rect">
            <a:avLst/>
          </a:prstGeom>
          <a:noFill/>
          <a:ln/>
        </p:spPr>
        <p:txBody>
          <a:bodyPr wrap="square" rtlCol="0" anchor="ctr"/>
          <a:lstStyle/>
          <a:p>
            <a:pPr indent="0" marL="0">
              <a:buNone/>
            </a:pPr>
            <a:r>
              <a:rPr lang="en-US" sz="1100" dirty="0">
                <a:solidFill>
                  <a:srgbClr val="2C5F2D"/>
                </a:solidFill>
                <a:latin typeface="Calibri" pitchFamily="34" charset="0"/>
                <a:ea typeface="Calibri" pitchFamily="34" charset="-122"/>
                <a:cs typeface="Calibri" pitchFamily="34" charset="-120"/>
              </a:rPr>
              <a:t>计算期望值 E：总数 100，理论比 3:1 → E(显性) = 75，E(隐性) = 25</a:t>
            </a:r>
            <a:endParaRPr lang="en-US" sz="1100" dirty="0"/>
          </a:p>
        </p:txBody>
      </p:sp>
      <p:sp>
        <p:nvSpPr>
          <p:cNvPr id="10" name="Shape 8"/>
          <p:cNvSpPr/>
          <p:nvPr/>
        </p:nvSpPr>
        <p:spPr>
          <a:xfrm>
            <a:off x="457200" y="2103120"/>
            <a:ext cx="731520" cy="274320"/>
          </a:xfrm>
          <a:prstGeom prst="rect">
            <a:avLst/>
          </a:prstGeom>
          <a:solidFill>
            <a:srgbClr val="2C5F2D"/>
          </a:solidFill>
          <a:ln/>
        </p:spPr>
      </p:sp>
      <p:sp>
        <p:nvSpPr>
          <p:cNvPr id="11" name="Text 9"/>
          <p:cNvSpPr/>
          <p:nvPr/>
        </p:nvSpPr>
        <p:spPr>
          <a:xfrm>
            <a:off x="457200" y="2103120"/>
            <a:ext cx="731520" cy="2743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Step 2</a:t>
            </a:r>
            <a:endParaRPr lang="en-US" sz="1000" dirty="0"/>
          </a:p>
        </p:txBody>
      </p:sp>
      <p:sp>
        <p:nvSpPr>
          <p:cNvPr id="12" name="Text 10"/>
          <p:cNvSpPr/>
          <p:nvPr/>
        </p:nvSpPr>
        <p:spPr>
          <a:xfrm>
            <a:off x="1280160" y="2103120"/>
            <a:ext cx="7406640" cy="274320"/>
          </a:xfrm>
          <a:prstGeom prst="rect">
            <a:avLst/>
          </a:prstGeom>
          <a:noFill/>
          <a:ln/>
        </p:spPr>
        <p:txBody>
          <a:bodyPr wrap="square" rtlCol="0" anchor="ctr"/>
          <a:lstStyle/>
          <a:p>
            <a:pPr indent="0" marL="0">
              <a:buNone/>
            </a:pPr>
            <a:r>
              <a:rPr lang="en-US" sz="1100" dirty="0">
                <a:solidFill>
                  <a:srgbClr val="2C5F2D"/>
                </a:solidFill>
                <a:latin typeface="Calibri" pitchFamily="34" charset="0"/>
                <a:ea typeface="Calibri" pitchFamily="34" charset="-122"/>
                <a:cs typeface="Calibri" pitchFamily="34" charset="-120"/>
              </a:rPr>
              <a:t>假设观察值：O(显性) = 78，O(隐性) = 22</a:t>
            </a:r>
            <a:endParaRPr lang="en-US" sz="1100" dirty="0"/>
          </a:p>
        </p:txBody>
      </p:sp>
      <p:sp>
        <p:nvSpPr>
          <p:cNvPr id="13" name="Shape 11"/>
          <p:cNvSpPr/>
          <p:nvPr/>
        </p:nvSpPr>
        <p:spPr>
          <a:xfrm>
            <a:off x="457200" y="2468880"/>
            <a:ext cx="731520" cy="274320"/>
          </a:xfrm>
          <a:prstGeom prst="rect">
            <a:avLst/>
          </a:prstGeom>
          <a:solidFill>
            <a:srgbClr val="2C5F2D"/>
          </a:solidFill>
          <a:ln/>
        </p:spPr>
      </p:sp>
      <p:sp>
        <p:nvSpPr>
          <p:cNvPr id="14" name="Text 12"/>
          <p:cNvSpPr/>
          <p:nvPr/>
        </p:nvSpPr>
        <p:spPr>
          <a:xfrm>
            <a:off x="457200" y="2468880"/>
            <a:ext cx="731520" cy="2743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Step 3</a:t>
            </a:r>
            <a:endParaRPr lang="en-US" sz="1000" dirty="0"/>
          </a:p>
        </p:txBody>
      </p:sp>
      <p:sp>
        <p:nvSpPr>
          <p:cNvPr id="15" name="Text 13"/>
          <p:cNvSpPr/>
          <p:nvPr/>
        </p:nvSpPr>
        <p:spPr>
          <a:xfrm>
            <a:off x="1280160" y="2468880"/>
            <a:ext cx="7406640" cy="274320"/>
          </a:xfrm>
          <a:prstGeom prst="rect">
            <a:avLst/>
          </a:prstGeom>
          <a:noFill/>
          <a:ln/>
        </p:spPr>
        <p:txBody>
          <a:bodyPr wrap="square" rtlCol="0" anchor="ctr"/>
          <a:lstStyle/>
          <a:p>
            <a:pPr indent="0" marL="0">
              <a:buNone/>
            </a:pPr>
            <a:r>
              <a:rPr lang="en-US" sz="1100" dirty="0">
                <a:solidFill>
                  <a:srgbClr val="2C5F2D"/>
                </a:solidFill>
                <a:latin typeface="Calibri" pitchFamily="34" charset="0"/>
                <a:ea typeface="Calibri" pitchFamily="34" charset="-122"/>
                <a:cs typeface="Calibri" pitchFamily="34" charset="-120"/>
              </a:rPr>
              <a:t>逐项计算 (O-E)^2/E：</a:t>
            </a:r>
            <a:endParaRPr lang="en-US" sz="1100" dirty="0"/>
          </a:p>
        </p:txBody>
      </p:sp>
      <p:sp>
        <p:nvSpPr>
          <p:cNvPr id="16" name="Shape 14"/>
          <p:cNvSpPr/>
          <p:nvPr/>
        </p:nvSpPr>
        <p:spPr>
          <a:xfrm>
            <a:off x="457200" y="2834640"/>
            <a:ext cx="1371600" cy="274320"/>
          </a:xfrm>
          <a:prstGeom prst="rect">
            <a:avLst/>
          </a:prstGeom>
          <a:solidFill>
            <a:srgbClr val="2C5F2D"/>
          </a:solidFill>
          <a:ln/>
        </p:spPr>
      </p:sp>
      <p:sp>
        <p:nvSpPr>
          <p:cNvPr id="17" name="Text 15"/>
          <p:cNvSpPr/>
          <p:nvPr/>
        </p:nvSpPr>
        <p:spPr>
          <a:xfrm>
            <a:off x="457200" y="2834640"/>
            <a:ext cx="1371600" cy="2743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类别</a:t>
            </a:r>
            <a:endParaRPr lang="en-US" sz="1100" dirty="0"/>
          </a:p>
        </p:txBody>
      </p:sp>
      <p:sp>
        <p:nvSpPr>
          <p:cNvPr id="18" name="Shape 16"/>
          <p:cNvSpPr/>
          <p:nvPr/>
        </p:nvSpPr>
        <p:spPr>
          <a:xfrm>
            <a:off x="1828800" y="2834640"/>
            <a:ext cx="1371600" cy="274320"/>
          </a:xfrm>
          <a:prstGeom prst="rect">
            <a:avLst/>
          </a:prstGeom>
          <a:solidFill>
            <a:srgbClr val="2C5F2D"/>
          </a:solidFill>
          <a:ln/>
        </p:spPr>
      </p:sp>
      <p:sp>
        <p:nvSpPr>
          <p:cNvPr id="19" name="Text 17"/>
          <p:cNvSpPr/>
          <p:nvPr/>
        </p:nvSpPr>
        <p:spPr>
          <a:xfrm>
            <a:off x="1828800" y="2834640"/>
            <a:ext cx="1371600" cy="2743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 (观察)</a:t>
            </a:r>
            <a:endParaRPr lang="en-US" sz="1100" dirty="0"/>
          </a:p>
        </p:txBody>
      </p:sp>
      <p:sp>
        <p:nvSpPr>
          <p:cNvPr id="20" name="Shape 18"/>
          <p:cNvSpPr/>
          <p:nvPr/>
        </p:nvSpPr>
        <p:spPr>
          <a:xfrm>
            <a:off x="3200400" y="2834640"/>
            <a:ext cx="1371600" cy="274320"/>
          </a:xfrm>
          <a:prstGeom prst="rect">
            <a:avLst/>
          </a:prstGeom>
          <a:solidFill>
            <a:srgbClr val="2C5F2D"/>
          </a:solidFill>
          <a:ln/>
        </p:spPr>
      </p:sp>
      <p:sp>
        <p:nvSpPr>
          <p:cNvPr id="21" name="Text 19"/>
          <p:cNvSpPr/>
          <p:nvPr/>
        </p:nvSpPr>
        <p:spPr>
          <a:xfrm>
            <a:off x="3200400" y="2834640"/>
            <a:ext cx="1371600" cy="2743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 (期望)</a:t>
            </a:r>
            <a:endParaRPr lang="en-US" sz="1100" dirty="0"/>
          </a:p>
        </p:txBody>
      </p:sp>
      <p:sp>
        <p:nvSpPr>
          <p:cNvPr id="22" name="Shape 20"/>
          <p:cNvSpPr/>
          <p:nvPr/>
        </p:nvSpPr>
        <p:spPr>
          <a:xfrm>
            <a:off x="4572000" y="2834640"/>
            <a:ext cx="1371600" cy="274320"/>
          </a:xfrm>
          <a:prstGeom prst="rect">
            <a:avLst/>
          </a:prstGeom>
          <a:solidFill>
            <a:srgbClr val="2C5F2D"/>
          </a:solidFill>
          <a:ln/>
        </p:spPr>
      </p:sp>
      <p:sp>
        <p:nvSpPr>
          <p:cNvPr id="23" name="Text 21"/>
          <p:cNvSpPr/>
          <p:nvPr/>
        </p:nvSpPr>
        <p:spPr>
          <a:xfrm>
            <a:off x="4572000" y="2834640"/>
            <a:ext cx="1371600" cy="2743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O-E</a:t>
            </a:r>
            <a:endParaRPr lang="en-US" sz="1100" dirty="0"/>
          </a:p>
        </p:txBody>
      </p:sp>
      <p:sp>
        <p:nvSpPr>
          <p:cNvPr id="24" name="Shape 22"/>
          <p:cNvSpPr/>
          <p:nvPr/>
        </p:nvSpPr>
        <p:spPr>
          <a:xfrm>
            <a:off x="5943600" y="2834640"/>
            <a:ext cx="2286000" cy="274320"/>
          </a:xfrm>
          <a:prstGeom prst="rect">
            <a:avLst/>
          </a:prstGeom>
          <a:solidFill>
            <a:srgbClr val="2C5F2D"/>
          </a:solidFill>
          <a:ln/>
        </p:spPr>
      </p:sp>
      <p:sp>
        <p:nvSpPr>
          <p:cNvPr id="25" name="Text 23"/>
          <p:cNvSpPr/>
          <p:nvPr/>
        </p:nvSpPr>
        <p:spPr>
          <a:xfrm>
            <a:off x="5943600" y="2834640"/>
            <a:ext cx="2286000" cy="2743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(O-E)^2/E</a:t>
            </a:r>
            <a:endParaRPr lang="en-US" sz="1100" dirty="0"/>
          </a:p>
        </p:txBody>
      </p:sp>
      <p:sp>
        <p:nvSpPr>
          <p:cNvPr id="26" name="Shape 24"/>
          <p:cNvSpPr/>
          <p:nvPr/>
        </p:nvSpPr>
        <p:spPr>
          <a:xfrm>
            <a:off x="457200" y="3108960"/>
            <a:ext cx="1371600" cy="274320"/>
          </a:xfrm>
          <a:prstGeom prst="rect">
            <a:avLst/>
          </a:prstGeom>
          <a:solidFill>
            <a:srgbClr val="FFFFFF"/>
          </a:solidFill>
          <a:ln w="6350">
            <a:solidFill>
              <a:srgbClr val="97BC62"/>
            </a:solidFill>
            <a:prstDash val="solid"/>
          </a:ln>
        </p:spPr>
      </p:sp>
      <p:sp>
        <p:nvSpPr>
          <p:cNvPr id="27" name="Text 25"/>
          <p:cNvSpPr/>
          <p:nvPr/>
        </p:nvSpPr>
        <p:spPr>
          <a:xfrm>
            <a:off x="457200" y="3108960"/>
            <a:ext cx="137160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显性</a:t>
            </a:r>
            <a:endParaRPr lang="en-US" sz="1000" dirty="0"/>
          </a:p>
        </p:txBody>
      </p:sp>
      <p:sp>
        <p:nvSpPr>
          <p:cNvPr id="28" name="Shape 26"/>
          <p:cNvSpPr/>
          <p:nvPr/>
        </p:nvSpPr>
        <p:spPr>
          <a:xfrm>
            <a:off x="1828800" y="3108960"/>
            <a:ext cx="1371600" cy="274320"/>
          </a:xfrm>
          <a:prstGeom prst="rect">
            <a:avLst/>
          </a:prstGeom>
          <a:solidFill>
            <a:srgbClr val="FFFFFF"/>
          </a:solidFill>
          <a:ln w="6350">
            <a:solidFill>
              <a:srgbClr val="97BC62"/>
            </a:solidFill>
            <a:prstDash val="solid"/>
          </a:ln>
        </p:spPr>
      </p:sp>
      <p:sp>
        <p:nvSpPr>
          <p:cNvPr id="29" name="Text 27"/>
          <p:cNvSpPr/>
          <p:nvPr/>
        </p:nvSpPr>
        <p:spPr>
          <a:xfrm>
            <a:off x="1828800" y="3108960"/>
            <a:ext cx="137160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78</a:t>
            </a:r>
            <a:endParaRPr lang="en-US" sz="1000" dirty="0"/>
          </a:p>
        </p:txBody>
      </p:sp>
      <p:sp>
        <p:nvSpPr>
          <p:cNvPr id="30" name="Shape 28"/>
          <p:cNvSpPr/>
          <p:nvPr/>
        </p:nvSpPr>
        <p:spPr>
          <a:xfrm>
            <a:off x="3200400" y="3108960"/>
            <a:ext cx="1371600" cy="274320"/>
          </a:xfrm>
          <a:prstGeom prst="rect">
            <a:avLst/>
          </a:prstGeom>
          <a:solidFill>
            <a:srgbClr val="FFFFFF"/>
          </a:solidFill>
          <a:ln w="6350">
            <a:solidFill>
              <a:srgbClr val="97BC62"/>
            </a:solidFill>
            <a:prstDash val="solid"/>
          </a:ln>
        </p:spPr>
      </p:sp>
      <p:sp>
        <p:nvSpPr>
          <p:cNvPr id="31" name="Text 29"/>
          <p:cNvSpPr/>
          <p:nvPr/>
        </p:nvSpPr>
        <p:spPr>
          <a:xfrm>
            <a:off x="3200400" y="3108960"/>
            <a:ext cx="137160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75</a:t>
            </a:r>
            <a:endParaRPr lang="en-US" sz="1000" dirty="0"/>
          </a:p>
        </p:txBody>
      </p:sp>
      <p:sp>
        <p:nvSpPr>
          <p:cNvPr id="32" name="Shape 30"/>
          <p:cNvSpPr/>
          <p:nvPr/>
        </p:nvSpPr>
        <p:spPr>
          <a:xfrm>
            <a:off x="4572000" y="3108960"/>
            <a:ext cx="1371600" cy="274320"/>
          </a:xfrm>
          <a:prstGeom prst="rect">
            <a:avLst/>
          </a:prstGeom>
          <a:solidFill>
            <a:srgbClr val="FFFFFF"/>
          </a:solidFill>
          <a:ln w="6350">
            <a:solidFill>
              <a:srgbClr val="97BC62"/>
            </a:solidFill>
            <a:prstDash val="solid"/>
          </a:ln>
        </p:spPr>
      </p:sp>
      <p:sp>
        <p:nvSpPr>
          <p:cNvPr id="33" name="Text 31"/>
          <p:cNvSpPr/>
          <p:nvPr/>
        </p:nvSpPr>
        <p:spPr>
          <a:xfrm>
            <a:off x="4572000" y="3108960"/>
            <a:ext cx="137160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+3</a:t>
            </a:r>
            <a:endParaRPr lang="en-US" sz="1000" dirty="0"/>
          </a:p>
        </p:txBody>
      </p:sp>
      <p:sp>
        <p:nvSpPr>
          <p:cNvPr id="34" name="Shape 32"/>
          <p:cNvSpPr/>
          <p:nvPr/>
        </p:nvSpPr>
        <p:spPr>
          <a:xfrm>
            <a:off x="5943600" y="3108960"/>
            <a:ext cx="2286000" cy="274320"/>
          </a:xfrm>
          <a:prstGeom prst="rect">
            <a:avLst/>
          </a:prstGeom>
          <a:solidFill>
            <a:srgbClr val="FFFFFF"/>
          </a:solidFill>
          <a:ln w="6350">
            <a:solidFill>
              <a:srgbClr val="97BC62"/>
            </a:solidFill>
            <a:prstDash val="solid"/>
          </a:ln>
        </p:spPr>
      </p:sp>
      <p:sp>
        <p:nvSpPr>
          <p:cNvPr id="35" name="Text 33"/>
          <p:cNvSpPr/>
          <p:nvPr/>
        </p:nvSpPr>
        <p:spPr>
          <a:xfrm>
            <a:off x="5943600" y="3108960"/>
            <a:ext cx="228600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9/75 = 0.12</a:t>
            </a:r>
            <a:endParaRPr lang="en-US" sz="1000" dirty="0"/>
          </a:p>
        </p:txBody>
      </p:sp>
      <p:sp>
        <p:nvSpPr>
          <p:cNvPr id="36" name="Shape 34"/>
          <p:cNvSpPr/>
          <p:nvPr/>
        </p:nvSpPr>
        <p:spPr>
          <a:xfrm>
            <a:off x="457200" y="3383280"/>
            <a:ext cx="1371600" cy="274320"/>
          </a:xfrm>
          <a:prstGeom prst="rect">
            <a:avLst/>
          </a:prstGeom>
          <a:solidFill>
            <a:srgbClr val="FFFFFF"/>
          </a:solidFill>
          <a:ln w="6350">
            <a:solidFill>
              <a:srgbClr val="97BC62"/>
            </a:solidFill>
            <a:prstDash val="solid"/>
          </a:ln>
        </p:spPr>
      </p:sp>
      <p:sp>
        <p:nvSpPr>
          <p:cNvPr id="37" name="Text 35"/>
          <p:cNvSpPr/>
          <p:nvPr/>
        </p:nvSpPr>
        <p:spPr>
          <a:xfrm>
            <a:off x="457200" y="3383280"/>
            <a:ext cx="137160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隐性</a:t>
            </a:r>
            <a:endParaRPr lang="en-US" sz="1000" dirty="0"/>
          </a:p>
        </p:txBody>
      </p:sp>
      <p:sp>
        <p:nvSpPr>
          <p:cNvPr id="38" name="Shape 36"/>
          <p:cNvSpPr/>
          <p:nvPr/>
        </p:nvSpPr>
        <p:spPr>
          <a:xfrm>
            <a:off x="1828800" y="3383280"/>
            <a:ext cx="1371600" cy="274320"/>
          </a:xfrm>
          <a:prstGeom prst="rect">
            <a:avLst/>
          </a:prstGeom>
          <a:solidFill>
            <a:srgbClr val="FFFFFF"/>
          </a:solidFill>
          <a:ln w="6350">
            <a:solidFill>
              <a:srgbClr val="97BC62"/>
            </a:solidFill>
            <a:prstDash val="solid"/>
          </a:ln>
        </p:spPr>
      </p:sp>
      <p:sp>
        <p:nvSpPr>
          <p:cNvPr id="39" name="Text 37"/>
          <p:cNvSpPr/>
          <p:nvPr/>
        </p:nvSpPr>
        <p:spPr>
          <a:xfrm>
            <a:off x="1828800" y="3383280"/>
            <a:ext cx="137160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22</a:t>
            </a:r>
            <a:endParaRPr lang="en-US" sz="1000" dirty="0"/>
          </a:p>
        </p:txBody>
      </p:sp>
      <p:sp>
        <p:nvSpPr>
          <p:cNvPr id="40" name="Shape 38"/>
          <p:cNvSpPr/>
          <p:nvPr/>
        </p:nvSpPr>
        <p:spPr>
          <a:xfrm>
            <a:off x="3200400" y="3383280"/>
            <a:ext cx="1371600" cy="274320"/>
          </a:xfrm>
          <a:prstGeom prst="rect">
            <a:avLst/>
          </a:prstGeom>
          <a:solidFill>
            <a:srgbClr val="FFFFFF"/>
          </a:solidFill>
          <a:ln w="6350">
            <a:solidFill>
              <a:srgbClr val="97BC62"/>
            </a:solidFill>
            <a:prstDash val="solid"/>
          </a:ln>
        </p:spPr>
      </p:sp>
      <p:sp>
        <p:nvSpPr>
          <p:cNvPr id="41" name="Text 39"/>
          <p:cNvSpPr/>
          <p:nvPr/>
        </p:nvSpPr>
        <p:spPr>
          <a:xfrm>
            <a:off x="3200400" y="3383280"/>
            <a:ext cx="137160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25</a:t>
            </a:r>
            <a:endParaRPr lang="en-US" sz="1000" dirty="0"/>
          </a:p>
        </p:txBody>
      </p:sp>
      <p:sp>
        <p:nvSpPr>
          <p:cNvPr id="42" name="Shape 40"/>
          <p:cNvSpPr/>
          <p:nvPr/>
        </p:nvSpPr>
        <p:spPr>
          <a:xfrm>
            <a:off x="4572000" y="3383280"/>
            <a:ext cx="1371600" cy="274320"/>
          </a:xfrm>
          <a:prstGeom prst="rect">
            <a:avLst/>
          </a:prstGeom>
          <a:solidFill>
            <a:srgbClr val="FFFFFF"/>
          </a:solidFill>
          <a:ln w="6350">
            <a:solidFill>
              <a:srgbClr val="97BC62"/>
            </a:solidFill>
            <a:prstDash val="solid"/>
          </a:ln>
        </p:spPr>
      </p:sp>
      <p:sp>
        <p:nvSpPr>
          <p:cNvPr id="43" name="Text 41"/>
          <p:cNvSpPr/>
          <p:nvPr/>
        </p:nvSpPr>
        <p:spPr>
          <a:xfrm>
            <a:off x="4572000" y="3383280"/>
            <a:ext cx="137160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-3</a:t>
            </a:r>
            <a:endParaRPr lang="en-US" sz="1000" dirty="0"/>
          </a:p>
        </p:txBody>
      </p:sp>
      <p:sp>
        <p:nvSpPr>
          <p:cNvPr id="44" name="Shape 42"/>
          <p:cNvSpPr/>
          <p:nvPr/>
        </p:nvSpPr>
        <p:spPr>
          <a:xfrm>
            <a:off x="5943600" y="3383280"/>
            <a:ext cx="2286000" cy="274320"/>
          </a:xfrm>
          <a:prstGeom prst="rect">
            <a:avLst/>
          </a:prstGeom>
          <a:solidFill>
            <a:srgbClr val="FFFFFF"/>
          </a:solidFill>
          <a:ln w="6350">
            <a:solidFill>
              <a:srgbClr val="97BC62"/>
            </a:solidFill>
            <a:prstDash val="solid"/>
          </a:ln>
        </p:spPr>
      </p:sp>
      <p:sp>
        <p:nvSpPr>
          <p:cNvPr id="45" name="Text 43"/>
          <p:cNvSpPr/>
          <p:nvPr/>
        </p:nvSpPr>
        <p:spPr>
          <a:xfrm>
            <a:off x="5943600" y="3383280"/>
            <a:ext cx="228600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9/25 = 0.36</a:t>
            </a:r>
            <a:endParaRPr lang="en-US" sz="1000" dirty="0"/>
          </a:p>
        </p:txBody>
      </p:sp>
      <p:sp>
        <p:nvSpPr>
          <p:cNvPr id="46" name="Shape 44"/>
          <p:cNvSpPr/>
          <p:nvPr/>
        </p:nvSpPr>
        <p:spPr>
          <a:xfrm>
            <a:off x="457200" y="3657600"/>
            <a:ext cx="1371600" cy="274320"/>
          </a:xfrm>
          <a:prstGeom prst="rect">
            <a:avLst/>
          </a:prstGeom>
          <a:solidFill>
            <a:srgbClr val="FFFFFF"/>
          </a:solidFill>
          <a:ln w="6350">
            <a:solidFill>
              <a:srgbClr val="97BC62"/>
            </a:solidFill>
            <a:prstDash val="solid"/>
          </a:ln>
        </p:spPr>
      </p:sp>
      <p:sp>
        <p:nvSpPr>
          <p:cNvPr id="47" name="Text 45"/>
          <p:cNvSpPr/>
          <p:nvPr/>
        </p:nvSpPr>
        <p:spPr>
          <a:xfrm>
            <a:off x="457200" y="3657600"/>
            <a:ext cx="137160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合计</a:t>
            </a:r>
            <a:endParaRPr lang="en-US" sz="1000" dirty="0"/>
          </a:p>
        </p:txBody>
      </p:sp>
      <p:sp>
        <p:nvSpPr>
          <p:cNvPr id="48" name="Shape 46"/>
          <p:cNvSpPr/>
          <p:nvPr/>
        </p:nvSpPr>
        <p:spPr>
          <a:xfrm>
            <a:off x="1828800" y="3657600"/>
            <a:ext cx="1371600" cy="274320"/>
          </a:xfrm>
          <a:prstGeom prst="rect">
            <a:avLst/>
          </a:prstGeom>
          <a:solidFill>
            <a:srgbClr val="FFFFFF"/>
          </a:solidFill>
          <a:ln w="6350">
            <a:solidFill>
              <a:srgbClr val="97BC62"/>
            </a:solidFill>
            <a:prstDash val="solid"/>
          </a:ln>
        </p:spPr>
      </p:sp>
      <p:sp>
        <p:nvSpPr>
          <p:cNvPr id="49" name="Text 47"/>
          <p:cNvSpPr/>
          <p:nvPr/>
        </p:nvSpPr>
        <p:spPr>
          <a:xfrm>
            <a:off x="1828800" y="3657600"/>
            <a:ext cx="137160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100</a:t>
            </a:r>
            <a:endParaRPr lang="en-US" sz="1000" dirty="0"/>
          </a:p>
        </p:txBody>
      </p:sp>
      <p:sp>
        <p:nvSpPr>
          <p:cNvPr id="50" name="Shape 48"/>
          <p:cNvSpPr/>
          <p:nvPr/>
        </p:nvSpPr>
        <p:spPr>
          <a:xfrm>
            <a:off x="3200400" y="3657600"/>
            <a:ext cx="1371600" cy="274320"/>
          </a:xfrm>
          <a:prstGeom prst="rect">
            <a:avLst/>
          </a:prstGeom>
          <a:solidFill>
            <a:srgbClr val="FFFFFF"/>
          </a:solidFill>
          <a:ln w="6350">
            <a:solidFill>
              <a:srgbClr val="97BC62"/>
            </a:solidFill>
            <a:prstDash val="solid"/>
          </a:ln>
        </p:spPr>
      </p:sp>
      <p:sp>
        <p:nvSpPr>
          <p:cNvPr id="51" name="Text 49"/>
          <p:cNvSpPr/>
          <p:nvPr/>
        </p:nvSpPr>
        <p:spPr>
          <a:xfrm>
            <a:off x="3200400" y="3657600"/>
            <a:ext cx="137160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100</a:t>
            </a:r>
            <a:endParaRPr lang="en-US" sz="1000" dirty="0"/>
          </a:p>
        </p:txBody>
      </p:sp>
      <p:sp>
        <p:nvSpPr>
          <p:cNvPr id="52" name="Shape 50"/>
          <p:cNvSpPr/>
          <p:nvPr/>
        </p:nvSpPr>
        <p:spPr>
          <a:xfrm>
            <a:off x="4572000" y="3657600"/>
            <a:ext cx="1371600" cy="274320"/>
          </a:xfrm>
          <a:prstGeom prst="rect">
            <a:avLst/>
          </a:prstGeom>
          <a:solidFill>
            <a:srgbClr val="FFFFFF"/>
          </a:solidFill>
          <a:ln w="6350">
            <a:solidFill>
              <a:srgbClr val="97BC62"/>
            </a:solidFill>
            <a:prstDash val="solid"/>
          </a:ln>
        </p:spPr>
      </p:sp>
      <p:sp>
        <p:nvSpPr>
          <p:cNvPr id="53" name="Text 51"/>
          <p:cNvSpPr/>
          <p:nvPr/>
        </p:nvSpPr>
        <p:spPr>
          <a:xfrm>
            <a:off x="4572000" y="3657600"/>
            <a:ext cx="137160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0</a:t>
            </a:r>
            <a:endParaRPr lang="en-US" sz="1000" dirty="0"/>
          </a:p>
        </p:txBody>
      </p:sp>
      <p:sp>
        <p:nvSpPr>
          <p:cNvPr id="54" name="Shape 52"/>
          <p:cNvSpPr/>
          <p:nvPr/>
        </p:nvSpPr>
        <p:spPr>
          <a:xfrm>
            <a:off x="5943600" y="3657600"/>
            <a:ext cx="2286000" cy="274320"/>
          </a:xfrm>
          <a:prstGeom prst="rect">
            <a:avLst/>
          </a:prstGeom>
          <a:solidFill>
            <a:srgbClr val="FFFFFF"/>
          </a:solidFill>
          <a:ln w="6350">
            <a:solidFill>
              <a:srgbClr val="97BC62"/>
            </a:solidFill>
            <a:prstDash val="solid"/>
          </a:ln>
        </p:spPr>
      </p:sp>
      <p:sp>
        <p:nvSpPr>
          <p:cNvPr id="55" name="Text 53"/>
          <p:cNvSpPr/>
          <p:nvPr/>
        </p:nvSpPr>
        <p:spPr>
          <a:xfrm>
            <a:off x="5943600" y="3657600"/>
            <a:ext cx="228600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chi-sq = 0.48</a:t>
            </a:r>
            <a:endParaRPr lang="en-US" sz="1000" dirty="0"/>
          </a:p>
        </p:txBody>
      </p:sp>
      <p:sp>
        <p:nvSpPr>
          <p:cNvPr id="56" name="Shape 54"/>
          <p:cNvSpPr/>
          <p:nvPr/>
        </p:nvSpPr>
        <p:spPr>
          <a:xfrm>
            <a:off x="457200" y="4069080"/>
            <a:ext cx="731520" cy="274320"/>
          </a:xfrm>
          <a:prstGeom prst="rect">
            <a:avLst/>
          </a:prstGeom>
          <a:solidFill>
            <a:srgbClr val="D4A843"/>
          </a:solidFill>
          <a:ln/>
        </p:spPr>
      </p:sp>
      <p:sp>
        <p:nvSpPr>
          <p:cNvPr id="57" name="Text 55"/>
          <p:cNvSpPr/>
          <p:nvPr/>
        </p:nvSpPr>
        <p:spPr>
          <a:xfrm>
            <a:off x="457200" y="4069080"/>
            <a:ext cx="731520" cy="2743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Step 4</a:t>
            </a:r>
            <a:endParaRPr lang="en-US" sz="1000" dirty="0"/>
          </a:p>
        </p:txBody>
      </p:sp>
      <p:sp>
        <p:nvSpPr>
          <p:cNvPr id="58" name="Text 56"/>
          <p:cNvSpPr/>
          <p:nvPr/>
        </p:nvSpPr>
        <p:spPr>
          <a:xfrm>
            <a:off x="1280160" y="4069080"/>
            <a:ext cx="7406640" cy="274320"/>
          </a:xfrm>
          <a:prstGeom prst="rect">
            <a:avLst/>
          </a:prstGeom>
          <a:noFill/>
          <a:ln/>
        </p:spPr>
        <p:txBody>
          <a:bodyPr wrap="square" rtlCol="0" anchor="ctr"/>
          <a:lstStyle/>
          <a:p>
            <a:pPr indent="0" marL="0">
              <a:buNone/>
            </a:pPr>
            <a:r>
              <a:rPr lang="en-US" sz="1100" b="1" dirty="0">
                <a:solidFill>
                  <a:srgbClr val="2C5F2D"/>
                </a:solidFill>
                <a:latin typeface="Calibri" pitchFamily="34" charset="0"/>
                <a:ea typeface="Calibri" pitchFamily="34" charset="-122"/>
                <a:cs typeface="Calibri" pitchFamily="34" charset="-120"/>
              </a:rPr>
              <a:t>判断：chi-sq = 0.48 &lt; 3.841 (df=1, P=0.05 临界值) → 接受原假设，数据符合 3:1 比例</a:t>
            </a:r>
            <a:endParaRPr lang="en-US" sz="1100" dirty="0"/>
          </a:p>
        </p:txBody>
      </p:sp>
      <p:sp>
        <p:nvSpPr>
          <p:cNvPr id="59" name="Shape 57"/>
          <p:cNvSpPr/>
          <p:nvPr/>
        </p:nvSpPr>
        <p:spPr>
          <a:xfrm>
            <a:off x="457200" y="4480560"/>
            <a:ext cx="8229600" cy="457200"/>
          </a:xfrm>
          <a:prstGeom prst="rect">
            <a:avLst/>
          </a:prstGeom>
          <a:solidFill>
            <a:srgbClr val="F0F4E8"/>
          </a:solidFill>
          <a:ln w="12700">
            <a:solidFill>
              <a:srgbClr val="97BC62"/>
            </a:solidFill>
            <a:prstDash val="solid"/>
          </a:ln>
        </p:spPr>
      </p:sp>
      <p:sp>
        <p:nvSpPr>
          <p:cNvPr id="60" name="Text 58"/>
          <p:cNvSpPr/>
          <p:nvPr/>
        </p:nvSpPr>
        <p:spPr>
          <a:xfrm>
            <a:off x="640080" y="4480560"/>
            <a:ext cx="7863840" cy="457200"/>
          </a:xfrm>
          <a:prstGeom prst="rect">
            <a:avLst/>
          </a:prstGeom>
          <a:noFill/>
          <a:ln/>
        </p:spPr>
        <p:txBody>
          <a:bodyPr wrap="square" rtlCol="0" anchor="ctr"/>
          <a:lstStyle/>
          <a:p>
            <a:pPr indent="0" marL="0">
              <a:buNone/>
            </a:pPr>
            <a:r>
              <a:rPr lang="en-US" sz="1100" dirty="0">
                <a:solidFill>
                  <a:srgbClr val="2C5F2D"/>
                </a:solidFill>
                <a:latin typeface="Calibri" pitchFamily="34" charset="0"/>
                <a:ea typeface="Calibri" pitchFamily="34" charset="-122"/>
                <a:cs typeface="Calibri" pitchFamily="34" charset="-120"/>
              </a:rPr>
              <a:t>结论：观察值与理论值之间的偏差（78:22 vs 75:25）完全可以由随机误差解释，3:1 比例成立。</a:t>
            </a:r>
            <a:endParaRPr lang="en-US" sz="1100" dirty="0"/>
          </a:p>
        </p:txBody>
      </p:sp>
      <p:sp>
        <p:nvSpPr>
          <p:cNvPr id="61" name="Text 59"/>
          <p:cNvSpPr/>
          <p:nvPr/>
        </p:nvSpPr>
        <p:spPr>
          <a:xfrm>
            <a:off x="8046720" y="4777740"/>
            <a:ext cx="914400" cy="274320"/>
          </a:xfrm>
          <a:prstGeom prst="rect">
            <a:avLst/>
          </a:prstGeom>
          <a:noFill/>
          <a:ln/>
        </p:spPr>
        <p:txBody>
          <a:bodyPr wrap="square" rtlCol="0" anchor="ctr"/>
          <a:lstStyle/>
          <a:p>
            <a:pPr algn="r" indent="0" marL="0">
              <a:buNone/>
            </a:pPr>
            <a:r>
              <a:rPr lang="en-US" sz="1000" dirty="0">
                <a:solidFill>
                  <a:srgbClr val="6B8E5A"/>
                </a:solidFill>
                <a:latin typeface="Calibri" pitchFamily="34" charset="0"/>
                <a:ea typeface="Calibri" pitchFamily="34" charset="-122"/>
                <a:cs typeface="Calibri" pitchFamily="34" charset="-120"/>
              </a:rPr>
              <a:t>12 / 20</a:t>
            </a:r>
            <a:endParaRPr lang="en-US" sz="1000" dirty="0"/>
          </a:p>
        </p:txBody>
      </p:sp>
      <p:sp>
        <p:nvSpPr>
          <p:cNvPr id="62" name="Shape 60"/>
          <p:cNvSpPr/>
          <p:nvPr/>
        </p:nvSpPr>
        <p:spPr>
          <a:xfrm>
            <a:off x="0" y="5097780"/>
            <a:ext cx="9144000" cy="45720"/>
          </a:xfrm>
          <a:prstGeom prst="rect">
            <a:avLst/>
          </a:prstGeom>
          <a:solidFill>
            <a:srgbClr val="2C5F2D"/>
          </a:solidFill>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4A843"/>
          </a:solidFill>
          <a:ln/>
        </p:spPr>
      </p:sp>
      <p:sp>
        <p:nvSpPr>
          <p:cNvPr id="3" name="Text 1"/>
          <p:cNvSpPr/>
          <p:nvPr/>
        </p:nvSpPr>
        <p:spPr>
          <a:xfrm>
            <a:off x="457200" y="228600"/>
            <a:ext cx="8229600" cy="457200"/>
          </a:xfrm>
          <a:prstGeom prst="rect">
            <a:avLst/>
          </a:prstGeom>
          <a:noFill/>
          <a:ln/>
        </p:spPr>
        <p:txBody>
          <a:bodyPr wrap="square" rtlCol="0" anchor="ctr"/>
          <a:lstStyle/>
          <a:p>
            <a:pPr indent="0" marL="0">
              <a:buNone/>
            </a:pPr>
            <a:r>
              <a:rPr lang="en-US" sz="2800" b="1" dirty="0">
                <a:solidFill>
                  <a:srgbClr val="2C5F2D"/>
                </a:solidFill>
                <a:latin typeface="Georgia" pitchFamily="34" charset="0"/>
                <a:ea typeface="Georgia" pitchFamily="34" charset="-122"/>
                <a:cs typeface="Georgia" pitchFamily="34" charset="-120"/>
              </a:rPr>
              <a:t>科学家故事：孟德尔——被数学武装的修士</a:t>
            </a:r>
            <a:endParaRPr lang="en-US" sz="2800" dirty="0"/>
          </a:p>
        </p:txBody>
      </p:sp>
      <p:sp>
        <p:nvSpPr>
          <p:cNvPr id="4" name="Text 2"/>
          <p:cNvSpPr/>
          <p:nvPr/>
        </p:nvSpPr>
        <p:spPr>
          <a:xfrm>
            <a:off x="457200" y="685800"/>
            <a:ext cx="8229600" cy="274320"/>
          </a:xfrm>
          <a:prstGeom prst="rect">
            <a:avLst/>
          </a:prstGeom>
          <a:noFill/>
          <a:ln/>
        </p:spPr>
        <p:txBody>
          <a:bodyPr wrap="square" rtlCol="0" anchor="ctr"/>
          <a:lstStyle/>
          <a:p>
            <a:pPr indent="0" marL="0">
              <a:buNone/>
            </a:pPr>
            <a:r>
              <a:rPr lang="en-US" sz="1400" dirty="0">
                <a:solidFill>
                  <a:srgbClr val="6B8E5A"/>
                </a:solidFill>
                <a:latin typeface="Calibri" pitchFamily="34" charset="0"/>
                <a:ea typeface="Calibri" pitchFamily="34" charset="-122"/>
                <a:cs typeface="Calibri" pitchFamily="34" charset="-120"/>
              </a:rPr>
              <a:t>Mendel: The Monk Armed with Mathematics</a:t>
            </a:r>
            <a:endParaRPr lang="en-US" sz="1400" dirty="0"/>
          </a:p>
        </p:txBody>
      </p:sp>
      <p:sp>
        <p:nvSpPr>
          <p:cNvPr id="5" name="Shape 3"/>
          <p:cNvSpPr/>
          <p:nvPr/>
        </p:nvSpPr>
        <p:spPr>
          <a:xfrm>
            <a:off x="457200" y="1005840"/>
            <a:ext cx="1371600" cy="36576"/>
          </a:xfrm>
          <a:prstGeom prst="rect">
            <a:avLst/>
          </a:prstGeom>
          <a:solidFill>
            <a:srgbClr val="97BC62"/>
          </a:solidFill>
          <a:ln/>
        </p:spPr>
      </p:sp>
      <p:sp>
        <p:nvSpPr>
          <p:cNvPr id="6" name="Shape 4"/>
          <p:cNvSpPr/>
          <p:nvPr/>
        </p:nvSpPr>
        <p:spPr>
          <a:xfrm>
            <a:off x="457200" y="1280160"/>
            <a:ext cx="8229600" cy="1188720"/>
          </a:xfrm>
          <a:prstGeom prst="rect">
            <a:avLst/>
          </a:prstGeom>
          <a:solidFill>
            <a:srgbClr val="FFFFFF"/>
          </a:solidFill>
          <a:ln w="12700">
            <a:solidFill>
              <a:srgbClr val="97BC62"/>
            </a:solidFill>
            <a:prstDash val="solid"/>
          </a:ln>
        </p:spPr>
      </p:sp>
      <p:sp>
        <p:nvSpPr>
          <p:cNvPr id="7" name="Text 5"/>
          <p:cNvSpPr/>
          <p:nvPr/>
        </p:nvSpPr>
        <p:spPr>
          <a:xfrm>
            <a:off x="731520" y="1371600"/>
            <a:ext cx="7680960" cy="1005840"/>
          </a:xfrm>
          <a:prstGeom prst="rect">
            <a:avLst/>
          </a:prstGeom>
          <a:noFill/>
          <a:ln/>
        </p:spPr>
        <p:txBody>
          <a:bodyPr wrap="square" rtlCol="0" anchor="ctr"/>
          <a:lstStyle/>
          <a:p>
            <a:pPr indent="0" marL="0">
              <a:buNone/>
            </a:pPr>
            <a:r>
              <a:rPr lang="en-US" sz="1300" i="1" dirty="0">
                <a:solidFill>
                  <a:srgbClr val="2C5F2D"/>
                </a:solidFill>
                <a:latin typeface="Georgia" pitchFamily="34" charset="0"/>
                <a:ea typeface="Georgia" pitchFamily="34" charset="-122"/>
                <a:cs typeface="Georgia" pitchFamily="34" charset="-120"/>
              </a:rPr>
              <a:t>"我的实验是从一个简单的实验开始的，但很快就发展成一个庞大的研究计划。我决定用数学方法来分析杂交结果，这在我的同行中是不寻常的做法。"</a:t>
            </a:r>
            <a:endParaRPr lang="en-US" sz="1300" dirty="0"/>
          </a:p>
        </p:txBody>
      </p:sp>
      <p:sp>
        <p:nvSpPr>
          <p:cNvPr id="8" name="Shape 6"/>
          <p:cNvSpPr/>
          <p:nvPr/>
        </p:nvSpPr>
        <p:spPr>
          <a:xfrm>
            <a:off x="457200" y="2651760"/>
            <a:ext cx="731520" cy="365760"/>
          </a:xfrm>
          <a:prstGeom prst="rect">
            <a:avLst/>
          </a:prstGeom>
          <a:solidFill>
            <a:srgbClr val="2C5F2D"/>
          </a:solidFill>
          <a:ln/>
        </p:spPr>
      </p:sp>
      <p:sp>
        <p:nvSpPr>
          <p:cNvPr id="9" name="Text 7"/>
          <p:cNvSpPr/>
          <p:nvPr/>
        </p:nvSpPr>
        <p:spPr>
          <a:xfrm>
            <a:off x="457200" y="2651760"/>
            <a:ext cx="731520" cy="36576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1822</a:t>
            </a:r>
            <a:endParaRPr lang="en-US" sz="1000" dirty="0"/>
          </a:p>
        </p:txBody>
      </p:sp>
      <p:sp>
        <p:nvSpPr>
          <p:cNvPr id="10" name="Text 8"/>
          <p:cNvSpPr/>
          <p:nvPr/>
        </p:nvSpPr>
        <p:spPr>
          <a:xfrm>
            <a:off x="1280160" y="2651760"/>
            <a:ext cx="3383280" cy="365760"/>
          </a:xfrm>
          <a:prstGeom prst="rect">
            <a:avLst/>
          </a:prstGeom>
          <a:noFill/>
          <a:ln/>
        </p:spPr>
        <p:txBody>
          <a:bodyPr wrap="square" rtlCol="0" anchor="ctr"/>
          <a:lstStyle/>
          <a:p>
            <a:pPr indent="0" marL="0">
              <a:buNone/>
            </a:pPr>
            <a:r>
              <a:rPr lang="en-US" sz="1100" dirty="0">
                <a:solidFill>
                  <a:srgbClr val="2C5F2D"/>
                </a:solidFill>
                <a:latin typeface="Calibri" pitchFamily="34" charset="0"/>
                <a:ea typeface="Calibri" pitchFamily="34" charset="-122"/>
                <a:cs typeface="Calibri" pitchFamily="34" charset="-120"/>
              </a:rPr>
              <a:t>出生于奥地利西里西亚（今捷克）</a:t>
            </a:r>
            <a:endParaRPr lang="en-US" sz="1100" dirty="0"/>
          </a:p>
        </p:txBody>
      </p:sp>
      <p:sp>
        <p:nvSpPr>
          <p:cNvPr id="11" name="Shape 9"/>
          <p:cNvSpPr/>
          <p:nvPr/>
        </p:nvSpPr>
        <p:spPr>
          <a:xfrm>
            <a:off x="4846320" y="2651760"/>
            <a:ext cx="731520" cy="365760"/>
          </a:xfrm>
          <a:prstGeom prst="rect">
            <a:avLst/>
          </a:prstGeom>
          <a:solidFill>
            <a:srgbClr val="2C5F2D"/>
          </a:solidFill>
          <a:ln/>
        </p:spPr>
      </p:sp>
      <p:sp>
        <p:nvSpPr>
          <p:cNvPr id="12" name="Text 10"/>
          <p:cNvSpPr/>
          <p:nvPr/>
        </p:nvSpPr>
        <p:spPr>
          <a:xfrm>
            <a:off x="4846320" y="2651760"/>
            <a:ext cx="731520" cy="36576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1843</a:t>
            </a:r>
            <a:endParaRPr lang="en-US" sz="1000" dirty="0"/>
          </a:p>
        </p:txBody>
      </p:sp>
      <p:sp>
        <p:nvSpPr>
          <p:cNvPr id="13" name="Text 11"/>
          <p:cNvSpPr/>
          <p:nvPr/>
        </p:nvSpPr>
        <p:spPr>
          <a:xfrm>
            <a:off x="5669280" y="2651760"/>
            <a:ext cx="3383280" cy="365760"/>
          </a:xfrm>
          <a:prstGeom prst="rect">
            <a:avLst/>
          </a:prstGeom>
          <a:noFill/>
          <a:ln/>
        </p:spPr>
        <p:txBody>
          <a:bodyPr wrap="square" rtlCol="0" anchor="ctr"/>
          <a:lstStyle/>
          <a:p>
            <a:pPr indent="0" marL="0">
              <a:buNone/>
            </a:pPr>
            <a:r>
              <a:rPr lang="en-US" sz="1100" dirty="0">
                <a:solidFill>
                  <a:srgbClr val="2C5F2D"/>
                </a:solidFill>
                <a:latin typeface="Calibri" pitchFamily="34" charset="0"/>
                <a:ea typeface="Calibri" pitchFamily="34" charset="-122"/>
                <a:cs typeface="Calibri" pitchFamily="34" charset="-120"/>
              </a:rPr>
              <a:t>进入布尔诺修道院</a:t>
            </a:r>
            <a:endParaRPr lang="en-US" sz="1100" dirty="0"/>
          </a:p>
        </p:txBody>
      </p:sp>
      <p:sp>
        <p:nvSpPr>
          <p:cNvPr id="14" name="Shape 12"/>
          <p:cNvSpPr/>
          <p:nvPr/>
        </p:nvSpPr>
        <p:spPr>
          <a:xfrm>
            <a:off x="457200" y="3154680"/>
            <a:ext cx="731520" cy="365760"/>
          </a:xfrm>
          <a:prstGeom prst="rect">
            <a:avLst/>
          </a:prstGeom>
          <a:solidFill>
            <a:srgbClr val="2C5F2D"/>
          </a:solidFill>
          <a:ln/>
        </p:spPr>
      </p:sp>
      <p:sp>
        <p:nvSpPr>
          <p:cNvPr id="15" name="Text 13"/>
          <p:cNvSpPr/>
          <p:nvPr/>
        </p:nvSpPr>
        <p:spPr>
          <a:xfrm>
            <a:off x="457200" y="3154680"/>
            <a:ext cx="731520" cy="36576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1851-53</a:t>
            </a:r>
            <a:endParaRPr lang="en-US" sz="1000" dirty="0"/>
          </a:p>
        </p:txBody>
      </p:sp>
      <p:sp>
        <p:nvSpPr>
          <p:cNvPr id="16" name="Text 14"/>
          <p:cNvSpPr/>
          <p:nvPr/>
        </p:nvSpPr>
        <p:spPr>
          <a:xfrm>
            <a:off x="1280160" y="3154680"/>
            <a:ext cx="3383280" cy="365760"/>
          </a:xfrm>
          <a:prstGeom prst="rect">
            <a:avLst/>
          </a:prstGeom>
          <a:noFill/>
          <a:ln/>
        </p:spPr>
        <p:txBody>
          <a:bodyPr wrap="square" rtlCol="0" anchor="ctr"/>
          <a:lstStyle/>
          <a:p>
            <a:pPr indent="0" marL="0">
              <a:buNone/>
            </a:pPr>
            <a:r>
              <a:rPr lang="en-US" sz="1100" dirty="0">
                <a:solidFill>
                  <a:srgbClr val="2C5F2D"/>
                </a:solidFill>
                <a:latin typeface="Calibri" pitchFamily="34" charset="0"/>
                <a:ea typeface="Calibri" pitchFamily="34" charset="-122"/>
                <a:cs typeface="Calibri" pitchFamily="34" charset="-120"/>
              </a:rPr>
              <a:t>维也纳大学学习数学和物理</a:t>
            </a:r>
            <a:endParaRPr lang="en-US" sz="1100" dirty="0"/>
          </a:p>
        </p:txBody>
      </p:sp>
      <p:sp>
        <p:nvSpPr>
          <p:cNvPr id="17" name="Shape 15"/>
          <p:cNvSpPr/>
          <p:nvPr/>
        </p:nvSpPr>
        <p:spPr>
          <a:xfrm>
            <a:off x="4846320" y="3154680"/>
            <a:ext cx="731520" cy="365760"/>
          </a:xfrm>
          <a:prstGeom prst="rect">
            <a:avLst/>
          </a:prstGeom>
          <a:solidFill>
            <a:srgbClr val="2C5F2D"/>
          </a:solidFill>
          <a:ln/>
        </p:spPr>
      </p:sp>
      <p:sp>
        <p:nvSpPr>
          <p:cNvPr id="18" name="Text 16"/>
          <p:cNvSpPr/>
          <p:nvPr/>
        </p:nvSpPr>
        <p:spPr>
          <a:xfrm>
            <a:off x="4846320" y="3154680"/>
            <a:ext cx="731520" cy="36576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1856</a:t>
            </a:r>
            <a:endParaRPr lang="en-US" sz="1000" dirty="0"/>
          </a:p>
        </p:txBody>
      </p:sp>
      <p:sp>
        <p:nvSpPr>
          <p:cNvPr id="19" name="Text 17"/>
          <p:cNvSpPr/>
          <p:nvPr/>
        </p:nvSpPr>
        <p:spPr>
          <a:xfrm>
            <a:off x="5669280" y="3154680"/>
            <a:ext cx="3383280" cy="365760"/>
          </a:xfrm>
          <a:prstGeom prst="rect">
            <a:avLst/>
          </a:prstGeom>
          <a:noFill/>
          <a:ln/>
        </p:spPr>
        <p:txBody>
          <a:bodyPr wrap="square" rtlCol="0" anchor="ctr"/>
          <a:lstStyle/>
          <a:p>
            <a:pPr indent="0" marL="0">
              <a:buNone/>
            </a:pPr>
            <a:r>
              <a:rPr lang="en-US" sz="1100" dirty="0">
                <a:solidFill>
                  <a:srgbClr val="2C5F2D"/>
                </a:solidFill>
                <a:latin typeface="Calibri" pitchFamily="34" charset="0"/>
                <a:ea typeface="Calibri" pitchFamily="34" charset="-122"/>
                <a:cs typeface="Calibri" pitchFamily="34" charset="-120"/>
              </a:rPr>
              <a:t>开始豌豆杂交实验</a:t>
            </a:r>
            <a:endParaRPr lang="en-US" sz="1100" dirty="0"/>
          </a:p>
        </p:txBody>
      </p:sp>
      <p:sp>
        <p:nvSpPr>
          <p:cNvPr id="20" name="Shape 18"/>
          <p:cNvSpPr/>
          <p:nvPr/>
        </p:nvSpPr>
        <p:spPr>
          <a:xfrm>
            <a:off x="457200" y="3657600"/>
            <a:ext cx="731520" cy="365760"/>
          </a:xfrm>
          <a:prstGeom prst="rect">
            <a:avLst/>
          </a:prstGeom>
          <a:solidFill>
            <a:srgbClr val="2C5F2D"/>
          </a:solidFill>
          <a:ln/>
        </p:spPr>
      </p:sp>
      <p:sp>
        <p:nvSpPr>
          <p:cNvPr id="21" name="Text 19"/>
          <p:cNvSpPr/>
          <p:nvPr/>
        </p:nvSpPr>
        <p:spPr>
          <a:xfrm>
            <a:off x="457200" y="3657600"/>
            <a:ext cx="731520" cy="36576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1865</a:t>
            </a:r>
            <a:endParaRPr lang="en-US" sz="1000" dirty="0"/>
          </a:p>
        </p:txBody>
      </p:sp>
      <p:sp>
        <p:nvSpPr>
          <p:cNvPr id="22" name="Text 20"/>
          <p:cNvSpPr/>
          <p:nvPr/>
        </p:nvSpPr>
        <p:spPr>
          <a:xfrm>
            <a:off x="1280160" y="3657600"/>
            <a:ext cx="3383280" cy="365760"/>
          </a:xfrm>
          <a:prstGeom prst="rect">
            <a:avLst/>
          </a:prstGeom>
          <a:noFill/>
          <a:ln/>
        </p:spPr>
        <p:txBody>
          <a:bodyPr wrap="square" rtlCol="0" anchor="ctr"/>
          <a:lstStyle/>
          <a:p>
            <a:pPr indent="0" marL="0">
              <a:buNone/>
            </a:pPr>
            <a:r>
              <a:rPr lang="en-US" sz="1100" dirty="0">
                <a:solidFill>
                  <a:srgbClr val="2C5F2D"/>
                </a:solidFill>
                <a:latin typeface="Calibri" pitchFamily="34" charset="0"/>
                <a:ea typeface="Calibri" pitchFamily="34" charset="-122"/>
                <a:cs typeface="Calibri" pitchFamily="34" charset="-120"/>
              </a:rPr>
              <a:t>在布隆自然科学学会报告成果</a:t>
            </a:r>
            <a:endParaRPr lang="en-US" sz="1100" dirty="0"/>
          </a:p>
        </p:txBody>
      </p:sp>
      <p:sp>
        <p:nvSpPr>
          <p:cNvPr id="23" name="Shape 21"/>
          <p:cNvSpPr/>
          <p:nvPr/>
        </p:nvSpPr>
        <p:spPr>
          <a:xfrm>
            <a:off x="4846320" y="3657600"/>
            <a:ext cx="731520" cy="365760"/>
          </a:xfrm>
          <a:prstGeom prst="rect">
            <a:avLst/>
          </a:prstGeom>
          <a:solidFill>
            <a:srgbClr val="2C5F2D"/>
          </a:solidFill>
          <a:ln/>
        </p:spPr>
      </p:sp>
      <p:sp>
        <p:nvSpPr>
          <p:cNvPr id="24" name="Text 22"/>
          <p:cNvSpPr/>
          <p:nvPr/>
        </p:nvSpPr>
        <p:spPr>
          <a:xfrm>
            <a:off x="4846320" y="3657600"/>
            <a:ext cx="731520" cy="36576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1866</a:t>
            </a:r>
            <a:endParaRPr lang="en-US" sz="1000" dirty="0"/>
          </a:p>
        </p:txBody>
      </p:sp>
      <p:sp>
        <p:nvSpPr>
          <p:cNvPr id="25" name="Text 23"/>
          <p:cNvSpPr/>
          <p:nvPr/>
        </p:nvSpPr>
        <p:spPr>
          <a:xfrm>
            <a:off x="5669280" y="3657600"/>
            <a:ext cx="3383280" cy="365760"/>
          </a:xfrm>
          <a:prstGeom prst="rect">
            <a:avLst/>
          </a:prstGeom>
          <a:noFill/>
          <a:ln/>
        </p:spPr>
        <p:txBody>
          <a:bodyPr wrap="square" rtlCol="0" anchor="ctr"/>
          <a:lstStyle/>
          <a:p>
            <a:pPr indent="0" marL="0">
              <a:buNone/>
            </a:pPr>
            <a:r>
              <a:rPr lang="en-US" sz="1100" dirty="0">
                <a:solidFill>
                  <a:srgbClr val="2C5F2D"/>
                </a:solidFill>
                <a:latin typeface="Calibri" pitchFamily="34" charset="0"/>
                <a:ea typeface="Calibri" pitchFamily="34" charset="-122"/>
                <a:cs typeface="Calibri" pitchFamily="34" charset="-120"/>
              </a:rPr>
              <a:t>论文发表在学会会刊上</a:t>
            </a:r>
            <a:endParaRPr lang="en-US" sz="1100" dirty="0"/>
          </a:p>
        </p:txBody>
      </p:sp>
      <p:sp>
        <p:nvSpPr>
          <p:cNvPr id="26" name="Shape 24"/>
          <p:cNvSpPr/>
          <p:nvPr/>
        </p:nvSpPr>
        <p:spPr>
          <a:xfrm>
            <a:off x="457200" y="4160520"/>
            <a:ext cx="731520" cy="365760"/>
          </a:xfrm>
          <a:prstGeom prst="rect">
            <a:avLst/>
          </a:prstGeom>
          <a:solidFill>
            <a:srgbClr val="2C5F2D"/>
          </a:solidFill>
          <a:ln/>
        </p:spPr>
      </p:sp>
      <p:sp>
        <p:nvSpPr>
          <p:cNvPr id="27" name="Text 25"/>
          <p:cNvSpPr/>
          <p:nvPr/>
        </p:nvSpPr>
        <p:spPr>
          <a:xfrm>
            <a:off x="457200" y="4160520"/>
            <a:ext cx="731520" cy="36576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1884</a:t>
            </a:r>
            <a:endParaRPr lang="en-US" sz="1000" dirty="0"/>
          </a:p>
        </p:txBody>
      </p:sp>
      <p:sp>
        <p:nvSpPr>
          <p:cNvPr id="28" name="Text 26"/>
          <p:cNvSpPr/>
          <p:nvPr/>
        </p:nvSpPr>
        <p:spPr>
          <a:xfrm>
            <a:off x="1280160" y="4160520"/>
            <a:ext cx="3383280" cy="365760"/>
          </a:xfrm>
          <a:prstGeom prst="rect">
            <a:avLst/>
          </a:prstGeom>
          <a:noFill/>
          <a:ln/>
        </p:spPr>
        <p:txBody>
          <a:bodyPr wrap="square" rtlCol="0" anchor="ctr"/>
          <a:lstStyle/>
          <a:p>
            <a:pPr indent="0" marL="0">
              <a:buNone/>
            </a:pPr>
            <a:r>
              <a:rPr lang="en-US" sz="1100" dirty="0">
                <a:solidFill>
                  <a:srgbClr val="2C5F2D"/>
                </a:solidFill>
                <a:latin typeface="Calibri" pitchFamily="34" charset="0"/>
                <a:ea typeface="Calibri" pitchFamily="34" charset="-122"/>
                <a:cs typeface="Calibri" pitchFamily="34" charset="-120"/>
              </a:rPr>
              <a:t>去世，享年62岁</a:t>
            </a:r>
            <a:endParaRPr lang="en-US" sz="1100" dirty="0"/>
          </a:p>
        </p:txBody>
      </p:sp>
      <p:sp>
        <p:nvSpPr>
          <p:cNvPr id="29" name="Shape 27"/>
          <p:cNvSpPr/>
          <p:nvPr/>
        </p:nvSpPr>
        <p:spPr>
          <a:xfrm>
            <a:off x="4846320" y="4160520"/>
            <a:ext cx="731520" cy="365760"/>
          </a:xfrm>
          <a:prstGeom prst="rect">
            <a:avLst/>
          </a:prstGeom>
          <a:solidFill>
            <a:srgbClr val="2C5F2D"/>
          </a:solidFill>
          <a:ln/>
        </p:spPr>
      </p:sp>
      <p:sp>
        <p:nvSpPr>
          <p:cNvPr id="30" name="Text 28"/>
          <p:cNvSpPr/>
          <p:nvPr/>
        </p:nvSpPr>
        <p:spPr>
          <a:xfrm>
            <a:off x="4846320" y="4160520"/>
            <a:ext cx="731520" cy="36576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1900</a:t>
            </a:r>
            <a:endParaRPr lang="en-US" sz="1000" dirty="0"/>
          </a:p>
        </p:txBody>
      </p:sp>
      <p:sp>
        <p:nvSpPr>
          <p:cNvPr id="31" name="Text 29"/>
          <p:cNvSpPr/>
          <p:nvPr/>
        </p:nvSpPr>
        <p:spPr>
          <a:xfrm>
            <a:off x="5669280" y="4160520"/>
            <a:ext cx="3383280" cy="365760"/>
          </a:xfrm>
          <a:prstGeom prst="rect">
            <a:avLst/>
          </a:prstGeom>
          <a:noFill/>
          <a:ln/>
        </p:spPr>
        <p:txBody>
          <a:bodyPr wrap="square" rtlCol="0" anchor="ctr"/>
          <a:lstStyle/>
          <a:p>
            <a:pPr indent="0" marL="0">
              <a:buNone/>
            </a:pPr>
            <a:r>
              <a:rPr lang="en-US" sz="1100" dirty="0">
                <a:solidFill>
                  <a:srgbClr val="2C5F2D"/>
                </a:solidFill>
                <a:latin typeface="Calibri" pitchFamily="34" charset="0"/>
                <a:ea typeface="Calibri" pitchFamily="34" charset="-122"/>
                <a:cs typeface="Calibri" pitchFamily="34" charset="-120"/>
              </a:rPr>
              <a:t>被德弗里斯等三人重新发现</a:t>
            </a:r>
            <a:endParaRPr lang="en-US" sz="1100" dirty="0"/>
          </a:p>
        </p:txBody>
      </p:sp>
      <p:sp>
        <p:nvSpPr>
          <p:cNvPr id="32" name="Text 30"/>
          <p:cNvSpPr/>
          <p:nvPr/>
        </p:nvSpPr>
        <p:spPr>
          <a:xfrm>
            <a:off x="8046720" y="4777740"/>
            <a:ext cx="914400" cy="274320"/>
          </a:xfrm>
          <a:prstGeom prst="rect">
            <a:avLst/>
          </a:prstGeom>
          <a:noFill/>
          <a:ln/>
        </p:spPr>
        <p:txBody>
          <a:bodyPr wrap="square" rtlCol="0" anchor="ctr"/>
          <a:lstStyle/>
          <a:p>
            <a:pPr algn="r" indent="0" marL="0">
              <a:buNone/>
            </a:pPr>
            <a:r>
              <a:rPr lang="en-US" sz="1000" dirty="0">
                <a:solidFill>
                  <a:srgbClr val="6B8E5A"/>
                </a:solidFill>
                <a:latin typeface="Calibri" pitchFamily="34" charset="0"/>
                <a:ea typeface="Calibri" pitchFamily="34" charset="-122"/>
                <a:cs typeface="Calibri" pitchFamily="34" charset="-120"/>
              </a:rPr>
              <a:t>13 / 20</a:t>
            </a:r>
            <a:endParaRPr lang="en-US" sz="1000" dirty="0"/>
          </a:p>
        </p:txBody>
      </p:sp>
      <p:sp>
        <p:nvSpPr>
          <p:cNvPr id="33" name="Shape 31"/>
          <p:cNvSpPr/>
          <p:nvPr/>
        </p:nvSpPr>
        <p:spPr>
          <a:xfrm>
            <a:off x="0" y="5097780"/>
            <a:ext cx="9144000" cy="45720"/>
          </a:xfrm>
          <a:prstGeom prst="rect">
            <a:avLst/>
          </a:prstGeom>
          <a:solidFill>
            <a:srgbClr val="2C5F2D"/>
          </a:solidFill>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4A843"/>
          </a:solidFill>
          <a:ln/>
        </p:spPr>
      </p:sp>
      <p:sp>
        <p:nvSpPr>
          <p:cNvPr id="3" name="Text 1"/>
          <p:cNvSpPr/>
          <p:nvPr/>
        </p:nvSpPr>
        <p:spPr>
          <a:xfrm>
            <a:off x="457200" y="228600"/>
            <a:ext cx="8229600" cy="457200"/>
          </a:xfrm>
          <a:prstGeom prst="rect">
            <a:avLst/>
          </a:prstGeom>
          <a:noFill/>
          <a:ln/>
        </p:spPr>
        <p:txBody>
          <a:bodyPr wrap="square" rtlCol="0" anchor="ctr"/>
          <a:lstStyle/>
          <a:p>
            <a:pPr indent="0" marL="0">
              <a:buNone/>
            </a:pPr>
            <a:r>
              <a:rPr lang="en-US" sz="2800" b="1" dirty="0">
                <a:solidFill>
                  <a:srgbClr val="2C5F2D"/>
                </a:solidFill>
                <a:latin typeface="Georgia" pitchFamily="34" charset="0"/>
                <a:ea typeface="Georgia" pitchFamily="34" charset="-122"/>
                <a:cs typeface="Georgia" pitchFamily="34" charset="-120"/>
              </a:rPr>
              <a:t>经典实验（一）：单因子杂交数学验证</a:t>
            </a:r>
            <a:endParaRPr lang="en-US" sz="2800" dirty="0"/>
          </a:p>
        </p:txBody>
      </p:sp>
      <p:sp>
        <p:nvSpPr>
          <p:cNvPr id="4" name="Text 2"/>
          <p:cNvSpPr/>
          <p:nvPr/>
        </p:nvSpPr>
        <p:spPr>
          <a:xfrm>
            <a:off x="457200" y="685800"/>
            <a:ext cx="8229600" cy="274320"/>
          </a:xfrm>
          <a:prstGeom prst="rect">
            <a:avLst/>
          </a:prstGeom>
          <a:noFill/>
          <a:ln/>
        </p:spPr>
        <p:txBody>
          <a:bodyPr wrap="square" rtlCol="0" anchor="ctr"/>
          <a:lstStyle/>
          <a:p>
            <a:pPr indent="0" marL="0">
              <a:buNone/>
            </a:pPr>
            <a:r>
              <a:rPr lang="en-US" sz="1400" dirty="0">
                <a:solidFill>
                  <a:srgbClr val="6B8E5A"/>
                </a:solidFill>
                <a:latin typeface="Calibri" pitchFamily="34" charset="0"/>
                <a:ea typeface="Calibri" pitchFamily="34" charset="-122"/>
                <a:cs typeface="Calibri" pitchFamily="34" charset="-120"/>
              </a:rPr>
              <a:t>Mendel's Monohybrid Cross Data</a:t>
            </a:r>
            <a:endParaRPr lang="en-US" sz="1400" dirty="0"/>
          </a:p>
        </p:txBody>
      </p:sp>
      <p:sp>
        <p:nvSpPr>
          <p:cNvPr id="5" name="Shape 3"/>
          <p:cNvSpPr/>
          <p:nvPr/>
        </p:nvSpPr>
        <p:spPr>
          <a:xfrm>
            <a:off x="457200" y="1005840"/>
            <a:ext cx="1371600" cy="36576"/>
          </a:xfrm>
          <a:prstGeom prst="rect">
            <a:avLst/>
          </a:prstGeom>
          <a:solidFill>
            <a:srgbClr val="97BC62"/>
          </a:solidFill>
          <a:ln/>
        </p:spPr>
      </p:sp>
      <p:sp>
        <p:nvSpPr>
          <p:cNvPr id="6" name="Text 4"/>
          <p:cNvSpPr/>
          <p:nvPr/>
        </p:nvSpPr>
        <p:spPr>
          <a:xfrm>
            <a:off x="457200" y="1280160"/>
            <a:ext cx="8229600" cy="320040"/>
          </a:xfrm>
          <a:prstGeom prst="rect">
            <a:avLst/>
          </a:prstGeom>
          <a:noFill/>
          <a:ln/>
        </p:spPr>
        <p:txBody>
          <a:bodyPr wrap="square" rtlCol="0" anchor="ctr"/>
          <a:lstStyle/>
          <a:p>
            <a:pPr indent="0" marL="0">
              <a:buNone/>
            </a:pPr>
            <a:r>
              <a:rPr lang="en-US" sz="1200" dirty="0">
                <a:solidFill>
                  <a:srgbClr val="2C5F2D"/>
                </a:solidFill>
                <a:latin typeface="Calibri" pitchFamily="34" charset="0"/>
                <a:ea typeface="Calibri" pitchFamily="34" charset="-122"/>
                <a:cs typeface="Calibri" pitchFamily="34" charset="-120"/>
              </a:rPr>
              <a:t>孟德尔对7对性状分别进行了单因子杂交实验，F2代表型均接近 3:1 比例：</a:t>
            </a:r>
            <a:endParaRPr lang="en-US" sz="1200" dirty="0"/>
          </a:p>
        </p:txBody>
      </p:sp>
      <p:sp>
        <p:nvSpPr>
          <p:cNvPr id="7" name="Shape 5"/>
          <p:cNvSpPr/>
          <p:nvPr/>
        </p:nvSpPr>
        <p:spPr>
          <a:xfrm>
            <a:off x="457200" y="1691640"/>
            <a:ext cx="2011680" cy="292608"/>
          </a:xfrm>
          <a:prstGeom prst="rect">
            <a:avLst/>
          </a:prstGeom>
          <a:solidFill>
            <a:srgbClr val="2C5F2D"/>
          </a:solidFill>
          <a:ln/>
        </p:spPr>
      </p:sp>
      <p:sp>
        <p:nvSpPr>
          <p:cNvPr id="8" name="Text 6"/>
          <p:cNvSpPr/>
          <p:nvPr/>
        </p:nvSpPr>
        <p:spPr>
          <a:xfrm>
            <a:off x="457200" y="1691640"/>
            <a:ext cx="2011680" cy="29260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性状</a:t>
            </a:r>
            <a:endParaRPr lang="en-US" sz="1100" dirty="0"/>
          </a:p>
        </p:txBody>
      </p:sp>
      <p:sp>
        <p:nvSpPr>
          <p:cNvPr id="9" name="Shape 7"/>
          <p:cNvSpPr/>
          <p:nvPr/>
        </p:nvSpPr>
        <p:spPr>
          <a:xfrm>
            <a:off x="2468880" y="1691640"/>
            <a:ext cx="1371600" cy="292608"/>
          </a:xfrm>
          <a:prstGeom prst="rect">
            <a:avLst/>
          </a:prstGeom>
          <a:solidFill>
            <a:srgbClr val="2C5F2D"/>
          </a:solidFill>
          <a:ln/>
        </p:spPr>
      </p:sp>
      <p:sp>
        <p:nvSpPr>
          <p:cNvPr id="10" name="Text 8"/>
          <p:cNvSpPr/>
          <p:nvPr/>
        </p:nvSpPr>
        <p:spPr>
          <a:xfrm>
            <a:off x="2468880" y="1691640"/>
            <a:ext cx="1371600" cy="29260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显性数</a:t>
            </a:r>
            <a:endParaRPr lang="en-US" sz="1100" dirty="0"/>
          </a:p>
        </p:txBody>
      </p:sp>
      <p:sp>
        <p:nvSpPr>
          <p:cNvPr id="11" name="Shape 9"/>
          <p:cNvSpPr/>
          <p:nvPr/>
        </p:nvSpPr>
        <p:spPr>
          <a:xfrm>
            <a:off x="3840480" y="1691640"/>
            <a:ext cx="1371600" cy="292608"/>
          </a:xfrm>
          <a:prstGeom prst="rect">
            <a:avLst/>
          </a:prstGeom>
          <a:solidFill>
            <a:srgbClr val="2C5F2D"/>
          </a:solidFill>
          <a:ln/>
        </p:spPr>
      </p:sp>
      <p:sp>
        <p:nvSpPr>
          <p:cNvPr id="12" name="Text 10"/>
          <p:cNvSpPr/>
          <p:nvPr/>
        </p:nvSpPr>
        <p:spPr>
          <a:xfrm>
            <a:off x="3840480" y="1691640"/>
            <a:ext cx="1371600" cy="29260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隐性数</a:t>
            </a:r>
            <a:endParaRPr lang="en-US" sz="1100" dirty="0"/>
          </a:p>
        </p:txBody>
      </p:sp>
      <p:sp>
        <p:nvSpPr>
          <p:cNvPr id="13" name="Shape 11"/>
          <p:cNvSpPr/>
          <p:nvPr/>
        </p:nvSpPr>
        <p:spPr>
          <a:xfrm>
            <a:off x="5212080" y="1691640"/>
            <a:ext cx="1371600" cy="292608"/>
          </a:xfrm>
          <a:prstGeom prst="rect">
            <a:avLst/>
          </a:prstGeom>
          <a:solidFill>
            <a:srgbClr val="2C5F2D"/>
          </a:solidFill>
          <a:ln/>
        </p:spPr>
      </p:sp>
      <p:sp>
        <p:nvSpPr>
          <p:cNvPr id="14" name="Text 12"/>
          <p:cNvSpPr/>
          <p:nvPr/>
        </p:nvSpPr>
        <p:spPr>
          <a:xfrm>
            <a:off x="5212080" y="1691640"/>
            <a:ext cx="1371600" cy="29260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总数</a:t>
            </a:r>
            <a:endParaRPr lang="en-US" sz="1100" dirty="0"/>
          </a:p>
        </p:txBody>
      </p:sp>
      <p:sp>
        <p:nvSpPr>
          <p:cNvPr id="15" name="Shape 13"/>
          <p:cNvSpPr/>
          <p:nvPr/>
        </p:nvSpPr>
        <p:spPr>
          <a:xfrm>
            <a:off x="6583680" y="1691640"/>
            <a:ext cx="1371600" cy="292608"/>
          </a:xfrm>
          <a:prstGeom prst="rect">
            <a:avLst/>
          </a:prstGeom>
          <a:solidFill>
            <a:srgbClr val="2C5F2D"/>
          </a:solidFill>
          <a:ln/>
        </p:spPr>
      </p:sp>
      <p:sp>
        <p:nvSpPr>
          <p:cNvPr id="16" name="Text 14"/>
          <p:cNvSpPr/>
          <p:nvPr/>
        </p:nvSpPr>
        <p:spPr>
          <a:xfrm>
            <a:off x="6583680" y="1691640"/>
            <a:ext cx="1371600" cy="29260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比例</a:t>
            </a:r>
            <a:endParaRPr lang="en-US" sz="1100" dirty="0"/>
          </a:p>
        </p:txBody>
      </p:sp>
      <p:sp>
        <p:nvSpPr>
          <p:cNvPr id="17" name="Shape 15"/>
          <p:cNvSpPr/>
          <p:nvPr/>
        </p:nvSpPr>
        <p:spPr>
          <a:xfrm>
            <a:off x="457200" y="1984248"/>
            <a:ext cx="2011680" cy="292608"/>
          </a:xfrm>
          <a:prstGeom prst="rect">
            <a:avLst/>
          </a:prstGeom>
          <a:solidFill>
            <a:srgbClr val="FFFFFF"/>
          </a:solidFill>
          <a:ln w="6350">
            <a:solidFill>
              <a:srgbClr val="97BC62"/>
            </a:solidFill>
            <a:prstDash val="solid"/>
          </a:ln>
        </p:spPr>
      </p:sp>
      <p:sp>
        <p:nvSpPr>
          <p:cNvPr id="18" name="Text 16"/>
          <p:cNvSpPr/>
          <p:nvPr/>
        </p:nvSpPr>
        <p:spPr>
          <a:xfrm>
            <a:off x="457200" y="1984248"/>
            <a:ext cx="2011680" cy="292608"/>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种子形状</a:t>
            </a:r>
            <a:endParaRPr lang="en-US" sz="1000" dirty="0"/>
          </a:p>
        </p:txBody>
      </p:sp>
      <p:sp>
        <p:nvSpPr>
          <p:cNvPr id="19" name="Shape 17"/>
          <p:cNvSpPr/>
          <p:nvPr/>
        </p:nvSpPr>
        <p:spPr>
          <a:xfrm>
            <a:off x="2468880" y="1984248"/>
            <a:ext cx="1371600" cy="292608"/>
          </a:xfrm>
          <a:prstGeom prst="rect">
            <a:avLst/>
          </a:prstGeom>
          <a:solidFill>
            <a:srgbClr val="FFFFFF"/>
          </a:solidFill>
          <a:ln w="6350">
            <a:solidFill>
              <a:srgbClr val="97BC62"/>
            </a:solidFill>
            <a:prstDash val="solid"/>
          </a:ln>
        </p:spPr>
      </p:sp>
      <p:sp>
        <p:nvSpPr>
          <p:cNvPr id="20" name="Text 18"/>
          <p:cNvSpPr/>
          <p:nvPr/>
        </p:nvSpPr>
        <p:spPr>
          <a:xfrm>
            <a:off x="2468880" y="1984248"/>
            <a:ext cx="1371600" cy="292608"/>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5474</a:t>
            </a:r>
            <a:endParaRPr lang="en-US" sz="1000" dirty="0"/>
          </a:p>
        </p:txBody>
      </p:sp>
      <p:sp>
        <p:nvSpPr>
          <p:cNvPr id="21" name="Shape 19"/>
          <p:cNvSpPr/>
          <p:nvPr/>
        </p:nvSpPr>
        <p:spPr>
          <a:xfrm>
            <a:off x="3840480" y="1984248"/>
            <a:ext cx="1371600" cy="292608"/>
          </a:xfrm>
          <a:prstGeom prst="rect">
            <a:avLst/>
          </a:prstGeom>
          <a:solidFill>
            <a:srgbClr val="FFFFFF"/>
          </a:solidFill>
          <a:ln w="6350">
            <a:solidFill>
              <a:srgbClr val="97BC62"/>
            </a:solidFill>
            <a:prstDash val="solid"/>
          </a:ln>
        </p:spPr>
      </p:sp>
      <p:sp>
        <p:nvSpPr>
          <p:cNvPr id="22" name="Text 20"/>
          <p:cNvSpPr/>
          <p:nvPr/>
        </p:nvSpPr>
        <p:spPr>
          <a:xfrm>
            <a:off x="3840480" y="1984248"/>
            <a:ext cx="1371600" cy="292608"/>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1850</a:t>
            </a:r>
            <a:endParaRPr lang="en-US" sz="1000" dirty="0"/>
          </a:p>
        </p:txBody>
      </p:sp>
      <p:sp>
        <p:nvSpPr>
          <p:cNvPr id="23" name="Shape 21"/>
          <p:cNvSpPr/>
          <p:nvPr/>
        </p:nvSpPr>
        <p:spPr>
          <a:xfrm>
            <a:off x="5212080" y="1984248"/>
            <a:ext cx="1371600" cy="292608"/>
          </a:xfrm>
          <a:prstGeom prst="rect">
            <a:avLst/>
          </a:prstGeom>
          <a:solidFill>
            <a:srgbClr val="FFFFFF"/>
          </a:solidFill>
          <a:ln w="6350">
            <a:solidFill>
              <a:srgbClr val="97BC62"/>
            </a:solidFill>
            <a:prstDash val="solid"/>
          </a:ln>
        </p:spPr>
      </p:sp>
      <p:sp>
        <p:nvSpPr>
          <p:cNvPr id="24" name="Text 22"/>
          <p:cNvSpPr/>
          <p:nvPr/>
        </p:nvSpPr>
        <p:spPr>
          <a:xfrm>
            <a:off x="5212080" y="1984248"/>
            <a:ext cx="1371600" cy="292608"/>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7324</a:t>
            </a:r>
            <a:endParaRPr lang="en-US" sz="1000" dirty="0"/>
          </a:p>
        </p:txBody>
      </p:sp>
      <p:sp>
        <p:nvSpPr>
          <p:cNvPr id="25" name="Shape 23"/>
          <p:cNvSpPr/>
          <p:nvPr/>
        </p:nvSpPr>
        <p:spPr>
          <a:xfrm>
            <a:off x="6583680" y="1984248"/>
            <a:ext cx="1371600" cy="292608"/>
          </a:xfrm>
          <a:prstGeom prst="rect">
            <a:avLst/>
          </a:prstGeom>
          <a:solidFill>
            <a:srgbClr val="FFFFFF"/>
          </a:solidFill>
          <a:ln w="6350">
            <a:solidFill>
              <a:srgbClr val="97BC62"/>
            </a:solidFill>
            <a:prstDash val="solid"/>
          </a:ln>
        </p:spPr>
      </p:sp>
      <p:sp>
        <p:nvSpPr>
          <p:cNvPr id="26" name="Text 24"/>
          <p:cNvSpPr/>
          <p:nvPr/>
        </p:nvSpPr>
        <p:spPr>
          <a:xfrm>
            <a:off x="6583680" y="1984248"/>
            <a:ext cx="1371600" cy="292608"/>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2.96 : 1</a:t>
            </a:r>
            <a:endParaRPr lang="en-US" sz="1000" dirty="0"/>
          </a:p>
        </p:txBody>
      </p:sp>
      <p:sp>
        <p:nvSpPr>
          <p:cNvPr id="27" name="Shape 25"/>
          <p:cNvSpPr/>
          <p:nvPr/>
        </p:nvSpPr>
        <p:spPr>
          <a:xfrm>
            <a:off x="457200" y="2276856"/>
            <a:ext cx="2011680" cy="292608"/>
          </a:xfrm>
          <a:prstGeom prst="rect">
            <a:avLst/>
          </a:prstGeom>
          <a:solidFill>
            <a:srgbClr val="FFFFFF"/>
          </a:solidFill>
          <a:ln w="6350">
            <a:solidFill>
              <a:srgbClr val="97BC62"/>
            </a:solidFill>
            <a:prstDash val="solid"/>
          </a:ln>
        </p:spPr>
      </p:sp>
      <p:sp>
        <p:nvSpPr>
          <p:cNvPr id="28" name="Text 26"/>
          <p:cNvSpPr/>
          <p:nvPr/>
        </p:nvSpPr>
        <p:spPr>
          <a:xfrm>
            <a:off x="457200" y="2276856"/>
            <a:ext cx="2011680" cy="292608"/>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子叶颜色</a:t>
            </a:r>
            <a:endParaRPr lang="en-US" sz="1000" dirty="0"/>
          </a:p>
        </p:txBody>
      </p:sp>
      <p:sp>
        <p:nvSpPr>
          <p:cNvPr id="29" name="Shape 27"/>
          <p:cNvSpPr/>
          <p:nvPr/>
        </p:nvSpPr>
        <p:spPr>
          <a:xfrm>
            <a:off x="2468880" y="2276856"/>
            <a:ext cx="1371600" cy="292608"/>
          </a:xfrm>
          <a:prstGeom prst="rect">
            <a:avLst/>
          </a:prstGeom>
          <a:solidFill>
            <a:srgbClr val="FFFFFF"/>
          </a:solidFill>
          <a:ln w="6350">
            <a:solidFill>
              <a:srgbClr val="97BC62"/>
            </a:solidFill>
            <a:prstDash val="solid"/>
          </a:ln>
        </p:spPr>
      </p:sp>
      <p:sp>
        <p:nvSpPr>
          <p:cNvPr id="30" name="Text 28"/>
          <p:cNvSpPr/>
          <p:nvPr/>
        </p:nvSpPr>
        <p:spPr>
          <a:xfrm>
            <a:off x="2468880" y="2276856"/>
            <a:ext cx="1371600" cy="292608"/>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6022</a:t>
            </a:r>
            <a:endParaRPr lang="en-US" sz="1000" dirty="0"/>
          </a:p>
        </p:txBody>
      </p:sp>
      <p:sp>
        <p:nvSpPr>
          <p:cNvPr id="31" name="Shape 29"/>
          <p:cNvSpPr/>
          <p:nvPr/>
        </p:nvSpPr>
        <p:spPr>
          <a:xfrm>
            <a:off x="3840480" y="2276856"/>
            <a:ext cx="1371600" cy="292608"/>
          </a:xfrm>
          <a:prstGeom prst="rect">
            <a:avLst/>
          </a:prstGeom>
          <a:solidFill>
            <a:srgbClr val="FFFFFF"/>
          </a:solidFill>
          <a:ln w="6350">
            <a:solidFill>
              <a:srgbClr val="97BC62"/>
            </a:solidFill>
            <a:prstDash val="solid"/>
          </a:ln>
        </p:spPr>
      </p:sp>
      <p:sp>
        <p:nvSpPr>
          <p:cNvPr id="32" name="Text 30"/>
          <p:cNvSpPr/>
          <p:nvPr/>
        </p:nvSpPr>
        <p:spPr>
          <a:xfrm>
            <a:off x="3840480" y="2276856"/>
            <a:ext cx="1371600" cy="292608"/>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2001</a:t>
            </a:r>
            <a:endParaRPr lang="en-US" sz="1000" dirty="0"/>
          </a:p>
        </p:txBody>
      </p:sp>
      <p:sp>
        <p:nvSpPr>
          <p:cNvPr id="33" name="Shape 31"/>
          <p:cNvSpPr/>
          <p:nvPr/>
        </p:nvSpPr>
        <p:spPr>
          <a:xfrm>
            <a:off x="5212080" y="2276856"/>
            <a:ext cx="1371600" cy="292608"/>
          </a:xfrm>
          <a:prstGeom prst="rect">
            <a:avLst/>
          </a:prstGeom>
          <a:solidFill>
            <a:srgbClr val="FFFFFF"/>
          </a:solidFill>
          <a:ln w="6350">
            <a:solidFill>
              <a:srgbClr val="97BC62"/>
            </a:solidFill>
            <a:prstDash val="solid"/>
          </a:ln>
        </p:spPr>
      </p:sp>
      <p:sp>
        <p:nvSpPr>
          <p:cNvPr id="34" name="Text 32"/>
          <p:cNvSpPr/>
          <p:nvPr/>
        </p:nvSpPr>
        <p:spPr>
          <a:xfrm>
            <a:off x="5212080" y="2276856"/>
            <a:ext cx="1371600" cy="292608"/>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8023</a:t>
            </a:r>
            <a:endParaRPr lang="en-US" sz="1000" dirty="0"/>
          </a:p>
        </p:txBody>
      </p:sp>
      <p:sp>
        <p:nvSpPr>
          <p:cNvPr id="35" name="Shape 33"/>
          <p:cNvSpPr/>
          <p:nvPr/>
        </p:nvSpPr>
        <p:spPr>
          <a:xfrm>
            <a:off x="6583680" y="2276856"/>
            <a:ext cx="1371600" cy="292608"/>
          </a:xfrm>
          <a:prstGeom prst="rect">
            <a:avLst/>
          </a:prstGeom>
          <a:solidFill>
            <a:srgbClr val="FFFFFF"/>
          </a:solidFill>
          <a:ln w="6350">
            <a:solidFill>
              <a:srgbClr val="97BC62"/>
            </a:solidFill>
            <a:prstDash val="solid"/>
          </a:ln>
        </p:spPr>
      </p:sp>
      <p:sp>
        <p:nvSpPr>
          <p:cNvPr id="36" name="Text 34"/>
          <p:cNvSpPr/>
          <p:nvPr/>
        </p:nvSpPr>
        <p:spPr>
          <a:xfrm>
            <a:off x="6583680" y="2276856"/>
            <a:ext cx="1371600" cy="292608"/>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3.01 : 1</a:t>
            </a:r>
            <a:endParaRPr lang="en-US" sz="1000" dirty="0"/>
          </a:p>
        </p:txBody>
      </p:sp>
      <p:sp>
        <p:nvSpPr>
          <p:cNvPr id="37" name="Shape 35"/>
          <p:cNvSpPr/>
          <p:nvPr/>
        </p:nvSpPr>
        <p:spPr>
          <a:xfrm>
            <a:off x="457200" y="2569464"/>
            <a:ext cx="2011680" cy="292608"/>
          </a:xfrm>
          <a:prstGeom prst="rect">
            <a:avLst/>
          </a:prstGeom>
          <a:solidFill>
            <a:srgbClr val="FFFFFF"/>
          </a:solidFill>
          <a:ln w="6350">
            <a:solidFill>
              <a:srgbClr val="97BC62"/>
            </a:solidFill>
            <a:prstDash val="solid"/>
          </a:ln>
        </p:spPr>
      </p:sp>
      <p:sp>
        <p:nvSpPr>
          <p:cNvPr id="38" name="Text 36"/>
          <p:cNvSpPr/>
          <p:nvPr/>
        </p:nvSpPr>
        <p:spPr>
          <a:xfrm>
            <a:off x="457200" y="2569464"/>
            <a:ext cx="2011680" cy="292608"/>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花色</a:t>
            </a:r>
            <a:endParaRPr lang="en-US" sz="1000" dirty="0"/>
          </a:p>
        </p:txBody>
      </p:sp>
      <p:sp>
        <p:nvSpPr>
          <p:cNvPr id="39" name="Shape 37"/>
          <p:cNvSpPr/>
          <p:nvPr/>
        </p:nvSpPr>
        <p:spPr>
          <a:xfrm>
            <a:off x="2468880" y="2569464"/>
            <a:ext cx="1371600" cy="292608"/>
          </a:xfrm>
          <a:prstGeom prst="rect">
            <a:avLst/>
          </a:prstGeom>
          <a:solidFill>
            <a:srgbClr val="FFFFFF"/>
          </a:solidFill>
          <a:ln w="6350">
            <a:solidFill>
              <a:srgbClr val="97BC62"/>
            </a:solidFill>
            <a:prstDash val="solid"/>
          </a:ln>
        </p:spPr>
      </p:sp>
      <p:sp>
        <p:nvSpPr>
          <p:cNvPr id="40" name="Text 38"/>
          <p:cNvSpPr/>
          <p:nvPr/>
        </p:nvSpPr>
        <p:spPr>
          <a:xfrm>
            <a:off x="2468880" y="2569464"/>
            <a:ext cx="1371600" cy="292608"/>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705</a:t>
            </a:r>
            <a:endParaRPr lang="en-US" sz="1000" dirty="0"/>
          </a:p>
        </p:txBody>
      </p:sp>
      <p:sp>
        <p:nvSpPr>
          <p:cNvPr id="41" name="Shape 39"/>
          <p:cNvSpPr/>
          <p:nvPr/>
        </p:nvSpPr>
        <p:spPr>
          <a:xfrm>
            <a:off x="3840480" y="2569464"/>
            <a:ext cx="1371600" cy="292608"/>
          </a:xfrm>
          <a:prstGeom prst="rect">
            <a:avLst/>
          </a:prstGeom>
          <a:solidFill>
            <a:srgbClr val="FFFFFF"/>
          </a:solidFill>
          <a:ln w="6350">
            <a:solidFill>
              <a:srgbClr val="97BC62"/>
            </a:solidFill>
            <a:prstDash val="solid"/>
          </a:ln>
        </p:spPr>
      </p:sp>
      <p:sp>
        <p:nvSpPr>
          <p:cNvPr id="42" name="Text 40"/>
          <p:cNvSpPr/>
          <p:nvPr/>
        </p:nvSpPr>
        <p:spPr>
          <a:xfrm>
            <a:off x="3840480" y="2569464"/>
            <a:ext cx="1371600" cy="292608"/>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224</a:t>
            </a:r>
            <a:endParaRPr lang="en-US" sz="1000" dirty="0"/>
          </a:p>
        </p:txBody>
      </p:sp>
      <p:sp>
        <p:nvSpPr>
          <p:cNvPr id="43" name="Shape 41"/>
          <p:cNvSpPr/>
          <p:nvPr/>
        </p:nvSpPr>
        <p:spPr>
          <a:xfrm>
            <a:off x="5212080" y="2569464"/>
            <a:ext cx="1371600" cy="292608"/>
          </a:xfrm>
          <a:prstGeom prst="rect">
            <a:avLst/>
          </a:prstGeom>
          <a:solidFill>
            <a:srgbClr val="FFFFFF"/>
          </a:solidFill>
          <a:ln w="6350">
            <a:solidFill>
              <a:srgbClr val="97BC62"/>
            </a:solidFill>
            <a:prstDash val="solid"/>
          </a:ln>
        </p:spPr>
      </p:sp>
      <p:sp>
        <p:nvSpPr>
          <p:cNvPr id="44" name="Text 42"/>
          <p:cNvSpPr/>
          <p:nvPr/>
        </p:nvSpPr>
        <p:spPr>
          <a:xfrm>
            <a:off x="5212080" y="2569464"/>
            <a:ext cx="1371600" cy="292608"/>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929</a:t>
            </a:r>
            <a:endParaRPr lang="en-US" sz="1000" dirty="0"/>
          </a:p>
        </p:txBody>
      </p:sp>
      <p:sp>
        <p:nvSpPr>
          <p:cNvPr id="45" name="Shape 43"/>
          <p:cNvSpPr/>
          <p:nvPr/>
        </p:nvSpPr>
        <p:spPr>
          <a:xfrm>
            <a:off x="6583680" y="2569464"/>
            <a:ext cx="1371600" cy="292608"/>
          </a:xfrm>
          <a:prstGeom prst="rect">
            <a:avLst/>
          </a:prstGeom>
          <a:solidFill>
            <a:srgbClr val="FFFFFF"/>
          </a:solidFill>
          <a:ln w="6350">
            <a:solidFill>
              <a:srgbClr val="97BC62"/>
            </a:solidFill>
            <a:prstDash val="solid"/>
          </a:ln>
        </p:spPr>
      </p:sp>
      <p:sp>
        <p:nvSpPr>
          <p:cNvPr id="46" name="Text 44"/>
          <p:cNvSpPr/>
          <p:nvPr/>
        </p:nvSpPr>
        <p:spPr>
          <a:xfrm>
            <a:off x="6583680" y="2569464"/>
            <a:ext cx="1371600" cy="292608"/>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3.15 : 1</a:t>
            </a:r>
            <a:endParaRPr lang="en-US" sz="1000" dirty="0"/>
          </a:p>
        </p:txBody>
      </p:sp>
      <p:sp>
        <p:nvSpPr>
          <p:cNvPr id="47" name="Shape 45"/>
          <p:cNvSpPr/>
          <p:nvPr/>
        </p:nvSpPr>
        <p:spPr>
          <a:xfrm>
            <a:off x="457200" y="2862072"/>
            <a:ext cx="2011680" cy="292608"/>
          </a:xfrm>
          <a:prstGeom prst="rect">
            <a:avLst/>
          </a:prstGeom>
          <a:solidFill>
            <a:srgbClr val="FFFFFF"/>
          </a:solidFill>
          <a:ln w="6350">
            <a:solidFill>
              <a:srgbClr val="97BC62"/>
            </a:solidFill>
            <a:prstDash val="solid"/>
          </a:ln>
        </p:spPr>
      </p:sp>
      <p:sp>
        <p:nvSpPr>
          <p:cNvPr id="48" name="Text 46"/>
          <p:cNvSpPr/>
          <p:nvPr/>
        </p:nvSpPr>
        <p:spPr>
          <a:xfrm>
            <a:off x="457200" y="2862072"/>
            <a:ext cx="2011680" cy="292608"/>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豆荚形状</a:t>
            </a:r>
            <a:endParaRPr lang="en-US" sz="1000" dirty="0"/>
          </a:p>
        </p:txBody>
      </p:sp>
      <p:sp>
        <p:nvSpPr>
          <p:cNvPr id="49" name="Shape 47"/>
          <p:cNvSpPr/>
          <p:nvPr/>
        </p:nvSpPr>
        <p:spPr>
          <a:xfrm>
            <a:off x="2468880" y="2862072"/>
            <a:ext cx="1371600" cy="292608"/>
          </a:xfrm>
          <a:prstGeom prst="rect">
            <a:avLst/>
          </a:prstGeom>
          <a:solidFill>
            <a:srgbClr val="FFFFFF"/>
          </a:solidFill>
          <a:ln w="6350">
            <a:solidFill>
              <a:srgbClr val="97BC62"/>
            </a:solidFill>
            <a:prstDash val="solid"/>
          </a:ln>
        </p:spPr>
      </p:sp>
      <p:sp>
        <p:nvSpPr>
          <p:cNvPr id="50" name="Text 48"/>
          <p:cNvSpPr/>
          <p:nvPr/>
        </p:nvSpPr>
        <p:spPr>
          <a:xfrm>
            <a:off x="2468880" y="2862072"/>
            <a:ext cx="1371600" cy="292608"/>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882</a:t>
            </a:r>
            <a:endParaRPr lang="en-US" sz="1000" dirty="0"/>
          </a:p>
        </p:txBody>
      </p:sp>
      <p:sp>
        <p:nvSpPr>
          <p:cNvPr id="51" name="Shape 49"/>
          <p:cNvSpPr/>
          <p:nvPr/>
        </p:nvSpPr>
        <p:spPr>
          <a:xfrm>
            <a:off x="3840480" y="2862072"/>
            <a:ext cx="1371600" cy="292608"/>
          </a:xfrm>
          <a:prstGeom prst="rect">
            <a:avLst/>
          </a:prstGeom>
          <a:solidFill>
            <a:srgbClr val="FFFFFF"/>
          </a:solidFill>
          <a:ln w="6350">
            <a:solidFill>
              <a:srgbClr val="97BC62"/>
            </a:solidFill>
            <a:prstDash val="solid"/>
          </a:ln>
        </p:spPr>
      </p:sp>
      <p:sp>
        <p:nvSpPr>
          <p:cNvPr id="52" name="Text 50"/>
          <p:cNvSpPr/>
          <p:nvPr/>
        </p:nvSpPr>
        <p:spPr>
          <a:xfrm>
            <a:off x="3840480" y="2862072"/>
            <a:ext cx="1371600" cy="292608"/>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299</a:t>
            </a:r>
            <a:endParaRPr lang="en-US" sz="1000" dirty="0"/>
          </a:p>
        </p:txBody>
      </p:sp>
      <p:sp>
        <p:nvSpPr>
          <p:cNvPr id="53" name="Shape 51"/>
          <p:cNvSpPr/>
          <p:nvPr/>
        </p:nvSpPr>
        <p:spPr>
          <a:xfrm>
            <a:off x="5212080" y="2862072"/>
            <a:ext cx="1371600" cy="292608"/>
          </a:xfrm>
          <a:prstGeom prst="rect">
            <a:avLst/>
          </a:prstGeom>
          <a:solidFill>
            <a:srgbClr val="FFFFFF"/>
          </a:solidFill>
          <a:ln w="6350">
            <a:solidFill>
              <a:srgbClr val="97BC62"/>
            </a:solidFill>
            <a:prstDash val="solid"/>
          </a:ln>
        </p:spPr>
      </p:sp>
      <p:sp>
        <p:nvSpPr>
          <p:cNvPr id="54" name="Text 52"/>
          <p:cNvSpPr/>
          <p:nvPr/>
        </p:nvSpPr>
        <p:spPr>
          <a:xfrm>
            <a:off x="5212080" y="2862072"/>
            <a:ext cx="1371600" cy="292608"/>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1181</a:t>
            </a:r>
            <a:endParaRPr lang="en-US" sz="1000" dirty="0"/>
          </a:p>
        </p:txBody>
      </p:sp>
      <p:sp>
        <p:nvSpPr>
          <p:cNvPr id="55" name="Shape 53"/>
          <p:cNvSpPr/>
          <p:nvPr/>
        </p:nvSpPr>
        <p:spPr>
          <a:xfrm>
            <a:off x="6583680" y="2862072"/>
            <a:ext cx="1371600" cy="292608"/>
          </a:xfrm>
          <a:prstGeom prst="rect">
            <a:avLst/>
          </a:prstGeom>
          <a:solidFill>
            <a:srgbClr val="FFFFFF"/>
          </a:solidFill>
          <a:ln w="6350">
            <a:solidFill>
              <a:srgbClr val="97BC62"/>
            </a:solidFill>
            <a:prstDash val="solid"/>
          </a:ln>
        </p:spPr>
      </p:sp>
      <p:sp>
        <p:nvSpPr>
          <p:cNvPr id="56" name="Text 54"/>
          <p:cNvSpPr/>
          <p:nvPr/>
        </p:nvSpPr>
        <p:spPr>
          <a:xfrm>
            <a:off x="6583680" y="2862072"/>
            <a:ext cx="1371600" cy="292608"/>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2.95 : 1</a:t>
            </a:r>
            <a:endParaRPr lang="en-US" sz="1000" dirty="0"/>
          </a:p>
        </p:txBody>
      </p:sp>
      <p:sp>
        <p:nvSpPr>
          <p:cNvPr id="57" name="Shape 55"/>
          <p:cNvSpPr/>
          <p:nvPr/>
        </p:nvSpPr>
        <p:spPr>
          <a:xfrm>
            <a:off x="457200" y="3154680"/>
            <a:ext cx="2011680" cy="292608"/>
          </a:xfrm>
          <a:prstGeom prst="rect">
            <a:avLst/>
          </a:prstGeom>
          <a:solidFill>
            <a:srgbClr val="FFFFFF"/>
          </a:solidFill>
          <a:ln w="6350">
            <a:solidFill>
              <a:srgbClr val="97BC62"/>
            </a:solidFill>
            <a:prstDash val="solid"/>
          </a:ln>
        </p:spPr>
      </p:sp>
      <p:sp>
        <p:nvSpPr>
          <p:cNvPr id="58" name="Text 56"/>
          <p:cNvSpPr/>
          <p:nvPr/>
        </p:nvSpPr>
        <p:spPr>
          <a:xfrm>
            <a:off x="457200" y="3154680"/>
            <a:ext cx="2011680" cy="292608"/>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豆荚颜色</a:t>
            </a:r>
            <a:endParaRPr lang="en-US" sz="1000" dirty="0"/>
          </a:p>
        </p:txBody>
      </p:sp>
      <p:sp>
        <p:nvSpPr>
          <p:cNvPr id="59" name="Shape 57"/>
          <p:cNvSpPr/>
          <p:nvPr/>
        </p:nvSpPr>
        <p:spPr>
          <a:xfrm>
            <a:off x="2468880" y="3154680"/>
            <a:ext cx="1371600" cy="292608"/>
          </a:xfrm>
          <a:prstGeom prst="rect">
            <a:avLst/>
          </a:prstGeom>
          <a:solidFill>
            <a:srgbClr val="FFFFFF"/>
          </a:solidFill>
          <a:ln w="6350">
            <a:solidFill>
              <a:srgbClr val="97BC62"/>
            </a:solidFill>
            <a:prstDash val="solid"/>
          </a:ln>
        </p:spPr>
      </p:sp>
      <p:sp>
        <p:nvSpPr>
          <p:cNvPr id="60" name="Text 58"/>
          <p:cNvSpPr/>
          <p:nvPr/>
        </p:nvSpPr>
        <p:spPr>
          <a:xfrm>
            <a:off x="2468880" y="3154680"/>
            <a:ext cx="1371600" cy="292608"/>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428</a:t>
            </a:r>
            <a:endParaRPr lang="en-US" sz="1000" dirty="0"/>
          </a:p>
        </p:txBody>
      </p:sp>
      <p:sp>
        <p:nvSpPr>
          <p:cNvPr id="61" name="Shape 59"/>
          <p:cNvSpPr/>
          <p:nvPr/>
        </p:nvSpPr>
        <p:spPr>
          <a:xfrm>
            <a:off x="3840480" y="3154680"/>
            <a:ext cx="1371600" cy="292608"/>
          </a:xfrm>
          <a:prstGeom prst="rect">
            <a:avLst/>
          </a:prstGeom>
          <a:solidFill>
            <a:srgbClr val="FFFFFF"/>
          </a:solidFill>
          <a:ln w="6350">
            <a:solidFill>
              <a:srgbClr val="97BC62"/>
            </a:solidFill>
            <a:prstDash val="solid"/>
          </a:ln>
        </p:spPr>
      </p:sp>
      <p:sp>
        <p:nvSpPr>
          <p:cNvPr id="62" name="Text 60"/>
          <p:cNvSpPr/>
          <p:nvPr/>
        </p:nvSpPr>
        <p:spPr>
          <a:xfrm>
            <a:off x="3840480" y="3154680"/>
            <a:ext cx="1371600" cy="292608"/>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152</a:t>
            </a:r>
            <a:endParaRPr lang="en-US" sz="1000" dirty="0"/>
          </a:p>
        </p:txBody>
      </p:sp>
      <p:sp>
        <p:nvSpPr>
          <p:cNvPr id="63" name="Shape 61"/>
          <p:cNvSpPr/>
          <p:nvPr/>
        </p:nvSpPr>
        <p:spPr>
          <a:xfrm>
            <a:off x="5212080" y="3154680"/>
            <a:ext cx="1371600" cy="292608"/>
          </a:xfrm>
          <a:prstGeom prst="rect">
            <a:avLst/>
          </a:prstGeom>
          <a:solidFill>
            <a:srgbClr val="FFFFFF"/>
          </a:solidFill>
          <a:ln w="6350">
            <a:solidFill>
              <a:srgbClr val="97BC62"/>
            </a:solidFill>
            <a:prstDash val="solid"/>
          </a:ln>
        </p:spPr>
      </p:sp>
      <p:sp>
        <p:nvSpPr>
          <p:cNvPr id="64" name="Text 62"/>
          <p:cNvSpPr/>
          <p:nvPr/>
        </p:nvSpPr>
        <p:spPr>
          <a:xfrm>
            <a:off x="5212080" y="3154680"/>
            <a:ext cx="1371600" cy="292608"/>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580</a:t>
            </a:r>
            <a:endParaRPr lang="en-US" sz="1000" dirty="0"/>
          </a:p>
        </p:txBody>
      </p:sp>
      <p:sp>
        <p:nvSpPr>
          <p:cNvPr id="65" name="Shape 63"/>
          <p:cNvSpPr/>
          <p:nvPr/>
        </p:nvSpPr>
        <p:spPr>
          <a:xfrm>
            <a:off x="6583680" y="3154680"/>
            <a:ext cx="1371600" cy="292608"/>
          </a:xfrm>
          <a:prstGeom prst="rect">
            <a:avLst/>
          </a:prstGeom>
          <a:solidFill>
            <a:srgbClr val="FFFFFF"/>
          </a:solidFill>
          <a:ln w="6350">
            <a:solidFill>
              <a:srgbClr val="97BC62"/>
            </a:solidFill>
            <a:prstDash val="solid"/>
          </a:ln>
        </p:spPr>
      </p:sp>
      <p:sp>
        <p:nvSpPr>
          <p:cNvPr id="66" name="Text 64"/>
          <p:cNvSpPr/>
          <p:nvPr/>
        </p:nvSpPr>
        <p:spPr>
          <a:xfrm>
            <a:off x="6583680" y="3154680"/>
            <a:ext cx="1371600" cy="292608"/>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2.82 : 1</a:t>
            </a:r>
            <a:endParaRPr lang="en-US" sz="1000" dirty="0"/>
          </a:p>
        </p:txBody>
      </p:sp>
      <p:sp>
        <p:nvSpPr>
          <p:cNvPr id="67" name="Shape 65"/>
          <p:cNvSpPr/>
          <p:nvPr/>
        </p:nvSpPr>
        <p:spPr>
          <a:xfrm>
            <a:off x="457200" y="3447288"/>
            <a:ext cx="2011680" cy="292608"/>
          </a:xfrm>
          <a:prstGeom prst="rect">
            <a:avLst/>
          </a:prstGeom>
          <a:solidFill>
            <a:srgbClr val="FFFFFF"/>
          </a:solidFill>
          <a:ln w="6350">
            <a:solidFill>
              <a:srgbClr val="97BC62"/>
            </a:solidFill>
            <a:prstDash val="solid"/>
          </a:ln>
        </p:spPr>
      </p:sp>
      <p:sp>
        <p:nvSpPr>
          <p:cNvPr id="68" name="Text 66"/>
          <p:cNvSpPr/>
          <p:nvPr/>
        </p:nvSpPr>
        <p:spPr>
          <a:xfrm>
            <a:off x="457200" y="3447288"/>
            <a:ext cx="2011680" cy="292608"/>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花位置</a:t>
            </a:r>
            <a:endParaRPr lang="en-US" sz="1000" dirty="0"/>
          </a:p>
        </p:txBody>
      </p:sp>
      <p:sp>
        <p:nvSpPr>
          <p:cNvPr id="69" name="Shape 67"/>
          <p:cNvSpPr/>
          <p:nvPr/>
        </p:nvSpPr>
        <p:spPr>
          <a:xfrm>
            <a:off x="2468880" y="3447288"/>
            <a:ext cx="1371600" cy="292608"/>
          </a:xfrm>
          <a:prstGeom prst="rect">
            <a:avLst/>
          </a:prstGeom>
          <a:solidFill>
            <a:srgbClr val="FFFFFF"/>
          </a:solidFill>
          <a:ln w="6350">
            <a:solidFill>
              <a:srgbClr val="97BC62"/>
            </a:solidFill>
            <a:prstDash val="solid"/>
          </a:ln>
        </p:spPr>
      </p:sp>
      <p:sp>
        <p:nvSpPr>
          <p:cNvPr id="70" name="Text 68"/>
          <p:cNvSpPr/>
          <p:nvPr/>
        </p:nvSpPr>
        <p:spPr>
          <a:xfrm>
            <a:off x="2468880" y="3447288"/>
            <a:ext cx="1371600" cy="292608"/>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651</a:t>
            </a:r>
            <a:endParaRPr lang="en-US" sz="1000" dirty="0"/>
          </a:p>
        </p:txBody>
      </p:sp>
      <p:sp>
        <p:nvSpPr>
          <p:cNvPr id="71" name="Shape 69"/>
          <p:cNvSpPr/>
          <p:nvPr/>
        </p:nvSpPr>
        <p:spPr>
          <a:xfrm>
            <a:off x="3840480" y="3447288"/>
            <a:ext cx="1371600" cy="292608"/>
          </a:xfrm>
          <a:prstGeom prst="rect">
            <a:avLst/>
          </a:prstGeom>
          <a:solidFill>
            <a:srgbClr val="FFFFFF"/>
          </a:solidFill>
          <a:ln w="6350">
            <a:solidFill>
              <a:srgbClr val="97BC62"/>
            </a:solidFill>
            <a:prstDash val="solid"/>
          </a:ln>
        </p:spPr>
      </p:sp>
      <p:sp>
        <p:nvSpPr>
          <p:cNvPr id="72" name="Text 70"/>
          <p:cNvSpPr/>
          <p:nvPr/>
        </p:nvSpPr>
        <p:spPr>
          <a:xfrm>
            <a:off x="3840480" y="3447288"/>
            <a:ext cx="1371600" cy="292608"/>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207</a:t>
            </a:r>
            <a:endParaRPr lang="en-US" sz="1000" dirty="0"/>
          </a:p>
        </p:txBody>
      </p:sp>
      <p:sp>
        <p:nvSpPr>
          <p:cNvPr id="73" name="Shape 71"/>
          <p:cNvSpPr/>
          <p:nvPr/>
        </p:nvSpPr>
        <p:spPr>
          <a:xfrm>
            <a:off x="5212080" y="3447288"/>
            <a:ext cx="1371600" cy="292608"/>
          </a:xfrm>
          <a:prstGeom prst="rect">
            <a:avLst/>
          </a:prstGeom>
          <a:solidFill>
            <a:srgbClr val="FFFFFF"/>
          </a:solidFill>
          <a:ln w="6350">
            <a:solidFill>
              <a:srgbClr val="97BC62"/>
            </a:solidFill>
            <a:prstDash val="solid"/>
          </a:ln>
        </p:spPr>
      </p:sp>
      <p:sp>
        <p:nvSpPr>
          <p:cNvPr id="74" name="Text 72"/>
          <p:cNvSpPr/>
          <p:nvPr/>
        </p:nvSpPr>
        <p:spPr>
          <a:xfrm>
            <a:off x="5212080" y="3447288"/>
            <a:ext cx="1371600" cy="292608"/>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858</a:t>
            </a:r>
            <a:endParaRPr lang="en-US" sz="1000" dirty="0"/>
          </a:p>
        </p:txBody>
      </p:sp>
      <p:sp>
        <p:nvSpPr>
          <p:cNvPr id="75" name="Shape 73"/>
          <p:cNvSpPr/>
          <p:nvPr/>
        </p:nvSpPr>
        <p:spPr>
          <a:xfrm>
            <a:off x="6583680" y="3447288"/>
            <a:ext cx="1371600" cy="292608"/>
          </a:xfrm>
          <a:prstGeom prst="rect">
            <a:avLst/>
          </a:prstGeom>
          <a:solidFill>
            <a:srgbClr val="FFFFFF"/>
          </a:solidFill>
          <a:ln w="6350">
            <a:solidFill>
              <a:srgbClr val="97BC62"/>
            </a:solidFill>
            <a:prstDash val="solid"/>
          </a:ln>
        </p:spPr>
      </p:sp>
      <p:sp>
        <p:nvSpPr>
          <p:cNvPr id="76" name="Text 74"/>
          <p:cNvSpPr/>
          <p:nvPr/>
        </p:nvSpPr>
        <p:spPr>
          <a:xfrm>
            <a:off x="6583680" y="3447288"/>
            <a:ext cx="1371600" cy="292608"/>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3.14 : 1</a:t>
            </a:r>
            <a:endParaRPr lang="en-US" sz="1000" dirty="0"/>
          </a:p>
        </p:txBody>
      </p:sp>
      <p:sp>
        <p:nvSpPr>
          <p:cNvPr id="77" name="Shape 75"/>
          <p:cNvSpPr/>
          <p:nvPr/>
        </p:nvSpPr>
        <p:spPr>
          <a:xfrm>
            <a:off x="457200" y="3739896"/>
            <a:ext cx="2011680" cy="292608"/>
          </a:xfrm>
          <a:prstGeom prst="rect">
            <a:avLst/>
          </a:prstGeom>
          <a:solidFill>
            <a:srgbClr val="FFFFFF"/>
          </a:solidFill>
          <a:ln w="6350">
            <a:solidFill>
              <a:srgbClr val="97BC62"/>
            </a:solidFill>
            <a:prstDash val="solid"/>
          </a:ln>
        </p:spPr>
      </p:sp>
      <p:sp>
        <p:nvSpPr>
          <p:cNvPr id="78" name="Text 76"/>
          <p:cNvSpPr/>
          <p:nvPr/>
        </p:nvSpPr>
        <p:spPr>
          <a:xfrm>
            <a:off x="457200" y="3739896"/>
            <a:ext cx="2011680" cy="292608"/>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茎高度</a:t>
            </a:r>
            <a:endParaRPr lang="en-US" sz="1000" dirty="0"/>
          </a:p>
        </p:txBody>
      </p:sp>
      <p:sp>
        <p:nvSpPr>
          <p:cNvPr id="79" name="Shape 77"/>
          <p:cNvSpPr/>
          <p:nvPr/>
        </p:nvSpPr>
        <p:spPr>
          <a:xfrm>
            <a:off x="2468880" y="3739896"/>
            <a:ext cx="1371600" cy="292608"/>
          </a:xfrm>
          <a:prstGeom prst="rect">
            <a:avLst/>
          </a:prstGeom>
          <a:solidFill>
            <a:srgbClr val="FFFFFF"/>
          </a:solidFill>
          <a:ln w="6350">
            <a:solidFill>
              <a:srgbClr val="97BC62"/>
            </a:solidFill>
            <a:prstDash val="solid"/>
          </a:ln>
        </p:spPr>
      </p:sp>
      <p:sp>
        <p:nvSpPr>
          <p:cNvPr id="80" name="Text 78"/>
          <p:cNvSpPr/>
          <p:nvPr/>
        </p:nvSpPr>
        <p:spPr>
          <a:xfrm>
            <a:off x="2468880" y="3739896"/>
            <a:ext cx="1371600" cy="292608"/>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787</a:t>
            </a:r>
            <a:endParaRPr lang="en-US" sz="1000" dirty="0"/>
          </a:p>
        </p:txBody>
      </p:sp>
      <p:sp>
        <p:nvSpPr>
          <p:cNvPr id="81" name="Shape 79"/>
          <p:cNvSpPr/>
          <p:nvPr/>
        </p:nvSpPr>
        <p:spPr>
          <a:xfrm>
            <a:off x="3840480" y="3739896"/>
            <a:ext cx="1371600" cy="292608"/>
          </a:xfrm>
          <a:prstGeom prst="rect">
            <a:avLst/>
          </a:prstGeom>
          <a:solidFill>
            <a:srgbClr val="FFFFFF"/>
          </a:solidFill>
          <a:ln w="6350">
            <a:solidFill>
              <a:srgbClr val="97BC62"/>
            </a:solidFill>
            <a:prstDash val="solid"/>
          </a:ln>
        </p:spPr>
      </p:sp>
      <p:sp>
        <p:nvSpPr>
          <p:cNvPr id="82" name="Text 80"/>
          <p:cNvSpPr/>
          <p:nvPr/>
        </p:nvSpPr>
        <p:spPr>
          <a:xfrm>
            <a:off x="3840480" y="3739896"/>
            <a:ext cx="1371600" cy="292608"/>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277</a:t>
            </a:r>
            <a:endParaRPr lang="en-US" sz="1000" dirty="0"/>
          </a:p>
        </p:txBody>
      </p:sp>
      <p:sp>
        <p:nvSpPr>
          <p:cNvPr id="83" name="Shape 81"/>
          <p:cNvSpPr/>
          <p:nvPr/>
        </p:nvSpPr>
        <p:spPr>
          <a:xfrm>
            <a:off x="5212080" y="3739896"/>
            <a:ext cx="1371600" cy="292608"/>
          </a:xfrm>
          <a:prstGeom prst="rect">
            <a:avLst/>
          </a:prstGeom>
          <a:solidFill>
            <a:srgbClr val="FFFFFF"/>
          </a:solidFill>
          <a:ln w="6350">
            <a:solidFill>
              <a:srgbClr val="97BC62"/>
            </a:solidFill>
            <a:prstDash val="solid"/>
          </a:ln>
        </p:spPr>
      </p:sp>
      <p:sp>
        <p:nvSpPr>
          <p:cNvPr id="84" name="Text 82"/>
          <p:cNvSpPr/>
          <p:nvPr/>
        </p:nvSpPr>
        <p:spPr>
          <a:xfrm>
            <a:off x="5212080" y="3739896"/>
            <a:ext cx="1371600" cy="292608"/>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1064</a:t>
            </a:r>
            <a:endParaRPr lang="en-US" sz="1000" dirty="0"/>
          </a:p>
        </p:txBody>
      </p:sp>
      <p:sp>
        <p:nvSpPr>
          <p:cNvPr id="85" name="Shape 83"/>
          <p:cNvSpPr/>
          <p:nvPr/>
        </p:nvSpPr>
        <p:spPr>
          <a:xfrm>
            <a:off x="6583680" y="3739896"/>
            <a:ext cx="1371600" cy="292608"/>
          </a:xfrm>
          <a:prstGeom prst="rect">
            <a:avLst/>
          </a:prstGeom>
          <a:solidFill>
            <a:srgbClr val="FFFFFF"/>
          </a:solidFill>
          <a:ln w="6350">
            <a:solidFill>
              <a:srgbClr val="97BC62"/>
            </a:solidFill>
            <a:prstDash val="solid"/>
          </a:ln>
        </p:spPr>
      </p:sp>
      <p:sp>
        <p:nvSpPr>
          <p:cNvPr id="86" name="Text 84"/>
          <p:cNvSpPr/>
          <p:nvPr/>
        </p:nvSpPr>
        <p:spPr>
          <a:xfrm>
            <a:off x="6583680" y="3739896"/>
            <a:ext cx="1371600" cy="292608"/>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2.84 : 1</a:t>
            </a:r>
            <a:endParaRPr lang="en-US" sz="1000" dirty="0"/>
          </a:p>
        </p:txBody>
      </p:sp>
      <p:sp>
        <p:nvSpPr>
          <p:cNvPr id="87" name="Shape 85"/>
          <p:cNvSpPr/>
          <p:nvPr/>
        </p:nvSpPr>
        <p:spPr>
          <a:xfrm>
            <a:off x="457200" y="4114800"/>
            <a:ext cx="8229600" cy="731520"/>
          </a:xfrm>
          <a:prstGeom prst="rect">
            <a:avLst/>
          </a:prstGeom>
          <a:solidFill>
            <a:srgbClr val="F0F4E8"/>
          </a:solidFill>
          <a:ln w="12700">
            <a:solidFill>
              <a:srgbClr val="2C5F2D"/>
            </a:solidFill>
            <a:prstDash val="solid"/>
          </a:ln>
        </p:spPr>
      </p:sp>
      <p:sp>
        <p:nvSpPr>
          <p:cNvPr id="88" name="Text 86"/>
          <p:cNvSpPr/>
          <p:nvPr/>
        </p:nvSpPr>
        <p:spPr>
          <a:xfrm>
            <a:off x="640080" y="4114800"/>
            <a:ext cx="7863840" cy="731520"/>
          </a:xfrm>
          <a:prstGeom prst="rect">
            <a:avLst/>
          </a:prstGeom>
          <a:noFill/>
          <a:ln/>
        </p:spPr>
        <p:txBody>
          <a:bodyPr wrap="square" rtlCol="0" anchor="ctr"/>
          <a:lstStyle/>
          <a:p>
            <a:pPr indent="0" marL="0">
              <a:spcAft>
                <a:spcPts val="400"/>
              </a:spcAft>
              <a:buNone/>
            </a:pPr>
            <a:r>
              <a:rPr lang="en-US" sz="1200" b="1" dirty="0">
                <a:solidFill>
                  <a:srgbClr val="2C5F2D"/>
                </a:solidFill>
                <a:latin typeface="Calibri" pitchFamily="34" charset="0"/>
                <a:ea typeface="Calibri" pitchFamily="34" charset="-122"/>
                <a:cs typeface="Calibri" pitchFamily="34" charset="-120"/>
              </a:rPr>
              <a:t>7对性状总计：显性 14949 : 隐性 5010 = 2.98 : 1</a:t>
            </a:r>
            <a:endParaRPr lang="en-US" sz="1200" dirty="0"/>
          </a:p>
          <a:p>
            <a:pPr indent="0" marL="0">
              <a:spcAft>
                <a:spcPts val="400"/>
              </a:spcAft>
              <a:buNone/>
            </a:pPr>
            <a:r>
              <a:rPr lang="en-US" sz="1200" dirty="0">
                <a:solidFill>
                  <a:srgbClr val="2C5F2D"/>
                </a:solidFill>
                <a:latin typeface="Calibri" pitchFamily="34" charset="0"/>
                <a:ea typeface="Calibri" pitchFamily="34" charset="-122"/>
                <a:cs typeface="Calibri" pitchFamily="34" charset="-120"/>
              </a:rPr>
              <a:t>与理论值 3:1 高度吻合，平均偏差仅约 0.7%</a:t>
            </a:r>
            <a:endParaRPr lang="en-US" sz="1200" dirty="0"/>
          </a:p>
        </p:txBody>
      </p:sp>
      <p:sp>
        <p:nvSpPr>
          <p:cNvPr id="89" name="Text 87"/>
          <p:cNvSpPr/>
          <p:nvPr/>
        </p:nvSpPr>
        <p:spPr>
          <a:xfrm>
            <a:off x="8046720" y="4777740"/>
            <a:ext cx="914400" cy="274320"/>
          </a:xfrm>
          <a:prstGeom prst="rect">
            <a:avLst/>
          </a:prstGeom>
          <a:noFill/>
          <a:ln/>
        </p:spPr>
        <p:txBody>
          <a:bodyPr wrap="square" rtlCol="0" anchor="ctr"/>
          <a:lstStyle/>
          <a:p>
            <a:pPr algn="r" indent="0" marL="0">
              <a:buNone/>
            </a:pPr>
            <a:r>
              <a:rPr lang="en-US" sz="1000" dirty="0">
                <a:solidFill>
                  <a:srgbClr val="6B8E5A"/>
                </a:solidFill>
                <a:latin typeface="Calibri" pitchFamily="34" charset="0"/>
                <a:ea typeface="Calibri" pitchFamily="34" charset="-122"/>
                <a:cs typeface="Calibri" pitchFamily="34" charset="-120"/>
              </a:rPr>
              <a:t>14 / 20</a:t>
            </a:r>
            <a:endParaRPr lang="en-US" sz="1000" dirty="0"/>
          </a:p>
        </p:txBody>
      </p:sp>
      <p:sp>
        <p:nvSpPr>
          <p:cNvPr id="90" name="Shape 88"/>
          <p:cNvSpPr/>
          <p:nvPr/>
        </p:nvSpPr>
        <p:spPr>
          <a:xfrm>
            <a:off x="0" y="5097780"/>
            <a:ext cx="9144000" cy="45720"/>
          </a:xfrm>
          <a:prstGeom prst="rect">
            <a:avLst/>
          </a:prstGeom>
          <a:solidFill>
            <a:srgbClr val="2C5F2D"/>
          </a:solidFill>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4A843"/>
          </a:solidFill>
          <a:ln/>
        </p:spPr>
      </p:sp>
      <p:sp>
        <p:nvSpPr>
          <p:cNvPr id="3" name="Text 1"/>
          <p:cNvSpPr/>
          <p:nvPr/>
        </p:nvSpPr>
        <p:spPr>
          <a:xfrm>
            <a:off x="457200" y="228600"/>
            <a:ext cx="8229600" cy="457200"/>
          </a:xfrm>
          <a:prstGeom prst="rect">
            <a:avLst/>
          </a:prstGeom>
          <a:noFill/>
          <a:ln/>
        </p:spPr>
        <p:txBody>
          <a:bodyPr wrap="square" rtlCol="0" anchor="ctr"/>
          <a:lstStyle/>
          <a:p>
            <a:pPr indent="0" marL="0">
              <a:buNone/>
            </a:pPr>
            <a:r>
              <a:rPr lang="en-US" sz="2800" b="1" dirty="0">
                <a:solidFill>
                  <a:srgbClr val="2C5F2D"/>
                </a:solidFill>
                <a:latin typeface="Georgia" pitchFamily="34" charset="0"/>
                <a:ea typeface="Georgia" pitchFamily="34" charset="-122"/>
                <a:cs typeface="Georgia" pitchFamily="34" charset="-120"/>
              </a:rPr>
              <a:t>经典实验（二）：孟德尔全部7对性状卡方分析</a:t>
            </a:r>
            <a:endParaRPr lang="en-US" sz="2800" dirty="0"/>
          </a:p>
        </p:txBody>
      </p:sp>
      <p:sp>
        <p:nvSpPr>
          <p:cNvPr id="4" name="Text 2"/>
          <p:cNvSpPr/>
          <p:nvPr/>
        </p:nvSpPr>
        <p:spPr>
          <a:xfrm>
            <a:off x="457200" y="685800"/>
            <a:ext cx="8229600" cy="274320"/>
          </a:xfrm>
          <a:prstGeom prst="rect">
            <a:avLst/>
          </a:prstGeom>
          <a:noFill/>
          <a:ln/>
        </p:spPr>
        <p:txBody>
          <a:bodyPr wrap="square" rtlCol="0" anchor="ctr"/>
          <a:lstStyle/>
          <a:p>
            <a:pPr indent="0" marL="0">
              <a:buNone/>
            </a:pPr>
            <a:r>
              <a:rPr lang="en-US" sz="1400" dirty="0">
                <a:solidFill>
                  <a:srgbClr val="6B8E5A"/>
                </a:solidFill>
                <a:latin typeface="Calibri" pitchFamily="34" charset="0"/>
                <a:ea typeface="Calibri" pitchFamily="34" charset="-122"/>
                <a:cs typeface="Calibri" pitchFamily="34" charset="-120"/>
              </a:rPr>
              <a:t>Chi-Square Analysis of All 7 Traits</a:t>
            </a:r>
            <a:endParaRPr lang="en-US" sz="1400" dirty="0"/>
          </a:p>
        </p:txBody>
      </p:sp>
      <p:sp>
        <p:nvSpPr>
          <p:cNvPr id="5" name="Shape 3"/>
          <p:cNvSpPr/>
          <p:nvPr/>
        </p:nvSpPr>
        <p:spPr>
          <a:xfrm>
            <a:off x="457200" y="1005840"/>
            <a:ext cx="1371600" cy="36576"/>
          </a:xfrm>
          <a:prstGeom prst="rect">
            <a:avLst/>
          </a:prstGeom>
          <a:solidFill>
            <a:srgbClr val="97BC62"/>
          </a:solidFill>
          <a:ln/>
        </p:spPr>
      </p:sp>
      <p:sp>
        <p:nvSpPr>
          <p:cNvPr id="6" name="Text 4"/>
          <p:cNvSpPr/>
          <p:nvPr/>
        </p:nvSpPr>
        <p:spPr>
          <a:xfrm>
            <a:off x="457200" y="1280160"/>
            <a:ext cx="8229600" cy="274320"/>
          </a:xfrm>
          <a:prstGeom prst="rect">
            <a:avLst/>
          </a:prstGeom>
          <a:noFill/>
          <a:ln/>
        </p:spPr>
        <p:txBody>
          <a:bodyPr wrap="square" rtlCol="0" anchor="ctr"/>
          <a:lstStyle/>
          <a:p>
            <a:pPr indent="0" marL="0">
              <a:buNone/>
            </a:pPr>
            <a:r>
              <a:rPr lang="en-US" sz="1100" dirty="0">
                <a:solidFill>
                  <a:srgbClr val="2C5F2D"/>
                </a:solidFill>
                <a:latin typeface="Calibri" pitchFamily="34" charset="0"/>
                <a:ea typeface="Calibri" pitchFamily="34" charset="-122"/>
                <a:cs typeface="Calibri" pitchFamily="34" charset="-120"/>
              </a:rPr>
              <a:t>对孟德尔的7对性状数据进行卡方检验，验证是否符合 3:1 理论比例：</a:t>
            </a:r>
            <a:endParaRPr lang="en-US" sz="1100" dirty="0"/>
          </a:p>
        </p:txBody>
      </p:sp>
      <p:sp>
        <p:nvSpPr>
          <p:cNvPr id="7" name="Shape 5"/>
          <p:cNvSpPr/>
          <p:nvPr/>
        </p:nvSpPr>
        <p:spPr>
          <a:xfrm>
            <a:off x="457200" y="1645920"/>
            <a:ext cx="1645920" cy="274320"/>
          </a:xfrm>
          <a:prstGeom prst="rect">
            <a:avLst/>
          </a:prstGeom>
          <a:solidFill>
            <a:srgbClr val="2C5F2D"/>
          </a:solidFill>
          <a:ln/>
        </p:spPr>
      </p:sp>
      <p:sp>
        <p:nvSpPr>
          <p:cNvPr id="8" name="Text 6"/>
          <p:cNvSpPr/>
          <p:nvPr/>
        </p:nvSpPr>
        <p:spPr>
          <a:xfrm>
            <a:off x="457200" y="1645920"/>
            <a:ext cx="1645920" cy="2743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性状</a:t>
            </a:r>
            <a:endParaRPr lang="en-US" sz="1100" dirty="0"/>
          </a:p>
        </p:txBody>
      </p:sp>
      <p:sp>
        <p:nvSpPr>
          <p:cNvPr id="9" name="Shape 7"/>
          <p:cNvSpPr/>
          <p:nvPr/>
        </p:nvSpPr>
        <p:spPr>
          <a:xfrm>
            <a:off x="2103120" y="1645920"/>
            <a:ext cx="1097280" cy="274320"/>
          </a:xfrm>
          <a:prstGeom prst="rect">
            <a:avLst/>
          </a:prstGeom>
          <a:solidFill>
            <a:srgbClr val="2C5F2D"/>
          </a:solidFill>
          <a:ln/>
        </p:spPr>
      </p:sp>
      <p:sp>
        <p:nvSpPr>
          <p:cNvPr id="10" name="Text 8"/>
          <p:cNvSpPr/>
          <p:nvPr/>
        </p:nvSpPr>
        <p:spPr>
          <a:xfrm>
            <a:off x="2103120" y="1645920"/>
            <a:ext cx="1097280" cy="2743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O(显)</a:t>
            </a:r>
            <a:endParaRPr lang="en-US" sz="1100" dirty="0"/>
          </a:p>
        </p:txBody>
      </p:sp>
      <p:sp>
        <p:nvSpPr>
          <p:cNvPr id="11" name="Shape 9"/>
          <p:cNvSpPr/>
          <p:nvPr/>
        </p:nvSpPr>
        <p:spPr>
          <a:xfrm>
            <a:off x="3200400" y="1645920"/>
            <a:ext cx="1097280" cy="274320"/>
          </a:xfrm>
          <a:prstGeom prst="rect">
            <a:avLst/>
          </a:prstGeom>
          <a:solidFill>
            <a:srgbClr val="2C5F2D"/>
          </a:solidFill>
          <a:ln/>
        </p:spPr>
      </p:sp>
      <p:sp>
        <p:nvSpPr>
          <p:cNvPr id="12" name="Text 10"/>
          <p:cNvSpPr/>
          <p:nvPr/>
        </p:nvSpPr>
        <p:spPr>
          <a:xfrm>
            <a:off x="3200400" y="1645920"/>
            <a:ext cx="1097280" cy="2743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O(隐)</a:t>
            </a:r>
            <a:endParaRPr lang="en-US" sz="1100" dirty="0"/>
          </a:p>
        </p:txBody>
      </p:sp>
      <p:sp>
        <p:nvSpPr>
          <p:cNvPr id="13" name="Shape 11"/>
          <p:cNvSpPr/>
          <p:nvPr/>
        </p:nvSpPr>
        <p:spPr>
          <a:xfrm>
            <a:off x="4297680" y="1645920"/>
            <a:ext cx="1371600" cy="274320"/>
          </a:xfrm>
          <a:prstGeom prst="rect">
            <a:avLst/>
          </a:prstGeom>
          <a:solidFill>
            <a:srgbClr val="2C5F2D"/>
          </a:solidFill>
          <a:ln/>
        </p:spPr>
      </p:sp>
      <p:sp>
        <p:nvSpPr>
          <p:cNvPr id="14" name="Text 12"/>
          <p:cNvSpPr/>
          <p:nvPr/>
        </p:nvSpPr>
        <p:spPr>
          <a:xfrm>
            <a:off x="4297680" y="1645920"/>
            <a:ext cx="1371600" cy="2743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E(显)</a:t>
            </a:r>
            <a:endParaRPr lang="en-US" sz="1100" dirty="0"/>
          </a:p>
        </p:txBody>
      </p:sp>
      <p:sp>
        <p:nvSpPr>
          <p:cNvPr id="15" name="Shape 13"/>
          <p:cNvSpPr/>
          <p:nvPr/>
        </p:nvSpPr>
        <p:spPr>
          <a:xfrm>
            <a:off x="5669280" y="1645920"/>
            <a:ext cx="1371600" cy="274320"/>
          </a:xfrm>
          <a:prstGeom prst="rect">
            <a:avLst/>
          </a:prstGeom>
          <a:solidFill>
            <a:srgbClr val="2C5F2D"/>
          </a:solidFill>
          <a:ln/>
        </p:spPr>
      </p:sp>
      <p:sp>
        <p:nvSpPr>
          <p:cNvPr id="16" name="Text 14"/>
          <p:cNvSpPr/>
          <p:nvPr/>
        </p:nvSpPr>
        <p:spPr>
          <a:xfrm>
            <a:off x="5669280" y="1645920"/>
            <a:ext cx="1371600" cy="2743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E(隐)</a:t>
            </a:r>
            <a:endParaRPr lang="en-US" sz="1100" dirty="0"/>
          </a:p>
        </p:txBody>
      </p:sp>
      <p:sp>
        <p:nvSpPr>
          <p:cNvPr id="17" name="Shape 15"/>
          <p:cNvSpPr/>
          <p:nvPr/>
        </p:nvSpPr>
        <p:spPr>
          <a:xfrm>
            <a:off x="7040880" y="1645920"/>
            <a:ext cx="1188720" cy="274320"/>
          </a:xfrm>
          <a:prstGeom prst="rect">
            <a:avLst/>
          </a:prstGeom>
          <a:solidFill>
            <a:srgbClr val="2C5F2D"/>
          </a:solidFill>
          <a:ln/>
        </p:spPr>
      </p:sp>
      <p:sp>
        <p:nvSpPr>
          <p:cNvPr id="18" name="Text 16"/>
          <p:cNvSpPr/>
          <p:nvPr/>
        </p:nvSpPr>
        <p:spPr>
          <a:xfrm>
            <a:off x="7040880" y="1645920"/>
            <a:ext cx="1188720" cy="2743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chi-sq</a:t>
            </a:r>
            <a:endParaRPr lang="en-US" sz="1100" dirty="0"/>
          </a:p>
        </p:txBody>
      </p:sp>
      <p:sp>
        <p:nvSpPr>
          <p:cNvPr id="19" name="Shape 17"/>
          <p:cNvSpPr/>
          <p:nvPr/>
        </p:nvSpPr>
        <p:spPr>
          <a:xfrm>
            <a:off x="457200" y="1920240"/>
            <a:ext cx="1645920" cy="274320"/>
          </a:xfrm>
          <a:prstGeom prst="rect">
            <a:avLst/>
          </a:prstGeom>
          <a:solidFill>
            <a:srgbClr val="FFFFFF"/>
          </a:solidFill>
          <a:ln w="6350">
            <a:solidFill>
              <a:srgbClr val="97BC62"/>
            </a:solidFill>
            <a:prstDash val="solid"/>
          </a:ln>
        </p:spPr>
      </p:sp>
      <p:sp>
        <p:nvSpPr>
          <p:cNvPr id="20" name="Text 18"/>
          <p:cNvSpPr/>
          <p:nvPr/>
        </p:nvSpPr>
        <p:spPr>
          <a:xfrm>
            <a:off x="457200" y="1920240"/>
            <a:ext cx="164592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种子形状</a:t>
            </a:r>
            <a:endParaRPr lang="en-US" sz="1000" dirty="0"/>
          </a:p>
        </p:txBody>
      </p:sp>
      <p:sp>
        <p:nvSpPr>
          <p:cNvPr id="21" name="Shape 19"/>
          <p:cNvSpPr/>
          <p:nvPr/>
        </p:nvSpPr>
        <p:spPr>
          <a:xfrm>
            <a:off x="2103120" y="1920240"/>
            <a:ext cx="1097280" cy="274320"/>
          </a:xfrm>
          <a:prstGeom prst="rect">
            <a:avLst/>
          </a:prstGeom>
          <a:solidFill>
            <a:srgbClr val="FFFFFF"/>
          </a:solidFill>
          <a:ln w="6350">
            <a:solidFill>
              <a:srgbClr val="97BC62"/>
            </a:solidFill>
            <a:prstDash val="solid"/>
          </a:ln>
        </p:spPr>
      </p:sp>
      <p:sp>
        <p:nvSpPr>
          <p:cNvPr id="22" name="Text 20"/>
          <p:cNvSpPr/>
          <p:nvPr/>
        </p:nvSpPr>
        <p:spPr>
          <a:xfrm>
            <a:off x="2103120" y="1920240"/>
            <a:ext cx="109728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5474</a:t>
            </a:r>
            <a:endParaRPr lang="en-US" sz="1000" dirty="0"/>
          </a:p>
        </p:txBody>
      </p:sp>
      <p:sp>
        <p:nvSpPr>
          <p:cNvPr id="23" name="Shape 21"/>
          <p:cNvSpPr/>
          <p:nvPr/>
        </p:nvSpPr>
        <p:spPr>
          <a:xfrm>
            <a:off x="3200400" y="1920240"/>
            <a:ext cx="1097280" cy="274320"/>
          </a:xfrm>
          <a:prstGeom prst="rect">
            <a:avLst/>
          </a:prstGeom>
          <a:solidFill>
            <a:srgbClr val="FFFFFF"/>
          </a:solidFill>
          <a:ln w="6350">
            <a:solidFill>
              <a:srgbClr val="97BC62"/>
            </a:solidFill>
            <a:prstDash val="solid"/>
          </a:ln>
        </p:spPr>
      </p:sp>
      <p:sp>
        <p:nvSpPr>
          <p:cNvPr id="24" name="Text 22"/>
          <p:cNvSpPr/>
          <p:nvPr/>
        </p:nvSpPr>
        <p:spPr>
          <a:xfrm>
            <a:off x="3200400" y="1920240"/>
            <a:ext cx="109728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1850</a:t>
            </a:r>
            <a:endParaRPr lang="en-US" sz="1000" dirty="0"/>
          </a:p>
        </p:txBody>
      </p:sp>
      <p:sp>
        <p:nvSpPr>
          <p:cNvPr id="25" name="Shape 23"/>
          <p:cNvSpPr/>
          <p:nvPr/>
        </p:nvSpPr>
        <p:spPr>
          <a:xfrm>
            <a:off x="4297680" y="1920240"/>
            <a:ext cx="1371600" cy="274320"/>
          </a:xfrm>
          <a:prstGeom prst="rect">
            <a:avLst/>
          </a:prstGeom>
          <a:solidFill>
            <a:srgbClr val="FFFFFF"/>
          </a:solidFill>
          <a:ln w="6350">
            <a:solidFill>
              <a:srgbClr val="97BC62"/>
            </a:solidFill>
            <a:prstDash val="solid"/>
          </a:ln>
        </p:spPr>
      </p:sp>
      <p:sp>
        <p:nvSpPr>
          <p:cNvPr id="26" name="Text 24"/>
          <p:cNvSpPr/>
          <p:nvPr/>
        </p:nvSpPr>
        <p:spPr>
          <a:xfrm>
            <a:off x="4297680" y="1920240"/>
            <a:ext cx="137160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5493</a:t>
            </a:r>
            <a:endParaRPr lang="en-US" sz="1000" dirty="0"/>
          </a:p>
        </p:txBody>
      </p:sp>
      <p:sp>
        <p:nvSpPr>
          <p:cNvPr id="27" name="Shape 25"/>
          <p:cNvSpPr/>
          <p:nvPr/>
        </p:nvSpPr>
        <p:spPr>
          <a:xfrm>
            <a:off x="5669280" y="1920240"/>
            <a:ext cx="1371600" cy="274320"/>
          </a:xfrm>
          <a:prstGeom prst="rect">
            <a:avLst/>
          </a:prstGeom>
          <a:solidFill>
            <a:srgbClr val="FFFFFF"/>
          </a:solidFill>
          <a:ln w="6350">
            <a:solidFill>
              <a:srgbClr val="97BC62"/>
            </a:solidFill>
            <a:prstDash val="solid"/>
          </a:ln>
        </p:spPr>
      </p:sp>
      <p:sp>
        <p:nvSpPr>
          <p:cNvPr id="28" name="Text 26"/>
          <p:cNvSpPr/>
          <p:nvPr/>
        </p:nvSpPr>
        <p:spPr>
          <a:xfrm>
            <a:off x="5669280" y="1920240"/>
            <a:ext cx="137160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1831</a:t>
            </a:r>
            <a:endParaRPr lang="en-US" sz="1000" dirty="0"/>
          </a:p>
        </p:txBody>
      </p:sp>
      <p:sp>
        <p:nvSpPr>
          <p:cNvPr id="29" name="Shape 27"/>
          <p:cNvSpPr/>
          <p:nvPr/>
        </p:nvSpPr>
        <p:spPr>
          <a:xfrm>
            <a:off x="7040880" y="1920240"/>
            <a:ext cx="1188720" cy="274320"/>
          </a:xfrm>
          <a:prstGeom prst="rect">
            <a:avLst/>
          </a:prstGeom>
          <a:solidFill>
            <a:srgbClr val="FFFFFF"/>
          </a:solidFill>
          <a:ln w="6350">
            <a:solidFill>
              <a:srgbClr val="97BC62"/>
            </a:solidFill>
            <a:prstDash val="solid"/>
          </a:ln>
        </p:spPr>
      </p:sp>
      <p:sp>
        <p:nvSpPr>
          <p:cNvPr id="30" name="Text 28"/>
          <p:cNvSpPr/>
          <p:nvPr/>
        </p:nvSpPr>
        <p:spPr>
          <a:xfrm>
            <a:off x="7040880" y="1920240"/>
            <a:ext cx="118872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0.26</a:t>
            </a:r>
            <a:endParaRPr lang="en-US" sz="1000" dirty="0"/>
          </a:p>
        </p:txBody>
      </p:sp>
      <p:sp>
        <p:nvSpPr>
          <p:cNvPr id="31" name="Shape 29"/>
          <p:cNvSpPr/>
          <p:nvPr/>
        </p:nvSpPr>
        <p:spPr>
          <a:xfrm>
            <a:off x="457200" y="2194560"/>
            <a:ext cx="1645920" cy="274320"/>
          </a:xfrm>
          <a:prstGeom prst="rect">
            <a:avLst/>
          </a:prstGeom>
          <a:solidFill>
            <a:srgbClr val="FFFFFF"/>
          </a:solidFill>
          <a:ln w="6350">
            <a:solidFill>
              <a:srgbClr val="97BC62"/>
            </a:solidFill>
            <a:prstDash val="solid"/>
          </a:ln>
        </p:spPr>
      </p:sp>
      <p:sp>
        <p:nvSpPr>
          <p:cNvPr id="32" name="Text 30"/>
          <p:cNvSpPr/>
          <p:nvPr/>
        </p:nvSpPr>
        <p:spPr>
          <a:xfrm>
            <a:off x="457200" y="2194560"/>
            <a:ext cx="164592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子叶颜色</a:t>
            </a:r>
            <a:endParaRPr lang="en-US" sz="1000" dirty="0"/>
          </a:p>
        </p:txBody>
      </p:sp>
      <p:sp>
        <p:nvSpPr>
          <p:cNvPr id="33" name="Shape 31"/>
          <p:cNvSpPr/>
          <p:nvPr/>
        </p:nvSpPr>
        <p:spPr>
          <a:xfrm>
            <a:off x="2103120" y="2194560"/>
            <a:ext cx="1097280" cy="274320"/>
          </a:xfrm>
          <a:prstGeom prst="rect">
            <a:avLst/>
          </a:prstGeom>
          <a:solidFill>
            <a:srgbClr val="FFFFFF"/>
          </a:solidFill>
          <a:ln w="6350">
            <a:solidFill>
              <a:srgbClr val="97BC62"/>
            </a:solidFill>
            <a:prstDash val="solid"/>
          </a:ln>
        </p:spPr>
      </p:sp>
      <p:sp>
        <p:nvSpPr>
          <p:cNvPr id="34" name="Text 32"/>
          <p:cNvSpPr/>
          <p:nvPr/>
        </p:nvSpPr>
        <p:spPr>
          <a:xfrm>
            <a:off x="2103120" y="2194560"/>
            <a:ext cx="109728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6022</a:t>
            </a:r>
            <a:endParaRPr lang="en-US" sz="1000" dirty="0"/>
          </a:p>
        </p:txBody>
      </p:sp>
      <p:sp>
        <p:nvSpPr>
          <p:cNvPr id="35" name="Shape 33"/>
          <p:cNvSpPr/>
          <p:nvPr/>
        </p:nvSpPr>
        <p:spPr>
          <a:xfrm>
            <a:off x="3200400" y="2194560"/>
            <a:ext cx="1097280" cy="274320"/>
          </a:xfrm>
          <a:prstGeom prst="rect">
            <a:avLst/>
          </a:prstGeom>
          <a:solidFill>
            <a:srgbClr val="FFFFFF"/>
          </a:solidFill>
          <a:ln w="6350">
            <a:solidFill>
              <a:srgbClr val="97BC62"/>
            </a:solidFill>
            <a:prstDash val="solid"/>
          </a:ln>
        </p:spPr>
      </p:sp>
      <p:sp>
        <p:nvSpPr>
          <p:cNvPr id="36" name="Text 34"/>
          <p:cNvSpPr/>
          <p:nvPr/>
        </p:nvSpPr>
        <p:spPr>
          <a:xfrm>
            <a:off x="3200400" y="2194560"/>
            <a:ext cx="109728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2001</a:t>
            </a:r>
            <a:endParaRPr lang="en-US" sz="1000" dirty="0"/>
          </a:p>
        </p:txBody>
      </p:sp>
      <p:sp>
        <p:nvSpPr>
          <p:cNvPr id="37" name="Shape 35"/>
          <p:cNvSpPr/>
          <p:nvPr/>
        </p:nvSpPr>
        <p:spPr>
          <a:xfrm>
            <a:off x="4297680" y="2194560"/>
            <a:ext cx="1371600" cy="274320"/>
          </a:xfrm>
          <a:prstGeom prst="rect">
            <a:avLst/>
          </a:prstGeom>
          <a:solidFill>
            <a:srgbClr val="FFFFFF"/>
          </a:solidFill>
          <a:ln w="6350">
            <a:solidFill>
              <a:srgbClr val="97BC62"/>
            </a:solidFill>
            <a:prstDash val="solid"/>
          </a:ln>
        </p:spPr>
      </p:sp>
      <p:sp>
        <p:nvSpPr>
          <p:cNvPr id="38" name="Text 36"/>
          <p:cNvSpPr/>
          <p:nvPr/>
        </p:nvSpPr>
        <p:spPr>
          <a:xfrm>
            <a:off x="4297680" y="2194560"/>
            <a:ext cx="137160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6017</a:t>
            </a:r>
            <a:endParaRPr lang="en-US" sz="1000" dirty="0"/>
          </a:p>
        </p:txBody>
      </p:sp>
      <p:sp>
        <p:nvSpPr>
          <p:cNvPr id="39" name="Shape 37"/>
          <p:cNvSpPr/>
          <p:nvPr/>
        </p:nvSpPr>
        <p:spPr>
          <a:xfrm>
            <a:off x="5669280" y="2194560"/>
            <a:ext cx="1371600" cy="274320"/>
          </a:xfrm>
          <a:prstGeom prst="rect">
            <a:avLst/>
          </a:prstGeom>
          <a:solidFill>
            <a:srgbClr val="FFFFFF"/>
          </a:solidFill>
          <a:ln w="6350">
            <a:solidFill>
              <a:srgbClr val="97BC62"/>
            </a:solidFill>
            <a:prstDash val="solid"/>
          </a:ln>
        </p:spPr>
      </p:sp>
      <p:sp>
        <p:nvSpPr>
          <p:cNvPr id="40" name="Text 38"/>
          <p:cNvSpPr/>
          <p:nvPr/>
        </p:nvSpPr>
        <p:spPr>
          <a:xfrm>
            <a:off x="5669280" y="2194560"/>
            <a:ext cx="137160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2006</a:t>
            </a:r>
            <a:endParaRPr lang="en-US" sz="1000" dirty="0"/>
          </a:p>
        </p:txBody>
      </p:sp>
      <p:sp>
        <p:nvSpPr>
          <p:cNvPr id="41" name="Shape 39"/>
          <p:cNvSpPr/>
          <p:nvPr/>
        </p:nvSpPr>
        <p:spPr>
          <a:xfrm>
            <a:off x="7040880" y="2194560"/>
            <a:ext cx="1188720" cy="274320"/>
          </a:xfrm>
          <a:prstGeom prst="rect">
            <a:avLst/>
          </a:prstGeom>
          <a:solidFill>
            <a:srgbClr val="FFFFFF"/>
          </a:solidFill>
          <a:ln w="6350">
            <a:solidFill>
              <a:srgbClr val="97BC62"/>
            </a:solidFill>
            <a:prstDash val="solid"/>
          </a:ln>
        </p:spPr>
      </p:sp>
      <p:sp>
        <p:nvSpPr>
          <p:cNvPr id="42" name="Text 40"/>
          <p:cNvSpPr/>
          <p:nvPr/>
        </p:nvSpPr>
        <p:spPr>
          <a:xfrm>
            <a:off x="7040880" y="2194560"/>
            <a:ext cx="118872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0.01</a:t>
            </a:r>
            <a:endParaRPr lang="en-US" sz="1000" dirty="0"/>
          </a:p>
        </p:txBody>
      </p:sp>
      <p:sp>
        <p:nvSpPr>
          <p:cNvPr id="43" name="Shape 41"/>
          <p:cNvSpPr/>
          <p:nvPr/>
        </p:nvSpPr>
        <p:spPr>
          <a:xfrm>
            <a:off x="457200" y="2468880"/>
            <a:ext cx="1645920" cy="274320"/>
          </a:xfrm>
          <a:prstGeom prst="rect">
            <a:avLst/>
          </a:prstGeom>
          <a:solidFill>
            <a:srgbClr val="FFFFFF"/>
          </a:solidFill>
          <a:ln w="6350">
            <a:solidFill>
              <a:srgbClr val="97BC62"/>
            </a:solidFill>
            <a:prstDash val="solid"/>
          </a:ln>
        </p:spPr>
      </p:sp>
      <p:sp>
        <p:nvSpPr>
          <p:cNvPr id="44" name="Text 42"/>
          <p:cNvSpPr/>
          <p:nvPr/>
        </p:nvSpPr>
        <p:spPr>
          <a:xfrm>
            <a:off x="457200" y="2468880"/>
            <a:ext cx="164592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花色</a:t>
            </a:r>
            <a:endParaRPr lang="en-US" sz="1000" dirty="0"/>
          </a:p>
        </p:txBody>
      </p:sp>
      <p:sp>
        <p:nvSpPr>
          <p:cNvPr id="45" name="Shape 43"/>
          <p:cNvSpPr/>
          <p:nvPr/>
        </p:nvSpPr>
        <p:spPr>
          <a:xfrm>
            <a:off x="2103120" y="2468880"/>
            <a:ext cx="1097280" cy="274320"/>
          </a:xfrm>
          <a:prstGeom prst="rect">
            <a:avLst/>
          </a:prstGeom>
          <a:solidFill>
            <a:srgbClr val="FFFFFF"/>
          </a:solidFill>
          <a:ln w="6350">
            <a:solidFill>
              <a:srgbClr val="97BC62"/>
            </a:solidFill>
            <a:prstDash val="solid"/>
          </a:ln>
        </p:spPr>
      </p:sp>
      <p:sp>
        <p:nvSpPr>
          <p:cNvPr id="46" name="Text 44"/>
          <p:cNvSpPr/>
          <p:nvPr/>
        </p:nvSpPr>
        <p:spPr>
          <a:xfrm>
            <a:off x="2103120" y="2468880"/>
            <a:ext cx="109728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705</a:t>
            </a:r>
            <a:endParaRPr lang="en-US" sz="1000" dirty="0"/>
          </a:p>
        </p:txBody>
      </p:sp>
      <p:sp>
        <p:nvSpPr>
          <p:cNvPr id="47" name="Shape 45"/>
          <p:cNvSpPr/>
          <p:nvPr/>
        </p:nvSpPr>
        <p:spPr>
          <a:xfrm>
            <a:off x="3200400" y="2468880"/>
            <a:ext cx="1097280" cy="274320"/>
          </a:xfrm>
          <a:prstGeom prst="rect">
            <a:avLst/>
          </a:prstGeom>
          <a:solidFill>
            <a:srgbClr val="FFFFFF"/>
          </a:solidFill>
          <a:ln w="6350">
            <a:solidFill>
              <a:srgbClr val="97BC62"/>
            </a:solidFill>
            <a:prstDash val="solid"/>
          </a:ln>
        </p:spPr>
      </p:sp>
      <p:sp>
        <p:nvSpPr>
          <p:cNvPr id="48" name="Text 46"/>
          <p:cNvSpPr/>
          <p:nvPr/>
        </p:nvSpPr>
        <p:spPr>
          <a:xfrm>
            <a:off x="3200400" y="2468880"/>
            <a:ext cx="109728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224</a:t>
            </a:r>
            <a:endParaRPr lang="en-US" sz="1000" dirty="0"/>
          </a:p>
        </p:txBody>
      </p:sp>
      <p:sp>
        <p:nvSpPr>
          <p:cNvPr id="49" name="Shape 47"/>
          <p:cNvSpPr/>
          <p:nvPr/>
        </p:nvSpPr>
        <p:spPr>
          <a:xfrm>
            <a:off x="4297680" y="2468880"/>
            <a:ext cx="1371600" cy="274320"/>
          </a:xfrm>
          <a:prstGeom prst="rect">
            <a:avLst/>
          </a:prstGeom>
          <a:solidFill>
            <a:srgbClr val="FFFFFF"/>
          </a:solidFill>
          <a:ln w="6350">
            <a:solidFill>
              <a:srgbClr val="97BC62"/>
            </a:solidFill>
            <a:prstDash val="solid"/>
          </a:ln>
        </p:spPr>
      </p:sp>
      <p:sp>
        <p:nvSpPr>
          <p:cNvPr id="50" name="Text 48"/>
          <p:cNvSpPr/>
          <p:nvPr/>
        </p:nvSpPr>
        <p:spPr>
          <a:xfrm>
            <a:off x="4297680" y="2468880"/>
            <a:ext cx="137160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697</a:t>
            </a:r>
            <a:endParaRPr lang="en-US" sz="1000" dirty="0"/>
          </a:p>
        </p:txBody>
      </p:sp>
      <p:sp>
        <p:nvSpPr>
          <p:cNvPr id="51" name="Shape 49"/>
          <p:cNvSpPr/>
          <p:nvPr/>
        </p:nvSpPr>
        <p:spPr>
          <a:xfrm>
            <a:off x="5669280" y="2468880"/>
            <a:ext cx="1371600" cy="274320"/>
          </a:xfrm>
          <a:prstGeom prst="rect">
            <a:avLst/>
          </a:prstGeom>
          <a:solidFill>
            <a:srgbClr val="FFFFFF"/>
          </a:solidFill>
          <a:ln w="6350">
            <a:solidFill>
              <a:srgbClr val="97BC62"/>
            </a:solidFill>
            <a:prstDash val="solid"/>
          </a:ln>
        </p:spPr>
      </p:sp>
      <p:sp>
        <p:nvSpPr>
          <p:cNvPr id="52" name="Text 50"/>
          <p:cNvSpPr/>
          <p:nvPr/>
        </p:nvSpPr>
        <p:spPr>
          <a:xfrm>
            <a:off x="5669280" y="2468880"/>
            <a:ext cx="137160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232</a:t>
            </a:r>
            <a:endParaRPr lang="en-US" sz="1000" dirty="0"/>
          </a:p>
        </p:txBody>
      </p:sp>
      <p:sp>
        <p:nvSpPr>
          <p:cNvPr id="53" name="Shape 51"/>
          <p:cNvSpPr/>
          <p:nvPr/>
        </p:nvSpPr>
        <p:spPr>
          <a:xfrm>
            <a:off x="7040880" y="2468880"/>
            <a:ext cx="1188720" cy="274320"/>
          </a:xfrm>
          <a:prstGeom prst="rect">
            <a:avLst/>
          </a:prstGeom>
          <a:solidFill>
            <a:srgbClr val="FFFFFF"/>
          </a:solidFill>
          <a:ln w="6350">
            <a:solidFill>
              <a:srgbClr val="97BC62"/>
            </a:solidFill>
            <a:prstDash val="solid"/>
          </a:ln>
        </p:spPr>
      </p:sp>
      <p:sp>
        <p:nvSpPr>
          <p:cNvPr id="54" name="Text 52"/>
          <p:cNvSpPr/>
          <p:nvPr/>
        </p:nvSpPr>
        <p:spPr>
          <a:xfrm>
            <a:off x="7040880" y="2468880"/>
            <a:ext cx="118872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0.39</a:t>
            </a:r>
            <a:endParaRPr lang="en-US" sz="1000" dirty="0"/>
          </a:p>
        </p:txBody>
      </p:sp>
      <p:sp>
        <p:nvSpPr>
          <p:cNvPr id="55" name="Shape 53"/>
          <p:cNvSpPr/>
          <p:nvPr/>
        </p:nvSpPr>
        <p:spPr>
          <a:xfrm>
            <a:off x="457200" y="2743200"/>
            <a:ext cx="1645920" cy="274320"/>
          </a:xfrm>
          <a:prstGeom prst="rect">
            <a:avLst/>
          </a:prstGeom>
          <a:solidFill>
            <a:srgbClr val="FFFFFF"/>
          </a:solidFill>
          <a:ln w="6350">
            <a:solidFill>
              <a:srgbClr val="97BC62"/>
            </a:solidFill>
            <a:prstDash val="solid"/>
          </a:ln>
        </p:spPr>
      </p:sp>
      <p:sp>
        <p:nvSpPr>
          <p:cNvPr id="56" name="Text 54"/>
          <p:cNvSpPr/>
          <p:nvPr/>
        </p:nvSpPr>
        <p:spPr>
          <a:xfrm>
            <a:off x="457200" y="2743200"/>
            <a:ext cx="164592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豆荚形状</a:t>
            </a:r>
            <a:endParaRPr lang="en-US" sz="1000" dirty="0"/>
          </a:p>
        </p:txBody>
      </p:sp>
      <p:sp>
        <p:nvSpPr>
          <p:cNvPr id="57" name="Shape 55"/>
          <p:cNvSpPr/>
          <p:nvPr/>
        </p:nvSpPr>
        <p:spPr>
          <a:xfrm>
            <a:off x="2103120" y="2743200"/>
            <a:ext cx="1097280" cy="274320"/>
          </a:xfrm>
          <a:prstGeom prst="rect">
            <a:avLst/>
          </a:prstGeom>
          <a:solidFill>
            <a:srgbClr val="FFFFFF"/>
          </a:solidFill>
          <a:ln w="6350">
            <a:solidFill>
              <a:srgbClr val="97BC62"/>
            </a:solidFill>
            <a:prstDash val="solid"/>
          </a:ln>
        </p:spPr>
      </p:sp>
      <p:sp>
        <p:nvSpPr>
          <p:cNvPr id="58" name="Text 56"/>
          <p:cNvSpPr/>
          <p:nvPr/>
        </p:nvSpPr>
        <p:spPr>
          <a:xfrm>
            <a:off x="2103120" y="2743200"/>
            <a:ext cx="109728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882</a:t>
            </a:r>
            <a:endParaRPr lang="en-US" sz="1000" dirty="0"/>
          </a:p>
        </p:txBody>
      </p:sp>
      <p:sp>
        <p:nvSpPr>
          <p:cNvPr id="59" name="Shape 57"/>
          <p:cNvSpPr/>
          <p:nvPr/>
        </p:nvSpPr>
        <p:spPr>
          <a:xfrm>
            <a:off x="3200400" y="2743200"/>
            <a:ext cx="1097280" cy="274320"/>
          </a:xfrm>
          <a:prstGeom prst="rect">
            <a:avLst/>
          </a:prstGeom>
          <a:solidFill>
            <a:srgbClr val="FFFFFF"/>
          </a:solidFill>
          <a:ln w="6350">
            <a:solidFill>
              <a:srgbClr val="97BC62"/>
            </a:solidFill>
            <a:prstDash val="solid"/>
          </a:ln>
        </p:spPr>
      </p:sp>
      <p:sp>
        <p:nvSpPr>
          <p:cNvPr id="60" name="Text 58"/>
          <p:cNvSpPr/>
          <p:nvPr/>
        </p:nvSpPr>
        <p:spPr>
          <a:xfrm>
            <a:off x="3200400" y="2743200"/>
            <a:ext cx="109728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299</a:t>
            </a:r>
            <a:endParaRPr lang="en-US" sz="1000" dirty="0"/>
          </a:p>
        </p:txBody>
      </p:sp>
      <p:sp>
        <p:nvSpPr>
          <p:cNvPr id="61" name="Shape 59"/>
          <p:cNvSpPr/>
          <p:nvPr/>
        </p:nvSpPr>
        <p:spPr>
          <a:xfrm>
            <a:off x="4297680" y="2743200"/>
            <a:ext cx="1371600" cy="274320"/>
          </a:xfrm>
          <a:prstGeom prst="rect">
            <a:avLst/>
          </a:prstGeom>
          <a:solidFill>
            <a:srgbClr val="FFFFFF"/>
          </a:solidFill>
          <a:ln w="6350">
            <a:solidFill>
              <a:srgbClr val="97BC62"/>
            </a:solidFill>
            <a:prstDash val="solid"/>
          </a:ln>
        </p:spPr>
      </p:sp>
      <p:sp>
        <p:nvSpPr>
          <p:cNvPr id="62" name="Text 60"/>
          <p:cNvSpPr/>
          <p:nvPr/>
        </p:nvSpPr>
        <p:spPr>
          <a:xfrm>
            <a:off x="4297680" y="2743200"/>
            <a:ext cx="137160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886</a:t>
            </a:r>
            <a:endParaRPr lang="en-US" sz="1000" dirty="0"/>
          </a:p>
        </p:txBody>
      </p:sp>
      <p:sp>
        <p:nvSpPr>
          <p:cNvPr id="63" name="Shape 61"/>
          <p:cNvSpPr/>
          <p:nvPr/>
        </p:nvSpPr>
        <p:spPr>
          <a:xfrm>
            <a:off x="5669280" y="2743200"/>
            <a:ext cx="1371600" cy="274320"/>
          </a:xfrm>
          <a:prstGeom prst="rect">
            <a:avLst/>
          </a:prstGeom>
          <a:solidFill>
            <a:srgbClr val="FFFFFF"/>
          </a:solidFill>
          <a:ln w="6350">
            <a:solidFill>
              <a:srgbClr val="97BC62"/>
            </a:solidFill>
            <a:prstDash val="solid"/>
          </a:ln>
        </p:spPr>
      </p:sp>
      <p:sp>
        <p:nvSpPr>
          <p:cNvPr id="64" name="Text 62"/>
          <p:cNvSpPr/>
          <p:nvPr/>
        </p:nvSpPr>
        <p:spPr>
          <a:xfrm>
            <a:off x="5669280" y="2743200"/>
            <a:ext cx="137160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295</a:t>
            </a:r>
            <a:endParaRPr lang="en-US" sz="1000" dirty="0"/>
          </a:p>
        </p:txBody>
      </p:sp>
      <p:sp>
        <p:nvSpPr>
          <p:cNvPr id="65" name="Shape 63"/>
          <p:cNvSpPr/>
          <p:nvPr/>
        </p:nvSpPr>
        <p:spPr>
          <a:xfrm>
            <a:off x="7040880" y="2743200"/>
            <a:ext cx="1188720" cy="274320"/>
          </a:xfrm>
          <a:prstGeom prst="rect">
            <a:avLst/>
          </a:prstGeom>
          <a:solidFill>
            <a:srgbClr val="FFFFFF"/>
          </a:solidFill>
          <a:ln w="6350">
            <a:solidFill>
              <a:srgbClr val="97BC62"/>
            </a:solidFill>
            <a:prstDash val="solid"/>
          </a:ln>
        </p:spPr>
      </p:sp>
      <p:sp>
        <p:nvSpPr>
          <p:cNvPr id="66" name="Text 64"/>
          <p:cNvSpPr/>
          <p:nvPr/>
        </p:nvSpPr>
        <p:spPr>
          <a:xfrm>
            <a:off x="7040880" y="2743200"/>
            <a:ext cx="118872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0.06</a:t>
            </a:r>
            <a:endParaRPr lang="en-US" sz="1000" dirty="0"/>
          </a:p>
        </p:txBody>
      </p:sp>
      <p:sp>
        <p:nvSpPr>
          <p:cNvPr id="67" name="Shape 65"/>
          <p:cNvSpPr/>
          <p:nvPr/>
        </p:nvSpPr>
        <p:spPr>
          <a:xfrm>
            <a:off x="457200" y="3017520"/>
            <a:ext cx="1645920" cy="274320"/>
          </a:xfrm>
          <a:prstGeom prst="rect">
            <a:avLst/>
          </a:prstGeom>
          <a:solidFill>
            <a:srgbClr val="FFFFFF"/>
          </a:solidFill>
          <a:ln w="6350">
            <a:solidFill>
              <a:srgbClr val="97BC62"/>
            </a:solidFill>
            <a:prstDash val="solid"/>
          </a:ln>
        </p:spPr>
      </p:sp>
      <p:sp>
        <p:nvSpPr>
          <p:cNvPr id="68" name="Text 66"/>
          <p:cNvSpPr/>
          <p:nvPr/>
        </p:nvSpPr>
        <p:spPr>
          <a:xfrm>
            <a:off x="457200" y="3017520"/>
            <a:ext cx="164592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豆荚颜色</a:t>
            </a:r>
            <a:endParaRPr lang="en-US" sz="1000" dirty="0"/>
          </a:p>
        </p:txBody>
      </p:sp>
      <p:sp>
        <p:nvSpPr>
          <p:cNvPr id="69" name="Shape 67"/>
          <p:cNvSpPr/>
          <p:nvPr/>
        </p:nvSpPr>
        <p:spPr>
          <a:xfrm>
            <a:off x="2103120" y="3017520"/>
            <a:ext cx="1097280" cy="274320"/>
          </a:xfrm>
          <a:prstGeom prst="rect">
            <a:avLst/>
          </a:prstGeom>
          <a:solidFill>
            <a:srgbClr val="FFFFFF"/>
          </a:solidFill>
          <a:ln w="6350">
            <a:solidFill>
              <a:srgbClr val="97BC62"/>
            </a:solidFill>
            <a:prstDash val="solid"/>
          </a:ln>
        </p:spPr>
      </p:sp>
      <p:sp>
        <p:nvSpPr>
          <p:cNvPr id="70" name="Text 68"/>
          <p:cNvSpPr/>
          <p:nvPr/>
        </p:nvSpPr>
        <p:spPr>
          <a:xfrm>
            <a:off x="2103120" y="3017520"/>
            <a:ext cx="109728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428</a:t>
            </a:r>
            <a:endParaRPr lang="en-US" sz="1000" dirty="0"/>
          </a:p>
        </p:txBody>
      </p:sp>
      <p:sp>
        <p:nvSpPr>
          <p:cNvPr id="71" name="Shape 69"/>
          <p:cNvSpPr/>
          <p:nvPr/>
        </p:nvSpPr>
        <p:spPr>
          <a:xfrm>
            <a:off x="3200400" y="3017520"/>
            <a:ext cx="1097280" cy="274320"/>
          </a:xfrm>
          <a:prstGeom prst="rect">
            <a:avLst/>
          </a:prstGeom>
          <a:solidFill>
            <a:srgbClr val="FFFFFF"/>
          </a:solidFill>
          <a:ln w="6350">
            <a:solidFill>
              <a:srgbClr val="97BC62"/>
            </a:solidFill>
            <a:prstDash val="solid"/>
          </a:ln>
        </p:spPr>
      </p:sp>
      <p:sp>
        <p:nvSpPr>
          <p:cNvPr id="72" name="Text 70"/>
          <p:cNvSpPr/>
          <p:nvPr/>
        </p:nvSpPr>
        <p:spPr>
          <a:xfrm>
            <a:off x="3200400" y="3017520"/>
            <a:ext cx="109728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152</a:t>
            </a:r>
            <a:endParaRPr lang="en-US" sz="1000" dirty="0"/>
          </a:p>
        </p:txBody>
      </p:sp>
      <p:sp>
        <p:nvSpPr>
          <p:cNvPr id="73" name="Shape 71"/>
          <p:cNvSpPr/>
          <p:nvPr/>
        </p:nvSpPr>
        <p:spPr>
          <a:xfrm>
            <a:off x="4297680" y="3017520"/>
            <a:ext cx="1371600" cy="274320"/>
          </a:xfrm>
          <a:prstGeom prst="rect">
            <a:avLst/>
          </a:prstGeom>
          <a:solidFill>
            <a:srgbClr val="FFFFFF"/>
          </a:solidFill>
          <a:ln w="6350">
            <a:solidFill>
              <a:srgbClr val="97BC62"/>
            </a:solidFill>
            <a:prstDash val="solid"/>
          </a:ln>
        </p:spPr>
      </p:sp>
      <p:sp>
        <p:nvSpPr>
          <p:cNvPr id="74" name="Text 72"/>
          <p:cNvSpPr/>
          <p:nvPr/>
        </p:nvSpPr>
        <p:spPr>
          <a:xfrm>
            <a:off x="4297680" y="3017520"/>
            <a:ext cx="137160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435</a:t>
            </a:r>
            <a:endParaRPr lang="en-US" sz="1000" dirty="0"/>
          </a:p>
        </p:txBody>
      </p:sp>
      <p:sp>
        <p:nvSpPr>
          <p:cNvPr id="75" name="Shape 73"/>
          <p:cNvSpPr/>
          <p:nvPr/>
        </p:nvSpPr>
        <p:spPr>
          <a:xfrm>
            <a:off x="5669280" y="3017520"/>
            <a:ext cx="1371600" cy="274320"/>
          </a:xfrm>
          <a:prstGeom prst="rect">
            <a:avLst/>
          </a:prstGeom>
          <a:solidFill>
            <a:srgbClr val="FFFFFF"/>
          </a:solidFill>
          <a:ln w="6350">
            <a:solidFill>
              <a:srgbClr val="97BC62"/>
            </a:solidFill>
            <a:prstDash val="solid"/>
          </a:ln>
        </p:spPr>
      </p:sp>
      <p:sp>
        <p:nvSpPr>
          <p:cNvPr id="76" name="Text 74"/>
          <p:cNvSpPr/>
          <p:nvPr/>
        </p:nvSpPr>
        <p:spPr>
          <a:xfrm>
            <a:off x="5669280" y="3017520"/>
            <a:ext cx="137160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145</a:t>
            </a:r>
            <a:endParaRPr lang="en-US" sz="1000" dirty="0"/>
          </a:p>
        </p:txBody>
      </p:sp>
      <p:sp>
        <p:nvSpPr>
          <p:cNvPr id="77" name="Shape 75"/>
          <p:cNvSpPr/>
          <p:nvPr/>
        </p:nvSpPr>
        <p:spPr>
          <a:xfrm>
            <a:off x="7040880" y="3017520"/>
            <a:ext cx="1188720" cy="274320"/>
          </a:xfrm>
          <a:prstGeom prst="rect">
            <a:avLst/>
          </a:prstGeom>
          <a:solidFill>
            <a:srgbClr val="FFFFFF"/>
          </a:solidFill>
          <a:ln w="6350">
            <a:solidFill>
              <a:srgbClr val="97BC62"/>
            </a:solidFill>
            <a:prstDash val="solid"/>
          </a:ln>
        </p:spPr>
      </p:sp>
      <p:sp>
        <p:nvSpPr>
          <p:cNvPr id="78" name="Text 76"/>
          <p:cNvSpPr/>
          <p:nvPr/>
        </p:nvSpPr>
        <p:spPr>
          <a:xfrm>
            <a:off x="7040880" y="3017520"/>
            <a:ext cx="118872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0.45</a:t>
            </a:r>
            <a:endParaRPr lang="en-US" sz="1000" dirty="0"/>
          </a:p>
        </p:txBody>
      </p:sp>
      <p:sp>
        <p:nvSpPr>
          <p:cNvPr id="79" name="Shape 77"/>
          <p:cNvSpPr/>
          <p:nvPr/>
        </p:nvSpPr>
        <p:spPr>
          <a:xfrm>
            <a:off x="457200" y="3291840"/>
            <a:ext cx="1645920" cy="274320"/>
          </a:xfrm>
          <a:prstGeom prst="rect">
            <a:avLst/>
          </a:prstGeom>
          <a:solidFill>
            <a:srgbClr val="FFFFFF"/>
          </a:solidFill>
          <a:ln w="6350">
            <a:solidFill>
              <a:srgbClr val="97BC62"/>
            </a:solidFill>
            <a:prstDash val="solid"/>
          </a:ln>
        </p:spPr>
      </p:sp>
      <p:sp>
        <p:nvSpPr>
          <p:cNvPr id="80" name="Text 78"/>
          <p:cNvSpPr/>
          <p:nvPr/>
        </p:nvSpPr>
        <p:spPr>
          <a:xfrm>
            <a:off x="457200" y="3291840"/>
            <a:ext cx="164592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花位置</a:t>
            </a:r>
            <a:endParaRPr lang="en-US" sz="1000" dirty="0"/>
          </a:p>
        </p:txBody>
      </p:sp>
      <p:sp>
        <p:nvSpPr>
          <p:cNvPr id="81" name="Shape 79"/>
          <p:cNvSpPr/>
          <p:nvPr/>
        </p:nvSpPr>
        <p:spPr>
          <a:xfrm>
            <a:off x="2103120" y="3291840"/>
            <a:ext cx="1097280" cy="274320"/>
          </a:xfrm>
          <a:prstGeom prst="rect">
            <a:avLst/>
          </a:prstGeom>
          <a:solidFill>
            <a:srgbClr val="FFFFFF"/>
          </a:solidFill>
          <a:ln w="6350">
            <a:solidFill>
              <a:srgbClr val="97BC62"/>
            </a:solidFill>
            <a:prstDash val="solid"/>
          </a:ln>
        </p:spPr>
      </p:sp>
      <p:sp>
        <p:nvSpPr>
          <p:cNvPr id="82" name="Text 80"/>
          <p:cNvSpPr/>
          <p:nvPr/>
        </p:nvSpPr>
        <p:spPr>
          <a:xfrm>
            <a:off x="2103120" y="3291840"/>
            <a:ext cx="109728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651</a:t>
            </a:r>
            <a:endParaRPr lang="en-US" sz="1000" dirty="0"/>
          </a:p>
        </p:txBody>
      </p:sp>
      <p:sp>
        <p:nvSpPr>
          <p:cNvPr id="83" name="Shape 81"/>
          <p:cNvSpPr/>
          <p:nvPr/>
        </p:nvSpPr>
        <p:spPr>
          <a:xfrm>
            <a:off x="3200400" y="3291840"/>
            <a:ext cx="1097280" cy="274320"/>
          </a:xfrm>
          <a:prstGeom prst="rect">
            <a:avLst/>
          </a:prstGeom>
          <a:solidFill>
            <a:srgbClr val="FFFFFF"/>
          </a:solidFill>
          <a:ln w="6350">
            <a:solidFill>
              <a:srgbClr val="97BC62"/>
            </a:solidFill>
            <a:prstDash val="solid"/>
          </a:ln>
        </p:spPr>
      </p:sp>
      <p:sp>
        <p:nvSpPr>
          <p:cNvPr id="84" name="Text 82"/>
          <p:cNvSpPr/>
          <p:nvPr/>
        </p:nvSpPr>
        <p:spPr>
          <a:xfrm>
            <a:off x="3200400" y="3291840"/>
            <a:ext cx="109728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207</a:t>
            </a:r>
            <a:endParaRPr lang="en-US" sz="1000" dirty="0"/>
          </a:p>
        </p:txBody>
      </p:sp>
      <p:sp>
        <p:nvSpPr>
          <p:cNvPr id="85" name="Shape 83"/>
          <p:cNvSpPr/>
          <p:nvPr/>
        </p:nvSpPr>
        <p:spPr>
          <a:xfrm>
            <a:off x="4297680" y="3291840"/>
            <a:ext cx="1371600" cy="274320"/>
          </a:xfrm>
          <a:prstGeom prst="rect">
            <a:avLst/>
          </a:prstGeom>
          <a:solidFill>
            <a:srgbClr val="FFFFFF"/>
          </a:solidFill>
          <a:ln w="6350">
            <a:solidFill>
              <a:srgbClr val="97BC62"/>
            </a:solidFill>
            <a:prstDash val="solid"/>
          </a:ln>
        </p:spPr>
      </p:sp>
      <p:sp>
        <p:nvSpPr>
          <p:cNvPr id="86" name="Text 84"/>
          <p:cNvSpPr/>
          <p:nvPr/>
        </p:nvSpPr>
        <p:spPr>
          <a:xfrm>
            <a:off x="4297680" y="3291840"/>
            <a:ext cx="137160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644</a:t>
            </a:r>
            <a:endParaRPr lang="en-US" sz="1000" dirty="0"/>
          </a:p>
        </p:txBody>
      </p:sp>
      <p:sp>
        <p:nvSpPr>
          <p:cNvPr id="87" name="Shape 85"/>
          <p:cNvSpPr/>
          <p:nvPr/>
        </p:nvSpPr>
        <p:spPr>
          <a:xfrm>
            <a:off x="5669280" y="3291840"/>
            <a:ext cx="1371600" cy="274320"/>
          </a:xfrm>
          <a:prstGeom prst="rect">
            <a:avLst/>
          </a:prstGeom>
          <a:solidFill>
            <a:srgbClr val="FFFFFF"/>
          </a:solidFill>
          <a:ln w="6350">
            <a:solidFill>
              <a:srgbClr val="97BC62"/>
            </a:solidFill>
            <a:prstDash val="solid"/>
          </a:ln>
        </p:spPr>
      </p:sp>
      <p:sp>
        <p:nvSpPr>
          <p:cNvPr id="88" name="Text 86"/>
          <p:cNvSpPr/>
          <p:nvPr/>
        </p:nvSpPr>
        <p:spPr>
          <a:xfrm>
            <a:off x="5669280" y="3291840"/>
            <a:ext cx="137160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214</a:t>
            </a:r>
            <a:endParaRPr lang="en-US" sz="1000" dirty="0"/>
          </a:p>
        </p:txBody>
      </p:sp>
      <p:sp>
        <p:nvSpPr>
          <p:cNvPr id="89" name="Shape 87"/>
          <p:cNvSpPr/>
          <p:nvPr/>
        </p:nvSpPr>
        <p:spPr>
          <a:xfrm>
            <a:off x="7040880" y="3291840"/>
            <a:ext cx="1188720" cy="274320"/>
          </a:xfrm>
          <a:prstGeom prst="rect">
            <a:avLst/>
          </a:prstGeom>
          <a:solidFill>
            <a:srgbClr val="FFFFFF"/>
          </a:solidFill>
          <a:ln w="6350">
            <a:solidFill>
              <a:srgbClr val="97BC62"/>
            </a:solidFill>
            <a:prstDash val="solid"/>
          </a:ln>
        </p:spPr>
      </p:sp>
      <p:sp>
        <p:nvSpPr>
          <p:cNvPr id="90" name="Text 88"/>
          <p:cNvSpPr/>
          <p:nvPr/>
        </p:nvSpPr>
        <p:spPr>
          <a:xfrm>
            <a:off x="7040880" y="3291840"/>
            <a:ext cx="118872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0.32</a:t>
            </a:r>
            <a:endParaRPr lang="en-US" sz="1000" dirty="0"/>
          </a:p>
        </p:txBody>
      </p:sp>
      <p:sp>
        <p:nvSpPr>
          <p:cNvPr id="91" name="Shape 89"/>
          <p:cNvSpPr/>
          <p:nvPr/>
        </p:nvSpPr>
        <p:spPr>
          <a:xfrm>
            <a:off x="457200" y="3566160"/>
            <a:ext cx="1645920" cy="274320"/>
          </a:xfrm>
          <a:prstGeom prst="rect">
            <a:avLst/>
          </a:prstGeom>
          <a:solidFill>
            <a:srgbClr val="FFFFFF"/>
          </a:solidFill>
          <a:ln w="6350">
            <a:solidFill>
              <a:srgbClr val="97BC62"/>
            </a:solidFill>
            <a:prstDash val="solid"/>
          </a:ln>
        </p:spPr>
      </p:sp>
      <p:sp>
        <p:nvSpPr>
          <p:cNvPr id="92" name="Text 90"/>
          <p:cNvSpPr/>
          <p:nvPr/>
        </p:nvSpPr>
        <p:spPr>
          <a:xfrm>
            <a:off x="457200" y="3566160"/>
            <a:ext cx="164592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茎高度</a:t>
            </a:r>
            <a:endParaRPr lang="en-US" sz="1000" dirty="0"/>
          </a:p>
        </p:txBody>
      </p:sp>
      <p:sp>
        <p:nvSpPr>
          <p:cNvPr id="93" name="Shape 91"/>
          <p:cNvSpPr/>
          <p:nvPr/>
        </p:nvSpPr>
        <p:spPr>
          <a:xfrm>
            <a:off x="2103120" y="3566160"/>
            <a:ext cx="1097280" cy="274320"/>
          </a:xfrm>
          <a:prstGeom prst="rect">
            <a:avLst/>
          </a:prstGeom>
          <a:solidFill>
            <a:srgbClr val="FFFFFF"/>
          </a:solidFill>
          <a:ln w="6350">
            <a:solidFill>
              <a:srgbClr val="97BC62"/>
            </a:solidFill>
            <a:prstDash val="solid"/>
          </a:ln>
        </p:spPr>
      </p:sp>
      <p:sp>
        <p:nvSpPr>
          <p:cNvPr id="94" name="Text 92"/>
          <p:cNvSpPr/>
          <p:nvPr/>
        </p:nvSpPr>
        <p:spPr>
          <a:xfrm>
            <a:off x="2103120" y="3566160"/>
            <a:ext cx="109728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787</a:t>
            </a:r>
            <a:endParaRPr lang="en-US" sz="1000" dirty="0"/>
          </a:p>
        </p:txBody>
      </p:sp>
      <p:sp>
        <p:nvSpPr>
          <p:cNvPr id="95" name="Shape 93"/>
          <p:cNvSpPr/>
          <p:nvPr/>
        </p:nvSpPr>
        <p:spPr>
          <a:xfrm>
            <a:off x="3200400" y="3566160"/>
            <a:ext cx="1097280" cy="274320"/>
          </a:xfrm>
          <a:prstGeom prst="rect">
            <a:avLst/>
          </a:prstGeom>
          <a:solidFill>
            <a:srgbClr val="FFFFFF"/>
          </a:solidFill>
          <a:ln w="6350">
            <a:solidFill>
              <a:srgbClr val="97BC62"/>
            </a:solidFill>
            <a:prstDash val="solid"/>
          </a:ln>
        </p:spPr>
      </p:sp>
      <p:sp>
        <p:nvSpPr>
          <p:cNvPr id="96" name="Text 94"/>
          <p:cNvSpPr/>
          <p:nvPr/>
        </p:nvSpPr>
        <p:spPr>
          <a:xfrm>
            <a:off x="3200400" y="3566160"/>
            <a:ext cx="109728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277</a:t>
            </a:r>
            <a:endParaRPr lang="en-US" sz="1000" dirty="0"/>
          </a:p>
        </p:txBody>
      </p:sp>
      <p:sp>
        <p:nvSpPr>
          <p:cNvPr id="97" name="Shape 95"/>
          <p:cNvSpPr/>
          <p:nvPr/>
        </p:nvSpPr>
        <p:spPr>
          <a:xfrm>
            <a:off x="4297680" y="3566160"/>
            <a:ext cx="1371600" cy="274320"/>
          </a:xfrm>
          <a:prstGeom prst="rect">
            <a:avLst/>
          </a:prstGeom>
          <a:solidFill>
            <a:srgbClr val="FFFFFF"/>
          </a:solidFill>
          <a:ln w="6350">
            <a:solidFill>
              <a:srgbClr val="97BC62"/>
            </a:solidFill>
            <a:prstDash val="solid"/>
          </a:ln>
        </p:spPr>
      </p:sp>
      <p:sp>
        <p:nvSpPr>
          <p:cNvPr id="98" name="Text 96"/>
          <p:cNvSpPr/>
          <p:nvPr/>
        </p:nvSpPr>
        <p:spPr>
          <a:xfrm>
            <a:off x="4297680" y="3566160"/>
            <a:ext cx="137160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798</a:t>
            </a:r>
            <a:endParaRPr lang="en-US" sz="1000" dirty="0"/>
          </a:p>
        </p:txBody>
      </p:sp>
      <p:sp>
        <p:nvSpPr>
          <p:cNvPr id="99" name="Shape 97"/>
          <p:cNvSpPr/>
          <p:nvPr/>
        </p:nvSpPr>
        <p:spPr>
          <a:xfrm>
            <a:off x="5669280" y="3566160"/>
            <a:ext cx="1371600" cy="274320"/>
          </a:xfrm>
          <a:prstGeom prst="rect">
            <a:avLst/>
          </a:prstGeom>
          <a:solidFill>
            <a:srgbClr val="FFFFFF"/>
          </a:solidFill>
          <a:ln w="6350">
            <a:solidFill>
              <a:srgbClr val="97BC62"/>
            </a:solidFill>
            <a:prstDash val="solid"/>
          </a:ln>
        </p:spPr>
      </p:sp>
      <p:sp>
        <p:nvSpPr>
          <p:cNvPr id="100" name="Text 98"/>
          <p:cNvSpPr/>
          <p:nvPr/>
        </p:nvSpPr>
        <p:spPr>
          <a:xfrm>
            <a:off x="5669280" y="3566160"/>
            <a:ext cx="137160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266</a:t>
            </a:r>
            <a:endParaRPr lang="en-US" sz="1000" dirty="0"/>
          </a:p>
        </p:txBody>
      </p:sp>
      <p:sp>
        <p:nvSpPr>
          <p:cNvPr id="101" name="Shape 99"/>
          <p:cNvSpPr/>
          <p:nvPr/>
        </p:nvSpPr>
        <p:spPr>
          <a:xfrm>
            <a:off x="7040880" y="3566160"/>
            <a:ext cx="1188720" cy="274320"/>
          </a:xfrm>
          <a:prstGeom prst="rect">
            <a:avLst/>
          </a:prstGeom>
          <a:solidFill>
            <a:srgbClr val="FFFFFF"/>
          </a:solidFill>
          <a:ln w="6350">
            <a:solidFill>
              <a:srgbClr val="97BC62"/>
            </a:solidFill>
            <a:prstDash val="solid"/>
          </a:ln>
        </p:spPr>
      </p:sp>
      <p:sp>
        <p:nvSpPr>
          <p:cNvPr id="102" name="Text 100"/>
          <p:cNvSpPr/>
          <p:nvPr/>
        </p:nvSpPr>
        <p:spPr>
          <a:xfrm>
            <a:off x="7040880" y="3566160"/>
            <a:ext cx="1188720" cy="274320"/>
          </a:xfrm>
          <a:prstGeom prst="rect">
            <a:avLst/>
          </a:prstGeom>
          <a:noFill/>
          <a:ln/>
        </p:spPr>
        <p:txBody>
          <a:bodyPr wrap="square" rtlCol="0" anchor="ctr"/>
          <a:lstStyle/>
          <a:p>
            <a:pPr algn="ctr" indent="0" marL="0">
              <a:buNone/>
            </a:pPr>
            <a:r>
              <a:rPr lang="en-US" sz="1000" dirty="0">
                <a:solidFill>
                  <a:srgbClr val="2C5F2D"/>
                </a:solidFill>
                <a:latin typeface="Calibri" pitchFamily="34" charset="0"/>
                <a:ea typeface="Calibri" pitchFamily="34" charset="-122"/>
                <a:cs typeface="Calibri" pitchFamily="34" charset="-120"/>
              </a:rPr>
              <a:t>0.60</a:t>
            </a:r>
            <a:endParaRPr lang="en-US" sz="1000" dirty="0"/>
          </a:p>
        </p:txBody>
      </p:sp>
      <p:sp>
        <p:nvSpPr>
          <p:cNvPr id="103" name="Shape 101"/>
          <p:cNvSpPr/>
          <p:nvPr/>
        </p:nvSpPr>
        <p:spPr>
          <a:xfrm>
            <a:off x="457200" y="3840480"/>
            <a:ext cx="1645920" cy="274320"/>
          </a:xfrm>
          <a:prstGeom prst="rect">
            <a:avLst/>
          </a:prstGeom>
          <a:solidFill>
            <a:srgbClr val="F0F4E8"/>
          </a:solidFill>
          <a:ln w="6350">
            <a:solidFill>
              <a:srgbClr val="97BC62"/>
            </a:solidFill>
            <a:prstDash val="solid"/>
          </a:ln>
        </p:spPr>
      </p:sp>
      <p:sp>
        <p:nvSpPr>
          <p:cNvPr id="104" name="Text 102"/>
          <p:cNvSpPr/>
          <p:nvPr/>
        </p:nvSpPr>
        <p:spPr>
          <a:xfrm>
            <a:off x="457200" y="3840480"/>
            <a:ext cx="1645920" cy="274320"/>
          </a:xfrm>
          <a:prstGeom prst="rect">
            <a:avLst/>
          </a:prstGeom>
          <a:noFill/>
          <a:ln/>
        </p:spPr>
        <p:txBody>
          <a:bodyPr wrap="square" rtlCol="0" anchor="ctr"/>
          <a:lstStyle/>
          <a:p>
            <a:pPr algn="ctr" indent="0" marL="0">
              <a:buNone/>
            </a:pPr>
            <a:r>
              <a:rPr lang="en-US" sz="1000" b="1" dirty="0">
                <a:solidFill>
                  <a:srgbClr val="2C5F2D"/>
                </a:solidFill>
                <a:latin typeface="Calibri" pitchFamily="34" charset="0"/>
                <a:ea typeface="Calibri" pitchFamily="34" charset="-122"/>
                <a:cs typeface="Calibri" pitchFamily="34" charset="-120"/>
              </a:rPr>
              <a:t>合计</a:t>
            </a:r>
            <a:endParaRPr lang="en-US" sz="1000" dirty="0"/>
          </a:p>
        </p:txBody>
      </p:sp>
      <p:sp>
        <p:nvSpPr>
          <p:cNvPr id="105" name="Shape 103"/>
          <p:cNvSpPr/>
          <p:nvPr/>
        </p:nvSpPr>
        <p:spPr>
          <a:xfrm>
            <a:off x="2103120" y="3840480"/>
            <a:ext cx="1097280" cy="274320"/>
          </a:xfrm>
          <a:prstGeom prst="rect">
            <a:avLst/>
          </a:prstGeom>
          <a:solidFill>
            <a:srgbClr val="F0F4E8"/>
          </a:solidFill>
          <a:ln w="6350">
            <a:solidFill>
              <a:srgbClr val="97BC62"/>
            </a:solidFill>
            <a:prstDash val="solid"/>
          </a:ln>
        </p:spPr>
      </p:sp>
      <p:sp>
        <p:nvSpPr>
          <p:cNvPr id="106" name="Shape 104"/>
          <p:cNvSpPr/>
          <p:nvPr/>
        </p:nvSpPr>
        <p:spPr>
          <a:xfrm>
            <a:off x="3200400" y="3840480"/>
            <a:ext cx="1097280" cy="274320"/>
          </a:xfrm>
          <a:prstGeom prst="rect">
            <a:avLst/>
          </a:prstGeom>
          <a:solidFill>
            <a:srgbClr val="F0F4E8"/>
          </a:solidFill>
          <a:ln w="6350">
            <a:solidFill>
              <a:srgbClr val="97BC62"/>
            </a:solidFill>
            <a:prstDash val="solid"/>
          </a:ln>
        </p:spPr>
      </p:sp>
      <p:sp>
        <p:nvSpPr>
          <p:cNvPr id="107" name="Shape 105"/>
          <p:cNvSpPr/>
          <p:nvPr/>
        </p:nvSpPr>
        <p:spPr>
          <a:xfrm>
            <a:off x="4297680" y="3840480"/>
            <a:ext cx="1371600" cy="274320"/>
          </a:xfrm>
          <a:prstGeom prst="rect">
            <a:avLst/>
          </a:prstGeom>
          <a:solidFill>
            <a:srgbClr val="F0F4E8"/>
          </a:solidFill>
          <a:ln w="6350">
            <a:solidFill>
              <a:srgbClr val="97BC62"/>
            </a:solidFill>
            <a:prstDash val="solid"/>
          </a:ln>
        </p:spPr>
      </p:sp>
      <p:sp>
        <p:nvSpPr>
          <p:cNvPr id="108" name="Shape 106"/>
          <p:cNvSpPr/>
          <p:nvPr/>
        </p:nvSpPr>
        <p:spPr>
          <a:xfrm>
            <a:off x="5669280" y="3840480"/>
            <a:ext cx="1371600" cy="274320"/>
          </a:xfrm>
          <a:prstGeom prst="rect">
            <a:avLst/>
          </a:prstGeom>
          <a:solidFill>
            <a:srgbClr val="F0F4E8"/>
          </a:solidFill>
          <a:ln w="6350">
            <a:solidFill>
              <a:srgbClr val="97BC62"/>
            </a:solidFill>
            <a:prstDash val="solid"/>
          </a:ln>
        </p:spPr>
      </p:sp>
      <p:sp>
        <p:nvSpPr>
          <p:cNvPr id="109" name="Shape 107"/>
          <p:cNvSpPr/>
          <p:nvPr/>
        </p:nvSpPr>
        <p:spPr>
          <a:xfrm>
            <a:off x="7040880" y="3840480"/>
            <a:ext cx="1188720" cy="274320"/>
          </a:xfrm>
          <a:prstGeom prst="rect">
            <a:avLst/>
          </a:prstGeom>
          <a:solidFill>
            <a:srgbClr val="F0F4E8"/>
          </a:solidFill>
          <a:ln w="6350">
            <a:solidFill>
              <a:srgbClr val="97BC62"/>
            </a:solidFill>
            <a:prstDash val="solid"/>
          </a:ln>
        </p:spPr>
      </p:sp>
      <p:sp>
        <p:nvSpPr>
          <p:cNvPr id="110" name="Text 108"/>
          <p:cNvSpPr/>
          <p:nvPr/>
        </p:nvSpPr>
        <p:spPr>
          <a:xfrm>
            <a:off x="7040880" y="3840480"/>
            <a:ext cx="1188720" cy="274320"/>
          </a:xfrm>
          <a:prstGeom prst="rect">
            <a:avLst/>
          </a:prstGeom>
          <a:noFill/>
          <a:ln/>
        </p:spPr>
        <p:txBody>
          <a:bodyPr wrap="square" rtlCol="0" anchor="ctr"/>
          <a:lstStyle/>
          <a:p>
            <a:pPr algn="ctr" indent="0" marL="0">
              <a:buNone/>
            </a:pPr>
            <a:r>
              <a:rPr lang="en-US" sz="1000" b="1" dirty="0">
                <a:solidFill>
                  <a:srgbClr val="D4A843"/>
                </a:solidFill>
                <a:latin typeface="Calibri" pitchFamily="34" charset="0"/>
                <a:ea typeface="Calibri" pitchFamily="34" charset="-122"/>
                <a:cs typeface="Calibri" pitchFamily="34" charset="-120"/>
              </a:rPr>
              <a:t>chi-sq = 2.09</a:t>
            </a:r>
            <a:endParaRPr lang="en-US" sz="1000" dirty="0"/>
          </a:p>
        </p:txBody>
      </p:sp>
      <p:sp>
        <p:nvSpPr>
          <p:cNvPr id="111" name="Shape 109"/>
          <p:cNvSpPr/>
          <p:nvPr/>
        </p:nvSpPr>
        <p:spPr>
          <a:xfrm>
            <a:off x="457200" y="4251960"/>
            <a:ext cx="8229600" cy="594360"/>
          </a:xfrm>
          <a:prstGeom prst="rect">
            <a:avLst/>
          </a:prstGeom>
          <a:solidFill>
            <a:srgbClr val="FFFFFF"/>
          </a:solidFill>
          <a:ln w="25400">
            <a:solidFill>
              <a:srgbClr val="2C5F2D"/>
            </a:solidFill>
            <a:prstDash val="solid"/>
          </a:ln>
        </p:spPr>
      </p:sp>
      <p:sp>
        <p:nvSpPr>
          <p:cNvPr id="112" name="Text 110"/>
          <p:cNvSpPr/>
          <p:nvPr/>
        </p:nvSpPr>
        <p:spPr>
          <a:xfrm>
            <a:off x="640080" y="4251960"/>
            <a:ext cx="7863840" cy="594360"/>
          </a:xfrm>
          <a:prstGeom prst="rect">
            <a:avLst/>
          </a:prstGeom>
          <a:noFill/>
          <a:ln/>
        </p:spPr>
        <p:txBody>
          <a:bodyPr wrap="square" rtlCol="0" anchor="ctr"/>
          <a:lstStyle/>
          <a:p>
            <a:pPr indent="0" marL="0">
              <a:spcAft>
                <a:spcPts val="300"/>
              </a:spcAft>
              <a:buNone/>
            </a:pPr>
            <a:r>
              <a:rPr lang="en-US" sz="1200" b="1" dirty="0">
                <a:solidFill>
                  <a:srgbClr val="2C5F2D"/>
                </a:solidFill>
                <a:latin typeface="Calibri" pitchFamily="34" charset="0"/>
                <a:ea typeface="Calibri" pitchFamily="34" charset="-122"/>
                <a:cs typeface="Calibri" pitchFamily="34" charset="-120"/>
              </a:rPr>
              <a:t>总 chi-sq = 2.09，df = 7，临界值(0.05) = 14.067</a:t>
            </a:r>
            <a:endParaRPr lang="en-US" sz="1200" dirty="0"/>
          </a:p>
          <a:p>
            <a:pPr indent="0" marL="0">
              <a:spcAft>
                <a:spcPts val="300"/>
              </a:spcAft>
              <a:buNone/>
            </a:pPr>
            <a:r>
              <a:rPr lang="en-US" sz="1200" dirty="0">
                <a:solidFill>
                  <a:srgbClr val="2C5F2D"/>
                </a:solidFill>
                <a:latin typeface="Calibri" pitchFamily="34" charset="0"/>
                <a:ea typeface="Calibri" pitchFamily="34" charset="-122"/>
                <a:cs typeface="Calibri" pitchFamily="34" charset="-120"/>
              </a:rPr>
              <a:t>2.09 &lt;&lt; 14.067 → 所有数据均高度符合 3:1 理论比例，P &gt;&gt; 0.05</a:t>
            </a:r>
            <a:endParaRPr lang="en-US" sz="1200" dirty="0"/>
          </a:p>
        </p:txBody>
      </p:sp>
      <p:sp>
        <p:nvSpPr>
          <p:cNvPr id="113" name="Text 111"/>
          <p:cNvSpPr/>
          <p:nvPr/>
        </p:nvSpPr>
        <p:spPr>
          <a:xfrm>
            <a:off x="8046720" y="4777740"/>
            <a:ext cx="914400" cy="274320"/>
          </a:xfrm>
          <a:prstGeom prst="rect">
            <a:avLst/>
          </a:prstGeom>
          <a:noFill/>
          <a:ln/>
        </p:spPr>
        <p:txBody>
          <a:bodyPr wrap="square" rtlCol="0" anchor="ctr"/>
          <a:lstStyle/>
          <a:p>
            <a:pPr algn="r" indent="0" marL="0">
              <a:buNone/>
            </a:pPr>
            <a:r>
              <a:rPr lang="en-US" sz="1000" dirty="0">
                <a:solidFill>
                  <a:srgbClr val="6B8E5A"/>
                </a:solidFill>
                <a:latin typeface="Calibri" pitchFamily="34" charset="0"/>
                <a:ea typeface="Calibri" pitchFamily="34" charset="-122"/>
                <a:cs typeface="Calibri" pitchFamily="34" charset="-120"/>
              </a:rPr>
              <a:t>15 / 20</a:t>
            </a:r>
            <a:endParaRPr lang="en-US" sz="1000" dirty="0"/>
          </a:p>
        </p:txBody>
      </p:sp>
      <p:sp>
        <p:nvSpPr>
          <p:cNvPr id="114" name="Shape 112"/>
          <p:cNvSpPr/>
          <p:nvPr/>
        </p:nvSpPr>
        <p:spPr>
          <a:xfrm>
            <a:off x="0" y="5097780"/>
            <a:ext cx="9144000" cy="45720"/>
          </a:xfrm>
          <a:prstGeom prst="rect">
            <a:avLst/>
          </a:prstGeom>
          <a:solidFill>
            <a:srgbClr val="2C5F2D"/>
          </a:solidFill>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4A843"/>
          </a:solidFill>
          <a:ln/>
        </p:spPr>
      </p:sp>
      <p:sp>
        <p:nvSpPr>
          <p:cNvPr id="3" name="Text 1"/>
          <p:cNvSpPr/>
          <p:nvPr/>
        </p:nvSpPr>
        <p:spPr>
          <a:xfrm>
            <a:off x="457200" y="228600"/>
            <a:ext cx="8229600" cy="457200"/>
          </a:xfrm>
          <a:prstGeom prst="rect">
            <a:avLst/>
          </a:prstGeom>
          <a:noFill/>
          <a:ln/>
        </p:spPr>
        <p:txBody>
          <a:bodyPr wrap="square" rtlCol="0" anchor="ctr"/>
          <a:lstStyle/>
          <a:p>
            <a:pPr indent="0" marL="0">
              <a:buNone/>
            </a:pPr>
            <a:r>
              <a:rPr lang="en-US" sz="2800" b="1" dirty="0">
                <a:solidFill>
                  <a:srgbClr val="2C5F2D"/>
                </a:solidFill>
                <a:latin typeface="Georgia" pitchFamily="34" charset="0"/>
                <a:ea typeface="Georgia" pitchFamily="34" charset="-122"/>
                <a:cs typeface="Georgia" pitchFamily="34" charset="-120"/>
              </a:rPr>
              <a:t>趣闻：孟德尔的数据"太完美了"？</a:t>
            </a:r>
            <a:endParaRPr lang="en-US" sz="2800" dirty="0"/>
          </a:p>
        </p:txBody>
      </p:sp>
      <p:sp>
        <p:nvSpPr>
          <p:cNvPr id="4" name="Text 2"/>
          <p:cNvSpPr/>
          <p:nvPr/>
        </p:nvSpPr>
        <p:spPr>
          <a:xfrm>
            <a:off x="457200" y="685800"/>
            <a:ext cx="8229600" cy="274320"/>
          </a:xfrm>
          <a:prstGeom prst="rect">
            <a:avLst/>
          </a:prstGeom>
          <a:noFill/>
          <a:ln/>
        </p:spPr>
        <p:txBody>
          <a:bodyPr wrap="square" rtlCol="0" anchor="ctr"/>
          <a:lstStyle/>
          <a:p>
            <a:pPr indent="0" marL="0">
              <a:buNone/>
            </a:pPr>
            <a:r>
              <a:rPr lang="en-US" sz="1400" dirty="0">
                <a:solidFill>
                  <a:srgbClr val="6B8E5A"/>
                </a:solidFill>
                <a:latin typeface="Calibri" pitchFamily="34" charset="0"/>
                <a:ea typeface="Calibri" pitchFamily="34" charset="-122"/>
                <a:cs typeface="Calibri" pitchFamily="34" charset="-120"/>
              </a:rPr>
              <a:t>Were Mendel's Data "Too Perfect"? - Fisher's Controversy</a:t>
            </a:r>
            <a:endParaRPr lang="en-US" sz="1400" dirty="0"/>
          </a:p>
        </p:txBody>
      </p:sp>
      <p:sp>
        <p:nvSpPr>
          <p:cNvPr id="5" name="Shape 3"/>
          <p:cNvSpPr/>
          <p:nvPr/>
        </p:nvSpPr>
        <p:spPr>
          <a:xfrm>
            <a:off x="457200" y="1005840"/>
            <a:ext cx="1371600" cy="36576"/>
          </a:xfrm>
          <a:prstGeom prst="rect">
            <a:avLst/>
          </a:prstGeom>
          <a:solidFill>
            <a:srgbClr val="97BC62"/>
          </a:solidFill>
          <a:ln/>
        </p:spPr>
      </p:sp>
      <p:sp>
        <p:nvSpPr>
          <p:cNvPr id="6" name="Shape 4"/>
          <p:cNvSpPr/>
          <p:nvPr/>
        </p:nvSpPr>
        <p:spPr>
          <a:xfrm>
            <a:off x="457200" y="1280160"/>
            <a:ext cx="8229600" cy="1097280"/>
          </a:xfrm>
          <a:prstGeom prst="rect">
            <a:avLst/>
          </a:prstGeom>
          <a:solidFill>
            <a:srgbClr val="FFFFFF"/>
          </a:solidFill>
          <a:ln w="12700">
            <a:solidFill>
              <a:srgbClr val="D4A843"/>
            </a:solidFill>
            <a:prstDash val="solid"/>
          </a:ln>
        </p:spPr>
      </p:sp>
      <p:sp>
        <p:nvSpPr>
          <p:cNvPr id="7" name="Text 5"/>
          <p:cNvSpPr/>
          <p:nvPr/>
        </p:nvSpPr>
        <p:spPr>
          <a:xfrm>
            <a:off x="731520" y="1371600"/>
            <a:ext cx="7680960" cy="914400"/>
          </a:xfrm>
          <a:prstGeom prst="rect">
            <a:avLst/>
          </a:prstGeom>
          <a:noFill/>
          <a:ln/>
        </p:spPr>
        <p:txBody>
          <a:bodyPr wrap="square" rtlCol="0" anchor="ctr"/>
          <a:lstStyle/>
          <a:p>
            <a:pPr indent="0" marL="0">
              <a:buNone/>
            </a:pPr>
            <a:r>
              <a:rPr lang="en-US" sz="1300" dirty="0">
                <a:solidFill>
                  <a:srgbClr val="2C5F2D"/>
                </a:solidFill>
                <a:latin typeface="Calibri" pitchFamily="34" charset="0"/>
                <a:ea typeface="Calibri" pitchFamily="34" charset="-122"/>
                <a:cs typeface="Calibri" pitchFamily="34" charset="-120"/>
              </a:rPr>
              <a:t>1936年，著名统计学家 R.A. 费舍尔（Ronald Fisher）发表了一篇论文，指出孟德尔的实验数据与理论预期拟合得异常地好，暗示数据可能经过了某种"整理"。</a:t>
            </a:r>
            <a:endParaRPr lang="en-US" sz="1300" dirty="0"/>
          </a:p>
        </p:txBody>
      </p:sp>
      <p:sp>
        <p:nvSpPr>
          <p:cNvPr id="8" name="Text 6"/>
          <p:cNvSpPr/>
          <p:nvPr/>
        </p:nvSpPr>
        <p:spPr>
          <a:xfrm>
            <a:off x="457200" y="2560320"/>
            <a:ext cx="8229600" cy="320040"/>
          </a:xfrm>
          <a:prstGeom prst="rect">
            <a:avLst/>
          </a:prstGeom>
          <a:noFill/>
          <a:ln/>
        </p:spPr>
        <p:txBody>
          <a:bodyPr wrap="square" rtlCol="0" anchor="ctr"/>
          <a:lstStyle/>
          <a:p>
            <a:pPr indent="0" marL="0">
              <a:buNone/>
            </a:pPr>
            <a:r>
              <a:rPr lang="en-US" sz="1400" b="1" dirty="0">
                <a:solidFill>
                  <a:srgbClr val="D4A843"/>
                </a:solidFill>
                <a:latin typeface="Georgia" pitchFamily="34" charset="0"/>
                <a:ea typeface="Georgia" pitchFamily="34" charset="-122"/>
                <a:cs typeface="Georgia" pitchFamily="34" charset="-120"/>
              </a:rPr>
              <a:t>费舍尔的论点：</a:t>
            </a:r>
            <a:endParaRPr lang="en-US" sz="1400" dirty="0"/>
          </a:p>
        </p:txBody>
      </p:sp>
      <p:sp>
        <p:nvSpPr>
          <p:cNvPr id="9" name="Shape 7"/>
          <p:cNvSpPr/>
          <p:nvPr/>
        </p:nvSpPr>
        <p:spPr>
          <a:xfrm>
            <a:off x="457200" y="2926080"/>
            <a:ext cx="201168" cy="201168"/>
          </a:xfrm>
          <a:prstGeom prst="ellipse">
            <a:avLst/>
          </a:prstGeom>
          <a:solidFill>
            <a:srgbClr val="D4A843"/>
          </a:solidFill>
          <a:ln/>
        </p:spPr>
      </p:sp>
      <p:sp>
        <p:nvSpPr>
          <p:cNvPr id="10" name="Text 8"/>
          <p:cNvSpPr/>
          <p:nvPr/>
        </p:nvSpPr>
        <p:spPr>
          <a:xfrm>
            <a:off x="457200" y="2926080"/>
            <a:ext cx="201168" cy="201168"/>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1</a:t>
            </a:r>
            <a:endParaRPr lang="en-US" sz="900" dirty="0"/>
          </a:p>
        </p:txBody>
      </p:sp>
      <p:sp>
        <p:nvSpPr>
          <p:cNvPr id="11" name="Text 9"/>
          <p:cNvSpPr/>
          <p:nvPr/>
        </p:nvSpPr>
        <p:spPr>
          <a:xfrm>
            <a:off x="749808" y="2926080"/>
            <a:ext cx="7955280" cy="274320"/>
          </a:xfrm>
          <a:prstGeom prst="rect">
            <a:avLst/>
          </a:prstGeom>
          <a:noFill/>
          <a:ln/>
        </p:spPr>
        <p:txBody>
          <a:bodyPr wrap="square" rtlCol="0" anchor="ctr"/>
          <a:lstStyle/>
          <a:p>
            <a:pPr indent="0" marL="0">
              <a:buNone/>
            </a:pPr>
            <a:r>
              <a:rPr lang="en-US" sz="1100" dirty="0">
                <a:solidFill>
                  <a:srgbClr val="2C5F2D"/>
                </a:solidFill>
                <a:latin typeface="Calibri" pitchFamily="34" charset="0"/>
                <a:ea typeface="Calibri" pitchFamily="34" charset="-122"/>
                <a:cs typeface="Calibri" pitchFamily="34" charset="-120"/>
              </a:rPr>
              <a:t>孟德尔数据的总 chi-sq = 2.09，df=7，P约0.95</a:t>
            </a:r>
            <a:endParaRPr lang="en-US" sz="1100" dirty="0"/>
          </a:p>
        </p:txBody>
      </p:sp>
      <p:sp>
        <p:nvSpPr>
          <p:cNvPr id="12" name="Shape 10"/>
          <p:cNvSpPr/>
          <p:nvPr/>
        </p:nvSpPr>
        <p:spPr>
          <a:xfrm>
            <a:off x="457200" y="3246120"/>
            <a:ext cx="201168" cy="201168"/>
          </a:xfrm>
          <a:prstGeom prst="ellipse">
            <a:avLst/>
          </a:prstGeom>
          <a:solidFill>
            <a:srgbClr val="D4A843"/>
          </a:solidFill>
          <a:ln/>
        </p:spPr>
      </p:sp>
      <p:sp>
        <p:nvSpPr>
          <p:cNvPr id="13" name="Text 11"/>
          <p:cNvSpPr/>
          <p:nvPr/>
        </p:nvSpPr>
        <p:spPr>
          <a:xfrm>
            <a:off x="457200" y="3246120"/>
            <a:ext cx="201168" cy="201168"/>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2</a:t>
            </a:r>
            <a:endParaRPr lang="en-US" sz="900" dirty="0"/>
          </a:p>
        </p:txBody>
      </p:sp>
      <p:sp>
        <p:nvSpPr>
          <p:cNvPr id="14" name="Text 12"/>
          <p:cNvSpPr/>
          <p:nvPr/>
        </p:nvSpPr>
        <p:spPr>
          <a:xfrm>
            <a:off x="749808" y="3246120"/>
            <a:ext cx="7955280" cy="274320"/>
          </a:xfrm>
          <a:prstGeom prst="rect">
            <a:avLst/>
          </a:prstGeom>
          <a:noFill/>
          <a:ln/>
        </p:spPr>
        <p:txBody>
          <a:bodyPr wrap="square" rtlCol="0" anchor="ctr"/>
          <a:lstStyle/>
          <a:p>
            <a:pPr indent="0" marL="0">
              <a:buNone/>
            </a:pPr>
            <a:r>
              <a:rPr lang="en-US" sz="1100" dirty="0">
                <a:solidFill>
                  <a:srgbClr val="2C5F2D"/>
                </a:solidFill>
                <a:latin typeface="Calibri" pitchFamily="34" charset="0"/>
                <a:ea typeface="Calibri" pitchFamily="34" charset="-122"/>
                <a:cs typeface="Calibri" pitchFamily="34" charset="-120"/>
              </a:rPr>
              <a:t>这意味着数据与理论拟合的程度"好得可疑"</a:t>
            </a:r>
            <a:endParaRPr lang="en-US" sz="1100" dirty="0"/>
          </a:p>
        </p:txBody>
      </p:sp>
      <p:sp>
        <p:nvSpPr>
          <p:cNvPr id="15" name="Shape 13"/>
          <p:cNvSpPr/>
          <p:nvPr/>
        </p:nvSpPr>
        <p:spPr>
          <a:xfrm>
            <a:off x="457200" y="3566160"/>
            <a:ext cx="201168" cy="201168"/>
          </a:xfrm>
          <a:prstGeom prst="ellipse">
            <a:avLst/>
          </a:prstGeom>
          <a:solidFill>
            <a:srgbClr val="D4A843"/>
          </a:solidFill>
          <a:ln/>
        </p:spPr>
      </p:sp>
      <p:sp>
        <p:nvSpPr>
          <p:cNvPr id="16" name="Text 14"/>
          <p:cNvSpPr/>
          <p:nvPr/>
        </p:nvSpPr>
        <p:spPr>
          <a:xfrm>
            <a:off x="457200" y="3566160"/>
            <a:ext cx="201168" cy="201168"/>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3</a:t>
            </a:r>
            <a:endParaRPr lang="en-US" sz="900" dirty="0"/>
          </a:p>
        </p:txBody>
      </p:sp>
      <p:sp>
        <p:nvSpPr>
          <p:cNvPr id="17" name="Text 15"/>
          <p:cNvSpPr/>
          <p:nvPr/>
        </p:nvSpPr>
        <p:spPr>
          <a:xfrm>
            <a:off x="749808" y="3566160"/>
            <a:ext cx="7955280" cy="274320"/>
          </a:xfrm>
          <a:prstGeom prst="rect">
            <a:avLst/>
          </a:prstGeom>
          <a:noFill/>
          <a:ln/>
        </p:spPr>
        <p:txBody>
          <a:bodyPr wrap="square" rtlCol="0" anchor="ctr"/>
          <a:lstStyle/>
          <a:p>
            <a:pPr indent="0" marL="0">
              <a:buNone/>
            </a:pPr>
            <a:r>
              <a:rPr lang="en-US" sz="1100" dirty="0">
                <a:solidFill>
                  <a:srgbClr val="2C5F2D"/>
                </a:solidFill>
                <a:latin typeface="Calibri" pitchFamily="34" charset="0"/>
                <a:ea typeface="Calibri" pitchFamily="34" charset="-122"/>
                <a:cs typeface="Calibri" pitchFamily="34" charset="-120"/>
              </a:rPr>
              <a:t>正常情况下，P值应在0.3-0.7之间波动</a:t>
            </a:r>
            <a:endParaRPr lang="en-US" sz="1100" dirty="0"/>
          </a:p>
        </p:txBody>
      </p:sp>
      <p:sp>
        <p:nvSpPr>
          <p:cNvPr id="18" name="Shape 16"/>
          <p:cNvSpPr/>
          <p:nvPr/>
        </p:nvSpPr>
        <p:spPr>
          <a:xfrm>
            <a:off x="457200" y="3886200"/>
            <a:ext cx="201168" cy="201168"/>
          </a:xfrm>
          <a:prstGeom prst="ellipse">
            <a:avLst/>
          </a:prstGeom>
          <a:solidFill>
            <a:srgbClr val="D4A843"/>
          </a:solidFill>
          <a:ln/>
        </p:spPr>
      </p:sp>
      <p:sp>
        <p:nvSpPr>
          <p:cNvPr id="19" name="Text 17"/>
          <p:cNvSpPr/>
          <p:nvPr/>
        </p:nvSpPr>
        <p:spPr>
          <a:xfrm>
            <a:off x="457200" y="3886200"/>
            <a:ext cx="201168" cy="201168"/>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4</a:t>
            </a:r>
            <a:endParaRPr lang="en-US" sz="900" dirty="0"/>
          </a:p>
        </p:txBody>
      </p:sp>
      <p:sp>
        <p:nvSpPr>
          <p:cNvPr id="20" name="Text 18"/>
          <p:cNvSpPr/>
          <p:nvPr/>
        </p:nvSpPr>
        <p:spPr>
          <a:xfrm>
            <a:off x="749808" y="3886200"/>
            <a:ext cx="7955280" cy="274320"/>
          </a:xfrm>
          <a:prstGeom prst="rect">
            <a:avLst/>
          </a:prstGeom>
          <a:noFill/>
          <a:ln/>
        </p:spPr>
        <p:txBody>
          <a:bodyPr wrap="square" rtlCol="0" anchor="ctr"/>
          <a:lstStyle/>
          <a:p>
            <a:pPr indent="0" marL="0">
              <a:buNone/>
            </a:pPr>
            <a:r>
              <a:rPr lang="en-US" sz="1100" dirty="0">
                <a:solidFill>
                  <a:srgbClr val="2C5F2D"/>
                </a:solidFill>
                <a:latin typeface="Calibri" pitchFamily="34" charset="0"/>
                <a:ea typeface="Calibri" pitchFamily="34" charset="-122"/>
                <a:cs typeface="Calibri" pitchFamily="34" charset="-120"/>
              </a:rPr>
              <a:t>费舍尔推测：可能助手在计数时无意识地淘汰了"异常"结果</a:t>
            </a:r>
            <a:endParaRPr lang="en-US" sz="1100" dirty="0"/>
          </a:p>
        </p:txBody>
      </p:sp>
      <p:sp>
        <p:nvSpPr>
          <p:cNvPr id="21" name="Shape 19"/>
          <p:cNvSpPr/>
          <p:nvPr/>
        </p:nvSpPr>
        <p:spPr>
          <a:xfrm>
            <a:off x="457200" y="4206240"/>
            <a:ext cx="201168" cy="201168"/>
          </a:xfrm>
          <a:prstGeom prst="ellipse">
            <a:avLst/>
          </a:prstGeom>
          <a:solidFill>
            <a:srgbClr val="D4A843"/>
          </a:solidFill>
          <a:ln/>
        </p:spPr>
      </p:sp>
      <p:sp>
        <p:nvSpPr>
          <p:cNvPr id="22" name="Text 20"/>
          <p:cNvSpPr/>
          <p:nvPr/>
        </p:nvSpPr>
        <p:spPr>
          <a:xfrm>
            <a:off x="457200" y="4206240"/>
            <a:ext cx="201168" cy="201168"/>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5</a:t>
            </a:r>
            <a:endParaRPr lang="en-US" sz="900" dirty="0"/>
          </a:p>
        </p:txBody>
      </p:sp>
      <p:sp>
        <p:nvSpPr>
          <p:cNvPr id="23" name="Text 21"/>
          <p:cNvSpPr/>
          <p:nvPr/>
        </p:nvSpPr>
        <p:spPr>
          <a:xfrm>
            <a:off x="749808" y="4206240"/>
            <a:ext cx="7955280" cy="274320"/>
          </a:xfrm>
          <a:prstGeom prst="rect">
            <a:avLst/>
          </a:prstGeom>
          <a:noFill/>
          <a:ln/>
        </p:spPr>
        <p:txBody>
          <a:bodyPr wrap="square" rtlCol="0" anchor="ctr"/>
          <a:lstStyle/>
          <a:p>
            <a:pPr indent="0" marL="0">
              <a:buNone/>
            </a:pPr>
            <a:r>
              <a:rPr lang="en-US" sz="1100" dirty="0">
                <a:solidFill>
                  <a:srgbClr val="2C5F2D"/>
                </a:solidFill>
                <a:latin typeface="Calibri" pitchFamily="34" charset="0"/>
                <a:ea typeface="Calibri" pitchFamily="34" charset="-122"/>
                <a:cs typeface="Calibri" pitchFamily="34" charset="-120"/>
              </a:rPr>
              <a:t>也可能孟德尔在报告时选择了"更好看"的数据子集</a:t>
            </a:r>
            <a:endParaRPr lang="en-US" sz="1100" dirty="0"/>
          </a:p>
        </p:txBody>
      </p:sp>
      <p:sp>
        <p:nvSpPr>
          <p:cNvPr id="24" name="Shape 22"/>
          <p:cNvSpPr/>
          <p:nvPr/>
        </p:nvSpPr>
        <p:spPr>
          <a:xfrm>
            <a:off x="457200" y="4572000"/>
            <a:ext cx="8229600" cy="320040"/>
          </a:xfrm>
          <a:prstGeom prst="rect">
            <a:avLst/>
          </a:prstGeom>
          <a:solidFill>
            <a:srgbClr val="F0F4E8"/>
          </a:solidFill>
          <a:ln/>
        </p:spPr>
      </p:sp>
      <p:sp>
        <p:nvSpPr>
          <p:cNvPr id="25" name="Text 23"/>
          <p:cNvSpPr/>
          <p:nvPr/>
        </p:nvSpPr>
        <p:spPr>
          <a:xfrm>
            <a:off x="640080" y="4572000"/>
            <a:ext cx="7863840" cy="320040"/>
          </a:xfrm>
          <a:prstGeom prst="rect">
            <a:avLst/>
          </a:prstGeom>
          <a:noFill/>
          <a:ln/>
        </p:spPr>
        <p:txBody>
          <a:bodyPr wrap="square" rtlCol="0" anchor="ctr"/>
          <a:lstStyle/>
          <a:p>
            <a:pPr indent="0" marL="0">
              <a:buNone/>
            </a:pPr>
            <a:r>
              <a:rPr lang="en-US" sz="1100" b="1" dirty="0">
                <a:solidFill>
                  <a:srgbClr val="2C5F2D"/>
                </a:solidFill>
                <a:latin typeface="Calibri" pitchFamily="34" charset="0"/>
                <a:ea typeface="Calibri" pitchFamily="34" charset="-122"/>
                <a:cs typeface="Calibri" pitchFamily="34" charset="-120"/>
              </a:rPr>
              <a:t>现代观点：孟德尔的核心结论是正确的，数据偏差不影响遗传学基本定律的有效性。</a:t>
            </a:r>
            <a:endParaRPr lang="en-US" sz="1100" dirty="0"/>
          </a:p>
        </p:txBody>
      </p:sp>
      <p:sp>
        <p:nvSpPr>
          <p:cNvPr id="26" name="Text 24"/>
          <p:cNvSpPr/>
          <p:nvPr/>
        </p:nvSpPr>
        <p:spPr>
          <a:xfrm>
            <a:off x="8046720" y="4777740"/>
            <a:ext cx="914400" cy="274320"/>
          </a:xfrm>
          <a:prstGeom prst="rect">
            <a:avLst/>
          </a:prstGeom>
          <a:noFill/>
          <a:ln/>
        </p:spPr>
        <p:txBody>
          <a:bodyPr wrap="square" rtlCol="0" anchor="ctr"/>
          <a:lstStyle/>
          <a:p>
            <a:pPr algn="r" indent="0" marL="0">
              <a:buNone/>
            </a:pPr>
            <a:r>
              <a:rPr lang="en-US" sz="1000" dirty="0">
                <a:solidFill>
                  <a:srgbClr val="6B8E5A"/>
                </a:solidFill>
                <a:latin typeface="Calibri" pitchFamily="34" charset="0"/>
                <a:ea typeface="Calibri" pitchFamily="34" charset="-122"/>
                <a:cs typeface="Calibri" pitchFamily="34" charset="-120"/>
              </a:rPr>
              <a:t>16 / 20</a:t>
            </a:r>
            <a:endParaRPr lang="en-US" sz="1000" dirty="0"/>
          </a:p>
        </p:txBody>
      </p:sp>
      <p:sp>
        <p:nvSpPr>
          <p:cNvPr id="27" name="Shape 25"/>
          <p:cNvSpPr/>
          <p:nvPr/>
        </p:nvSpPr>
        <p:spPr>
          <a:xfrm>
            <a:off x="0" y="5097780"/>
            <a:ext cx="9144000" cy="45720"/>
          </a:xfrm>
          <a:prstGeom prst="rect">
            <a:avLst/>
          </a:prstGeom>
          <a:solidFill>
            <a:srgbClr val="2C5F2D"/>
          </a:solid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4A843"/>
          </a:solidFill>
          <a:ln/>
        </p:spPr>
      </p:sp>
      <p:sp>
        <p:nvSpPr>
          <p:cNvPr id="3" name="Text 1"/>
          <p:cNvSpPr/>
          <p:nvPr/>
        </p:nvSpPr>
        <p:spPr>
          <a:xfrm>
            <a:off x="457200" y="228600"/>
            <a:ext cx="8229600" cy="457200"/>
          </a:xfrm>
          <a:prstGeom prst="rect">
            <a:avLst/>
          </a:prstGeom>
          <a:noFill/>
          <a:ln/>
        </p:spPr>
        <p:txBody>
          <a:bodyPr wrap="square" rtlCol="0" anchor="ctr"/>
          <a:lstStyle/>
          <a:p>
            <a:pPr indent="0" marL="0">
              <a:buNone/>
            </a:pPr>
            <a:r>
              <a:rPr lang="en-US" sz="2800" b="1" dirty="0">
                <a:solidFill>
                  <a:srgbClr val="2C5F2D"/>
                </a:solidFill>
                <a:latin typeface="Georgia" pitchFamily="34" charset="0"/>
                <a:ea typeface="Georgia" pitchFamily="34" charset="-122"/>
                <a:cs typeface="Georgia" pitchFamily="34" charset="-120"/>
              </a:rPr>
              <a:t>关键术语表</a:t>
            </a:r>
            <a:endParaRPr lang="en-US" sz="2800" dirty="0"/>
          </a:p>
        </p:txBody>
      </p:sp>
      <p:sp>
        <p:nvSpPr>
          <p:cNvPr id="4" name="Text 2"/>
          <p:cNvSpPr/>
          <p:nvPr/>
        </p:nvSpPr>
        <p:spPr>
          <a:xfrm>
            <a:off x="457200" y="685800"/>
            <a:ext cx="8229600" cy="274320"/>
          </a:xfrm>
          <a:prstGeom prst="rect">
            <a:avLst/>
          </a:prstGeom>
          <a:noFill/>
          <a:ln/>
        </p:spPr>
        <p:txBody>
          <a:bodyPr wrap="square" rtlCol="0" anchor="ctr"/>
          <a:lstStyle/>
          <a:p>
            <a:pPr indent="0" marL="0">
              <a:buNone/>
            </a:pPr>
            <a:r>
              <a:rPr lang="en-US" sz="1400" dirty="0">
                <a:solidFill>
                  <a:srgbClr val="6B8E5A"/>
                </a:solidFill>
                <a:latin typeface="Calibri" pitchFamily="34" charset="0"/>
                <a:ea typeface="Calibri" pitchFamily="34" charset="-122"/>
                <a:cs typeface="Calibri" pitchFamily="34" charset="-120"/>
              </a:rPr>
              <a:t>Glossary</a:t>
            </a:r>
            <a:endParaRPr lang="en-US" sz="1400" dirty="0"/>
          </a:p>
        </p:txBody>
      </p:sp>
      <p:sp>
        <p:nvSpPr>
          <p:cNvPr id="5" name="Shape 3"/>
          <p:cNvSpPr/>
          <p:nvPr/>
        </p:nvSpPr>
        <p:spPr>
          <a:xfrm>
            <a:off x="457200" y="1005840"/>
            <a:ext cx="1371600" cy="36576"/>
          </a:xfrm>
          <a:prstGeom prst="rect">
            <a:avLst/>
          </a:prstGeom>
          <a:solidFill>
            <a:srgbClr val="97BC62"/>
          </a:solidFill>
          <a:ln/>
        </p:spPr>
      </p:sp>
      <p:sp>
        <p:nvSpPr>
          <p:cNvPr id="6" name="Shape 4"/>
          <p:cNvSpPr/>
          <p:nvPr/>
        </p:nvSpPr>
        <p:spPr>
          <a:xfrm>
            <a:off x="457200" y="1280160"/>
            <a:ext cx="1463040" cy="320040"/>
          </a:xfrm>
          <a:prstGeom prst="rect">
            <a:avLst/>
          </a:prstGeom>
          <a:solidFill>
            <a:srgbClr val="FFFFFF"/>
          </a:solidFill>
          <a:ln w="6350">
            <a:solidFill>
              <a:srgbClr val="97BC62"/>
            </a:solidFill>
            <a:prstDash val="solid"/>
          </a:ln>
        </p:spPr>
      </p:sp>
      <p:sp>
        <p:nvSpPr>
          <p:cNvPr id="7" name="Text 5"/>
          <p:cNvSpPr/>
          <p:nvPr/>
        </p:nvSpPr>
        <p:spPr>
          <a:xfrm>
            <a:off x="457200" y="1280160"/>
            <a:ext cx="1463040" cy="320040"/>
          </a:xfrm>
          <a:prstGeom prst="rect">
            <a:avLst/>
          </a:prstGeom>
          <a:noFill/>
          <a:ln/>
        </p:spPr>
        <p:txBody>
          <a:bodyPr wrap="square" rtlCol="0" anchor="ctr"/>
          <a:lstStyle/>
          <a:p>
            <a:pPr algn="ctr" indent="0" marL="0">
              <a:buNone/>
            </a:pPr>
            <a:r>
              <a:rPr lang="en-US" sz="1000" b="1" dirty="0">
                <a:solidFill>
                  <a:srgbClr val="2C5F2D"/>
                </a:solidFill>
                <a:latin typeface="Calibri" pitchFamily="34" charset="0"/>
                <a:ea typeface="Calibri" pitchFamily="34" charset="-122"/>
                <a:cs typeface="Calibri" pitchFamily="34" charset="-120"/>
              </a:rPr>
              <a:t>概率</a:t>
            </a:r>
            <a:endParaRPr lang="en-US" sz="1000" dirty="0"/>
          </a:p>
        </p:txBody>
      </p:sp>
      <p:sp>
        <p:nvSpPr>
          <p:cNvPr id="8" name="Shape 6"/>
          <p:cNvSpPr/>
          <p:nvPr/>
        </p:nvSpPr>
        <p:spPr>
          <a:xfrm>
            <a:off x="1920240" y="1280160"/>
            <a:ext cx="2286000" cy="320040"/>
          </a:xfrm>
          <a:prstGeom prst="rect">
            <a:avLst/>
          </a:prstGeom>
          <a:solidFill>
            <a:srgbClr val="FFFFFF"/>
          </a:solidFill>
          <a:ln w="6350">
            <a:solidFill>
              <a:srgbClr val="97BC62"/>
            </a:solidFill>
            <a:prstDash val="solid"/>
          </a:ln>
        </p:spPr>
      </p:sp>
      <p:sp>
        <p:nvSpPr>
          <p:cNvPr id="9" name="Text 7"/>
          <p:cNvSpPr/>
          <p:nvPr/>
        </p:nvSpPr>
        <p:spPr>
          <a:xfrm>
            <a:off x="1920240" y="1280160"/>
            <a:ext cx="2286000" cy="320040"/>
          </a:xfrm>
          <a:prstGeom prst="rect">
            <a:avLst/>
          </a:prstGeom>
          <a:noFill/>
          <a:ln/>
        </p:spPr>
        <p:txBody>
          <a:bodyPr wrap="square" rtlCol="0" anchor="ctr"/>
          <a:lstStyle/>
          <a:p>
            <a:pPr algn="ctr" indent="0" marL="0">
              <a:buNone/>
            </a:pPr>
            <a:r>
              <a:rPr lang="en-US" sz="900" i="1" dirty="0">
                <a:solidFill>
                  <a:srgbClr val="6B8E5A"/>
                </a:solidFill>
                <a:latin typeface="Calibri" pitchFamily="34" charset="0"/>
                <a:ea typeface="Calibri" pitchFamily="34" charset="-122"/>
                <a:cs typeface="Calibri" pitchFamily="34" charset="-120"/>
              </a:rPr>
              <a:t>Probability</a:t>
            </a:r>
            <a:endParaRPr lang="en-US" sz="900" dirty="0"/>
          </a:p>
        </p:txBody>
      </p:sp>
      <p:sp>
        <p:nvSpPr>
          <p:cNvPr id="10" name="Shape 8"/>
          <p:cNvSpPr/>
          <p:nvPr/>
        </p:nvSpPr>
        <p:spPr>
          <a:xfrm>
            <a:off x="4206240" y="1280160"/>
            <a:ext cx="4937760" cy="320040"/>
          </a:xfrm>
          <a:prstGeom prst="rect">
            <a:avLst/>
          </a:prstGeom>
          <a:solidFill>
            <a:srgbClr val="FFFFFF"/>
          </a:solidFill>
          <a:ln w="6350">
            <a:solidFill>
              <a:srgbClr val="97BC62"/>
            </a:solidFill>
            <a:prstDash val="solid"/>
          </a:ln>
        </p:spPr>
      </p:sp>
      <p:sp>
        <p:nvSpPr>
          <p:cNvPr id="11" name="Text 9"/>
          <p:cNvSpPr/>
          <p:nvPr/>
        </p:nvSpPr>
        <p:spPr>
          <a:xfrm>
            <a:off x="4297680" y="1280160"/>
            <a:ext cx="4754880" cy="320040"/>
          </a:xfrm>
          <a:prstGeom prst="rect">
            <a:avLst/>
          </a:prstGeom>
          <a:noFill/>
          <a:ln/>
        </p:spPr>
        <p:txBody>
          <a:bodyPr wrap="square" rtlCol="0" anchor="ctr"/>
          <a:lstStyle/>
          <a:p>
            <a:pPr indent="0" marL="0">
              <a:buNone/>
            </a:pPr>
            <a:r>
              <a:rPr lang="en-US" sz="1000" dirty="0">
                <a:solidFill>
                  <a:srgbClr val="2C5F2D"/>
                </a:solidFill>
                <a:latin typeface="Calibri" pitchFamily="34" charset="0"/>
                <a:ea typeface="Calibri" pitchFamily="34" charset="-122"/>
                <a:cs typeface="Calibri" pitchFamily="34" charset="-120"/>
              </a:rPr>
              <a:t>衡量事件发生可能性的数值，取值[0,1]</a:t>
            </a:r>
            <a:endParaRPr lang="en-US" sz="1000" dirty="0"/>
          </a:p>
        </p:txBody>
      </p:sp>
      <p:sp>
        <p:nvSpPr>
          <p:cNvPr id="12" name="Shape 10"/>
          <p:cNvSpPr/>
          <p:nvPr/>
        </p:nvSpPr>
        <p:spPr>
          <a:xfrm>
            <a:off x="457200" y="1645920"/>
            <a:ext cx="1463040" cy="320040"/>
          </a:xfrm>
          <a:prstGeom prst="rect">
            <a:avLst/>
          </a:prstGeom>
          <a:solidFill>
            <a:srgbClr val="F0F4E8"/>
          </a:solidFill>
          <a:ln w="6350">
            <a:solidFill>
              <a:srgbClr val="97BC62"/>
            </a:solidFill>
            <a:prstDash val="solid"/>
          </a:ln>
        </p:spPr>
      </p:sp>
      <p:sp>
        <p:nvSpPr>
          <p:cNvPr id="13" name="Text 11"/>
          <p:cNvSpPr/>
          <p:nvPr/>
        </p:nvSpPr>
        <p:spPr>
          <a:xfrm>
            <a:off x="457200" y="1645920"/>
            <a:ext cx="1463040" cy="320040"/>
          </a:xfrm>
          <a:prstGeom prst="rect">
            <a:avLst/>
          </a:prstGeom>
          <a:noFill/>
          <a:ln/>
        </p:spPr>
        <p:txBody>
          <a:bodyPr wrap="square" rtlCol="0" anchor="ctr"/>
          <a:lstStyle/>
          <a:p>
            <a:pPr algn="ctr" indent="0" marL="0">
              <a:buNone/>
            </a:pPr>
            <a:r>
              <a:rPr lang="en-US" sz="1000" b="1" dirty="0">
                <a:solidFill>
                  <a:srgbClr val="2C5F2D"/>
                </a:solidFill>
                <a:latin typeface="Calibri" pitchFamily="34" charset="0"/>
                <a:ea typeface="Calibri" pitchFamily="34" charset="-122"/>
                <a:cs typeface="Calibri" pitchFamily="34" charset="-120"/>
              </a:rPr>
              <a:t>等可能事件</a:t>
            </a:r>
            <a:endParaRPr lang="en-US" sz="1000" dirty="0"/>
          </a:p>
        </p:txBody>
      </p:sp>
      <p:sp>
        <p:nvSpPr>
          <p:cNvPr id="14" name="Shape 12"/>
          <p:cNvSpPr/>
          <p:nvPr/>
        </p:nvSpPr>
        <p:spPr>
          <a:xfrm>
            <a:off x="1920240" y="1645920"/>
            <a:ext cx="2286000" cy="320040"/>
          </a:xfrm>
          <a:prstGeom prst="rect">
            <a:avLst/>
          </a:prstGeom>
          <a:solidFill>
            <a:srgbClr val="F0F4E8"/>
          </a:solidFill>
          <a:ln w="6350">
            <a:solidFill>
              <a:srgbClr val="97BC62"/>
            </a:solidFill>
            <a:prstDash val="solid"/>
          </a:ln>
        </p:spPr>
      </p:sp>
      <p:sp>
        <p:nvSpPr>
          <p:cNvPr id="15" name="Text 13"/>
          <p:cNvSpPr/>
          <p:nvPr/>
        </p:nvSpPr>
        <p:spPr>
          <a:xfrm>
            <a:off x="1920240" y="1645920"/>
            <a:ext cx="2286000" cy="320040"/>
          </a:xfrm>
          <a:prstGeom prst="rect">
            <a:avLst/>
          </a:prstGeom>
          <a:noFill/>
          <a:ln/>
        </p:spPr>
        <p:txBody>
          <a:bodyPr wrap="square" rtlCol="0" anchor="ctr"/>
          <a:lstStyle/>
          <a:p>
            <a:pPr algn="ctr" indent="0" marL="0">
              <a:buNone/>
            </a:pPr>
            <a:r>
              <a:rPr lang="en-US" sz="900" i="1" dirty="0">
                <a:solidFill>
                  <a:srgbClr val="6B8E5A"/>
                </a:solidFill>
                <a:latin typeface="Calibri" pitchFamily="34" charset="0"/>
                <a:ea typeface="Calibri" pitchFamily="34" charset="-122"/>
                <a:cs typeface="Calibri" pitchFamily="34" charset="-120"/>
              </a:rPr>
              <a:t>Equally Likely Events</a:t>
            </a:r>
            <a:endParaRPr lang="en-US" sz="900" dirty="0"/>
          </a:p>
        </p:txBody>
      </p:sp>
      <p:sp>
        <p:nvSpPr>
          <p:cNvPr id="16" name="Shape 14"/>
          <p:cNvSpPr/>
          <p:nvPr/>
        </p:nvSpPr>
        <p:spPr>
          <a:xfrm>
            <a:off x="4206240" y="1645920"/>
            <a:ext cx="4937760" cy="320040"/>
          </a:xfrm>
          <a:prstGeom prst="rect">
            <a:avLst/>
          </a:prstGeom>
          <a:solidFill>
            <a:srgbClr val="F0F4E8"/>
          </a:solidFill>
          <a:ln w="6350">
            <a:solidFill>
              <a:srgbClr val="97BC62"/>
            </a:solidFill>
            <a:prstDash val="solid"/>
          </a:ln>
        </p:spPr>
      </p:sp>
      <p:sp>
        <p:nvSpPr>
          <p:cNvPr id="17" name="Text 15"/>
          <p:cNvSpPr/>
          <p:nvPr/>
        </p:nvSpPr>
        <p:spPr>
          <a:xfrm>
            <a:off x="4297680" y="1645920"/>
            <a:ext cx="4754880" cy="320040"/>
          </a:xfrm>
          <a:prstGeom prst="rect">
            <a:avLst/>
          </a:prstGeom>
          <a:noFill/>
          <a:ln/>
        </p:spPr>
        <p:txBody>
          <a:bodyPr wrap="square" rtlCol="0" anchor="ctr"/>
          <a:lstStyle/>
          <a:p>
            <a:pPr indent="0" marL="0">
              <a:buNone/>
            </a:pPr>
            <a:r>
              <a:rPr lang="en-US" sz="1000" dirty="0">
                <a:solidFill>
                  <a:srgbClr val="2C5F2D"/>
                </a:solidFill>
                <a:latin typeface="Calibri" pitchFamily="34" charset="0"/>
                <a:ea typeface="Calibri" pitchFamily="34" charset="-122"/>
                <a:cs typeface="Calibri" pitchFamily="34" charset="-120"/>
              </a:rPr>
              <a:t>样本空间中各基本事件概率相等</a:t>
            </a:r>
            <a:endParaRPr lang="en-US" sz="1000" dirty="0"/>
          </a:p>
        </p:txBody>
      </p:sp>
      <p:sp>
        <p:nvSpPr>
          <p:cNvPr id="18" name="Shape 16"/>
          <p:cNvSpPr/>
          <p:nvPr/>
        </p:nvSpPr>
        <p:spPr>
          <a:xfrm>
            <a:off x="457200" y="2011680"/>
            <a:ext cx="1463040" cy="320040"/>
          </a:xfrm>
          <a:prstGeom prst="rect">
            <a:avLst/>
          </a:prstGeom>
          <a:solidFill>
            <a:srgbClr val="FFFFFF"/>
          </a:solidFill>
          <a:ln w="6350">
            <a:solidFill>
              <a:srgbClr val="97BC62"/>
            </a:solidFill>
            <a:prstDash val="solid"/>
          </a:ln>
        </p:spPr>
      </p:sp>
      <p:sp>
        <p:nvSpPr>
          <p:cNvPr id="19" name="Text 17"/>
          <p:cNvSpPr/>
          <p:nvPr/>
        </p:nvSpPr>
        <p:spPr>
          <a:xfrm>
            <a:off x="457200" y="2011680"/>
            <a:ext cx="1463040" cy="320040"/>
          </a:xfrm>
          <a:prstGeom prst="rect">
            <a:avLst/>
          </a:prstGeom>
          <a:noFill/>
          <a:ln/>
        </p:spPr>
        <p:txBody>
          <a:bodyPr wrap="square" rtlCol="0" anchor="ctr"/>
          <a:lstStyle/>
          <a:p>
            <a:pPr algn="ctr" indent="0" marL="0">
              <a:buNone/>
            </a:pPr>
            <a:r>
              <a:rPr lang="en-US" sz="1000" b="1" dirty="0">
                <a:solidFill>
                  <a:srgbClr val="2C5F2D"/>
                </a:solidFill>
                <a:latin typeface="Calibri" pitchFamily="34" charset="0"/>
                <a:ea typeface="Calibri" pitchFamily="34" charset="-122"/>
                <a:cs typeface="Calibri" pitchFamily="34" charset="-120"/>
              </a:rPr>
              <a:t>乘法法则</a:t>
            </a:r>
            <a:endParaRPr lang="en-US" sz="1000" dirty="0"/>
          </a:p>
        </p:txBody>
      </p:sp>
      <p:sp>
        <p:nvSpPr>
          <p:cNvPr id="20" name="Shape 18"/>
          <p:cNvSpPr/>
          <p:nvPr/>
        </p:nvSpPr>
        <p:spPr>
          <a:xfrm>
            <a:off x="1920240" y="2011680"/>
            <a:ext cx="2286000" cy="320040"/>
          </a:xfrm>
          <a:prstGeom prst="rect">
            <a:avLst/>
          </a:prstGeom>
          <a:solidFill>
            <a:srgbClr val="FFFFFF"/>
          </a:solidFill>
          <a:ln w="6350">
            <a:solidFill>
              <a:srgbClr val="97BC62"/>
            </a:solidFill>
            <a:prstDash val="solid"/>
          </a:ln>
        </p:spPr>
      </p:sp>
      <p:sp>
        <p:nvSpPr>
          <p:cNvPr id="21" name="Text 19"/>
          <p:cNvSpPr/>
          <p:nvPr/>
        </p:nvSpPr>
        <p:spPr>
          <a:xfrm>
            <a:off x="1920240" y="2011680"/>
            <a:ext cx="2286000" cy="320040"/>
          </a:xfrm>
          <a:prstGeom prst="rect">
            <a:avLst/>
          </a:prstGeom>
          <a:noFill/>
          <a:ln/>
        </p:spPr>
        <p:txBody>
          <a:bodyPr wrap="square" rtlCol="0" anchor="ctr"/>
          <a:lstStyle/>
          <a:p>
            <a:pPr algn="ctr" indent="0" marL="0">
              <a:buNone/>
            </a:pPr>
            <a:r>
              <a:rPr lang="en-US" sz="900" i="1" dirty="0">
                <a:solidFill>
                  <a:srgbClr val="6B8E5A"/>
                </a:solidFill>
                <a:latin typeface="Calibri" pitchFamily="34" charset="0"/>
                <a:ea typeface="Calibri" pitchFamily="34" charset="-122"/>
                <a:cs typeface="Calibri" pitchFamily="34" charset="-120"/>
              </a:rPr>
              <a:t>Product Rule</a:t>
            </a:r>
            <a:endParaRPr lang="en-US" sz="900" dirty="0"/>
          </a:p>
        </p:txBody>
      </p:sp>
      <p:sp>
        <p:nvSpPr>
          <p:cNvPr id="22" name="Shape 20"/>
          <p:cNvSpPr/>
          <p:nvPr/>
        </p:nvSpPr>
        <p:spPr>
          <a:xfrm>
            <a:off x="4206240" y="2011680"/>
            <a:ext cx="4937760" cy="320040"/>
          </a:xfrm>
          <a:prstGeom prst="rect">
            <a:avLst/>
          </a:prstGeom>
          <a:solidFill>
            <a:srgbClr val="FFFFFF"/>
          </a:solidFill>
          <a:ln w="6350">
            <a:solidFill>
              <a:srgbClr val="97BC62"/>
            </a:solidFill>
            <a:prstDash val="solid"/>
          </a:ln>
        </p:spPr>
      </p:sp>
      <p:sp>
        <p:nvSpPr>
          <p:cNvPr id="23" name="Text 21"/>
          <p:cNvSpPr/>
          <p:nvPr/>
        </p:nvSpPr>
        <p:spPr>
          <a:xfrm>
            <a:off x="4297680" y="2011680"/>
            <a:ext cx="4754880" cy="320040"/>
          </a:xfrm>
          <a:prstGeom prst="rect">
            <a:avLst/>
          </a:prstGeom>
          <a:noFill/>
          <a:ln/>
        </p:spPr>
        <p:txBody>
          <a:bodyPr wrap="square" rtlCol="0" anchor="ctr"/>
          <a:lstStyle/>
          <a:p>
            <a:pPr indent="0" marL="0">
              <a:buNone/>
            </a:pPr>
            <a:r>
              <a:rPr lang="en-US" sz="1000" dirty="0">
                <a:solidFill>
                  <a:srgbClr val="2C5F2D"/>
                </a:solidFill>
                <a:latin typeface="Calibri" pitchFamily="34" charset="0"/>
                <a:ea typeface="Calibri" pitchFamily="34" charset="-122"/>
                <a:cs typeface="Calibri" pitchFamily="34" charset="-120"/>
              </a:rPr>
              <a:t>独立事件同时发生的概率等于各自概率的乘积</a:t>
            </a:r>
            <a:endParaRPr lang="en-US" sz="1000" dirty="0"/>
          </a:p>
        </p:txBody>
      </p:sp>
      <p:sp>
        <p:nvSpPr>
          <p:cNvPr id="24" name="Shape 22"/>
          <p:cNvSpPr/>
          <p:nvPr/>
        </p:nvSpPr>
        <p:spPr>
          <a:xfrm>
            <a:off x="457200" y="2377440"/>
            <a:ext cx="1463040" cy="320040"/>
          </a:xfrm>
          <a:prstGeom prst="rect">
            <a:avLst/>
          </a:prstGeom>
          <a:solidFill>
            <a:srgbClr val="F0F4E8"/>
          </a:solidFill>
          <a:ln w="6350">
            <a:solidFill>
              <a:srgbClr val="97BC62"/>
            </a:solidFill>
            <a:prstDash val="solid"/>
          </a:ln>
        </p:spPr>
      </p:sp>
      <p:sp>
        <p:nvSpPr>
          <p:cNvPr id="25" name="Text 23"/>
          <p:cNvSpPr/>
          <p:nvPr/>
        </p:nvSpPr>
        <p:spPr>
          <a:xfrm>
            <a:off x="457200" y="2377440"/>
            <a:ext cx="1463040" cy="320040"/>
          </a:xfrm>
          <a:prstGeom prst="rect">
            <a:avLst/>
          </a:prstGeom>
          <a:noFill/>
          <a:ln/>
        </p:spPr>
        <p:txBody>
          <a:bodyPr wrap="square" rtlCol="0" anchor="ctr"/>
          <a:lstStyle/>
          <a:p>
            <a:pPr algn="ctr" indent="0" marL="0">
              <a:buNone/>
            </a:pPr>
            <a:r>
              <a:rPr lang="en-US" sz="1000" b="1" dirty="0">
                <a:solidFill>
                  <a:srgbClr val="2C5F2D"/>
                </a:solidFill>
                <a:latin typeface="Calibri" pitchFamily="34" charset="0"/>
                <a:ea typeface="Calibri" pitchFamily="34" charset="-122"/>
                <a:cs typeface="Calibri" pitchFamily="34" charset="-120"/>
              </a:rPr>
              <a:t>加法法则</a:t>
            </a:r>
            <a:endParaRPr lang="en-US" sz="1000" dirty="0"/>
          </a:p>
        </p:txBody>
      </p:sp>
      <p:sp>
        <p:nvSpPr>
          <p:cNvPr id="26" name="Shape 24"/>
          <p:cNvSpPr/>
          <p:nvPr/>
        </p:nvSpPr>
        <p:spPr>
          <a:xfrm>
            <a:off x="1920240" y="2377440"/>
            <a:ext cx="2286000" cy="320040"/>
          </a:xfrm>
          <a:prstGeom prst="rect">
            <a:avLst/>
          </a:prstGeom>
          <a:solidFill>
            <a:srgbClr val="F0F4E8"/>
          </a:solidFill>
          <a:ln w="6350">
            <a:solidFill>
              <a:srgbClr val="97BC62"/>
            </a:solidFill>
            <a:prstDash val="solid"/>
          </a:ln>
        </p:spPr>
      </p:sp>
      <p:sp>
        <p:nvSpPr>
          <p:cNvPr id="27" name="Text 25"/>
          <p:cNvSpPr/>
          <p:nvPr/>
        </p:nvSpPr>
        <p:spPr>
          <a:xfrm>
            <a:off x="1920240" y="2377440"/>
            <a:ext cx="2286000" cy="320040"/>
          </a:xfrm>
          <a:prstGeom prst="rect">
            <a:avLst/>
          </a:prstGeom>
          <a:noFill/>
          <a:ln/>
        </p:spPr>
        <p:txBody>
          <a:bodyPr wrap="square" rtlCol="0" anchor="ctr"/>
          <a:lstStyle/>
          <a:p>
            <a:pPr algn="ctr" indent="0" marL="0">
              <a:buNone/>
            </a:pPr>
            <a:r>
              <a:rPr lang="en-US" sz="900" i="1" dirty="0">
                <a:solidFill>
                  <a:srgbClr val="6B8E5A"/>
                </a:solidFill>
                <a:latin typeface="Calibri" pitchFamily="34" charset="0"/>
                <a:ea typeface="Calibri" pitchFamily="34" charset="-122"/>
                <a:cs typeface="Calibri" pitchFamily="34" charset="-120"/>
              </a:rPr>
              <a:t>Sum Rule</a:t>
            </a:r>
            <a:endParaRPr lang="en-US" sz="900" dirty="0"/>
          </a:p>
        </p:txBody>
      </p:sp>
      <p:sp>
        <p:nvSpPr>
          <p:cNvPr id="28" name="Shape 26"/>
          <p:cNvSpPr/>
          <p:nvPr/>
        </p:nvSpPr>
        <p:spPr>
          <a:xfrm>
            <a:off x="4206240" y="2377440"/>
            <a:ext cx="4937760" cy="320040"/>
          </a:xfrm>
          <a:prstGeom prst="rect">
            <a:avLst/>
          </a:prstGeom>
          <a:solidFill>
            <a:srgbClr val="F0F4E8"/>
          </a:solidFill>
          <a:ln w="6350">
            <a:solidFill>
              <a:srgbClr val="97BC62"/>
            </a:solidFill>
            <a:prstDash val="solid"/>
          </a:ln>
        </p:spPr>
      </p:sp>
      <p:sp>
        <p:nvSpPr>
          <p:cNvPr id="29" name="Text 27"/>
          <p:cNvSpPr/>
          <p:nvPr/>
        </p:nvSpPr>
        <p:spPr>
          <a:xfrm>
            <a:off x="4297680" y="2377440"/>
            <a:ext cx="4754880" cy="320040"/>
          </a:xfrm>
          <a:prstGeom prst="rect">
            <a:avLst/>
          </a:prstGeom>
          <a:noFill/>
          <a:ln/>
        </p:spPr>
        <p:txBody>
          <a:bodyPr wrap="square" rtlCol="0" anchor="ctr"/>
          <a:lstStyle/>
          <a:p>
            <a:pPr indent="0" marL="0">
              <a:buNone/>
            </a:pPr>
            <a:r>
              <a:rPr lang="en-US" sz="1000" dirty="0">
                <a:solidFill>
                  <a:srgbClr val="2C5F2D"/>
                </a:solidFill>
                <a:latin typeface="Calibri" pitchFamily="34" charset="0"/>
                <a:ea typeface="Calibri" pitchFamily="34" charset="-122"/>
                <a:cs typeface="Calibri" pitchFamily="34" charset="-120"/>
              </a:rPr>
              <a:t>互斥事件任一发生的概率等于各自概率之和</a:t>
            </a:r>
            <a:endParaRPr lang="en-US" sz="1000" dirty="0"/>
          </a:p>
        </p:txBody>
      </p:sp>
      <p:sp>
        <p:nvSpPr>
          <p:cNvPr id="30" name="Shape 28"/>
          <p:cNvSpPr/>
          <p:nvPr/>
        </p:nvSpPr>
        <p:spPr>
          <a:xfrm>
            <a:off x="457200" y="2743200"/>
            <a:ext cx="1463040" cy="320040"/>
          </a:xfrm>
          <a:prstGeom prst="rect">
            <a:avLst/>
          </a:prstGeom>
          <a:solidFill>
            <a:srgbClr val="FFFFFF"/>
          </a:solidFill>
          <a:ln w="6350">
            <a:solidFill>
              <a:srgbClr val="97BC62"/>
            </a:solidFill>
            <a:prstDash val="solid"/>
          </a:ln>
        </p:spPr>
      </p:sp>
      <p:sp>
        <p:nvSpPr>
          <p:cNvPr id="31" name="Text 29"/>
          <p:cNvSpPr/>
          <p:nvPr/>
        </p:nvSpPr>
        <p:spPr>
          <a:xfrm>
            <a:off x="457200" y="2743200"/>
            <a:ext cx="1463040" cy="320040"/>
          </a:xfrm>
          <a:prstGeom prst="rect">
            <a:avLst/>
          </a:prstGeom>
          <a:noFill/>
          <a:ln/>
        </p:spPr>
        <p:txBody>
          <a:bodyPr wrap="square" rtlCol="0" anchor="ctr"/>
          <a:lstStyle/>
          <a:p>
            <a:pPr algn="ctr" indent="0" marL="0">
              <a:buNone/>
            </a:pPr>
            <a:r>
              <a:rPr lang="en-US" sz="1000" b="1" dirty="0">
                <a:solidFill>
                  <a:srgbClr val="2C5F2D"/>
                </a:solidFill>
                <a:latin typeface="Calibri" pitchFamily="34" charset="0"/>
                <a:ea typeface="Calibri" pitchFamily="34" charset="-122"/>
                <a:cs typeface="Calibri" pitchFamily="34" charset="-120"/>
              </a:rPr>
              <a:t>二项分布</a:t>
            </a:r>
            <a:endParaRPr lang="en-US" sz="1000" dirty="0"/>
          </a:p>
        </p:txBody>
      </p:sp>
      <p:sp>
        <p:nvSpPr>
          <p:cNvPr id="32" name="Shape 30"/>
          <p:cNvSpPr/>
          <p:nvPr/>
        </p:nvSpPr>
        <p:spPr>
          <a:xfrm>
            <a:off x="1920240" y="2743200"/>
            <a:ext cx="2286000" cy="320040"/>
          </a:xfrm>
          <a:prstGeom prst="rect">
            <a:avLst/>
          </a:prstGeom>
          <a:solidFill>
            <a:srgbClr val="FFFFFF"/>
          </a:solidFill>
          <a:ln w="6350">
            <a:solidFill>
              <a:srgbClr val="97BC62"/>
            </a:solidFill>
            <a:prstDash val="solid"/>
          </a:ln>
        </p:spPr>
      </p:sp>
      <p:sp>
        <p:nvSpPr>
          <p:cNvPr id="33" name="Text 31"/>
          <p:cNvSpPr/>
          <p:nvPr/>
        </p:nvSpPr>
        <p:spPr>
          <a:xfrm>
            <a:off x="1920240" y="2743200"/>
            <a:ext cx="2286000" cy="320040"/>
          </a:xfrm>
          <a:prstGeom prst="rect">
            <a:avLst/>
          </a:prstGeom>
          <a:noFill/>
          <a:ln/>
        </p:spPr>
        <p:txBody>
          <a:bodyPr wrap="square" rtlCol="0" anchor="ctr"/>
          <a:lstStyle/>
          <a:p>
            <a:pPr algn="ctr" indent="0" marL="0">
              <a:buNone/>
            </a:pPr>
            <a:r>
              <a:rPr lang="en-US" sz="900" i="1" dirty="0">
                <a:solidFill>
                  <a:srgbClr val="6B8E5A"/>
                </a:solidFill>
                <a:latin typeface="Calibri" pitchFamily="34" charset="0"/>
                <a:ea typeface="Calibri" pitchFamily="34" charset="-122"/>
                <a:cs typeface="Calibri" pitchFamily="34" charset="-120"/>
              </a:rPr>
              <a:t>Binomial Distribution</a:t>
            </a:r>
            <a:endParaRPr lang="en-US" sz="900" dirty="0"/>
          </a:p>
        </p:txBody>
      </p:sp>
      <p:sp>
        <p:nvSpPr>
          <p:cNvPr id="34" name="Shape 32"/>
          <p:cNvSpPr/>
          <p:nvPr/>
        </p:nvSpPr>
        <p:spPr>
          <a:xfrm>
            <a:off x="4206240" y="2743200"/>
            <a:ext cx="4937760" cy="320040"/>
          </a:xfrm>
          <a:prstGeom prst="rect">
            <a:avLst/>
          </a:prstGeom>
          <a:solidFill>
            <a:srgbClr val="FFFFFF"/>
          </a:solidFill>
          <a:ln w="6350">
            <a:solidFill>
              <a:srgbClr val="97BC62"/>
            </a:solidFill>
            <a:prstDash val="solid"/>
          </a:ln>
        </p:spPr>
      </p:sp>
      <p:sp>
        <p:nvSpPr>
          <p:cNvPr id="35" name="Text 33"/>
          <p:cNvSpPr/>
          <p:nvPr/>
        </p:nvSpPr>
        <p:spPr>
          <a:xfrm>
            <a:off x="4297680" y="2743200"/>
            <a:ext cx="4754880" cy="320040"/>
          </a:xfrm>
          <a:prstGeom prst="rect">
            <a:avLst/>
          </a:prstGeom>
          <a:noFill/>
          <a:ln/>
        </p:spPr>
        <p:txBody>
          <a:bodyPr wrap="square" rtlCol="0" anchor="ctr"/>
          <a:lstStyle/>
          <a:p>
            <a:pPr indent="0" marL="0">
              <a:buNone/>
            </a:pPr>
            <a:r>
              <a:rPr lang="en-US" sz="1000" dirty="0">
                <a:solidFill>
                  <a:srgbClr val="2C5F2D"/>
                </a:solidFill>
                <a:latin typeface="Calibri" pitchFamily="34" charset="0"/>
                <a:ea typeface="Calibri" pitchFamily="34" charset="-122"/>
                <a:cs typeface="Calibri" pitchFamily="34" charset="-120"/>
              </a:rPr>
              <a:t>n次独立试验中k次成功的概率分布</a:t>
            </a:r>
            <a:endParaRPr lang="en-US" sz="1000" dirty="0"/>
          </a:p>
        </p:txBody>
      </p:sp>
      <p:sp>
        <p:nvSpPr>
          <p:cNvPr id="36" name="Shape 34"/>
          <p:cNvSpPr/>
          <p:nvPr/>
        </p:nvSpPr>
        <p:spPr>
          <a:xfrm>
            <a:off x="457200" y="3108960"/>
            <a:ext cx="1463040" cy="320040"/>
          </a:xfrm>
          <a:prstGeom prst="rect">
            <a:avLst/>
          </a:prstGeom>
          <a:solidFill>
            <a:srgbClr val="F0F4E8"/>
          </a:solidFill>
          <a:ln w="6350">
            <a:solidFill>
              <a:srgbClr val="97BC62"/>
            </a:solidFill>
            <a:prstDash val="solid"/>
          </a:ln>
        </p:spPr>
      </p:sp>
      <p:sp>
        <p:nvSpPr>
          <p:cNvPr id="37" name="Text 35"/>
          <p:cNvSpPr/>
          <p:nvPr/>
        </p:nvSpPr>
        <p:spPr>
          <a:xfrm>
            <a:off x="457200" y="3108960"/>
            <a:ext cx="1463040" cy="320040"/>
          </a:xfrm>
          <a:prstGeom prst="rect">
            <a:avLst/>
          </a:prstGeom>
          <a:noFill/>
          <a:ln/>
        </p:spPr>
        <p:txBody>
          <a:bodyPr wrap="square" rtlCol="0" anchor="ctr"/>
          <a:lstStyle/>
          <a:p>
            <a:pPr algn="ctr" indent="0" marL="0">
              <a:buNone/>
            </a:pPr>
            <a:r>
              <a:rPr lang="en-US" sz="1000" b="1" dirty="0">
                <a:solidFill>
                  <a:srgbClr val="2C5F2D"/>
                </a:solidFill>
                <a:latin typeface="Calibri" pitchFamily="34" charset="0"/>
                <a:ea typeface="Calibri" pitchFamily="34" charset="-122"/>
                <a:cs typeface="Calibri" pitchFamily="34" charset="-120"/>
              </a:rPr>
              <a:t>卡方检验</a:t>
            </a:r>
            <a:endParaRPr lang="en-US" sz="1000" dirty="0"/>
          </a:p>
        </p:txBody>
      </p:sp>
      <p:sp>
        <p:nvSpPr>
          <p:cNvPr id="38" name="Shape 36"/>
          <p:cNvSpPr/>
          <p:nvPr/>
        </p:nvSpPr>
        <p:spPr>
          <a:xfrm>
            <a:off x="1920240" y="3108960"/>
            <a:ext cx="2286000" cy="320040"/>
          </a:xfrm>
          <a:prstGeom prst="rect">
            <a:avLst/>
          </a:prstGeom>
          <a:solidFill>
            <a:srgbClr val="F0F4E8"/>
          </a:solidFill>
          <a:ln w="6350">
            <a:solidFill>
              <a:srgbClr val="97BC62"/>
            </a:solidFill>
            <a:prstDash val="solid"/>
          </a:ln>
        </p:spPr>
      </p:sp>
      <p:sp>
        <p:nvSpPr>
          <p:cNvPr id="39" name="Text 37"/>
          <p:cNvSpPr/>
          <p:nvPr/>
        </p:nvSpPr>
        <p:spPr>
          <a:xfrm>
            <a:off x="1920240" y="3108960"/>
            <a:ext cx="2286000" cy="320040"/>
          </a:xfrm>
          <a:prstGeom prst="rect">
            <a:avLst/>
          </a:prstGeom>
          <a:noFill/>
          <a:ln/>
        </p:spPr>
        <p:txBody>
          <a:bodyPr wrap="square" rtlCol="0" anchor="ctr"/>
          <a:lstStyle/>
          <a:p>
            <a:pPr algn="ctr" indent="0" marL="0">
              <a:buNone/>
            </a:pPr>
            <a:r>
              <a:rPr lang="en-US" sz="900" i="1" dirty="0">
                <a:solidFill>
                  <a:srgbClr val="6B8E5A"/>
                </a:solidFill>
                <a:latin typeface="Calibri" pitchFamily="34" charset="0"/>
                <a:ea typeface="Calibri" pitchFamily="34" charset="-122"/>
                <a:cs typeface="Calibri" pitchFamily="34" charset="-120"/>
              </a:rPr>
              <a:t>Chi-Square Test</a:t>
            </a:r>
            <a:endParaRPr lang="en-US" sz="900" dirty="0"/>
          </a:p>
        </p:txBody>
      </p:sp>
      <p:sp>
        <p:nvSpPr>
          <p:cNvPr id="40" name="Shape 38"/>
          <p:cNvSpPr/>
          <p:nvPr/>
        </p:nvSpPr>
        <p:spPr>
          <a:xfrm>
            <a:off x="4206240" y="3108960"/>
            <a:ext cx="4937760" cy="320040"/>
          </a:xfrm>
          <a:prstGeom prst="rect">
            <a:avLst/>
          </a:prstGeom>
          <a:solidFill>
            <a:srgbClr val="F0F4E8"/>
          </a:solidFill>
          <a:ln w="6350">
            <a:solidFill>
              <a:srgbClr val="97BC62"/>
            </a:solidFill>
            <a:prstDash val="solid"/>
          </a:ln>
        </p:spPr>
      </p:sp>
      <p:sp>
        <p:nvSpPr>
          <p:cNvPr id="41" name="Text 39"/>
          <p:cNvSpPr/>
          <p:nvPr/>
        </p:nvSpPr>
        <p:spPr>
          <a:xfrm>
            <a:off x="4297680" y="3108960"/>
            <a:ext cx="4754880" cy="320040"/>
          </a:xfrm>
          <a:prstGeom prst="rect">
            <a:avLst/>
          </a:prstGeom>
          <a:noFill/>
          <a:ln/>
        </p:spPr>
        <p:txBody>
          <a:bodyPr wrap="square" rtlCol="0" anchor="ctr"/>
          <a:lstStyle/>
          <a:p>
            <a:pPr indent="0" marL="0">
              <a:buNone/>
            </a:pPr>
            <a:r>
              <a:rPr lang="en-US" sz="1000" dirty="0">
                <a:solidFill>
                  <a:srgbClr val="2C5F2D"/>
                </a:solidFill>
                <a:latin typeface="Calibri" pitchFamily="34" charset="0"/>
                <a:ea typeface="Calibri" pitchFamily="34" charset="-122"/>
                <a:cs typeface="Calibri" pitchFamily="34" charset="-120"/>
              </a:rPr>
              <a:t>检验观察数据与理论预期是否一致的统计方法</a:t>
            </a:r>
            <a:endParaRPr lang="en-US" sz="1000" dirty="0"/>
          </a:p>
        </p:txBody>
      </p:sp>
      <p:sp>
        <p:nvSpPr>
          <p:cNvPr id="42" name="Shape 40"/>
          <p:cNvSpPr/>
          <p:nvPr/>
        </p:nvSpPr>
        <p:spPr>
          <a:xfrm>
            <a:off x="457200" y="3474720"/>
            <a:ext cx="1463040" cy="320040"/>
          </a:xfrm>
          <a:prstGeom prst="rect">
            <a:avLst/>
          </a:prstGeom>
          <a:solidFill>
            <a:srgbClr val="FFFFFF"/>
          </a:solidFill>
          <a:ln w="6350">
            <a:solidFill>
              <a:srgbClr val="97BC62"/>
            </a:solidFill>
            <a:prstDash val="solid"/>
          </a:ln>
        </p:spPr>
      </p:sp>
      <p:sp>
        <p:nvSpPr>
          <p:cNvPr id="43" name="Text 41"/>
          <p:cNvSpPr/>
          <p:nvPr/>
        </p:nvSpPr>
        <p:spPr>
          <a:xfrm>
            <a:off x="457200" y="3474720"/>
            <a:ext cx="1463040" cy="320040"/>
          </a:xfrm>
          <a:prstGeom prst="rect">
            <a:avLst/>
          </a:prstGeom>
          <a:noFill/>
          <a:ln/>
        </p:spPr>
        <p:txBody>
          <a:bodyPr wrap="square" rtlCol="0" anchor="ctr"/>
          <a:lstStyle/>
          <a:p>
            <a:pPr algn="ctr" indent="0" marL="0">
              <a:buNone/>
            </a:pPr>
            <a:r>
              <a:rPr lang="en-US" sz="1000" b="1" dirty="0">
                <a:solidFill>
                  <a:srgbClr val="2C5F2D"/>
                </a:solidFill>
                <a:latin typeface="Calibri" pitchFamily="34" charset="0"/>
                <a:ea typeface="Calibri" pitchFamily="34" charset="-122"/>
                <a:cs typeface="Calibri" pitchFamily="34" charset="-120"/>
              </a:rPr>
              <a:t>自由度</a:t>
            </a:r>
            <a:endParaRPr lang="en-US" sz="1000" dirty="0"/>
          </a:p>
        </p:txBody>
      </p:sp>
      <p:sp>
        <p:nvSpPr>
          <p:cNvPr id="44" name="Shape 42"/>
          <p:cNvSpPr/>
          <p:nvPr/>
        </p:nvSpPr>
        <p:spPr>
          <a:xfrm>
            <a:off x="1920240" y="3474720"/>
            <a:ext cx="2286000" cy="320040"/>
          </a:xfrm>
          <a:prstGeom prst="rect">
            <a:avLst/>
          </a:prstGeom>
          <a:solidFill>
            <a:srgbClr val="FFFFFF"/>
          </a:solidFill>
          <a:ln w="6350">
            <a:solidFill>
              <a:srgbClr val="97BC62"/>
            </a:solidFill>
            <a:prstDash val="solid"/>
          </a:ln>
        </p:spPr>
      </p:sp>
      <p:sp>
        <p:nvSpPr>
          <p:cNvPr id="45" name="Text 43"/>
          <p:cNvSpPr/>
          <p:nvPr/>
        </p:nvSpPr>
        <p:spPr>
          <a:xfrm>
            <a:off x="1920240" y="3474720"/>
            <a:ext cx="2286000" cy="320040"/>
          </a:xfrm>
          <a:prstGeom prst="rect">
            <a:avLst/>
          </a:prstGeom>
          <a:noFill/>
          <a:ln/>
        </p:spPr>
        <p:txBody>
          <a:bodyPr wrap="square" rtlCol="0" anchor="ctr"/>
          <a:lstStyle/>
          <a:p>
            <a:pPr algn="ctr" indent="0" marL="0">
              <a:buNone/>
            </a:pPr>
            <a:r>
              <a:rPr lang="en-US" sz="900" i="1" dirty="0">
                <a:solidFill>
                  <a:srgbClr val="6B8E5A"/>
                </a:solidFill>
                <a:latin typeface="Calibri" pitchFamily="34" charset="0"/>
                <a:ea typeface="Calibri" pitchFamily="34" charset="-122"/>
                <a:cs typeface="Calibri" pitchFamily="34" charset="-120"/>
              </a:rPr>
              <a:t>Degrees of Freedom (df)</a:t>
            </a:r>
            <a:endParaRPr lang="en-US" sz="900" dirty="0"/>
          </a:p>
        </p:txBody>
      </p:sp>
      <p:sp>
        <p:nvSpPr>
          <p:cNvPr id="46" name="Shape 44"/>
          <p:cNvSpPr/>
          <p:nvPr/>
        </p:nvSpPr>
        <p:spPr>
          <a:xfrm>
            <a:off x="4206240" y="3474720"/>
            <a:ext cx="4937760" cy="320040"/>
          </a:xfrm>
          <a:prstGeom prst="rect">
            <a:avLst/>
          </a:prstGeom>
          <a:solidFill>
            <a:srgbClr val="FFFFFF"/>
          </a:solidFill>
          <a:ln w="6350">
            <a:solidFill>
              <a:srgbClr val="97BC62"/>
            </a:solidFill>
            <a:prstDash val="solid"/>
          </a:ln>
        </p:spPr>
      </p:sp>
      <p:sp>
        <p:nvSpPr>
          <p:cNvPr id="47" name="Text 45"/>
          <p:cNvSpPr/>
          <p:nvPr/>
        </p:nvSpPr>
        <p:spPr>
          <a:xfrm>
            <a:off x="4297680" y="3474720"/>
            <a:ext cx="4754880" cy="320040"/>
          </a:xfrm>
          <a:prstGeom prst="rect">
            <a:avLst/>
          </a:prstGeom>
          <a:noFill/>
          <a:ln/>
        </p:spPr>
        <p:txBody>
          <a:bodyPr wrap="square" rtlCol="0" anchor="ctr"/>
          <a:lstStyle/>
          <a:p>
            <a:pPr indent="0" marL="0">
              <a:buNone/>
            </a:pPr>
            <a:r>
              <a:rPr lang="en-US" sz="1000" dirty="0">
                <a:solidFill>
                  <a:srgbClr val="2C5F2D"/>
                </a:solidFill>
                <a:latin typeface="Calibri" pitchFamily="34" charset="0"/>
                <a:ea typeface="Calibri" pitchFamily="34" charset="-122"/>
                <a:cs typeface="Calibri" pitchFamily="34" charset="-120"/>
              </a:rPr>
              <a:t>df = 分类数 - 1</a:t>
            </a:r>
            <a:endParaRPr lang="en-US" sz="1000" dirty="0"/>
          </a:p>
        </p:txBody>
      </p:sp>
      <p:sp>
        <p:nvSpPr>
          <p:cNvPr id="48" name="Shape 46"/>
          <p:cNvSpPr/>
          <p:nvPr/>
        </p:nvSpPr>
        <p:spPr>
          <a:xfrm>
            <a:off x="457200" y="3840480"/>
            <a:ext cx="1463040" cy="320040"/>
          </a:xfrm>
          <a:prstGeom prst="rect">
            <a:avLst/>
          </a:prstGeom>
          <a:solidFill>
            <a:srgbClr val="F0F4E8"/>
          </a:solidFill>
          <a:ln w="6350">
            <a:solidFill>
              <a:srgbClr val="97BC62"/>
            </a:solidFill>
            <a:prstDash val="solid"/>
          </a:ln>
        </p:spPr>
      </p:sp>
      <p:sp>
        <p:nvSpPr>
          <p:cNvPr id="49" name="Text 47"/>
          <p:cNvSpPr/>
          <p:nvPr/>
        </p:nvSpPr>
        <p:spPr>
          <a:xfrm>
            <a:off x="457200" y="3840480"/>
            <a:ext cx="1463040" cy="320040"/>
          </a:xfrm>
          <a:prstGeom prst="rect">
            <a:avLst/>
          </a:prstGeom>
          <a:noFill/>
          <a:ln/>
        </p:spPr>
        <p:txBody>
          <a:bodyPr wrap="square" rtlCol="0" anchor="ctr"/>
          <a:lstStyle/>
          <a:p>
            <a:pPr algn="ctr" indent="0" marL="0">
              <a:buNone/>
            </a:pPr>
            <a:r>
              <a:rPr lang="en-US" sz="1000" b="1" dirty="0">
                <a:solidFill>
                  <a:srgbClr val="2C5F2D"/>
                </a:solidFill>
                <a:latin typeface="Calibri" pitchFamily="34" charset="0"/>
                <a:ea typeface="Calibri" pitchFamily="34" charset="-122"/>
                <a:cs typeface="Calibri" pitchFamily="34" charset="-120"/>
              </a:rPr>
              <a:t>庞尼特方格</a:t>
            </a:r>
            <a:endParaRPr lang="en-US" sz="1000" dirty="0"/>
          </a:p>
        </p:txBody>
      </p:sp>
      <p:sp>
        <p:nvSpPr>
          <p:cNvPr id="50" name="Shape 48"/>
          <p:cNvSpPr/>
          <p:nvPr/>
        </p:nvSpPr>
        <p:spPr>
          <a:xfrm>
            <a:off x="1920240" y="3840480"/>
            <a:ext cx="2286000" cy="320040"/>
          </a:xfrm>
          <a:prstGeom prst="rect">
            <a:avLst/>
          </a:prstGeom>
          <a:solidFill>
            <a:srgbClr val="F0F4E8"/>
          </a:solidFill>
          <a:ln w="6350">
            <a:solidFill>
              <a:srgbClr val="97BC62"/>
            </a:solidFill>
            <a:prstDash val="solid"/>
          </a:ln>
        </p:spPr>
      </p:sp>
      <p:sp>
        <p:nvSpPr>
          <p:cNvPr id="51" name="Text 49"/>
          <p:cNvSpPr/>
          <p:nvPr/>
        </p:nvSpPr>
        <p:spPr>
          <a:xfrm>
            <a:off x="1920240" y="3840480"/>
            <a:ext cx="2286000" cy="320040"/>
          </a:xfrm>
          <a:prstGeom prst="rect">
            <a:avLst/>
          </a:prstGeom>
          <a:noFill/>
          <a:ln/>
        </p:spPr>
        <p:txBody>
          <a:bodyPr wrap="square" rtlCol="0" anchor="ctr"/>
          <a:lstStyle/>
          <a:p>
            <a:pPr algn="ctr" indent="0" marL="0">
              <a:buNone/>
            </a:pPr>
            <a:r>
              <a:rPr lang="en-US" sz="900" i="1" dirty="0">
                <a:solidFill>
                  <a:srgbClr val="6B8E5A"/>
                </a:solidFill>
                <a:latin typeface="Calibri" pitchFamily="34" charset="0"/>
                <a:ea typeface="Calibri" pitchFamily="34" charset="-122"/>
                <a:cs typeface="Calibri" pitchFamily="34" charset="-120"/>
              </a:rPr>
              <a:t>Punnett Square</a:t>
            </a:r>
            <a:endParaRPr lang="en-US" sz="900" dirty="0"/>
          </a:p>
        </p:txBody>
      </p:sp>
      <p:sp>
        <p:nvSpPr>
          <p:cNvPr id="52" name="Shape 50"/>
          <p:cNvSpPr/>
          <p:nvPr/>
        </p:nvSpPr>
        <p:spPr>
          <a:xfrm>
            <a:off x="4206240" y="3840480"/>
            <a:ext cx="4937760" cy="320040"/>
          </a:xfrm>
          <a:prstGeom prst="rect">
            <a:avLst/>
          </a:prstGeom>
          <a:solidFill>
            <a:srgbClr val="F0F4E8"/>
          </a:solidFill>
          <a:ln w="6350">
            <a:solidFill>
              <a:srgbClr val="97BC62"/>
            </a:solidFill>
            <a:prstDash val="solid"/>
          </a:ln>
        </p:spPr>
      </p:sp>
      <p:sp>
        <p:nvSpPr>
          <p:cNvPr id="53" name="Text 51"/>
          <p:cNvSpPr/>
          <p:nvPr/>
        </p:nvSpPr>
        <p:spPr>
          <a:xfrm>
            <a:off x="4297680" y="3840480"/>
            <a:ext cx="4754880" cy="320040"/>
          </a:xfrm>
          <a:prstGeom prst="rect">
            <a:avLst/>
          </a:prstGeom>
          <a:noFill/>
          <a:ln/>
        </p:spPr>
        <p:txBody>
          <a:bodyPr wrap="square" rtlCol="0" anchor="ctr"/>
          <a:lstStyle/>
          <a:p>
            <a:pPr indent="0" marL="0">
              <a:buNone/>
            </a:pPr>
            <a:r>
              <a:rPr lang="en-US" sz="1000" dirty="0">
                <a:solidFill>
                  <a:srgbClr val="2C5F2D"/>
                </a:solidFill>
                <a:latin typeface="Calibri" pitchFamily="34" charset="0"/>
                <a:ea typeface="Calibri" pitchFamily="34" charset="-122"/>
                <a:cs typeface="Calibri" pitchFamily="34" charset="-120"/>
              </a:rPr>
              <a:t>预测杂交后代基因型频率的方格图</a:t>
            </a:r>
            <a:endParaRPr lang="en-US" sz="1000" dirty="0"/>
          </a:p>
        </p:txBody>
      </p:sp>
      <p:sp>
        <p:nvSpPr>
          <p:cNvPr id="54" name="Shape 52"/>
          <p:cNvSpPr/>
          <p:nvPr/>
        </p:nvSpPr>
        <p:spPr>
          <a:xfrm>
            <a:off x="457200" y="4206240"/>
            <a:ext cx="1463040" cy="320040"/>
          </a:xfrm>
          <a:prstGeom prst="rect">
            <a:avLst/>
          </a:prstGeom>
          <a:solidFill>
            <a:srgbClr val="FFFFFF"/>
          </a:solidFill>
          <a:ln w="6350">
            <a:solidFill>
              <a:srgbClr val="97BC62"/>
            </a:solidFill>
            <a:prstDash val="solid"/>
          </a:ln>
        </p:spPr>
      </p:sp>
      <p:sp>
        <p:nvSpPr>
          <p:cNvPr id="55" name="Text 53"/>
          <p:cNvSpPr/>
          <p:nvPr/>
        </p:nvSpPr>
        <p:spPr>
          <a:xfrm>
            <a:off x="457200" y="4206240"/>
            <a:ext cx="1463040" cy="320040"/>
          </a:xfrm>
          <a:prstGeom prst="rect">
            <a:avLst/>
          </a:prstGeom>
          <a:noFill/>
          <a:ln/>
        </p:spPr>
        <p:txBody>
          <a:bodyPr wrap="square" rtlCol="0" anchor="ctr"/>
          <a:lstStyle/>
          <a:p>
            <a:pPr algn="ctr" indent="0" marL="0">
              <a:buNone/>
            </a:pPr>
            <a:r>
              <a:rPr lang="en-US" sz="1000" b="1" dirty="0">
                <a:solidFill>
                  <a:srgbClr val="2C5F2D"/>
                </a:solidFill>
                <a:latin typeface="Calibri" pitchFamily="34" charset="0"/>
                <a:ea typeface="Calibri" pitchFamily="34" charset="-122"/>
                <a:cs typeface="Calibri" pitchFamily="34" charset="-120"/>
              </a:rPr>
              <a:t>组合数</a:t>
            </a:r>
            <a:endParaRPr lang="en-US" sz="1000" dirty="0"/>
          </a:p>
        </p:txBody>
      </p:sp>
      <p:sp>
        <p:nvSpPr>
          <p:cNvPr id="56" name="Shape 54"/>
          <p:cNvSpPr/>
          <p:nvPr/>
        </p:nvSpPr>
        <p:spPr>
          <a:xfrm>
            <a:off x="1920240" y="4206240"/>
            <a:ext cx="2286000" cy="320040"/>
          </a:xfrm>
          <a:prstGeom prst="rect">
            <a:avLst/>
          </a:prstGeom>
          <a:solidFill>
            <a:srgbClr val="FFFFFF"/>
          </a:solidFill>
          <a:ln w="6350">
            <a:solidFill>
              <a:srgbClr val="97BC62"/>
            </a:solidFill>
            <a:prstDash val="solid"/>
          </a:ln>
        </p:spPr>
      </p:sp>
      <p:sp>
        <p:nvSpPr>
          <p:cNvPr id="57" name="Text 55"/>
          <p:cNvSpPr/>
          <p:nvPr/>
        </p:nvSpPr>
        <p:spPr>
          <a:xfrm>
            <a:off x="1920240" y="4206240"/>
            <a:ext cx="2286000" cy="320040"/>
          </a:xfrm>
          <a:prstGeom prst="rect">
            <a:avLst/>
          </a:prstGeom>
          <a:noFill/>
          <a:ln/>
        </p:spPr>
        <p:txBody>
          <a:bodyPr wrap="square" rtlCol="0" anchor="ctr"/>
          <a:lstStyle/>
          <a:p>
            <a:pPr algn="ctr" indent="0" marL="0">
              <a:buNone/>
            </a:pPr>
            <a:r>
              <a:rPr lang="en-US" sz="900" i="1" dirty="0">
                <a:solidFill>
                  <a:srgbClr val="6B8E5A"/>
                </a:solidFill>
                <a:latin typeface="Calibri" pitchFamily="34" charset="0"/>
                <a:ea typeface="Calibri" pitchFamily="34" charset="-122"/>
                <a:cs typeface="Calibri" pitchFamily="34" charset="-120"/>
              </a:rPr>
              <a:t>Combination C(n,k)</a:t>
            </a:r>
            <a:endParaRPr lang="en-US" sz="900" dirty="0"/>
          </a:p>
        </p:txBody>
      </p:sp>
      <p:sp>
        <p:nvSpPr>
          <p:cNvPr id="58" name="Shape 56"/>
          <p:cNvSpPr/>
          <p:nvPr/>
        </p:nvSpPr>
        <p:spPr>
          <a:xfrm>
            <a:off x="4206240" y="4206240"/>
            <a:ext cx="4937760" cy="320040"/>
          </a:xfrm>
          <a:prstGeom prst="rect">
            <a:avLst/>
          </a:prstGeom>
          <a:solidFill>
            <a:srgbClr val="FFFFFF"/>
          </a:solidFill>
          <a:ln w="6350">
            <a:solidFill>
              <a:srgbClr val="97BC62"/>
            </a:solidFill>
            <a:prstDash val="solid"/>
          </a:ln>
        </p:spPr>
      </p:sp>
      <p:sp>
        <p:nvSpPr>
          <p:cNvPr id="59" name="Text 57"/>
          <p:cNvSpPr/>
          <p:nvPr/>
        </p:nvSpPr>
        <p:spPr>
          <a:xfrm>
            <a:off x="4297680" y="4206240"/>
            <a:ext cx="4754880" cy="320040"/>
          </a:xfrm>
          <a:prstGeom prst="rect">
            <a:avLst/>
          </a:prstGeom>
          <a:noFill/>
          <a:ln/>
        </p:spPr>
        <p:txBody>
          <a:bodyPr wrap="square" rtlCol="0" anchor="ctr"/>
          <a:lstStyle/>
          <a:p>
            <a:pPr indent="0" marL="0">
              <a:buNone/>
            </a:pPr>
            <a:r>
              <a:rPr lang="en-US" sz="1000" dirty="0">
                <a:solidFill>
                  <a:srgbClr val="2C5F2D"/>
                </a:solidFill>
                <a:latin typeface="Calibri" pitchFamily="34" charset="0"/>
                <a:ea typeface="Calibri" pitchFamily="34" charset="-122"/>
                <a:cs typeface="Calibri" pitchFamily="34" charset="-120"/>
              </a:rPr>
              <a:t>从n个中选k个的方式数 = n!/[k!(n-k)!]</a:t>
            </a:r>
            <a:endParaRPr lang="en-US" sz="1000" dirty="0"/>
          </a:p>
        </p:txBody>
      </p:sp>
      <p:sp>
        <p:nvSpPr>
          <p:cNvPr id="60" name="Shape 58"/>
          <p:cNvSpPr/>
          <p:nvPr/>
        </p:nvSpPr>
        <p:spPr>
          <a:xfrm>
            <a:off x="457200" y="4572000"/>
            <a:ext cx="1463040" cy="320040"/>
          </a:xfrm>
          <a:prstGeom prst="rect">
            <a:avLst/>
          </a:prstGeom>
          <a:solidFill>
            <a:srgbClr val="F0F4E8"/>
          </a:solidFill>
          <a:ln w="6350">
            <a:solidFill>
              <a:srgbClr val="97BC62"/>
            </a:solidFill>
            <a:prstDash val="solid"/>
          </a:ln>
        </p:spPr>
      </p:sp>
      <p:sp>
        <p:nvSpPr>
          <p:cNvPr id="61" name="Text 59"/>
          <p:cNvSpPr/>
          <p:nvPr/>
        </p:nvSpPr>
        <p:spPr>
          <a:xfrm>
            <a:off x="457200" y="4572000"/>
            <a:ext cx="1463040" cy="320040"/>
          </a:xfrm>
          <a:prstGeom prst="rect">
            <a:avLst/>
          </a:prstGeom>
          <a:noFill/>
          <a:ln/>
        </p:spPr>
        <p:txBody>
          <a:bodyPr wrap="square" rtlCol="0" anchor="ctr"/>
          <a:lstStyle/>
          <a:p>
            <a:pPr algn="ctr" indent="0" marL="0">
              <a:buNone/>
            </a:pPr>
            <a:r>
              <a:rPr lang="en-US" sz="1000" b="1" dirty="0">
                <a:solidFill>
                  <a:srgbClr val="2C5F2D"/>
                </a:solidFill>
                <a:latin typeface="Calibri" pitchFamily="34" charset="0"/>
                <a:ea typeface="Calibri" pitchFamily="34" charset="-122"/>
                <a:cs typeface="Calibri" pitchFamily="34" charset="-120"/>
              </a:rPr>
              <a:t>显著性水平</a:t>
            </a:r>
            <a:endParaRPr lang="en-US" sz="1000" dirty="0"/>
          </a:p>
        </p:txBody>
      </p:sp>
      <p:sp>
        <p:nvSpPr>
          <p:cNvPr id="62" name="Shape 60"/>
          <p:cNvSpPr/>
          <p:nvPr/>
        </p:nvSpPr>
        <p:spPr>
          <a:xfrm>
            <a:off x="1920240" y="4572000"/>
            <a:ext cx="2286000" cy="320040"/>
          </a:xfrm>
          <a:prstGeom prst="rect">
            <a:avLst/>
          </a:prstGeom>
          <a:solidFill>
            <a:srgbClr val="F0F4E8"/>
          </a:solidFill>
          <a:ln w="6350">
            <a:solidFill>
              <a:srgbClr val="97BC62"/>
            </a:solidFill>
            <a:prstDash val="solid"/>
          </a:ln>
        </p:spPr>
      </p:sp>
      <p:sp>
        <p:nvSpPr>
          <p:cNvPr id="63" name="Text 61"/>
          <p:cNvSpPr/>
          <p:nvPr/>
        </p:nvSpPr>
        <p:spPr>
          <a:xfrm>
            <a:off x="1920240" y="4572000"/>
            <a:ext cx="2286000" cy="320040"/>
          </a:xfrm>
          <a:prstGeom prst="rect">
            <a:avLst/>
          </a:prstGeom>
          <a:noFill/>
          <a:ln/>
        </p:spPr>
        <p:txBody>
          <a:bodyPr wrap="square" rtlCol="0" anchor="ctr"/>
          <a:lstStyle/>
          <a:p>
            <a:pPr algn="ctr" indent="0" marL="0">
              <a:buNone/>
            </a:pPr>
            <a:r>
              <a:rPr lang="en-US" sz="900" i="1" dirty="0">
                <a:solidFill>
                  <a:srgbClr val="6B8E5A"/>
                </a:solidFill>
                <a:latin typeface="Calibri" pitchFamily="34" charset="0"/>
                <a:ea typeface="Calibri" pitchFamily="34" charset="-122"/>
                <a:cs typeface="Calibri" pitchFamily="34" charset="-120"/>
              </a:rPr>
              <a:t>Significance Level</a:t>
            </a:r>
            <a:endParaRPr lang="en-US" sz="900" dirty="0"/>
          </a:p>
        </p:txBody>
      </p:sp>
      <p:sp>
        <p:nvSpPr>
          <p:cNvPr id="64" name="Shape 62"/>
          <p:cNvSpPr/>
          <p:nvPr/>
        </p:nvSpPr>
        <p:spPr>
          <a:xfrm>
            <a:off x="4206240" y="4572000"/>
            <a:ext cx="4937760" cy="320040"/>
          </a:xfrm>
          <a:prstGeom prst="rect">
            <a:avLst/>
          </a:prstGeom>
          <a:solidFill>
            <a:srgbClr val="F0F4E8"/>
          </a:solidFill>
          <a:ln w="6350">
            <a:solidFill>
              <a:srgbClr val="97BC62"/>
            </a:solidFill>
            <a:prstDash val="solid"/>
          </a:ln>
        </p:spPr>
      </p:sp>
      <p:sp>
        <p:nvSpPr>
          <p:cNvPr id="65" name="Text 63"/>
          <p:cNvSpPr/>
          <p:nvPr/>
        </p:nvSpPr>
        <p:spPr>
          <a:xfrm>
            <a:off x="4297680" y="4572000"/>
            <a:ext cx="4754880" cy="320040"/>
          </a:xfrm>
          <a:prstGeom prst="rect">
            <a:avLst/>
          </a:prstGeom>
          <a:noFill/>
          <a:ln/>
        </p:spPr>
        <p:txBody>
          <a:bodyPr wrap="square" rtlCol="0" anchor="ctr"/>
          <a:lstStyle/>
          <a:p>
            <a:pPr indent="0" marL="0">
              <a:buNone/>
            </a:pPr>
            <a:r>
              <a:rPr lang="en-US" sz="1000" dirty="0">
                <a:solidFill>
                  <a:srgbClr val="2C5F2D"/>
                </a:solidFill>
                <a:latin typeface="Calibri" pitchFamily="34" charset="0"/>
                <a:ea typeface="Calibri" pitchFamily="34" charset="-122"/>
                <a:cs typeface="Calibri" pitchFamily="34" charset="-120"/>
              </a:rPr>
              <a:t>通常设为0.05，用于判断是否拒绝原假设</a:t>
            </a:r>
            <a:endParaRPr lang="en-US" sz="1000" dirty="0"/>
          </a:p>
        </p:txBody>
      </p:sp>
      <p:sp>
        <p:nvSpPr>
          <p:cNvPr id="66" name="Text 64"/>
          <p:cNvSpPr/>
          <p:nvPr/>
        </p:nvSpPr>
        <p:spPr>
          <a:xfrm>
            <a:off x="8046720" y="4777740"/>
            <a:ext cx="914400" cy="274320"/>
          </a:xfrm>
          <a:prstGeom prst="rect">
            <a:avLst/>
          </a:prstGeom>
          <a:noFill/>
          <a:ln/>
        </p:spPr>
        <p:txBody>
          <a:bodyPr wrap="square" rtlCol="0" anchor="ctr"/>
          <a:lstStyle/>
          <a:p>
            <a:pPr algn="r" indent="0" marL="0">
              <a:buNone/>
            </a:pPr>
            <a:r>
              <a:rPr lang="en-US" sz="1000" dirty="0">
                <a:solidFill>
                  <a:srgbClr val="6B8E5A"/>
                </a:solidFill>
                <a:latin typeface="Calibri" pitchFamily="34" charset="0"/>
                <a:ea typeface="Calibri" pitchFamily="34" charset="-122"/>
                <a:cs typeface="Calibri" pitchFamily="34" charset="-120"/>
              </a:rPr>
              <a:t>17 / 20</a:t>
            </a:r>
            <a:endParaRPr lang="en-US" sz="1000" dirty="0"/>
          </a:p>
        </p:txBody>
      </p:sp>
      <p:sp>
        <p:nvSpPr>
          <p:cNvPr id="67" name="Shape 65"/>
          <p:cNvSpPr/>
          <p:nvPr/>
        </p:nvSpPr>
        <p:spPr>
          <a:xfrm>
            <a:off x="0" y="5097780"/>
            <a:ext cx="9144000" cy="45720"/>
          </a:xfrm>
          <a:prstGeom prst="rect">
            <a:avLst/>
          </a:prstGeom>
          <a:solidFill>
            <a:srgbClr val="2C5F2D"/>
          </a:solidFill>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4A843"/>
          </a:solidFill>
          <a:ln/>
        </p:spPr>
      </p:sp>
      <p:sp>
        <p:nvSpPr>
          <p:cNvPr id="3" name="Text 1"/>
          <p:cNvSpPr/>
          <p:nvPr/>
        </p:nvSpPr>
        <p:spPr>
          <a:xfrm>
            <a:off x="457200" y="228600"/>
            <a:ext cx="8229600" cy="457200"/>
          </a:xfrm>
          <a:prstGeom prst="rect">
            <a:avLst/>
          </a:prstGeom>
          <a:noFill/>
          <a:ln/>
        </p:spPr>
        <p:txBody>
          <a:bodyPr wrap="square" rtlCol="0" anchor="ctr"/>
          <a:lstStyle/>
          <a:p>
            <a:pPr indent="0" marL="0">
              <a:buNone/>
            </a:pPr>
            <a:r>
              <a:rPr lang="en-US" sz="2800" b="1" dirty="0">
                <a:solidFill>
                  <a:srgbClr val="2C5F2D"/>
                </a:solidFill>
                <a:latin typeface="Georgia" pitchFamily="34" charset="0"/>
                <a:ea typeface="Georgia" pitchFamily="34" charset="-122"/>
                <a:cs typeface="Georgia" pitchFamily="34" charset="-120"/>
              </a:rPr>
              <a:t>思考题</a:t>
            </a:r>
            <a:endParaRPr lang="en-US" sz="2800" dirty="0"/>
          </a:p>
        </p:txBody>
      </p:sp>
      <p:sp>
        <p:nvSpPr>
          <p:cNvPr id="4" name="Text 2"/>
          <p:cNvSpPr/>
          <p:nvPr/>
        </p:nvSpPr>
        <p:spPr>
          <a:xfrm>
            <a:off x="457200" y="685800"/>
            <a:ext cx="8229600" cy="274320"/>
          </a:xfrm>
          <a:prstGeom prst="rect">
            <a:avLst/>
          </a:prstGeom>
          <a:noFill/>
          <a:ln/>
        </p:spPr>
        <p:txBody>
          <a:bodyPr wrap="square" rtlCol="0" anchor="ctr"/>
          <a:lstStyle/>
          <a:p>
            <a:pPr indent="0" marL="0">
              <a:buNone/>
            </a:pPr>
            <a:r>
              <a:rPr lang="en-US" sz="1400" dirty="0">
                <a:solidFill>
                  <a:srgbClr val="6B8E5A"/>
                </a:solidFill>
                <a:latin typeface="Calibri" pitchFamily="34" charset="0"/>
                <a:ea typeface="Calibri" pitchFamily="34" charset="-122"/>
                <a:cs typeface="Calibri" pitchFamily="34" charset="-120"/>
              </a:rPr>
              <a:t>Review Questions</a:t>
            </a:r>
            <a:endParaRPr lang="en-US" sz="1400" dirty="0"/>
          </a:p>
        </p:txBody>
      </p:sp>
      <p:sp>
        <p:nvSpPr>
          <p:cNvPr id="5" name="Shape 3"/>
          <p:cNvSpPr/>
          <p:nvPr/>
        </p:nvSpPr>
        <p:spPr>
          <a:xfrm>
            <a:off x="457200" y="1005840"/>
            <a:ext cx="1371600" cy="36576"/>
          </a:xfrm>
          <a:prstGeom prst="rect">
            <a:avLst/>
          </a:prstGeom>
          <a:solidFill>
            <a:srgbClr val="97BC62"/>
          </a:solidFill>
          <a:ln/>
        </p:spPr>
      </p:sp>
      <p:sp>
        <p:nvSpPr>
          <p:cNvPr id="6" name="Shape 4"/>
          <p:cNvSpPr/>
          <p:nvPr/>
        </p:nvSpPr>
        <p:spPr>
          <a:xfrm>
            <a:off x="457200" y="1280160"/>
            <a:ext cx="914400" cy="274320"/>
          </a:xfrm>
          <a:prstGeom prst="rect">
            <a:avLst/>
          </a:prstGeom>
          <a:solidFill>
            <a:srgbClr val="2C5F2D"/>
          </a:solidFill>
          <a:ln/>
        </p:spPr>
      </p:sp>
      <p:sp>
        <p:nvSpPr>
          <p:cNvPr id="7" name="Text 5"/>
          <p:cNvSpPr/>
          <p:nvPr/>
        </p:nvSpPr>
        <p:spPr>
          <a:xfrm>
            <a:off x="457200" y="1280160"/>
            <a:ext cx="914400" cy="2743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基础题</a:t>
            </a:r>
            <a:endParaRPr lang="en-US" sz="1000" dirty="0"/>
          </a:p>
        </p:txBody>
      </p:sp>
      <p:sp>
        <p:nvSpPr>
          <p:cNvPr id="8" name="Text 6"/>
          <p:cNvSpPr/>
          <p:nvPr/>
        </p:nvSpPr>
        <p:spPr>
          <a:xfrm>
            <a:off x="1463040" y="1280160"/>
            <a:ext cx="7223760" cy="640080"/>
          </a:xfrm>
          <a:prstGeom prst="rect">
            <a:avLst/>
          </a:prstGeom>
          <a:noFill/>
          <a:ln/>
        </p:spPr>
        <p:txBody>
          <a:bodyPr wrap="square" rtlCol="0" anchor="ctr"/>
          <a:lstStyle/>
          <a:p>
            <a:pPr indent="0" marL="0">
              <a:buNone/>
            </a:pPr>
            <a:r>
              <a:rPr lang="en-US" sz="1100" dirty="0">
                <a:solidFill>
                  <a:srgbClr val="2C5F2D"/>
                </a:solidFill>
                <a:latin typeface="Calibri" pitchFamily="34" charset="0"/>
                <a:ea typeface="Calibri" pitchFamily="34" charset="-122"/>
                <a:cs typeface="Calibri" pitchFamily="34" charset="-120"/>
              </a:rPr>
              <a:t>为什么说等可能事件假设是孟德尔遗传学的数学基础？如果等位基因分离不是等可能的，F2比例会怎样变化？</a:t>
            </a:r>
            <a:endParaRPr lang="en-US" sz="1100" dirty="0"/>
          </a:p>
        </p:txBody>
      </p:sp>
      <p:sp>
        <p:nvSpPr>
          <p:cNvPr id="9" name="Shape 7"/>
          <p:cNvSpPr/>
          <p:nvPr/>
        </p:nvSpPr>
        <p:spPr>
          <a:xfrm>
            <a:off x="457200" y="2011680"/>
            <a:ext cx="914400" cy="274320"/>
          </a:xfrm>
          <a:prstGeom prst="rect">
            <a:avLst/>
          </a:prstGeom>
          <a:solidFill>
            <a:srgbClr val="97BC62"/>
          </a:solidFill>
          <a:ln/>
        </p:spPr>
      </p:sp>
      <p:sp>
        <p:nvSpPr>
          <p:cNvPr id="10" name="Text 8"/>
          <p:cNvSpPr/>
          <p:nvPr/>
        </p:nvSpPr>
        <p:spPr>
          <a:xfrm>
            <a:off x="457200" y="2011680"/>
            <a:ext cx="914400" cy="2743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计算题</a:t>
            </a:r>
            <a:endParaRPr lang="en-US" sz="1000" dirty="0"/>
          </a:p>
        </p:txBody>
      </p:sp>
      <p:sp>
        <p:nvSpPr>
          <p:cNvPr id="11" name="Text 9"/>
          <p:cNvSpPr/>
          <p:nvPr/>
        </p:nvSpPr>
        <p:spPr>
          <a:xfrm>
            <a:off x="1463040" y="2011680"/>
            <a:ext cx="7223760" cy="640080"/>
          </a:xfrm>
          <a:prstGeom prst="rect">
            <a:avLst/>
          </a:prstGeom>
          <a:noFill/>
          <a:ln/>
        </p:spPr>
        <p:txBody>
          <a:bodyPr wrap="square" rtlCol="0" anchor="ctr"/>
          <a:lstStyle/>
          <a:p>
            <a:pPr indent="0" marL="0">
              <a:buNone/>
            </a:pPr>
            <a:r>
              <a:rPr lang="en-US" sz="1100" dirty="0">
                <a:solidFill>
                  <a:srgbClr val="2C5F2D"/>
                </a:solidFill>
                <a:latin typeface="Calibri" pitchFamily="34" charset="0"/>
                <a:ea typeface="Calibri" pitchFamily="34" charset="-122"/>
                <a:cs typeface="Calibri" pitchFamily="34" charset="-120"/>
              </a:rPr>
              <a:t>AaBbCc x AaBbCc 的 F2 代中，A_B_C_（三显性）表型的概率是多少？共有多少种表型组合？</a:t>
            </a:r>
            <a:endParaRPr lang="en-US" sz="1100" dirty="0"/>
          </a:p>
        </p:txBody>
      </p:sp>
      <p:sp>
        <p:nvSpPr>
          <p:cNvPr id="12" name="Shape 10"/>
          <p:cNvSpPr/>
          <p:nvPr/>
        </p:nvSpPr>
        <p:spPr>
          <a:xfrm>
            <a:off x="457200" y="2743200"/>
            <a:ext cx="914400" cy="274320"/>
          </a:xfrm>
          <a:prstGeom prst="rect">
            <a:avLst/>
          </a:prstGeom>
          <a:solidFill>
            <a:srgbClr val="2C5F2D"/>
          </a:solidFill>
          <a:ln/>
        </p:spPr>
      </p:sp>
      <p:sp>
        <p:nvSpPr>
          <p:cNvPr id="13" name="Text 11"/>
          <p:cNvSpPr/>
          <p:nvPr/>
        </p:nvSpPr>
        <p:spPr>
          <a:xfrm>
            <a:off x="457200" y="2743200"/>
            <a:ext cx="914400" cy="2743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分析题</a:t>
            </a:r>
            <a:endParaRPr lang="en-US" sz="1000" dirty="0"/>
          </a:p>
        </p:txBody>
      </p:sp>
      <p:sp>
        <p:nvSpPr>
          <p:cNvPr id="14" name="Text 12"/>
          <p:cNvSpPr/>
          <p:nvPr/>
        </p:nvSpPr>
        <p:spPr>
          <a:xfrm>
            <a:off x="1463040" y="2743200"/>
            <a:ext cx="7223760" cy="640080"/>
          </a:xfrm>
          <a:prstGeom prst="rect">
            <a:avLst/>
          </a:prstGeom>
          <a:noFill/>
          <a:ln/>
        </p:spPr>
        <p:txBody>
          <a:bodyPr wrap="square" rtlCol="0" anchor="ctr"/>
          <a:lstStyle/>
          <a:p>
            <a:pPr indent="0" marL="0">
              <a:buNone/>
            </a:pPr>
            <a:r>
              <a:rPr lang="en-US" sz="1100" dirty="0">
                <a:solidFill>
                  <a:srgbClr val="2C5F2D"/>
                </a:solidFill>
                <a:latin typeface="Calibri" pitchFamily="34" charset="0"/>
                <a:ea typeface="Calibri" pitchFamily="34" charset="-122"/>
                <a:cs typeface="Calibri" pitchFamily="34" charset="-120"/>
              </a:rPr>
              <a:t>对孟德尔茎高度数据（高茎787，矮茎277）进行卡方检验，计算 chi-sq 值并判断是否符合 3:1 比例。</a:t>
            </a:r>
            <a:endParaRPr lang="en-US" sz="1100" dirty="0"/>
          </a:p>
        </p:txBody>
      </p:sp>
      <p:sp>
        <p:nvSpPr>
          <p:cNvPr id="15" name="Shape 13"/>
          <p:cNvSpPr/>
          <p:nvPr/>
        </p:nvSpPr>
        <p:spPr>
          <a:xfrm>
            <a:off x="457200" y="3474720"/>
            <a:ext cx="914400" cy="274320"/>
          </a:xfrm>
          <a:prstGeom prst="rect">
            <a:avLst/>
          </a:prstGeom>
          <a:solidFill>
            <a:srgbClr val="97BC62"/>
          </a:solidFill>
          <a:ln/>
        </p:spPr>
      </p:sp>
      <p:sp>
        <p:nvSpPr>
          <p:cNvPr id="16" name="Text 14"/>
          <p:cNvSpPr/>
          <p:nvPr/>
        </p:nvSpPr>
        <p:spPr>
          <a:xfrm>
            <a:off x="457200" y="3474720"/>
            <a:ext cx="914400" cy="2743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思辨题</a:t>
            </a:r>
            <a:endParaRPr lang="en-US" sz="1000" dirty="0"/>
          </a:p>
        </p:txBody>
      </p:sp>
      <p:sp>
        <p:nvSpPr>
          <p:cNvPr id="17" name="Text 15"/>
          <p:cNvSpPr/>
          <p:nvPr/>
        </p:nvSpPr>
        <p:spPr>
          <a:xfrm>
            <a:off x="1463040" y="3474720"/>
            <a:ext cx="7223760" cy="640080"/>
          </a:xfrm>
          <a:prstGeom prst="rect">
            <a:avLst/>
          </a:prstGeom>
          <a:noFill/>
          <a:ln/>
        </p:spPr>
        <p:txBody>
          <a:bodyPr wrap="square" rtlCol="0" anchor="ctr"/>
          <a:lstStyle/>
          <a:p>
            <a:pPr indent="0" marL="0">
              <a:buNone/>
            </a:pPr>
            <a:r>
              <a:rPr lang="en-US" sz="1100" dirty="0">
                <a:solidFill>
                  <a:srgbClr val="2C5F2D"/>
                </a:solidFill>
                <a:latin typeface="Calibri" pitchFamily="34" charset="0"/>
                <a:ea typeface="Calibri" pitchFamily="34" charset="-122"/>
                <a:cs typeface="Calibri" pitchFamily="34" charset="-120"/>
              </a:rPr>
              <a:t>费舍尔认为孟德尔的数据"太完美了"。如果你是孟德尔的助手，在计数过程中可能会遇到哪些导致偏差的因素？</a:t>
            </a:r>
            <a:endParaRPr lang="en-US" sz="1100" dirty="0"/>
          </a:p>
        </p:txBody>
      </p:sp>
      <p:sp>
        <p:nvSpPr>
          <p:cNvPr id="18" name="Shape 16"/>
          <p:cNvSpPr/>
          <p:nvPr/>
        </p:nvSpPr>
        <p:spPr>
          <a:xfrm>
            <a:off x="457200" y="4206240"/>
            <a:ext cx="914400" cy="274320"/>
          </a:xfrm>
          <a:prstGeom prst="rect">
            <a:avLst/>
          </a:prstGeom>
          <a:solidFill>
            <a:srgbClr val="2C5F2D"/>
          </a:solidFill>
          <a:ln/>
        </p:spPr>
      </p:sp>
      <p:sp>
        <p:nvSpPr>
          <p:cNvPr id="19" name="Text 17"/>
          <p:cNvSpPr/>
          <p:nvPr/>
        </p:nvSpPr>
        <p:spPr>
          <a:xfrm>
            <a:off x="457200" y="4206240"/>
            <a:ext cx="914400" cy="2743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拓展题</a:t>
            </a:r>
            <a:endParaRPr lang="en-US" sz="1000" dirty="0"/>
          </a:p>
        </p:txBody>
      </p:sp>
      <p:sp>
        <p:nvSpPr>
          <p:cNvPr id="20" name="Text 18"/>
          <p:cNvSpPr/>
          <p:nvPr/>
        </p:nvSpPr>
        <p:spPr>
          <a:xfrm>
            <a:off x="1463040" y="4206240"/>
            <a:ext cx="7223760" cy="640080"/>
          </a:xfrm>
          <a:prstGeom prst="rect">
            <a:avLst/>
          </a:prstGeom>
          <a:noFill/>
          <a:ln/>
        </p:spPr>
        <p:txBody>
          <a:bodyPr wrap="square" rtlCol="0" anchor="ctr"/>
          <a:lstStyle/>
          <a:p>
            <a:pPr indent="0" marL="0">
              <a:buNone/>
            </a:pPr>
            <a:r>
              <a:rPr lang="en-US" sz="1100" dirty="0">
                <a:solidFill>
                  <a:srgbClr val="2C5F2D"/>
                </a:solidFill>
                <a:latin typeface="Calibri" pitchFamily="34" charset="0"/>
                <a:ea typeface="Calibri" pitchFamily="34" charset="-122"/>
                <a:cs typeface="Calibri" pitchFamily="34" charset="-120"/>
              </a:rPr>
              <a:t>如果孟德尔研究的两对基因位于同一条染色体上且完全连锁，F2 的表型比例会是什么？请用概率方法推导。</a:t>
            </a:r>
            <a:endParaRPr lang="en-US" sz="1100" dirty="0"/>
          </a:p>
        </p:txBody>
      </p:sp>
      <p:sp>
        <p:nvSpPr>
          <p:cNvPr id="21" name="Text 19"/>
          <p:cNvSpPr/>
          <p:nvPr/>
        </p:nvSpPr>
        <p:spPr>
          <a:xfrm>
            <a:off x="8046720" y="4777740"/>
            <a:ext cx="914400" cy="274320"/>
          </a:xfrm>
          <a:prstGeom prst="rect">
            <a:avLst/>
          </a:prstGeom>
          <a:noFill/>
          <a:ln/>
        </p:spPr>
        <p:txBody>
          <a:bodyPr wrap="square" rtlCol="0" anchor="ctr"/>
          <a:lstStyle/>
          <a:p>
            <a:pPr algn="r" indent="0" marL="0">
              <a:buNone/>
            </a:pPr>
            <a:r>
              <a:rPr lang="en-US" sz="1000" dirty="0">
                <a:solidFill>
                  <a:srgbClr val="6B8E5A"/>
                </a:solidFill>
                <a:latin typeface="Calibri" pitchFamily="34" charset="0"/>
                <a:ea typeface="Calibri" pitchFamily="34" charset="-122"/>
                <a:cs typeface="Calibri" pitchFamily="34" charset="-120"/>
              </a:rPr>
              <a:t>18 / 20</a:t>
            </a:r>
            <a:endParaRPr lang="en-US" sz="1000" dirty="0"/>
          </a:p>
        </p:txBody>
      </p:sp>
      <p:sp>
        <p:nvSpPr>
          <p:cNvPr id="22" name="Shape 20"/>
          <p:cNvSpPr/>
          <p:nvPr/>
        </p:nvSpPr>
        <p:spPr>
          <a:xfrm>
            <a:off x="0" y="5097780"/>
            <a:ext cx="9144000" cy="45720"/>
          </a:xfrm>
          <a:prstGeom prst="rect">
            <a:avLst/>
          </a:prstGeom>
          <a:solidFill>
            <a:srgbClr val="2C5F2D"/>
          </a:solidFill>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4A843"/>
          </a:solidFill>
          <a:ln/>
        </p:spPr>
      </p:sp>
      <p:sp>
        <p:nvSpPr>
          <p:cNvPr id="3" name="Text 1"/>
          <p:cNvSpPr/>
          <p:nvPr/>
        </p:nvSpPr>
        <p:spPr>
          <a:xfrm>
            <a:off x="457200" y="228600"/>
            <a:ext cx="8229600" cy="457200"/>
          </a:xfrm>
          <a:prstGeom prst="rect">
            <a:avLst/>
          </a:prstGeom>
          <a:noFill/>
          <a:ln/>
        </p:spPr>
        <p:txBody>
          <a:bodyPr wrap="square" rtlCol="0" anchor="ctr"/>
          <a:lstStyle/>
          <a:p>
            <a:pPr indent="0" marL="0">
              <a:buNone/>
            </a:pPr>
            <a:r>
              <a:rPr lang="en-US" sz="2800" b="1" dirty="0">
                <a:solidFill>
                  <a:srgbClr val="2C5F2D"/>
                </a:solidFill>
                <a:latin typeface="Georgia" pitchFamily="34" charset="0"/>
                <a:ea typeface="Georgia" pitchFamily="34" charset="-122"/>
                <a:cs typeface="Georgia" pitchFamily="34" charset="-120"/>
              </a:rPr>
              <a:t>下节预告</a:t>
            </a:r>
            <a:endParaRPr lang="en-US" sz="2800" dirty="0"/>
          </a:p>
        </p:txBody>
      </p:sp>
      <p:sp>
        <p:nvSpPr>
          <p:cNvPr id="4" name="Text 2"/>
          <p:cNvSpPr/>
          <p:nvPr/>
        </p:nvSpPr>
        <p:spPr>
          <a:xfrm>
            <a:off x="457200" y="685800"/>
            <a:ext cx="8229600" cy="274320"/>
          </a:xfrm>
          <a:prstGeom prst="rect">
            <a:avLst/>
          </a:prstGeom>
          <a:noFill/>
          <a:ln/>
        </p:spPr>
        <p:txBody>
          <a:bodyPr wrap="square" rtlCol="0" anchor="ctr"/>
          <a:lstStyle/>
          <a:p>
            <a:pPr indent="0" marL="0">
              <a:buNone/>
            </a:pPr>
            <a:r>
              <a:rPr lang="en-US" sz="1400" dirty="0">
                <a:solidFill>
                  <a:srgbClr val="6B8E5A"/>
                </a:solidFill>
                <a:latin typeface="Calibri" pitchFamily="34" charset="0"/>
                <a:ea typeface="Calibri" pitchFamily="34" charset="-122"/>
                <a:cs typeface="Calibri" pitchFamily="34" charset="-120"/>
              </a:rPr>
              <a:t>Preview: Day 012</a:t>
            </a:r>
            <a:endParaRPr lang="en-US" sz="1400" dirty="0"/>
          </a:p>
        </p:txBody>
      </p:sp>
      <p:sp>
        <p:nvSpPr>
          <p:cNvPr id="5" name="Shape 3"/>
          <p:cNvSpPr/>
          <p:nvPr/>
        </p:nvSpPr>
        <p:spPr>
          <a:xfrm>
            <a:off x="457200" y="1005840"/>
            <a:ext cx="1371600" cy="36576"/>
          </a:xfrm>
          <a:prstGeom prst="rect">
            <a:avLst/>
          </a:prstGeom>
          <a:solidFill>
            <a:srgbClr val="97BC62"/>
          </a:solidFill>
          <a:ln/>
        </p:spPr>
      </p:sp>
      <p:sp>
        <p:nvSpPr>
          <p:cNvPr id="6" name="Shape 4"/>
          <p:cNvSpPr/>
          <p:nvPr/>
        </p:nvSpPr>
        <p:spPr>
          <a:xfrm>
            <a:off x="914400" y="1371600"/>
            <a:ext cx="8229600" cy="2926080"/>
          </a:xfrm>
          <a:prstGeom prst="rect">
            <a:avLst/>
          </a:prstGeom>
          <a:solidFill>
            <a:srgbClr val="FFFFFF"/>
          </a:solidFill>
          <a:ln w="25400">
            <a:solidFill>
              <a:srgbClr val="2C5F2D"/>
            </a:solidFill>
            <a:prstDash val="solid"/>
          </a:ln>
        </p:spPr>
      </p:sp>
      <p:sp>
        <p:nvSpPr>
          <p:cNvPr id="7" name="Text 5"/>
          <p:cNvSpPr/>
          <p:nvPr/>
        </p:nvSpPr>
        <p:spPr>
          <a:xfrm>
            <a:off x="914400" y="1645920"/>
            <a:ext cx="8229600" cy="640080"/>
          </a:xfrm>
          <a:prstGeom prst="rect">
            <a:avLst/>
          </a:prstGeom>
          <a:noFill/>
          <a:ln/>
        </p:spPr>
        <p:txBody>
          <a:bodyPr wrap="square" rtlCol="0" anchor="ctr"/>
          <a:lstStyle/>
          <a:p>
            <a:pPr algn="ctr" indent="0" marL="0">
              <a:buNone/>
            </a:pPr>
            <a:r>
              <a:rPr lang="en-US" sz="3000" b="1" dirty="0">
                <a:solidFill>
                  <a:srgbClr val="2C5F2D"/>
                </a:solidFill>
                <a:latin typeface="Georgia" pitchFamily="34" charset="0"/>
                <a:ea typeface="Georgia" pitchFamily="34" charset="-122"/>
                <a:cs typeface="Georgia" pitchFamily="34" charset="-120"/>
              </a:rPr>
              <a:t>孟德尔的失败与被埋没</a:t>
            </a:r>
            <a:endParaRPr lang="en-US" sz="3000" dirty="0"/>
          </a:p>
        </p:txBody>
      </p:sp>
      <p:sp>
        <p:nvSpPr>
          <p:cNvPr id="8" name="Text 6"/>
          <p:cNvSpPr/>
          <p:nvPr/>
        </p:nvSpPr>
        <p:spPr>
          <a:xfrm>
            <a:off x="914400" y="2194560"/>
            <a:ext cx="8229600" cy="365760"/>
          </a:xfrm>
          <a:prstGeom prst="rect">
            <a:avLst/>
          </a:prstGeom>
          <a:noFill/>
          <a:ln/>
        </p:spPr>
        <p:txBody>
          <a:bodyPr wrap="square" rtlCol="0" anchor="ctr"/>
          <a:lstStyle/>
          <a:p>
            <a:pPr algn="ctr" indent="0" marL="0">
              <a:buNone/>
            </a:pPr>
            <a:r>
              <a:rPr lang="en-US" sz="1600" i="1" dirty="0">
                <a:solidFill>
                  <a:srgbClr val="6B8E5A"/>
                </a:solidFill>
                <a:latin typeface="Georgia" pitchFamily="34" charset="0"/>
                <a:ea typeface="Georgia" pitchFamily="34" charset="-122"/>
                <a:cs typeface="Georgia" pitchFamily="34" charset="-120"/>
              </a:rPr>
              <a:t>Mendel's Failures and the 35-Year Obscurity</a:t>
            </a:r>
            <a:endParaRPr lang="en-US" sz="1600" dirty="0"/>
          </a:p>
        </p:txBody>
      </p:sp>
      <p:sp>
        <p:nvSpPr>
          <p:cNvPr id="9" name="Text 7"/>
          <p:cNvSpPr/>
          <p:nvPr/>
        </p:nvSpPr>
        <p:spPr>
          <a:xfrm>
            <a:off x="1828800" y="2743200"/>
            <a:ext cx="6400800" cy="1371600"/>
          </a:xfrm>
          <a:prstGeom prst="rect">
            <a:avLst/>
          </a:prstGeom>
          <a:noFill/>
          <a:ln/>
        </p:spPr>
        <p:txBody>
          <a:bodyPr wrap="square" rtlCol="0" anchor="ctr"/>
          <a:lstStyle/>
          <a:p>
            <a:pPr indent="0" marL="0">
              <a:spcAft>
                <a:spcPts val="600"/>
              </a:spcAft>
              <a:buNone/>
            </a:pPr>
            <a:r>
              <a:rPr lang="en-US" sz="1400" dirty="0">
                <a:solidFill>
                  <a:srgbClr val="2C5F2D"/>
                </a:solidFill>
                <a:latin typeface="Calibri" pitchFamily="34" charset="0"/>
                <a:ea typeface="Calibri" pitchFamily="34" charset="-122"/>
                <a:cs typeface="Calibri" pitchFamily="34" charset="-120"/>
              </a:rPr>
              <a:t>• 孟德尔晚年研究的山柳菊为何失败了？</a:t>
            </a:r>
            <a:endParaRPr lang="en-US" sz="1400" dirty="0"/>
          </a:p>
          <a:p>
            <a:pPr indent="0" marL="0">
              <a:spcAft>
                <a:spcPts val="600"/>
              </a:spcAft>
              <a:buNone/>
            </a:pPr>
            <a:r>
              <a:rPr lang="en-US" sz="1400" dirty="0">
                <a:solidFill>
                  <a:srgbClr val="2C5F2D"/>
                </a:solidFill>
                <a:latin typeface="Calibri" pitchFamily="34" charset="0"/>
                <a:ea typeface="Calibri" pitchFamily="34" charset="-122"/>
                <a:cs typeface="Calibri" pitchFamily="34" charset="-120"/>
              </a:rPr>
              <a:t>• 1866-1900年间谁接近了真相却擦肩而过？</a:t>
            </a:r>
            <a:endParaRPr lang="en-US" sz="1400" dirty="0"/>
          </a:p>
          <a:p>
            <a:pPr indent="0" marL="0">
              <a:spcAft>
                <a:spcPts val="600"/>
              </a:spcAft>
              <a:buNone/>
            </a:pPr>
            <a:r>
              <a:rPr lang="en-US" sz="1400" dirty="0">
                <a:solidFill>
                  <a:srgbClr val="2C5F2D"/>
                </a:solidFill>
                <a:latin typeface="Calibri" pitchFamily="34" charset="0"/>
                <a:ea typeface="Calibri" pitchFamily="34" charset="-122"/>
                <a:cs typeface="Calibri" pitchFamily="34" charset="-120"/>
              </a:rPr>
              <a:t>• 1900年"重新发现"的三位科学家及其贡献</a:t>
            </a:r>
            <a:endParaRPr lang="en-US" sz="1400" dirty="0"/>
          </a:p>
          <a:p>
            <a:pPr indent="0" marL="0">
              <a:spcAft>
                <a:spcPts val="600"/>
              </a:spcAft>
              <a:buNone/>
            </a:pPr>
            <a:r>
              <a:rPr lang="en-US" sz="1400" dirty="0">
                <a:solidFill>
                  <a:srgbClr val="2C5F2D"/>
                </a:solidFill>
                <a:latin typeface="Calibri" pitchFamily="34" charset="0"/>
                <a:ea typeface="Calibri" pitchFamily="34" charset="-122"/>
                <a:cs typeface="Calibri" pitchFamily="34" charset="-120"/>
              </a:rPr>
              <a:t>• 为什么孟德尔定律被埋没了35年？</a:t>
            </a:r>
            <a:endParaRPr lang="en-US" sz="1400" dirty="0"/>
          </a:p>
          <a:p>
            <a:pPr indent="0" marL="0">
              <a:spcAft>
                <a:spcPts val="600"/>
              </a:spcAft>
              <a:buNone/>
            </a:pPr>
            <a:r>
              <a:rPr lang="en-US" sz="1400" dirty="0">
                <a:solidFill>
                  <a:srgbClr val="2C5F2D"/>
                </a:solidFill>
                <a:latin typeface="Calibri" pitchFamily="34" charset="0"/>
                <a:ea typeface="Calibri" pitchFamily="34" charset="-122"/>
                <a:cs typeface="Calibri" pitchFamily="34" charset="-120"/>
              </a:rPr>
              <a:t>• 从被忽视到被神化：孟德尔的科学史地位变迁</a:t>
            </a:r>
            <a:endParaRPr lang="en-US" sz="1400" dirty="0"/>
          </a:p>
        </p:txBody>
      </p:sp>
      <p:sp>
        <p:nvSpPr>
          <p:cNvPr id="10" name="Text 8"/>
          <p:cNvSpPr/>
          <p:nvPr/>
        </p:nvSpPr>
        <p:spPr>
          <a:xfrm>
            <a:off x="8046720" y="4777740"/>
            <a:ext cx="914400" cy="274320"/>
          </a:xfrm>
          <a:prstGeom prst="rect">
            <a:avLst/>
          </a:prstGeom>
          <a:noFill/>
          <a:ln/>
        </p:spPr>
        <p:txBody>
          <a:bodyPr wrap="square" rtlCol="0" anchor="ctr"/>
          <a:lstStyle/>
          <a:p>
            <a:pPr algn="r" indent="0" marL="0">
              <a:buNone/>
            </a:pPr>
            <a:r>
              <a:rPr lang="en-US" sz="1000" dirty="0">
                <a:solidFill>
                  <a:srgbClr val="6B8E5A"/>
                </a:solidFill>
                <a:latin typeface="Calibri" pitchFamily="34" charset="0"/>
                <a:ea typeface="Calibri" pitchFamily="34" charset="-122"/>
                <a:cs typeface="Calibri" pitchFamily="34" charset="-120"/>
              </a:rPr>
              <a:t>19 / 20</a:t>
            </a:r>
            <a:endParaRPr lang="en-US" sz="1000" dirty="0"/>
          </a:p>
        </p:txBody>
      </p:sp>
      <p:sp>
        <p:nvSpPr>
          <p:cNvPr id="11" name="Shape 9"/>
          <p:cNvSpPr/>
          <p:nvPr/>
        </p:nvSpPr>
        <p:spPr>
          <a:xfrm>
            <a:off x="0" y="5097780"/>
            <a:ext cx="9144000" cy="45720"/>
          </a:xfrm>
          <a:prstGeom prst="rect">
            <a:avLst/>
          </a:prstGeom>
          <a:solidFill>
            <a:srgbClr val="2C5F2D"/>
          </a:solidFill>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2C5F2D"/>
        </a:solidFill>
      </p:bgPr>
    </p:bg>
    <p:spTree>
      <p:nvGrpSpPr>
        <p:cNvPr id="1" name=""/>
        <p:cNvGrpSpPr/>
        <p:nvPr/>
      </p:nvGrpSpPr>
      <p:grpSpPr>
        <a:xfrm>
          <a:off x="0" y="0"/>
          <a:ext cx="0" cy="0"/>
          <a:chOff x="0" y="0"/>
          <a:chExt cx="0" cy="0"/>
        </a:xfrm>
      </p:grpSpPr>
      <p:sp>
        <p:nvSpPr>
          <p:cNvPr id="2" name="Shape 0"/>
          <p:cNvSpPr/>
          <p:nvPr/>
        </p:nvSpPr>
        <p:spPr>
          <a:xfrm>
            <a:off x="-457200" y="3200400"/>
            <a:ext cx="2743200" cy="2743200"/>
          </a:xfrm>
          <a:prstGeom prst="ellipse">
            <a:avLst/>
          </a:prstGeom>
          <a:solidFill>
            <a:srgbClr val="97BC62">
              <a:alpha val="70000"/>
            </a:srgbClr>
          </a:solidFill>
          <a:ln/>
        </p:spPr>
      </p:sp>
      <p:sp>
        <p:nvSpPr>
          <p:cNvPr id="3" name="Shape 1"/>
          <p:cNvSpPr/>
          <p:nvPr/>
        </p:nvSpPr>
        <p:spPr>
          <a:xfrm>
            <a:off x="7315200" y="-457200"/>
            <a:ext cx="2286000" cy="2286000"/>
          </a:xfrm>
          <a:prstGeom prst="ellipse">
            <a:avLst/>
          </a:prstGeom>
          <a:solidFill>
            <a:srgbClr val="D4A843">
              <a:alpha val="75000"/>
            </a:srgbClr>
          </a:solidFill>
          <a:ln/>
        </p:spPr>
      </p:sp>
      <p:sp>
        <p:nvSpPr>
          <p:cNvPr id="4" name="Shape 2"/>
          <p:cNvSpPr/>
          <p:nvPr/>
        </p:nvSpPr>
        <p:spPr>
          <a:xfrm>
            <a:off x="6400800" y="2743200"/>
            <a:ext cx="1371600" cy="1371600"/>
          </a:xfrm>
          <a:prstGeom prst="ellipse">
            <a:avLst/>
          </a:prstGeom>
          <a:solidFill>
            <a:srgbClr val="97BC62">
              <a:alpha val="80000"/>
            </a:srgbClr>
          </a:solidFill>
          <a:ln/>
        </p:spPr>
      </p:sp>
      <p:sp>
        <p:nvSpPr>
          <p:cNvPr id="5" name="Text 3"/>
          <p:cNvSpPr/>
          <p:nvPr/>
        </p:nvSpPr>
        <p:spPr>
          <a:xfrm>
            <a:off x="0" y="1463040"/>
            <a:ext cx="9144000" cy="91440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谢谢</a:t>
            </a:r>
            <a:endParaRPr lang="en-US" sz="4800" dirty="0"/>
          </a:p>
        </p:txBody>
      </p:sp>
      <p:sp>
        <p:nvSpPr>
          <p:cNvPr id="6" name="Text 4"/>
          <p:cNvSpPr/>
          <p:nvPr/>
        </p:nvSpPr>
        <p:spPr>
          <a:xfrm>
            <a:off x="0" y="2377440"/>
            <a:ext cx="9144000" cy="548640"/>
          </a:xfrm>
          <a:prstGeom prst="rect">
            <a:avLst/>
          </a:prstGeom>
          <a:noFill/>
          <a:ln/>
        </p:spPr>
        <p:txBody>
          <a:bodyPr wrap="square" rtlCol="0" anchor="ctr"/>
          <a:lstStyle/>
          <a:p>
            <a:pPr algn="ctr" indent="0" marL="0">
              <a:buNone/>
            </a:pPr>
            <a:r>
              <a:rPr lang="en-US" sz="2400" i="1" dirty="0">
                <a:solidFill>
                  <a:srgbClr val="97BC62"/>
                </a:solidFill>
                <a:latin typeface="Georgia" pitchFamily="34" charset="0"/>
                <a:ea typeface="Georgia" pitchFamily="34" charset="-122"/>
                <a:cs typeface="Georgia" pitchFamily="34" charset="-120"/>
              </a:rPr>
              <a:t>Thank You</a:t>
            </a:r>
            <a:endParaRPr lang="en-US" sz="2400" dirty="0"/>
          </a:p>
        </p:txBody>
      </p:sp>
      <p:sp>
        <p:nvSpPr>
          <p:cNvPr id="7" name="Shape 5"/>
          <p:cNvSpPr/>
          <p:nvPr/>
        </p:nvSpPr>
        <p:spPr>
          <a:xfrm>
            <a:off x="3200400" y="3108960"/>
            <a:ext cx="2743200" cy="0"/>
          </a:xfrm>
          <a:prstGeom prst="line">
            <a:avLst/>
          </a:prstGeom>
          <a:noFill/>
          <a:ln w="25400">
            <a:solidFill>
              <a:srgbClr val="D4A843"/>
            </a:solidFill>
            <a:prstDash val="solid"/>
          </a:ln>
        </p:spPr>
      </p:sp>
      <p:sp>
        <p:nvSpPr>
          <p:cNvPr id="8" name="Text 6"/>
          <p:cNvSpPr/>
          <p:nvPr/>
        </p:nvSpPr>
        <p:spPr>
          <a:xfrm>
            <a:off x="0" y="3383280"/>
            <a:ext cx="9144000" cy="365760"/>
          </a:xfrm>
          <a:prstGeom prst="rect">
            <a:avLst/>
          </a:prstGeom>
          <a:noFill/>
          <a:ln/>
        </p:spPr>
        <p:txBody>
          <a:bodyPr wrap="square"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100天系统遗传学学习计划 | Day 011</a:t>
            </a:r>
            <a:endParaRPr lang="en-US" sz="1400" dirty="0"/>
          </a:p>
        </p:txBody>
      </p:sp>
      <p:sp>
        <p:nvSpPr>
          <p:cNvPr id="9" name="Text 7"/>
          <p:cNvSpPr/>
          <p:nvPr/>
        </p:nvSpPr>
        <p:spPr>
          <a:xfrm>
            <a:off x="0" y="3749040"/>
            <a:ext cx="9144000" cy="365760"/>
          </a:xfrm>
          <a:prstGeom prst="rect">
            <a:avLst/>
          </a:prstGeom>
          <a:noFill/>
          <a:ln/>
        </p:spPr>
        <p:txBody>
          <a:bodyPr wrap="square" rtlCol="0" anchor="ctr"/>
          <a:lstStyle/>
          <a:p>
            <a:pPr algn="ctr" indent="0" marL="0">
              <a:buNone/>
            </a:pPr>
            <a:r>
              <a:rPr lang="en-US" sz="1200" dirty="0">
                <a:solidFill>
                  <a:srgbClr val="97BC62"/>
                </a:solidFill>
                <a:latin typeface="Calibri" pitchFamily="34" charset="0"/>
                <a:ea typeface="Calibri" pitchFamily="34" charset="-122"/>
                <a:cs typeface="Calibri" pitchFamily="34" charset="-120"/>
              </a:rPr>
              <a:t>孟德尔定律的数学基础 | Mathematical Foundations of Mendel's Laws</a:t>
            </a:r>
            <a:endParaRPr lang="en-US" sz="1200" dirty="0"/>
          </a:p>
        </p:txBody>
      </p:sp>
      <p:sp>
        <p:nvSpPr>
          <p:cNvPr id="10" name="Text 8"/>
          <p:cNvSpPr/>
          <p:nvPr/>
        </p:nvSpPr>
        <p:spPr>
          <a:xfrm>
            <a:off x="0" y="4114800"/>
            <a:ext cx="9144000" cy="274320"/>
          </a:xfrm>
          <a:prstGeom prst="rect">
            <a:avLst/>
          </a:prstGeom>
          <a:noFill/>
          <a:ln/>
        </p:spPr>
        <p:txBody>
          <a:bodyPr wrap="square" rtlCol="0" anchor="ctr"/>
          <a:lstStyle/>
          <a:p>
            <a:pPr algn="ctr" indent="0" marL="0">
              <a:buNone/>
            </a:pPr>
            <a:r>
              <a:rPr lang="en-US" sz="1100" dirty="0">
                <a:solidFill>
                  <a:srgbClr val="6B8E5A"/>
                </a:solidFill>
                <a:latin typeface="Calibri" pitchFamily="34" charset="0"/>
                <a:ea typeface="Calibri" pitchFamily="34" charset="-122"/>
                <a:cs typeface="Calibri" pitchFamily="34" charset="-120"/>
              </a:rPr>
              <a:t>2026-05-26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2026-05-26T02:40:33Z</dcterms:created>
  <dcterms:modified xsi:type="dcterms:W3CDTF">2026-05-26T02:40:33Z</dcterms:modified>
</cp:coreProperties>
</file>