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欢迎来到Day 88的学习。今天我们将深入探讨基因编辑技术——从锌指核酸酶到CRISPR-Cas9再到引物编辑的完整发展历程。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基因编辑技术经历了三代发展。ZFN是最早的工具但成本高昂。TALEN改进了设计灵活性。CRISPR-Cas9的革命性在于用RNA代替蛋白质来识别靶序列，大幅降低了成本和难度。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ZFN是基因编辑的先驱。每个锌指识别3个碱基，需要组装多个锌指结构域来识别长序列。虽然开创性强，但定制成本极高。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TALEN利用TAL效应物的重复序列识别DNA，每个重复单元识别一个碱基。比ZFN更模块化，但蛋白质工程量仍然巨大。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CRISPR源自细菌的适应性免疫。Doudna和Charpentier的关键贡献是将双RNA简化为单链sgRNA。张锋团队将其引入人类细胞，实现了从体外到活细胞的跨越。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Cas9蛋白有两个核酸酶结构域：HNH切割互补链，RuvC切割非互补链。sgRNA的20个核苷酸序列决定了靶标特异性。PAM序列是Cas9识别靶DNA的前提条件。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DSB后细胞的修复途径决定了编辑结果。NHEJ速度快但易出错，适合基因敲除。HDR精确但效率低，且仅在分裂细胞的S/G2期活跃，这是基因敲入效率低的主要原因。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David Liu发明的碱基编辑技术开创了无断裂编辑的新范式。CBE将C转为T，ABE将A转为G。两者结合可覆盖4种转换突变，但无法实现颠换。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引物编辑是当前最先进的精准编辑技术。pegRNA不仅引导定位，还编码编辑序列。Cas9切口的3'端作为引物被逆转录酶延伸，写入新序列。理论上可纠正89%的已知致病变异。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Doudna和Charpentier在2011年波多黎各学术会议上相识并决定合作。2012年的论文证明了Cas9可被RNA编程切割DNA。她们是科学史上首次全女性独享诺贝尔科学奖项的组合。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张锋团队的2013年论文是CRISPR领域被引用最多的论文。刘如谦开创了从剪刀到搜索-替换的范式转变。两位华裔科学家在基因编辑领域做出了杰出贡献。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这6篇论文构成了基因编辑技术的核心发展脉络。从发现CRISPR功能到发明引物编辑，历时12年。每篇论文都代表了技术范式的重大突破。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这5个经典实验分别代表了基因编辑技术的5个关键突破点。从证明CRISPR是免疫系统到实现搜索-替换式编辑，每一步都拓宽了技术的应用边界。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Casgevy的批准标志着CRISPR技术从实验室走向临床的里程碑。通过编辑患者自身的造血干细胞，重新激活胎儿血红蛋白的表达，从而补偿缺陷的成人血红蛋白功能。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基因编辑在农业中的应用避免了转基因的监管争议，因为编辑可以不引入外源DNA。在研究中，CRISPR筛选已成为发现基因功能的标准工具。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贺建奎事件是全球基因编辑伦理的分水岭。122名科学家联名抵制。事件促使全球加强了对生殖系基因编辑的监管。体细胞编辑与生殖系编辑的核心区别在于可遗传性。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这些思考题涵盖了技术比较、机制理解、伦理判断和前沿思考。建议结合今天的学习内容，查阅参考文献后深入思考。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今天我们学习了基因编辑技术的完整发展历程。明天我们将深入CRISPR-Cas9系统的分子细节，包括Cas9蛋白的晶体结构、sgRNA设计优化、以及新型Cas系统的发现与应用。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1A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286000" y="1417320"/>
            <a:ext cx="4572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基因编辑技术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spc="100" kern="0" dirty="0">
                <a:solidFill>
                  <a:srgbClr val="E8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遗传学100天学习计划 | Day 88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2026年8月10日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0" y="3794760"/>
            <a:ext cx="2743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Shape 6"/>
          <p:cNvSpPr/>
          <p:nvPr/>
        </p:nvSpPr>
        <p:spPr>
          <a:xfrm>
            <a:off x="3886200" y="4023360"/>
            <a:ext cx="1371600" cy="914400"/>
          </a:xfrm>
          <a:prstGeom prst="ellipse">
            <a:avLst/>
          </a:prstGeom>
          <a:solidFill>
            <a:srgbClr val="2C5F2D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86200" y="4023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本期内容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143000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28930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289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14300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历史背景与技术演进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002536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21488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200253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CRISPR-Cas9核心机制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2862072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30083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2862072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碱基编辑与引物编辑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3721608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3867912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54480" y="372160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科学家故事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143000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83480" y="128930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1289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114300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重要文献与经典实验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002536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83480" y="21488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200253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应用领域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2862072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83480" y="30083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77840" y="2862072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伦理思考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3721608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83480" y="3867912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77840" y="372160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思考题与术语表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历史背景：三代技术迭代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51560"/>
            <a:ext cx="2587752" cy="320040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51560"/>
            <a:ext cx="25877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Shape 5"/>
          <p:cNvSpPr/>
          <p:nvPr/>
        </p:nvSpPr>
        <p:spPr>
          <a:xfrm>
            <a:off x="1431036" y="12801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1431036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94360" y="205740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第一代 ZFN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24231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1996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0" y="2834640"/>
            <a:ext cx="2221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蛋白质介导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成本高，难度大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73552" y="1051560"/>
            <a:ext cx="2587752" cy="320040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73552" y="1051560"/>
            <a:ext cx="258775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Shape 12"/>
          <p:cNvSpPr/>
          <p:nvPr/>
        </p:nvSpPr>
        <p:spPr>
          <a:xfrm>
            <a:off x="4247388" y="128016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3"/>
          <p:cNvSpPr/>
          <p:nvPr/>
        </p:nvSpPr>
        <p:spPr>
          <a:xfrm>
            <a:off x="4247388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3410712" y="205740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第二代 TALEN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410712" y="24231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456432" y="2834640"/>
            <a:ext cx="2221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更灵活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仍需定制蛋白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089904" y="1051560"/>
            <a:ext cx="2587752" cy="320040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089904" y="1051560"/>
            <a:ext cx="25877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Shape 19"/>
          <p:cNvSpPr/>
          <p:nvPr/>
        </p:nvSpPr>
        <p:spPr>
          <a:xfrm>
            <a:off x="7063740" y="1280160"/>
            <a:ext cx="640080" cy="6400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3" name="Text 20"/>
          <p:cNvSpPr/>
          <p:nvPr/>
        </p:nvSpPr>
        <p:spPr>
          <a:xfrm>
            <a:off x="706374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227064" y="205740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第三代 CRISPR-Cas9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227064" y="24231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272784" y="2834640"/>
            <a:ext cx="2221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RNA引导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简单高效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067812" y="2651760"/>
            <a:ext cx="1828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5884164" y="2651760"/>
            <a:ext cx="1828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第一代：锌指核酸酶（ZFN）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51560"/>
            <a:ext cx="40005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161288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1996年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527048"/>
            <a:ext cx="36347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Chandrasegaran团队首次将锌指蛋白与FokI核酸酶融合，开创可编程基因编辑先河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051560"/>
            <a:ext cx="54864" cy="1714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Shape 7"/>
          <p:cNvSpPr/>
          <p:nvPr/>
        </p:nvSpPr>
        <p:spPr>
          <a:xfrm>
            <a:off x="4686300" y="1051560"/>
            <a:ext cx="40005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69180" y="1161288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2005年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69180" y="1527048"/>
            <a:ext cx="36347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Urnov等首次在人类细胞实现基因校正 (PMID: 15892197)，证明临床应用潜力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86300" y="1051560"/>
            <a:ext cx="54864" cy="1714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2948940"/>
            <a:ext cx="40005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3058668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优点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3424428"/>
            <a:ext cx="36347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首个可编程基因编辑工具，为后续技术发展奠定基础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948940"/>
            <a:ext cx="54864" cy="1714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Shape 15"/>
          <p:cNvSpPr/>
          <p:nvPr/>
        </p:nvSpPr>
        <p:spPr>
          <a:xfrm>
            <a:off x="4686300" y="2948940"/>
            <a:ext cx="40005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69180" y="3058668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缺点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69180" y="3424428"/>
            <a:ext cx="36347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蛋白质工程复杂、成本高、脱靶率高，难以大规模推广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86300" y="2948940"/>
            <a:ext cx="54864" cy="1714500"/>
          </a:xfrm>
          <a:prstGeom prst="rect">
            <a:avLst/>
          </a:prstGeom>
          <a:solidFill>
            <a:srgbClr val="B8504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第二代：TALEN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51560"/>
            <a:ext cx="40005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161288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2010年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527048"/>
            <a:ext cx="36347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Christian等开发TALEN技术 (PMID: 20660643)，利用TAL效应物重复序列识别DNA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051560"/>
            <a:ext cx="54864" cy="1714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Shape 7"/>
          <p:cNvSpPr/>
          <p:nvPr/>
        </p:nvSpPr>
        <p:spPr>
          <a:xfrm>
            <a:off x="4686300" y="1051560"/>
            <a:ext cx="40005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69180" y="1161288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2011年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69180" y="1527048"/>
            <a:ext cx="36347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Miller等优化TALEN设计 (PMID: 21179091)，提高编辑效率与特异性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86300" y="1051560"/>
            <a:ext cx="54864" cy="1714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2948940"/>
            <a:ext cx="40005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3058668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优点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3424428"/>
            <a:ext cx="36347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比ZFN更易设计、特异性更高，每个重复单元识别一个碱基，模块化程度更好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948940"/>
            <a:ext cx="54864" cy="1714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Shape 15"/>
          <p:cNvSpPr/>
          <p:nvPr/>
        </p:nvSpPr>
        <p:spPr>
          <a:xfrm>
            <a:off x="4686300" y="2948940"/>
            <a:ext cx="40005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69180" y="3058668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缺点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69180" y="3424428"/>
            <a:ext cx="36347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仍需为每个靶点定制蛋白质，构建周期长、成本仍较高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86300" y="2948940"/>
            <a:ext cx="54864" cy="1714500"/>
          </a:xfrm>
          <a:prstGeom prst="rect">
            <a:avLst/>
          </a:prstGeom>
          <a:solidFill>
            <a:srgbClr val="B8504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第三代：CRISPR-Cas9革命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3"/>
          <p:cNvSpPr/>
          <p:nvPr/>
        </p:nvSpPr>
        <p:spPr>
          <a:xfrm>
            <a:off x="429768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29768" y="1005840"/>
            <a:ext cx="1920240" cy="2926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429768" y="1005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2007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1208" y="13533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Barrangou证明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CRISPR是细菌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免疫系统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68296" y="1600200"/>
            <a:ext cx="164592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51176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51176" y="1005840"/>
            <a:ext cx="1920240" cy="29260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0"/>
          <p:cNvSpPr/>
          <p:nvPr/>
        </p:nvSpPr>
        <p:spPr>
          <a:xfrm>
            <a:off x="2551176" y="1005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642616" y="13533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Doudna &amp; Charpentier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证明Cas9可被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RNA引导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489704" y="1600200"/>
            <a:ext cx="164592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672584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72584" y="1005840"/>
            <a:ext cx="1920240" cy="2926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5"/>
          <p:cNvSpPr/>
          <p:nvPr/>
        </p:nvSpPr>
        <p:spPr>
          <a:xfrm>
            <a:off x="4672584" y="1005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64024" y="13533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张锋团队首次在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人类细胞实现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CRISPR编辑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611112" y="1600200"/>
            <a:ext cx="164592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793992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93992" y="1005840"/>
            <a:ext cx="1920240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6793992" y="1005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突破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85432" y="13533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一个蛋白+一条RNA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简单高效的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可编程编辑</a:t>
            </a:r>
            <a:endParaRPr lang="en-US" sz="900" dirty="0"/>
          </a:p>
        </p:txBody>
      </p:sp>
      <p:pic>
        <p:nvPicPr>
          <p:cNvPr id="25" name="Image 0" descr="/workspace/genetics_learning/gene_editing_day088_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2286000"/>
            <a:ext cx="3657600" cy="20574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743200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基因编辑技术发展时间线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CRISPR-Cas9核心机制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88720" y="12070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Cas9蛋白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554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核酸内切酶，含HNH和RuvC两个核酸酶结构域，分别切割DNA两条链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138988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188720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sgRNA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由crRNA和tracrRNA融合而成，20个核苷酸序列决定靶标特异性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2578608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188720" y="3584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PAM (NGG)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3931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前间区序列邻近基序，Cas9识别靶DNA的必要序列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" y="3767328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0" y="1280160"/>
            <a:ext cx="4297680" cy="2817495"/>
          </a:xfrm>
          <a:prstGeom prst="roundRect">
            <a:avLst>
              <a:gd name="adj" fmla="val 259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pic>
        <p:nvPicPr>
          <p:cNvPr id="22" name="Image 0" descr="/workspace/genetics_learning/gene_editing_day088_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1371600"/>
            <a:ext cx="4114800" cy="231457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663440" y="3731895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CRISPR-Cas9工作机制示意图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DNA修复：NHEJ vs HDR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783080"/>
            <a:ext cx="3337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易出错，产生indel突变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用于基因敲除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全细胞周期活跃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速度快，效率高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3794760" cy="502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1430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NHEJ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13898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非同源末端连接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92040" y="109728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20640" y="1783080"/>
            <a:ext cx="3337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精确修复，需模板DNA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用于基因敲入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仅S/G2期活跃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效率低，但精确度高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92040" y="1097280"/>
            <a:ext cx="379476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1"/>
          <p:cNvSpPr/>
          <p:nvPr/>
        </p:nvSpPr>
        <p:spPr>
          <a:xfrm>
            <a:off x="5074920" y="11430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HDR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074920" y="13898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同源定向修复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97680" y="2514600"/>
            <a:ext cx="548640" cy="548640"/>
          </a:xfrm>
          <a:prstGeom prst="ellipse">
            <a:avLst/>
          </a:prstGeom>
          <a:solidFill>
            <a:srgbClr val="D4A8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76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碱基编辑（Base Editing）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51560"/>
            <a:ext cx="40005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216152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CBE (2016)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600200"/>
            <a:ext cx="36347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nCas9 + 胞嘧啶脱氨酶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 C→T 转换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(PMID: 27096365)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051560"/>
            <a:ext cx="400050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Shape 7"/>
          <p:cNvSpPr/>
          <p:nvPr/>
        </p:nvSpPr>
        <p:spPr>
          <a:xfrm>
            <a:off x="4686300" y="1051560"/>
            <a:ext cx="40005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69180" y="1216152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ABE (2017)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69180" y="1600200"/>
            <a:ext cx="36347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nCas9 + TadA脱氨酶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 A→G 转换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(PMID: 29160308)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86300" y="1051560"/>
            <a:ext cx="400050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2948940"/>
            <a:ext cx="40005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3113532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优势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3497580"/>
            <a:ext cx="36347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无双链断裂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无需供体DNA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编辑效率高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948940"/>
            <a:ext cx="40005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Shape 15"/>
          <p:cNvSpPr/>
          <p:nvPr/>
        </p:nvSpPr>
        <p:spPr>
          <a:xfrm>
            <a:off x="4686300" y="2948940"/>
            <a:ext cx="40005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69180" y="3113532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局限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69180" y="3497580"/>
            <a:ext cx="36347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仅限特定碱基转换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无法实现颠换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存在旁观者效应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86300" y="2948940"/>
            <a:ext cx="4000500" cy="45720"/>
          </a:xfrm>
          <a:prstGeom prst="rect">
            <a:avLst/>
          </a:prstGeom>
          <a:solidFill>
            <a:srgbClr val="B8504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引物编辑（Prime Editing）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3"/>
          <p:cNvSpPr/>
          <p:nvPr/>
        </p:nvSpPr>
        <p:spPr>
          <a:xfrm>
            <a:off x="845820" y="10972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5820" y="1097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Cas9(H840A)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Nickase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00300" y="1440180"/>
            <a:ext cx="4114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811780" y="10972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811780" y="1097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逆转录酶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(RT)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66260" y="1440180"/>
            <a:ext cx="4114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777740" y="10972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77740" y="1097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pegRNA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(PBS + RTT)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32220" y="1440180"/>
            <a:ext cx="4114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743700" y="10972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43700" y="1097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编辑后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DNA序列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14884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22585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编辑能力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" y="26060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全部12种碱基转换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小片段插入与缺失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148840"/>
            <a:ext cx="54864" cy="1554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Shape 18"/>
          <p:cNvSpPr/>
          <p:nvPr/>
        </p:nvSpPr>
        <p:spPr>
          <a:xfrm>
            <a:off x="4709160" y="214884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92040" y="22585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重要意义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92040" y="26060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理论上可纠正89%致病变异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(PMID: 31634902)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09160" y="2148840"/>
            <a:ext cx="54864" cy="1554480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科学家故事：Doudna &amp; Charpentier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87452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2020年诺贝尔化学奖得主。2012年与Charpentier合作发表奠基性论文，证明Cas9可被RNA引导切割DNA，开启了CRISPR基因编辑时代。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397764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80" y="1188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Jennifer Doudna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14447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Berkeley 教授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0080" y="3977640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FBF3E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977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2020 诺贝尔化学奖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09160" y="109728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92040" y="187452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2020年诺贝尔化学奖得主。发现tracrRNA在CRISPR系统中的关键作用，与Doudna合作将双RNA简化为单链sgRNA，是CRISPR技术的共同奠基人。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09160" y="1097280"/>
            <a:ext cx="397764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Shape 15"/>
          <p:cNvSpPr/>
          <p:nvPr/>
        </p:nvSpPr>
        <p:spPr>
          <a:xfrm>
            <a:off x="4892040" y="1234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489204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49240" y="1188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Emmanuelle Charpentier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49240" y="14447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Planck研究所所长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892040" y="3977640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FBF3E0"/>
          </a:solidFill>
          <a:ln/>
        </p:spPr>
      </p:sp>
      <p:sp>
        <p:nvSpPr>
          <p:cNvPr id="23" name="Text 20"/>
          <p:cNvSpPr/>
          <p:nvPr/>
        </p:nvSpPr>
        <p:spPr>
          <a:xfrm>
            <a:off x="4892040" y="3977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2020 诺贝尔化学奖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科学家故事：张锋 &amp; 刘如谦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87452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2013年率先在人类细胞实现CRISPR编辑 (PMID: 23287718)，该论文是CRISPR领域被引用最多的文献。后续开发多种CRISPR工具，包括Cas12a、Cas13等系统。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397764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张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80" y="1188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张锋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14447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教授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0080" y="3977640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FBF3E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977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人类细胞编辑先驱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09160" y="109728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92040" y="187452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发明碱基编辑(2016)和引物编辑(2019)，开创无断裂编辑范式。从「分子剪刀」到「搜索-替换」的范式转变，极大拓展了基因编辑的精确性与安全性。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09160" y="1097280"/>
            <a:ext cx="397764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Shape 15"/>
          <p:cNvSpPr/>
          <p:nvPr/>
        </p:nvSpPr>
        <p:spPr>
          <a:xfrm>
            <a:off x="4892040" y="1234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489204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刘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49240" y="1188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刘如谦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49240" y="14447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哈佛大学 教授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892040" y="3977640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FBF3E0"/>
          </a:solidFill>
          <a:ln/>
        </p:spPr>
      </p:sp>
      <p:sp>
        <p:nvSpPr>
          <p:cNvPr id="23" name="Text 20"/>
          <p:cNvSpPr/>
          <p:nvPr/>
        </p:nvSpPr>
        <p:spPr>
          <a:xfrm>
            <a:off x="4892040" y="3977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碱基/引物编辑发明者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里程碑论文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3"/>
          <p:cNvSpPr/>
          <p:nvPr/>
        </p:nvSpPr>
        <p:spPr>
          <a:xfrm>
            <a:off x="1005840" y="1097280"/>
            <a:ext cx="27432" cy="3474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Shape 4"/>
          <p:cNvSpPr/>
          <p:nvPr/>
        </p:nvSpPr>
        <p:spPr>
          <a:xfrm>
            <a:off x="941832" y="1188720"/>
            <a:ext cx="182880" cy="182880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11155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2007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19456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Barrangou - CRISPR免疫功能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94560" y="1389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PMID: 17379808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132320" y="1161288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E8F0E0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0" y="11612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2007年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41832" y="1773936"/>
            <a:ext cx="182880" cy="182880"/>
          </a:xfrm>
          <a:prstGeom prst="ellipse">
            <a:avLst/>
          </a:prstGeom>
          <a:solidFill>
            <a:srgbClr val="97BC6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1600" y="1700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194560" y="1700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Jinek - Cas9编程切割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194560" y="19751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PMID: 22745249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132320" y="1746504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E8F0E0"/>
          </a:solidFill>
          <a:ln/>
        </p:spPr>
      </p:sp>
      <p:sp>
        <p:nvSpPr>
          <p:cNvPr id="18" name="Text 15"/>
          <p:cNvSpPr/>
          <p:nvPr/>
        </p:nvSpPr>
        <p:spPr>
          <a:xfrm>
            <a:off x="7132320" y="17465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2012年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41832" y="2359152"/>
            <a:ext cx="182880" cy="18288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71600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19456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 - 人类细胞编辑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194560" y="2560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PMID: 23287718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132320" y="233172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E8F0E0"/>
          </a:solidFill>
          <a:ln/>
        </p:spPr>
      </p:sp>
      <p:sp>
        <p:nvSpPr>
          <p:cNvPr id="24" name="Text 21"/>
          <p:cNvSpPr/>
          <p:nvPr/>
        </p:nvSpPr>
        <p:spPr>
          <a:xfrm>
            <a:off x="7132320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2013年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41832" y="2944368"/>
            <a:ext cx="182880" cy="182880"/>
          </a:xfrm>
          <a:prstGeom prst="ellipse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71600" y="28712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2194560" y="2871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Komor - 碱基编辑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194560" y="31455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PMID: 27096365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132320" y="2916936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E8F0E0"/>
          </a:solidFill>
          <a:ln/>
        </p:spPr>
      </p:sp>
      <p:sp>
        <p:nvSpPr>
          <p:cNvPr id="30" name="Text 27"/>
          <p:cNvSpPr/>
          <p:nvPr/>
        </p:nvSpPr>
        <p:spPr>
          <a:xfrm>
            <a:off x="7132320" y="29169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2016年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41832" y="3529584"/>
            <a:ext cx="182880" cy="182880"/>
          </a:xfrm>
          <a:prstGeom prst="ellipse">
            <a:avLst/>
          </a:prstGeom>
          <a:solidFill>
            <a:srgbClr val="97BC6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371600" y="34564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2194560" y="3456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Gaudelli - 腺嘌呤碱基编辑(ABE)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194560" y="3730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PMID: 29160308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132320" y="3502152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E8F0E0"/>
          </a:solidFill>
          <a:ln/>
        </p:spPr>
      </p:sp>
      <p:sp>
        <p:nvSpPr>
          <p:cNvPr id="36" name="Text 33"/>
          <p:cNvSpPr/>
          <p:nvPr/>
        </p:nvSpPr>
        <p:spPr>
          <a:xfrm>
            <a:off x="7132320" y="35021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2017年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941832" y="4114800"/>
            <a:ext cx="182880" cy="18288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371600" y="40416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2194560" y="4041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Anzalone - 引物编辑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2194560" y="43159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PMID: 31634902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7132320" y="4087368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E8F0E0"/>
          </a:solidFill>
          <a:ln/>
        </p:spPr>
      </p:sp>
      <p:sp>
        <p:nvSpPr>
          <p:cNvPr id="42" name="Text 39"/>
          <p:cNvSpPr/>
          <p:nvPr/>
        </p:nvSpPr>
        <p:spPr>
          <a:xfrm>
            <a:off x="7132320" y="40873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2019年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3"/>
          <p:cNvSpPr/>
          <p:nvPr/>
        </p:nvSpPr>
        <p:spPr>
          <a:xfrm>
            <a:off x="452628" y="105156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38428" y="1161288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CRISPR免疫功能验证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788" y="155448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Barrangou, 2007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9788" y="182880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证明CRISPR是细菌适应性免疫系统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2356" y="1161288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562356" y="1161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59836" y="105156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945636" y="1161288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Cas9体外编程切割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96996" y="155448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Jinek, 2012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96996" y="182880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证明Cas9可被RNA引导切割DNA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69564" y="1161288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97BC62"/>
          </a:solidFill>
          <a:ln/>
        </p:spPr>
      </p:sp>
      <p:sp>
        <p:nvSpPr>
          <p:cNvPr id="17" name="Text 14"/>
          <p:cNvSpPr/>
          <p:nvPr/>
        </p:nvSpPr>
        <p:spPr>
          <a:xfrm>
            <a:off x="3369564" y="1161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67044" y="105156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52844" y="1161288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人类细胞基因组编辑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04204" y="155448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Cong, 2013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04204" y="182880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首次在人类细胞实现CRISPR编辑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76772" y="1161288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D4A843"/>
          </a:solidFill>
          <a:ln/>
        </p:spPr>
      </p:sp>
      <p:sp>
        <p:nvSpPr>
          <p:cNvPr id="23" name="Text 20"/>
          <p:cNvSpPr/>
          <p:nvPr/>
        </p:nvSpPr>
        <p:spPr>
          <a:xfrm>
            <a:off x="6176772" y="1161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278892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143000" y="28986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碱基编辑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" y="329184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Komor, 2016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94360" y="35661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无断裂编辑：C→T转换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66928" y="2898648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</p:spPr>
      </p:sp>
      <p:sp>
        <p:nvSpPr>
          <p:cNvPr id="29" name="Text 26"/>
          <p:cNvSpPr/>
          <p:nvPr/>
        </p:nvSpPr>
        <p:spPr>
          <a:xfrm>
            <a:off x="566928" y="2898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709160" y="278892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394960" y="28986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引物编辑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846320" y="329184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Anzalone, 2019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846320" y="35661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搜索-替换式精准编辑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818888" y="2898648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97BC62"/>
          </a:solidFill>
          <a:ln/>
        </p:spPr>
      </p:sp>
      <p:sp>
        <p:nvSpPr>
          <p:cNvPr id="35" name="Text 32"/>
          <p:cNvSpPr/>
          <p:nvPr/>
        </p:nvSpPr>
        <p:spPr>
          <a:xfrm>
            <a:off x="4818888" y="2898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应用：医学——Casgevy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2C5F2D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371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2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40080" y="2103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年12月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FDA批准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全球首个CRISPR疗法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474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i="1" spc="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Casgevy (exa-cel)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31920" y="109728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114800" y="1188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适应症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0" y="148132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镰刀型细胞贫血病(SCD) 和 β-地中海贫血(TDT)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31920" y="1097280"/>
            <a:ext cx="54864" cy="10515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Shape 13"/>
          <p:cNvSpPr/>
          <p:nvPr/>
        </p:nvSpPr>
        <p:spPr>
          <a:xfrm>
            <a:off x="3931920" y="224028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114800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治疗机制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0" y="262432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编辑BCL11A增强子，重新激活胎儿血红蛋白(HbF)表达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931920" y="2240280"/>
            <a:ext cx="54864" cy="10515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0" name="Shape 17"/>
          <p:cNvSpPr/>
          <p:nvPr/>
        </p:nvSpPr>
        <p:spPr>
          <a:xfrm>
            <a:off x="3931920" y="338328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114800" y="3474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治疗策略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114800" y="376732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自体造血干细胞体外编辑后回输，避免免疫排斥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931920" y="3383280"/>
            <a:ext cx="54864" cy="1051560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应用：农业与研究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51560"/>
            <a:ext cx="40005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1234440"/>
            <a:ext cx="2994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作物改良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1874520"/>
            <a:ext cx="36347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抗病小麦、抗病番茄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提高产量与抗逆性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86300" y="1051560"/>
            <a:ext cx="40005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69180" y="123444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0"/>
          <p:cNvSpPr/>
          <p:nvPr/>
        </p:nvSpPr>
        <p:spPr>
          <a:xfrm>
            <a:off x="48691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🐄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509260" y="1234440"/>
            <a:ext cx="2994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畜禽育种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69180" y="1874520"/>
            <a:ext cx="36347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抗结核牛、抗PRRS猪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提升动物健康水平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948940"/>
            <a:ext cx="40005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31318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1318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80160" y="3131820"/>
            <a:ext cx="2994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科学研究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" y="3771900"/>
            <a:ext cx="36347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全基因组CRISPR筛选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构建疾病模型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86300" y="2948940"/>
            <a:ext cx="4000500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69180" y="31318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4869180" y="31318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509260" y="3131820"/>
            <a:ext cx="2994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分子诊断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69180" y="3771900"/>
            <a:ext cx="36347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SHERLOCK / DETECTR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快速病原体检测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伦理边界：贺建奎事件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515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生殖系基因编辑警示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8105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2018年11月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834640" y="181051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贺建奎宣布首例基因编辑婴儿诞生，引发全球科学界震惊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737360"/>
            <a:ext cx="54864" cy="6858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25146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" y="25877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编辑目标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834640" y="258775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CCR5基因（声称使婴儿具有抗HIV能力）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514600"/>
            <a:ext cx="54864" cy="685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" y="32918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" y="33649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核心问题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834640" y="336499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生殖系编辑可遗传给后代、技术尚不成熟、伦理审查严重缺失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291840"/>
            <a:ext cx="54864" cy="6858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0690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0080" y="41422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后续处理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834640" y="414223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2019年被判处有期徒刑3年，全球加强生殖系编辑监管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069080"/>
            <a:ext cx="54864" cy="685800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思考与讨论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234440" y="1143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ZFN/TALEN/CRISPR三者优缺点比较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" y="134416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28600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234440" y="2377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NHEJ与HDR的应用场景差异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" y="2578608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52044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23444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体细胞vs生殖系编辑的伦理区别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" y="3813048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09160" y="105156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86400" y="1143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Casgevy的治疗机制分析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846320" y="134416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09160" y="228600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486400" y="2377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引物编辑的技术瓶颈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846320" y="2578608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Text 22"/>
          <p:cNvSpPr/>
          <p:nvPr/>
        </p:nvSpPr>
        <p:spPr>
          <a:xfrm>
            <a:off x="484632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09160" y="352044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48640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基因编辑作物的监管挑战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846320" y="3813048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9" name="Text 26"/>
          <p:cNvSpPr/>
          <p:nvPr/>
        </p:nvSpPr>
        <p:spPr>
          <a:xfrm>
            <a:off x="484632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术语速查表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97BC62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  <a:gridCol w="3200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术语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英文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释义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Clustered Regularly Interspaced Short Palindromic Repeats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细菌适应性免疫系统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CRISPR-associated protein 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RNA引导的DNA核酸内切酶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sgRNA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Guide RNA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单链向导RNA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Protospacer Adjacent Motif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前间区序列邻近基序(NGG)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Double-Strand Break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双链断裂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NHEJ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Non-Homologous End Joining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非同源末端连接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Homology-Directed Repair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同源定向修复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Cytosine Base Editor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胞嘧啶碱基编辑器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Adenine Base Editor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腺嘌呤碱基编辑器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pegRNA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 Editing Guide RNA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引物编辑向导RNA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1A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下节预告：CRISPR-Cas9系统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0" y="96012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18872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89 预告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6459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Cas9晶体结构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sgRNA优化策略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Cas9变体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Cas12 / Cas13系统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递送系统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今日总结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16459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三代技术演进历程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CRISPR核心机制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科学家故事与贡献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应用领域与伦理思考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371600" y="3383280"/>
            <a:ext cx="6400800" cy="1097280"/>
          </a:xfrm>
          <a:prstGeom prst="roundRect">
            <a:avLst>
              <a:gd name="adj" fmla="val 6667"/>
            </a:avLst>
          </a:prstGeom>
          <a:solidFill>
            <a:srgbClr val="FBF3E0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600200" y="3474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预习建议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00200" y="376732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阅读 Doudna &amp; Charpentier 2014综述 (PMID: 25299471)，了解CRISPR系统从基础发现到技术革命的完整故事。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spc="50" kern="0" dirty="0">
                <a:solidFill>
                  <a:srgbClr val="E8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谢谢观看 | Day 88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基因编辑技术 - Day 88 笔记版</dc:title>
  <dc:subject>PptxGenJS Presentation</dc:subject>
  <dc:creator>Genetics Learning Course</dc:creator>
  <cp:lastModifiedBy>Genetics Learning Course</cp:lastModifiedBy>
  <cp:revision>1</cp:revision>
  <dcterms:created xsi:type="dcterms:W3CDTF">2026-08-10T04:33:03Z</dcterms:created>
  <dcterms:modified xsi:type="dcterms:W3CDTF">2026-08-10T04:33:03Z</dcterms:modified>
</cp:coreProperties>
</file>