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2743200" y="2834640"/>
            <a:ext cx="3657600" cy="36576"/>
          </a:xfrm>
          <a:prstGeom prst="rect">
            <a:avLst/>
          </a:prstGeom>
          <a:solidFill>
            <a:srgbClr val="D4A843"/>
          </a:solidFill>
          <a:ln/>
        </p:spPr>
      </p:sp>
      <p:sp>
        <p:nvSpPr>
          <p:cNvPr id="3" name="Text 1"/>
          <p:cNvSpPr/>
          <p:nvPr/>
        </p:nvSpPr>
        <p:spPr>
          <a:xfrm>
            <a:off x="457200" y="1645920"/>
            <a:ext cx="8229600" cy="10972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 Day 3: 融合遗传理论——为什么它是错的？</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800" dirty="0">
                <a:solidFill>
                  <a:srgbClr val="97BC62"/>
                </a:solidFill>
                <a:latin typeface="Calibri" pitchFamily="34" charset="0"/>
                <a:ea typeface="Calibri" pitchFamily="34" charset="-122"/>
                <a:cs typeface="Calibri" pitchFamily="34" charset="-120"/>
              </a:rPr>
              <a:t>学习日期：2026-05-12</a:t>
            </a:r>
            <a:endParaRPr lang="en-US" sz="1800" dirty="0"/>
          </a:p>
        </p:txBody>
      </p:sp>
      <p:sp>
        <p:nvSpPr>
          <p:cNvPr id="5" name="Text 3"/>
          <p:cNvSpPr/>
          <p:nvPr/>
        </p:nvSpPr>
        <p:spPr>
          <a:xfrm>
            <a:off x="457200" y="3931920"/>
            <a:ext cx="8229600" cy="36576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100天遗传学系统学习</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indent="0" marL="0">
              <a:buNone/>
            </a:pPr>
            <a:r>
              <a:rPr lang="en-US" sz="2800" b="1" dirty="0">
                <a:solidFill>
                  <a:srgbClr val="2C5F2D"/>
                </a:solidFill>
                <a:latin typeface="Georgia" pitchFamily="34" charset="0"/>
                <a:ea typeface="Georgia" pitchFamily="34" charset="-122"/>
                <a:cs typeface="Georgia" pitchFamily="34" charset="-120"/>
              </a:rPr>
              <a:t>目录</a:t>
            </a:r>
            <a:endParaRPr lang="en-US" sz="2800" dirty="0"/>
          </a:p>
        </p:txBody>
      </p:sp>
      <p:sp>
        <p:nvSpPr>
          <p:cNvPr id="3" name="Shape 1"/>
          <p:cNvSpPr/>
          <p:nvPr/>
        </p:nvSpPr>
        <p:spPr>
          <a:xfrm>
            <a:off x="457200" y="960120"/>
            <a:ext cx="1828800" cy="27432"/>
          </a:xfrm>
          <a:prstGeom prst="rect">
            <a:avLst/>
          </a:prstGeom>
          <a:solidFill>
            <a:srgbClr val="D4A843"/>
          </a:solidFill>
          <a:ln/>
        </p:spPr>
      </p:sp>
      <p:sp>
        <p:nvSpPr>
          <p:cNvPr id="4" name="Shape 2"/>
          <p:cNvSpPr/>
          <p:nvPr/>
        </p:nvSpPr>
        <p:spPr>
          <a:xfrm>
            <a:off x="594360" y="1188720"/>
            <a:ext cx="365760" cy="365760"/>
          </a:xfrm>
          <a:prstGeom prst="ellipse">
            <a:avLst/>
          </a:prstGeom>
          <a:solidFill>
            <a:srgbClr val="2C5F2D"/>
          </a:solidFill>
          <a:ln/>
        </p:spPr>
      </p:sp>
      <p:sp>
        <p:nvSpPr>
          <p:cNvPr id="5" name="Text 3"/>
          <p:cNvSpPr/>
          <p:nvPr/>
        </p:nvSpPr>
        <p:spPr>
          <a:xfrm>
            <a:off x="594360" y="11887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p:nvPr/>
        </p:nvSpPr>
        <p:spPr>
          <a:xfrm>
            <a:off x="1188720" y="12344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历史背景与科学氛围</a:t>
            </a:r>
            <a:endParaRPr lang="en-US" sz="1600" dirty="0"/>
          </a:p>
        </p:txBody>
      </p:sp>
      <p:sp>
        <p:nvSpPr>
          <p:cNvPr id="7" name="Shape 5"/>
          <p:cNvSpPr/>
          <p:nvPr/>
        </p:nvSpPr>
        <p:spPr>
          <a:xfrm>
            <a:off x="594360" y="1645920"/>
            <a:ext cx="365760" cy="365760"/>
          </a:xfrm>
          <a:prstGeom prst="ellipse">
            <a:avLst/>
          </a:prstGeom>
          <a:solidFill>
            <a:srgbClr val="2C5F2D"/>
          </a:solidFill>
          <a:ln/>
        </p:spPr>
      </p:sp>
      <p:sp>
        <p:nvSpPr>
          <p:cNvPr id="8" name="Text 6"/>
          <p:cNvSpPr/>
          <p:nvPr/>
        </p:nvSpPr>
        <p:spPr>
          <a:xfrm>
            <a:off x="594360" y="16459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p:nvPr/>
        </p:nvSpPr>
        <p:spPr>
          <a:xfrm>
            <a:off x="1188720" y="16916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核心概念深入讲解</a:t>
            </a:r>
            <a:endParaRPr lang="en-US" sz="1600" dirty="0"/>
          </a:p>
        </p:txBody>
      </p:sp>
      <p:sp>
        <p:nvSpPr>
          <p:cNvPr id="10" name="Shape 8"/>
          <p:cNvSpPr/>
          <p:nvPr/>
        </p:nvSpPr>
        <p:spPr>
          <a:xfrm>
            <a:off x="594360" y="2103120"/>
            <a:ext cx="365760" cy="365760"/>
          </a:xfrm>
          <a:prstGeom prst="ellipse">
            <a:avLst/>
          </a:prstGeom>
          <a:solidFill>
            <a:srgbClr val="2C5F2D"/>
          </a:solidFill>
          <a:ln/>
        </p:spPr>
      </p:sp>
      <p:sp>
        <p:nvSpPr>
          <p:cNvPr id="11" name="Text 9"/>
          <p:cNvSpPr/>
          <p:nvPr/>
        </p:nvSpPr>
        <p:spPr>
          <a:xfrm>
            <a:off x="594360" y="21031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p:nvPr/>
        </p:nvSpPr>
        <p:spPr>
          <a:xfrm>
            <a:off x="1188720" y="21488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科学家的故事与生平</a:t>
            </a:r>
            <a:endParaRPr lang="en-US" sz="1600" dirty="0"/>
          </a:p>
        </p:txBody>
      </p:sp>
      <p:sp>
        <p:nvSpPr>
          <p:cNvPr id="13" name="Shape 11"/>
          <p:cNvSpPr/>
          <p:nvPr/>
        </p:nvSpPr>
        <p:spPr>
          <a:xfrm>
            <a:off x="594360" y="2560320"/>
            <a:ext cx="365760" cy="365760"/>
          </a:xfrm>
          <a:prstGeom prst="ellipse">
            <a:avLst/>
          </a:prstGeom>
          <a:solidFill>
            <a:srgbClr val="2C5F2D"/>
          </a:solidFill>
          <a:ln/>
        </p:spPr>
      </p:sp>
      <p:sp>
        <p:nvSpPr>
          <p:cNvPr id="14" name="Text 12"/>
          <p:cNvSpPr/>
          <p:nvPr/>
        </p:nvSpPr>
        <p:spPr>
          <a:xfrm>
            <a:off x="594360" y="25603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p:nvPr/>
        </p:nvSpPr>
        <p:spPr>
          <a:xfrm>
            <a:off x="1188720" y="26060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重要文献与原始论文</a:t>
            </a:r>
            <a:endParaRPr lang="en-US" sz="1600" dirty="0"/>
          </a:p>
        </p:txBody>
      </p:sp>
      <p:sp>
        <p:nvSpPr>
          <p:cNvPr id="16" name="Shape 14"/>
          <p:cNvSpPr/>
          <p:nvPr/>
        </p:nvSpPr>
        <p:spPr>
          <a:xfrm>
            <a:off x="594360" y="3017520"/>
            <a:ext cx="365760" cy="365760"/>
          </a:xfrm>
          <a:prstGeom prst="ellipse">
            <a:avLst/>
          </a:prstGeom>
          <a:solidFill>
            <a:srgbClr val="2C5F2D"/>
          </a:solidFill>
          <a:ln/>
        </p:spPr>
      </p:sp>
      <p:sp>
        <p:nvSpPr>
          <p:cNvPr id="17" name="Text 15"/>
          <p:cNvSpPr/>
          <p:nvPr/>
        </p:nvSpPr>
        <p:spPr>
          <a:xfrm>
            <a:off x="594360" y="30175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p:nvPr/>
        </p:nvSpPr>
        <p:spPr>
          <a:xfrm>
            <a:off x="1188720" y="30632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经典实验详解</a:t>
            </a:r>
            <a:endParaRPr lang="en-US" sz="1600" dirty="0"/>
          </a:p>
        </p:txBody>
      </p:sp>
      <p:sp>
        <p:nvSpPr>
          <p:cNvPr id="19" name="Shape 17"/>
          <p:cNvSpPr/>
          <p:nvPr/>
        </p:nvSpPr>
        <p:spPr>
          <a:xfrm>
            <a:off x="594360" y="3474720"/>
            <a:ext cx="365760" cy="365760"/>
          </a:xfrm>
          <a:prstGeom prst="ellipse">
            <a:avLst/>
          </a:prstGeom>
          <a:solidFill>
            <a:srgbClr val="2C5F2D"/>
          </a:solidFill>
          <a:ln/>
        </p:spPr>
      </p:sp>
      <p:sp>
        <p:nvSpPr>
          <p:cNvPr id="20" name="Text 18"/>
          <p:cNvSpPr/>
          <p:nvPr/>
        </p:nvSpPr>
        <p:spPr>
          <a:xfrm>
            <a:off x="594360" y="34747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p:nvPr/>
        </p:nvSpPr>
        <p:spPr>
          <a:xfrm>
            <a:off x="1188720" y="35204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有趣的小故事或轶事</a:t>
            </a:r>
            <a:endParaRPr lang="en-US" sz="1600" dirty="0"/>
          </a:p>
        </p:txBody>
      </p:sp>
      <p:sp>
        <p:nvSpPr>
          <p:cNvPr id="22" name="Shape 20"/>
          <p:cNvSpPr/>
          <p:nvPr/>
        </p:nvSpPr>
        <p:spPr>
          <a:xfrm>
            <a:off x="594360" y="3931920"/>
            <a:ext cx="365760" cy="365760"/>
          </a:xfrm>
          <a:prstGeom prst="ellipse">
            <a:avLst/>
          </a:prstGeom>
          <a:solidFill>
            <a:srgbClr val="2C5F2D"/>
          </a:solidFill>
          <a:ln/>
        </p:spPr>
      </p:sp>
      <p:sp>
        <p:nvSpPr>
          <p:cNvPr id="23" name="Text 21"/>
          <p:cNvSpPr/>
          <p:nvPr/>
        </p:nvSpPr>
        <p:spPr>
          <a:xfrm>
            <a:off x="594360" y="39319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p:nvPr/>
        </p:nvSpPr>
        <p:spPr>
          <a:xfrm>
            <a:off x="1188720" y="39776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思考题</a:t>
            </a:r>
            <a:endParaRPr lang="en-US" sz="1600" dirty="0"/>
          </a:p>
        </p:txBody>
      </p:sp>
      <p:sp>
        <p:nvSpPr>
          <p:cNvPr id="25" name="Shape 23"/>
          <p:cNvSpPr/>
          <p:nvPr/>
        </p:nvSpPr>
        <p:spPr>
          <a:xfrm>
            <a:off x="594360" y="4389120"/>
            <a:ext cx="365760" cy="365760"/>
          </a:xfrm>
          <a:prstGeom prst="ellipse">
            <a:avLst/>
          </a:prstGeom>
          <a:solidFill>
            <a:srgbClr val="2C5F2D"/>
          </a:solidFill>
          <a:ln/>
        </p:spPr>
      </p:sp>
      <p:sp>
        <p:nvSpPr>
          <p:cNvPr id="26" name="Text 24"/>
          <p:cNvSpPr/>
          <p:nvPr/>
        </p:nvSpPr>
        <p:spPr>
          <a:xfrm>
            <a:off x="594360" y="43891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7" name="Text 25"/>
          <p:cNvSpPr/>
          <p:nvPr/>
        </p:nvSpPr>
        <p:spPr>
          <a:xfrm>
            <a:off x="1188720" y="4434840"/>
            <a:ext cx="6858000" cy="320040"/>
          </a:xfrm>
          <a:prstGeom prst="rect">
            <a:avLst/>
          </a:prstGeom>
          <a:noFill/>
          <a:ln/>
        </p:spPr>
        <p:txBody>
          <a:bodyPr wrap="square" rtlCol="0" anchor="ctr"/>
          <a:lstStyle/>
          <a:p>
            <a:pPr indent="0" marL="0">
              <a:buNone/>
            </a:pPr>
            <a:r>
              <a:rPr lang="en-US" sz="1600" dirty="0">
                <a:solidFill>
                  <a:srgbClr val="333333"/>
                </a:solidFill>
                <a:latin typeface="Calibri" pitchFamily="34" charset="0"/>
                <a:ea typeface="Calibri" pitchFamily="34" charset="-122"/>
                <a:cs typeface="Calibri" pitchFamily="34" charset="-120"/>
              </a:rPr>
              <a:t>📌 关键术语表</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历史背景与科学氛围</a:t>
            </a:r>
            <a:endParaRPr lang="en-US" sz="2600" dirty="0"/>
          </a:p>
        </p:txBody>
      </p:sp>
      <p:sp>
        <p:nvSpPr>
          <p:cNvPr id="3" name="Shape 1"/>
          <p:cNvSpPr/>
          <p:nvPr/>
        </p:nvSpPr>
        <p:spPr>
          <a:xfrm>
            <a:off x="457200" y="804672"/>
            <a:ext cx="1371600" cy="27432"/>
          </a:xfrm>
          <a:prstGeom prst="rect">
            <a:avLst/>
          </a:prstGeom>
          <a:solidFill>
            <a:srgbClr val="D4A843"/>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核心概念深入讲解</a:t>
            </a:r>
            <a:endParaRPr lang="en-US" sz="2600" dirty="0"/>
          </a:p>
        </p:txBody>
      </p:sp>
      <p:sp>
        <p:nvSpPr>
          <p:cNvPr id="3" name="Shape 1"/>
          <p:cNvSpPr/>
          <p:nvPr/>
        </p:nvSpPr>
        <p:spPr>
          <a:xfrm>
            <a:off x="457200" y="804672"/>
            <a:ext cx="1371600" cy="27432"/>
          </a:xfrm>
          <a:prstGeom prst="rect">
            <a:avLst/>
          </a:prstGeom>
          <a:solidFill>
            <a:srgbClr val="D4A843"/>
          </a:solidFill>
          <a:ln/>
        </p:spPr>
      </p:sp>
      <p:sp>
        <p:nvSpPr>
          <p:cNvPr id="4" name="Shape 2"/>
          <p:cNvSpPr/>
          <p:nvPr/>
        </p:nvSpPr>
        <p:spPr>
          <a:xfrm>
            <a:off x="576072" y="1033272"/>
            <a:ext cx="8046720" cy="685800"/>
          </a:xfrm>
          <a:prstGeom prst="roundRect">
            <a:avLst>
              <a:gd name="adj" fmla="val 6667"/>
            </a:avLst>
          </a:prstGeom>
          <a:solidFill>
            <a:srgbClr val="D5D0C4"/>
          </a:solidFill>
          <a:ln/>
        </p:spPr>
      </p:sp>
      <p:sp>
        <p:nvSpPr>
          <p:cNvPr id="5" name="Shape 3"/>
          <p:cNvSpPr/>
          <p:nvPr/>
        </p:nvSpPr>
        <p:spPr>
          <a:xfrm>
            <a:off x="548640" y="1005840"/>
            <a:ext cx="8046720" cy="685800"/>
          </a:xfrm>
          <a:prstGeom prst="roundRect">
            <a:avLst>
              <a:gd name="adj" fmla="val 6667"/>
            </a:avLst>
          </a:prstGeom>
          <a:solidFill>
            <a:srgbClr val="FFFFFF"/>
          </a:solidFill>
          <a:ln/>
        </p:spPr>
      </p:sp>
      <p:sp>
        <p:nvSpPr>
          <p:cNvPr id="6" name="Shape 4"/>
          <p:cNvSpPr/>
          <p:nvPr/>
        </p:nvSpPr>
        <p:spPr>
          <a:xfrm>
            <a:off x="548640" y="1005840"/>
            <a:ext cx="73152" cy="685800"/>
          </a:xfrm>
          <a:prstGeom prst="rect">
            <a:avLst/>
          </a:prstGeom>
          <a:solidFill>
            <a:srgbClr val="2C5F2D"/>
          </a:solidFill>
          <a:ln/>
        </p:spPr>
      </p:sp>
      <p:sp>
        <p:nvSpPr>
          <p:cNvPr id="7" name="Shape 5"/>
          <p:cNvSpPr/>
          <p:nvPr/>
        </p:nvSpPr>
        <p:spPr>
          <a:xfrm>
            <a:off x="685800" y="1165860"/>
            <a:ext cx="365760" cy="365760"/>
          </a:xfrm>
          <a:prstGeom prst="ellipse">
            <a:avLst/>
          </a:prstGeom>
          <a:solidFill>
            <a:srgbClr val="2C5F2D"/>
          </a:solidFill>
          <a:ln/>
        </p:spPr>
      </p:sp>
      <p:sp>
        <p:nvSpPr>
          <p:cNvPr id="8" name="Text 6"/>
          <p:cNvSpPr/>
          <p:nvPr/>
        </p:nvSpPr>
        <p:spPr>
          <a:xfrm>
            <a:off x="685800" y="116586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80160" y="107899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人类肤色：黑人和白人的混血后代通常具有中间的肤色（棕色皮肤），这看起来完全符合"混合"的预期。</a:t>
            </a:r>
            <a:endParaRPr lang="en-US" sz="1400" dirty="0"/>
          </a:p>
        </p:txBody>
      </p:sp>
      <p:sp>
        <p:nvSpPr>
          <p:cNvPr id="10" name="Shape 8"/>
          <p:cNvSpPr/>
          <p:nvPr/>
        </p:nvSpPr>
        <p:spPr>
          <a:xfrm>
            <a:off x="576072" y="1856232"/>
            <a:ext cx="8046720" cy="685800"/>
          </a:xfrm>
          <a:prstGeom prst="roundRect">
            <a:avLst>
              <a:gd name="adj" fmla="val 6667"/>
            </a:avLst>
          </a:prstGeom>
          <a:solidFill>
            <a:srgbClr val="D5D0C4"/>
          </a:solidFill>
          <a:ln/>
        </p:spPr>
      </p:sp>
      <p:sp>
        <p:nvSpPr>
          <p:cNvPr id="11" name="Shape 9"/>
          <p:cNvSpPr/>
          <p:nvPr/>
        </p:nvSpPr>
        <p:spPr>
          <a:xfrm>
            <a:off x="548640" y="1828800"/>
            <a:ext cx="8046720" cy="685800"/>
          </a:xfrm>
          <a:prstGeom prst="roundRect">
            <a:avLst>
              <a:gd name="adj" fmla="val 6667"/>
            </a:avLst>
          </a:prstGeom>
          <a:solidFill>
            <a:srgbClr val="FFFFFF"/>
          </a:solidFill>
          <a:ln/>
        </p:spPr>
      </p:sp>
      <p:sp>
        <p:nvSpPr>
          <p:cNvPr id="12" name="Shape 10"/>
          <p:cNvSpPr/>
          <p:nvPr/>
        </p:nvSpPr>
        <p:spPr>
          <a:xfrm>
            <a:off x="548640" y="1828800"/>
            <a:ext cx="73152" cy="685800"/>
          </a:xfrm>
          <a:prstGeom prst="rect">
            <a:avLst/>
          </a:prstGeom>
          <a:solidFill>
            <a:srgbClr val="2C5F2D"/>
          </a:solidFill>
          <a:ln/>
        </p:spPr>
      </p:sp>
      <p:sp>
        <p:nvSpPr>
          <p:cNvPr id="13" name="Shape 11"/>
          <p:cNvSpPr/>
          <p:nvPr/>
        </p:nvSpPr>
        <p:spPr>
          <a:xfrm>
            <a:off x="685800" y="1988820"/>
            <a:ext cx="365760" cy="365760"/>
          </a:xfrm>
          <a:prstGeom prst="ellipse">
            <a:avLst/>
          </a:prstGeom>
          <a:solidFill>
            <a:srgbClr val="2C5F2D"/>
          </a:solidFill>
          <a:ln/>
        </p:spPr>
      </p:sp>
      <p:sp>
        <p:nvSpPr>
          <p:cNvPr id="14" name="Text 12"/>
          <p:cNvSpPr/>
          <p:nvPr/>
        </p:nvSpPr>
        <p:spPr>
          <a:xfrm>
            <a:off x="685800" y="19888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1280160" y="190195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植物杂交：许多植物杂交后代表现出介于两个亲本之间的性状。例如，红花和白花的杂交后代可能是粉色的。</a:t>
            </a:r>
            <a:endParaRPr lang="en-US" sz="1400" dirty="0"/>
          </a:p>
        </p:txBody>
      </p:sp>
      <p:sp>
        <p:nvSpPr>
          <p:cNvPr id="16" name="Shape 14"/>
          <p:cNvSpPr/>
          <p:nvPr/>
        </p:nvSpPr>
        <p:spPr>
          <a:xfrm>
            <a:off x="576072" y="2679192"/>
            <a:ext cx="8046720" cy="685800"/>
          </a:xfrm>
          <a:prstGeom prst="roundRect">
            <a:avLst>
              <a:gd name="adj" fmla="val 6667"/>
            </a:avLst>
          </a:prstGeom>
          <a:solidFill>
            <a:srgbClr val="D5D0C4"/>
          </a:solidFill>
          <a:ln/>
        </p:spPr>
      </p:sp>
      <p:sp>
        <p:nvSpPr>
          <p:cNvPr id="17" name="Shape 15"/>
          <p:cNvSpPr/>
          <p:nvPr/>
        </p:nvSpPr>
        <p:spPr>
          <a:xfrm>
            <a:off x="548640" y="2651760"/>
            <a:ext cx="8046720" cy="685800"/>
          </a:xfrm>
          <a:prstGeom prst="roundRect">
            <a:avLst>
              <a:gd name="adj" fmla="val 6667"/>
            </a:avLst>
          </a:prstGeom>
          <a:solidFill>
            <a:srgbClr val="FFFFFF"/>
          </a:solidFill>
          <a:ln/>
        </p:spPr>
      </p:sp>
      <p:sp>
        <p:nvSpPr>
          <p:cNvPr id="18" name="Shape 16"/>
          <p:cNvSpPr/>
          <p:nvPr/>
        </p:nvSpPr>
        <p:spPr>
          <a:xfrm>
            <a:off x="548640" y="2651760"/>
            <a:ext cx="73152" cy="685800"/>
          </a:xfrm>
          <a:prstGeom prst="rect">
            <a:avLst/>
          </a:prstGeom>
          <a:solidFill>
            <a:srgbClr val="2C5F2D"/>
          </a:solidFill>
          <a:ln/>
        </p:spPr>
      </p:sp>
      <p:sp>
        <p:nvSpPr>
          <p:cNvPr id="19" name="Shape 17"/>
          <p:cNvSpPr/>
          <p:nvPr/>
        </p:nvSpPr>
        <p:spPr>
          <a:xfrm>
            <a:off x="685800" y="2811780"/>
            <a:ext cx="365760" cy="365760"/>
          </a:xfrm>
          <a:prstGeom prst="ellipse">
            <a:avLst/>
          </a:prstGeom>
          <a:solidFill>
            <a:srgbClr val="2C5F2D"/>
          </a:solidFill>
          <a:ln/>
        </p:spPr>
      </p:sp>
      <p:sp>
        <p:nvSpPr>
          <p:cNvPr id="20" name="Text 18"/>
          <p:cNvSpPr/>
          <p:nvPr/>
        </p:nvSpPr>
        <p:spPr>
          <a:xfrm>
            <a:off x="685800" y="281178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1280160" y="272491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动物育种：不同品种的狗或马杂交后，后代的体型、毛色等性状通常介于两个亲本品种之间。</a:t>
            </a:r>
            <a:endParaRPr lang="en-US" sz="1400" dirty="0"/>
          </a:p>
        </p:txBody>
      </p:sp>
      <p:sp>
        <p:nvSpPr>
          <p:cNvPr id="22" name="Shape 20"/>
          <p:cNvSpPr/>
          <p:nvPr/>
        </p:nvSpPr>
        <p:spPr>
          <a:xfrm>
            <a:off x="576072" y="3502152"/>
            <a:ext cx="8046720" cy="685800"/>
          </a:xfrm>
          <a:prstGeom prst="roundRect">
            <a:avLst>
              <a:gd name="adj" fmla="val 6667"/>
            </a:avLst>
          </a:prstGeom>
          <a:solidFill>
            <a:srgbClr val="D5D0C4"/>
          </a:solidFill>
          <a:ln/>
        </p:spPr>
      </p:sp>
      <p:sp>
        <p:nvSpPr>
          <p:cNvPr id="23" name="Shape 21"/>
          <p:cNvSpPr/>
          <p:nvPr/>
        </p:nvSpPr>
        <p:spPr>
          <a:xfrm>
            <a:off x="548640" y="3474720"/>
            <a:ext cx="8046720" cy="685800"/>
          </a:xfrm>
          <a:prstGeom prst="roundRect">
            <a:avLst>
              <a:gd name="adj" fmla="val 6667"/>
            </a:avLst>
          </a:prstGeom>
          <a:solidFill>
            <a:srgbClr val="FFFFFF"/>
          </a:solidFill>
          <a:ln/>
        </p:spPr>
      </p:sp>
      <p:sp>
        <p:nvSpPr>
          <p:cNvPr id="24" name="Shape 22"/>
          <p:cNvSpPr/>
          <p:nvPr/>
        </p:nvSpPr>
        <p:spPr>
          <a:xfrm>
            <a:off x="548640" y="3474720"/>
            <a:ext cx="73152" cy="685800"/>
          </a:xfrm>
          <a:prstGeom prst="rect">
            <a:avLst/>
          </a:prstGeom>
          <a:solidFill>
            <a:srgbClr val="2C5F2D"/>
          </a:solidFill>
          <a:ln/>
        </p:spPr>
      </p:sp>
      <p:sp>
        <p:nvSpPr>
          <p:cNvPr id="25" name="Shape 23"/>
          <p:cNvSpPr/>
          <p:nvPr/>
        </p:nvSpPr>
        <p:spPr>
          <a:xfrm>
            <a:off x="685800" y="3634740"/>
            <a:ext cx="365760" cy="365760"/>
          </a:xfrm>
          <a:prstGeom prst="ellipse">
            <a:avLst/>
          </a:prstGeom>
          <a:solidFill>
            <a:srgbClr val="2C5F2D"/>
          </a:solidFill>
          <a:ln/>
        </p:spPr>
      </p:sp>
      <p:sp>
        <p:nvSpPr>
          <p:cNvPr id="26" name="Text 24"/>
          <p:cNvSpPr/>
          <p:nvPr/>
        </p:nvSpPr>
        <p:spPr>
          <a:xfrm>
            <a:off x="685800" y="363474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1280160" y="354787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他增加了对拉马克"用进废退"机制的依赖，认为环境的直接影响可以在一定程度上维持变异</a:t>
            </a:r>
            <a:endParaRPr lang="en-US" sz="1400" dirty="0"/>
          </a:p>
        </p:txBody>
      </p:sp>
      <p:sp>
        <p:nvSpPr>
          <p:cNvPr id="28" name="Shape 26"/>
          <p:cNvSpPr/>
          <p:nvPr/>
        </p:nvSpPr>
        <p:spPr>
          <a:xfrm>
            <a:off x="548640" y="4297680"/>
            <a:ext cx="8046720" cy="640080"/>
          </a:xfrm>
          <a:prstGeom prst="roundRect">
            <a:avLst>
              <a:gd name="adj" fmla="val 7143"/>
            </a:avLst>
          </a:prstGeom>
          <a:solidFill>
            <a:srgbClr val="2C5F2D"/>
          </a:solidFill>
          <a:ln/>
        </p:spPr>
      </p:sp>
      <p:sp>
        <p:nvSpPr>
          <p:cNvPr id="29" name="Text 27"/>
          <p:cNvSpPr/>
          <p:nvPr/>
        </p:nvSpPr>
        <p:spPr>
          <a:xfrm>
            <a:off x="822960" y="434340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詹金的结论：如果遗传是融合式的，那么任何新的变异——无论多么有利——都会在几代之内被稀释殆尽。自然选择因此失去了作用的基础。</a:t>
            </a:r>
            <a:endParaRPr lang="en-US" sz="1300" dirty="0"/>
          </a:p>
        </p:txBody>
      </p:sp>
      <p:sp>
        <p:nvSpPr>
          <p:cNvPr id="30" name="Shape 28"/>
          <p:cNvSpPr/>
          <p:nvPr/>
        </p:nvSpPr>
        <p:spPr>
          <a:xfrm>
            <a:off x="548640" y="5074920"/>
            <a:ext cx="8046720" cy="640080"/>
          </a:xfrm>
          <a:prstGeom prst="roundRect">
            <a:avLst>
              <a:gd name="adj" fmla="val 7143"/>
            </a:avLst>
          </a:prstGeom>
          <a:solidFill>
            <a:srgbClr val="2C5F2D"/>
          </a:solidFill>
          <a:ln/>
        </p:spPr>
      </p:sp>
      <p:sp>
        <p:nvSpPr>
          <p:cNvPr id="31" name="Text 29"/>
          <p:cNvSpPr/>
          <p:nvPr/>
        </p:nvSpPr>
        <p:spPr>
          <a:xfrm>
            <a:off x="822960" y="512064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现代视角：英国统计学家罗纳德·费舍尔（R.A. Fisher）在1918年的经典论文中用数学方法严格证明了这一点。费舍尔指出，如果将融合遗传中的"性状值"视为大量微效基因的加性效应，那么融合遗传的表象实际上可以用颗粒遗传来解释。这一洞察是数量遗传学的数学基础。</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科学家的故事与生平</a:t>
            </a:r>
            <a:endParaRPr lang="en-US" sz="2600" dirty="0"/>
          </a:p>
        </p:txBody>
      </p:sp>
      <p:sp>
        <p:nvSpPr>
          <p:cNvPr id="3" name="Shape 1"/>
          <p:cNvSpPr/>
          <p:nvPr/>
        </p:nvSpPr>
        <p:spPr>
          <a:xfrm>
            <a:off x="457200" y="804672"/>
            <a:ext cx="1371600" cy="27432"/>
          </a:xfrm>
          <a:prstGeom prst="rect">
            <a:avLst/>
          </a:prstGeom>
          <a:solidFill>
            <a:srgbClr val="D4A843"/>
          </a:solidFill>
          <a:ln/>
        </p:spPr>
      </p:sp>
      <p:sp>
        <p:nvSpPr>
          <p:cNvPr id="4" name="Shape 2"/>
          <p:cNvSpPr/>
          <p:nvPr/>
        </p:nvSpPr>
        <p:spPr>
          <a:xfrm>
            <a:off x="548640" y="1005840"/>
            <a:ext cx="8046720" cy="640080"/>
          </a:xfrm>
          <a:prstGeom prst="roundRect">
            <a:avLst>
              <a:gd name="adj" fmla="val 7143"/>
            </a:avLst>
          </a:prstGeom>
          <a:solidFill>
            <a:srgbClr val="2C5F2D"/>
          </a:solidFill>
          <a:ln/>
        </p:spPr>
      </p:sp>
      <p:sp>
        <p:nvSpPr>
          <p:cNvPr id="5" name="Text 3"/>
          <p:cNvSpPr/>
          <p:nvPr/>
        </p:nvSpPr>
        <p:spPr>
          <a:xfrm>
            <a:off x="822960" y="105156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有趣的轶事：詹金是一位多才多艺的人。除了工程和科学，他还写过小说和戏剧。他的小说《从旧到新》（*From the Old to the New*）探讨了技术进步对社会的影响，被认为是早期科幻文学的作品之一。</a:t>
            </a:r>
            <a:endParaRPr lang="en-US" sz="1300" dirty="0"/>
          </a:p>
        </p:txBody>
      </p:sp>
      <p:sp>
        <p:nvSpPr>
          <p:cNvPr id="6" name="Shape 4"/>
          <p:cNvSpPr/>
          <p:nvPr/>
        </p:nvSpPr>
        <p:spPr>
          <a:xfrm>
            <a:off x="548640" y="1783080"/>
            <a:ext cx="8046720" cy="640080"/>
          </a:xfrm>
          <a:prstGeom prst="roundRect">
            <a:avLst>
              <a:gd name="adj" fmla="val 7143"/>
            </a:avLst>
          </a:prstGeom>
          <a:solidFill>
            <a:srgbClr val="2C5F2D"/>
          </a:solidFill>
          <a:ln/>
        </p:spPr>
      </p:sp>
      <p:sp>
        <p:nvSpPr>
          <p:cNvPr id="7" name="Text 5"/>
          <p:cNvSpPr/>
          <p:nvPr/>
        </p:nvSpPr>
        <p:spPr>
          <a:xfrm>
            <a:off x="822960" y="182880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高尔顿的复杂遗产：高尔顿在1883年创造了"优生学"（eugenics）一词，主张通过选择性繁殖来"改良"人类种族。这一思想在20世纪被滥用，导致了强制绝育、种族歧视等严重的人权灾难。高尔顿的科学贡献（回归分析、相关系数、指纹分类等）与他的优生学遗产形成了鲜明而令人不安的对比。</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重要文献与原始论文</a:t>
            </a:r>
            <a:endParaRPr lang="en-US" sz="2600" dirty="0"/>
          </a:p>
        </p:txBody>
      </p:sp>
      <p:sp>
        <p:nvSpPr>
          <p:cNvPr id="3" name="Shape 1"/>
          <p:cNvSpPr/>
          <p:nvPr/>
        </p:nvSpPr>
        <p:spPr>
          <a:xfrm>
            <a:off x="457200" y="804672"/>
            <a:ext cx="1371600" cy="27432"/>
          </a:xfrm>
          <a:prstGeom prst="rect">
            <a:avLst/>
          </a:prstGeom>
          <a:solidFill>
            <a:srgbClr val="D4A843"/>
          </a:solidFill>
          <a:ln/>
        </p:spPr>
      </p:sp>
      <p:sp>
        <p:nvSpPr>
          <p:cNvPr id="4" name="Shape 2"/>
          <p:cNvSpPr/>
          <p:nvPr/>
        </p:nvSpPr>
        <p:spPr>
          <a:xfrm>
            <a:off x="548640" y="1005840"/>
            <a:ext cx="8046720" cy="640080"/>
          </a:xfrm>
          <a:prstGeom prst="roundRect">
            <a:avLst>
              <a:gd name="adj" fmla="val 7143"/>
            </a:avLst>
          </a:prstGeom>
          <a:solidFill>
            <a:srgbClr val="2C5F2D"/>
          </a:solidFill>
          <a:ln/>
        </p:spPr>
      </p:sp>
      <p:sp>
        <p:nvSpPr>
          <p:cNvPr id="5" name="Text 3"/>
          <p:cNvSpPr/>
          <p:nvPr/>
        </p:nvSpPr>
        <p:spPr>
          <a:xfrm>
            <a:off x="822960" y="105156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关键段落：詹金假设了一个思想实验——如果一头白色的北极熊突然变成了黑色（有利突变），然后与白色熊交配，其后代会是灰色的。灰色后代再与白色熊交配，会更接近白色。几代之后，黑色变异就会被完全"淹没"。</a:t>
            </a:r>
            <a:endParaRPr lang="en-US" sz="1300" dirty="0"/>
          </a:p>
        </p:txBody>
      </p:sp>
      <p:sp>
        <p:nvSpPr>
          <p:cNvPr id="6" name="Shape 4"/>
          <p:cNvSpPr/>
          <p:nvPr/>
        </p:nvSpPr>
        <p:spPr>
          <a:xfrm>
            <a:off x="548640" y="1783080"/>
            <a:ext cx="8046720" cy="640080"/>
          </a:xfrm>
          <a:prstGeom prst="roundRect">
            <a:avLst>
              <a:gd name="adj" fmla="val 7143"/>
            </a:avLst>
          </a:prstGeom>
          <a:solidFill>
            <a:srgbClr val="2C5F2D"/>
          </a:solidFill>
          <a:ln/>
        </p:spPr>
      </p:sp>
      <p:sp>
        <p:nvSpPr>
          <p:cNvPr id="7" name="Text 5"/>
          <p:cNvSpPr/>
          <p:nvPr/>
        </p:nvSpPr>
        <p:spPr>
          <a:xfrm>
            <a:off x="822960" y="182880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费舍尔的核心洞察：如果某个性状受到大量基因的控制，每个基因都有微小的效应，那么这些基因的加性效应叠加后，性状的分布就会呈现出连续的"正态分布"——这正是融合遗传所描述的表象。因此，融合遗传并不是一种独立的遗传机制，而是多基因遗传在宏观层面上的统计表现。</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经典实验详解</a:t>
            </a:r>
            <a:endParaRPr lang="en-US" sz="2600" dirty="0"/>
          </a:p>
        </p:txBody>
      </p:sp>
      <p:sp>
        <p:nvSpPr>
          <p:cNvPr id="3" name="Shape 1"/>
          <p:cNvSpPr/>
          <p:nvPr/>
        </p:nvSpPr>
        <p:spPr>
          <a:xfrm>
            <a:off x="457200" y="804672"/>
            <a:ext cx="1371600" cy="27432"/>
          </a:xfrm>
          <a:prstGeom prst="rect">
            <a:avLst/>
          </a:prstGeom>
          <a:solidFill>
            <a:srgbClr val="D4A843"/>
          </a:solidFill>
          <a:ln/>
        </p:spPr>
      </p:sp>
      <p:sp>
        <p:nvSpPr>
          <p:cNvPr id="4" name="Shape 2"/>
          <p:cNvSpPr/>
          <p:nvPr/>
        </p:nvSpPr>
        <p:spPr>
          <a:xfrm>
            <a:off x="576072" y="1033272"/>
            <a:ext cx="8046720" cy="685800"/>
          </a:xfrm>
          <a:prstGeom prst="roundRect">
            <a:avLst>
              <a:gd name="adj" fmla="val 6667"/>
            </a:avLst>
          </a:prstGeom>
          <a:solidFill>
            <a:srgbClr val="D5D0C4"/>
          </a:solidFill>
          <a:ln/>
        </p:spPr>
      </p:sp>
      <p:sp>
        <p:nvSpPr>
          <p:cNvPr id="5" name="Shape 3"/>
          <p:cNvSpPr/>
          <p:nvPr/>
        </p:nvSpPr>
        <p:spPr>
          <a:xfrm>
            <a:off x="548640" y="1005840"/>
            <a:ext cx="8046720" cy="685800"/>
          </a:xfrm>
          <a:prstGeom prst="roundRect">
            <a:avLst>
              <a:gd name="adj" fmla="val 6667"/>
            </a:avLst>
          </a:prstGeom>
          <a:solidFill>
            <a:srgbClr val="FFFFFF"/>
          </a:solidFill>
          <a:ln/>
        </p:spPr>
      </p:sp>
      <p:sp>
        <p:nvSpPr>
          <p:cNvPr id="6" name="Shape 4"/>
          <p:cNvSpPr/>
          <p:nvPr/>
        </p:nvSpPr>
        <p:spPr>
          <a:xfrm>
            <a:off x="548640" y="1005840"/>
            <a:ext cx="73152" cy="685800"/>
          </a:xfrm>
          <a:prstGeom prst="rect">
            <a:avLst/>
          </a:prstGeom>
          <a:solidFill>
            <a:srgbClr val="2C5F2D"/>
          </a:solidFill>
          <a:ln/>
        </p:spPr>
      </p:sp>
      <p:sp>
        <p:nvSpPr>
          <p:cNvPr id="7" name="Shape 5"/>
          <p:cNvSpPr/>
          <p:nvPr/>
        </p:nvSpPr>
        <p:spPr>
          <a:xfrm>
            <a:off x="685800" y="1165860"/>
            <a:ext cx="365760" cy="365760"/>
          </a:xfrm>
          <a:prstGeom prst="ellipse">
            <a:avLst/>
          </a:prstGeom>
          <a:solidFill>
            <a:srgbClr val="2C5F2D"/>
          </a:solidFill>
          <a:ln/>
        </p:spPr>
      </p:sp>
      <p:sp>
        <p:nvSpPr>
          <p:cNvPr id="8" name="Text 6"/>
          <p:cNvSpPr/>
          <p:nvPr/>
        </p:nvSpPr>
        <p:spPr>
          <a:xfrm>
            <a:off x="685800" y="116586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80160" y="107899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选择不同大小的甜豌豆种子作为亲本</a:t>
            </a:r>
            <a:endParaRPr lang="en-US" sz="1400" dirty="0"/>
          </a:p>
        </p:txBody>
      </p:sp>
      <p:sp>
        <p:nvSpPr>
          <p:cNvPr id="10" name="Shape 8"/>
          <p:cNvSpPr/>
          <p:nvPr/>
        </p:nvSpPr>
        <p:spPr>
          <a:xfrm>
            <a:off x="576072" y="1856232"/>
            <a:ext cx="8046720" cy="685800"/>
          </a:xfrm>
          <a:prstGeom prst="roundRect">
            <a:avLst>
              <a:gd name="adj" fmla="val 6667"/>
            </a:avLst>
          </a:prstGeom>
          <a:solidFill>
            <a:srgbClr val="D5D0C4"/>
          </a:solidFill>
          <a:ln/>
        </p:spPr>
      </p:sp>
      <p:sp>
        <p:nvSpPr>
          <p:cNvPr id="11" name="Shape 9"/>
          <p:cNvSpPr/>
          <p:nvPr/>
        </p:nvSpPr>
        <p:spPr>
          <a:xfrm>
            <a:off x="548640" y="1828800"/>
            <a:ext cx="8046720" cy="685800"/>
          </a:xfrm>
          <a:prstGeom prst="roundRect">
            <a:avLst>
              <a:gd name="adj" fmla="val 6667"/>
            </a:avLst>
          </a:prstGeom>
          <a:solidFill>
            <a:srgbClr val="FFFFFF"/>
          </a:solidFill>
          <a:ln/>
        </p:spPr>
      </p:sp>
      <p:sp>
        <p:nvSpPr>
          <p:cNvPr id="12" name="Shape 10"/>
          <p:cNvSpPr/>
          <p:nvPr/>
        </p:nvSpPr>
        <p:spPr>
          <a:xfrm>
            <a:off x="548640" y="1828800"/>
            <a:ext cx="73152" cy="685800"/>
          </a:xfrm>
          <a:prstGeom prst="rect">
            <a:avLst/>
          </a:prstGeom>
          <a:solidFill>
            <a:srgbClr val="2C5F2D"/>
          </a:solidFill>
          <a:ln/>
        </p:spPr>
      </p:sp>
      <p:sp>
        <p:nvSpPr>
          <p:cNvPr id="13" name="Shape 11"/>
          <p:cNvSpPr/>
          <p:nvPr/>
        </p:nvSpPr>
        <p:spPr>
          <a:xfrm>
            <a:off x="685800" y="1988820"/>
            <a:ext cx="365760" cy="365760"/>
          </a:xfrm>
          <a:prstGeom prst="ellipse">
            <a:avLst/>
          </a:prstGeom>
          <a:solidFill>
            <a:srgbClr val="2C5F2D"/>
          </a:solidFill>
          <a:ln/>
        </p:spPr>
      </p:sp>
      <p:sp>
        <p:nvSpPr>
          <p:cNvPr id="14" name="Text 12"/>
          <p:cNvSpPr/>
          <p:nvPr/>
        </p:nvSpPr>
        <p:spPr>
          <a:xfrm>
            <a:off x="685800" y="19888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1280160" y="190195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将它们分组，每组按种子大小分类</a:t>
            </a:r>
            <a:endParaRPr lang="en-US" sz="1400" dirty="0"/>
          </a:p>
        </p:txBody>
      </p:sp>
      <p:sp>
        <p:nvSpPr>
          <p:cNvPr id="16" name="Shape 14"/>
          <p:cNvSpPr/>
          <p:nvPr/>
        </p:nvSpPr>
        <p:spPr>
          <a:xfrm>
            <a:off x="576072" y="2679192"/>
            <a:ext cx="8046720" cy="685800"/>
          </a:xfrm>
          <a:prstGeom prst="roundRect">
            <a:avLst>
              <a:gd name="adj" fmla="val 6667"/>
            </a:avLst>
          </a:prstGeom>
          <a:solidFill>
            <a:srgbClr val="D5D0C4"/>
          </a:solidFill>
          <a:ln/>
        </p:spPr>
      </p:sp>
      <p:sp>
        <p:nvSpPr>
          <p:cNvPr id="17" name="Shape 15"/>
          <p:cNvSpPr/>
          <p:nvPr/>
        </p:nvSpPr>
        <p:spPr>
          <a:xfrm>
            <a:off x="548640" y="2651760"/>
            <a:ext cx="8046720" cy="685800"/>
          </a:xfrm>
          <a:prstGeom prst="roundRect">
            <a:avLst>
              <a:gd name="adj" fmla="val 6667"/>
            </a:avLst>
          </a:prstGeom>
          <a:solidFill>
            <a:srgbClr val="FFFFFF"/>
          </a:solidFill>
          <a:ln/>
        </p:spPr>
      </p:sp>
      <p:sp>
        <p:nvSpPr>
          <p:cNvPr id="18" name="Shape 16"/>
          <p:cNvSpPr/>
          <p:nvPr/>
        </p:nvSpPr>
        <p:spPr>
          <a:xfrm>
            <a:off x="548640" y="2651760"/>
            <a:ext cx="73152" cy="685800"/>
          </a:xfrm>
          <a:prstGeom prst="rect">
            <a:avLst/>
          </a:prstGeom>
          <a:solidFill>
            <a:srgbClr val="2C5F2D"/>
          </a:solidFill>
          <a:ln/>
        </p:spPr>
      </p:sp>
      <p:sp>
        <p:nvSpPr>
          <p:cNvPr id="19" name="Shape 17"/>
          <p:cNvSpPr/>
          <p:nvPr/>
        </p:nvSpPr>
        <p:spPr>
          <a:xfrm>
            <a:off x="685800" y="2811780"/>
            <a:ext cx="365760" cy="365760"/>
          </a:xfrm>
          <a:prstGeom prst="ellipse">
            <a:avLst/>
          </a:prstGeom>
          <a:solidFill>
            <a:srgbClr val="2C5F2D"/>
          </a:solidFill>
          <a:ln/>
        </p:spPr>
      </p:sp>
      <p:sp>
        <p:nvSpPr>
          <p:cNvPr id="20" name="Text 18"/>
          <p:cNvSpPr/>
          <p:nvPr/>
        </p:nvSpPr>
        <p:spPr>
          <a:xfrm>
            <a:off x="685800" y="281178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1280160" y="272491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记录亲本种子和后代种子的直径</a:t>
            </a:r>
            <a:endParaRPr lang="en-US" sz="1400" dirty="0"/>
          </a:p>
        </p:txBody>
      </p:sp>
      <p:sp>
        <p:nvSpPr>
          <p:cNvPr id="22" name="Shape 20"/>
          <p:cNvSpPr/>
          <p:nvPr/>
        </p:nvSpPr>
        <p:spPr>
          <a:xfrm>
            <a:off x="576072" y="3502152"/>
            <a:ext cx="8046720" cy="685800"/>
          </a:xfrm>
          <a:prstGeom prst="roundRect">
            <a:avLst>
              <a:gd name="adj" fmla="val 6667"/>
            </a:avLst>
          </a:prstGeom>
          <a:solidFill>
            <a:srgbClr val="D5D0C4"/>
          </a:solidFill>
          <a:ln/>
        </p:spPr>
      </p:sp>
      <p:sp>
        <p:nvSpPr>
          <p:cNvPr id="23" name="Shape 21"/>
          <p:cNvSpPr/>
          <p:nvPr/>
        </p:nvSpPr>
        <p:spPr>
          <a:xfrm>
            <a:off x="548640" y="3474720"/>
            <a:ext cx="8046720" cy="685800"/>
          </a:xfrm>
          <a:prstGeom prst="roundRect">
            <a:avLst>
              <a:gd name="adj" fmla="val 6667"/>
            </a:avLst>
          </a:prstGeom>
          <a:solidFill>
            <a:srgbClr val="FFFFFF"/>
          </a:solidFill>
          <a:ln/>
        </p:spPr>
      </p:sp>
      <p:sp>
        <p:nvSpPr>
          <p:cNvPr id="24" name="Shape 22"/>
          <p:cNvSpPr/>
          <p:nvPr/>
        </p:nvSpPr>
        <p:spPr>
          <a:xfrm>
            <a:off x="548640" y="3474720"/>
            <a:ext cx="73152" cy="685800"/>
          </a:xfrm>
          <a:prstGeom prst="rect">
            <a:avLst/>
          </a:prstGeom>
          <a:solidFill>
            <a:srgbClr val="2C5F2D"/>
          </a:solidFill>
          <a:ln/>
        </p:spPr>
      </p:sp>
      <p:sp>
        <p:nvSpPr>
          <p:cNvPr id="25" name="Shape 23"/>
          <p:cNvSpPr/>
          <p:nvPr/>
        </p:nvSpPr>
        <p:spPr>
          <a:xfrm>
            <a:off x="685800" y="3634740"/>
            <a:ext cx="365760" cy="365760"/>
          </a:xfrm>
          <a:prstGeom prst="ellipse">
            <a:avLst/>
          </a:prstGeom>
          <a:solidFill>
            <a:srgbClr val="2C5F2D"/>
          </a:solidFill>
          <a:ln/>
        </p:spPr>
      </p:sp>
      <p:sp>
        <p:nvSpPr>
          <p:cNvPr id="26" name="Text 24"/>
          <p:cNvSpPr/>
          <p:nvPr/>
        </p:nvSpPr>
        <p:spPr>
          <a:xfrm>
            <a:off x="685800" y="363474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1280160" y="354787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分析后代种子大小与亲本种子大小的关系</a:t>
            </a:r>
            <a:endParaRPr lang="en-US" sz="1400" dirty="0"/>
          </a:p>
        </p:txBody>
      </p:sp>
      <p:sp>
        <p:nvSpPr>
          <p:cNvPr id="28" name="Shape 26"/>
          <p:cNvSpPr/>
          <p:nvPr/>
        </p:nvSpPr>
        <p:spPr>
          <a:xfrm>
            <a:off x="548640" y="4297680"/>
            <a:ext cx="8046720" cy="640080"/>
          </a:xfrm>
          <a:prstGeom prst="roundRect">
            <a:avLst>
              <a:gd name="adj" fmla="val 7143"/>
            </a:avLst>
          </a:prstGeom>
          <a:solidFill>
            <a:srgbClr val="2C5F2D"/>
          </a:solidFill>
          <a:ln/>
        </p:spPr>
      </p:sp>
      <p:sp>
        <p:nvSpPr>
          <p:cNvPr id="29" name="Text 27"/>
          <p:cNvSpPr/>
          <p:nvPr/>
        </p:nvSpPr>
        <p:spPr>
          <a:xfrm>
            <a:off x="822960" y="434340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教学启示：人类肤色是一个极好的教学案例，它展示了多基因遗传如何在宏观上产生"融合遗传"的表象，但在微观层面仍然遵循孟德尔的颗粒遗传规律。</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有趣的小故事或轶事</a:t>
            </a:r>
            <a:endParaRPr lang="en-US" sz="2600" dirty="0"/>
          </a:p>
        </p:txBody>
      </p:sp>
      <p:sp>
        <p:nvSpPr>
          <p:cNvPr id="3" name="Shape 1"/>
          <p:cNvSpPr/>
          <p:nvPr/>
        </p:nvSpPr>
        <p:spPr>
          <a:xfrm>
            <a:off x="457200" y="804672"/>
            <a:ext cx="1371600" cy="27432"/>
          </a:xfrm>
          <a:prstGeom prst="rect">
            <a:avLst/>
          </a:prstGeom>
          <a:solidFill>
            <a:srgbClr val="D4A843"/>
          </a:solidFill>
          <a:ln/>
        </p:spPr>
      </p:sp>
      <p:sp>
        <p:nvSpPr>
          <p:cNvPr id="4" name="Shape 2"/>
          <p:cNvSpPr/>
          <p:nvPr/>
        </p:nvSpPr>
        <p:spPr>
          <a:xfrm>
            <a:off x="576072" y="1033272"/>
            <a:ext cx="8046720" cy="685800"/>
          </a:xfrm>
          <a:prstGeom prst="roundRect">
            <a:avLst>
              <a:gd name="adj" fmla="val 6667"/>
            </a:avLst>
          </a:prstGeom>
          <a:solidFill>
            <a:srgbClr val="D5D0C4"/>
          </a:solidFill>
          <a:ln/>
        </p:spPr>
      </p:sp>
      <p:sp>
        <p:nvSpPr>
          <p:cNvPr id="5" name="Shape 3"/>
          <p:cNvSpPr/>
          <p:nvPr/>
        </p:nvSpPr>
        <p:spPr>
          <a:xfrm>
            <a:off x="548640" y="1005840"/>
            <a:ext cx="8046720" cy="685800"/>
          </a:xfrm>
          <a:prstGeom prst="roundRect">
            <a:avLst>
              <a:gd name="adj" fmla="val 6667"/>
            </a:avLst>
          </a:prstGeom>
          <a:solidFill>
            <a:srgbClr val="FFFFFF"/>
          </a:solidFill>
          <a:ln/>
        </p:spPr>
      </p:sp>
      <p:sp>
        <p:nvSpPr>
          <p:cNvPr id="6" name="Shape 4"/>
          <p:cNvSpPr/>
          <p:nvPr/>
        </p:nvSpPr>
        <p:spPr>
          <a:xfrm>
            <a:off x="548640" y="1005840"/>
            <a:ext cx="73152" cy="685800"/>
          </a:xfrm>
          <a:prstGeom prst="rect">
            <a:avLst/>
          </a:prstGeom>
          <a:solidFill>
            <a:srgbClr val="2C5F2D"/>
          </a:solidFill>
          <a:ln/>
        </p:spPr>
      </p:sp>
      <p:sp>
        <p:nvSpPr>
          <p:cNvPr id="7" name="Shape 5"/>
          <p:cNvSpPr/>
          <p:nvPr/>
        </p:nvSpPr>
        <p:spPr>
          <a:xfrm>
            <a:off x="685800" y="1165860"/>
            <a:ext cx="365760" cy="365760"/>
          </a:xfrm>
          <a:prstGeom prst="ellipse">
            <a:avLst/>
          </a:prstGeom>
          <a:solidFill>
            <a:srgbClr val="2C5F2D"/>
          </a:solidFill>
          <a:ln/>
        </p:spPr>
      </p:sp>
      <p:sp>
        <p:nvSpPr>
          <p:cNvPr id="8" name="Text 6"/>
          <p:cNvSpPr/>
          <p:nvPr/>
        </p:nvSpPr>
        <p:spPr>
          <a:xfrm>
            <a:off x="685800" y="116586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80160" y="107899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第一代后代：灰色</a:t>
            </a:r>
            <a:endParaRPr lang="en-US" sz="1400" dirty="0"/>
          </a:p>
        </p:txBody>
      </p:sp>
      <p:sp>
        <p:nvSpPr>
          <p:cNvPr id="10" name="Shape 8"/>
          <p:cNvSpPr/>
          <p:nvPr/>
        </p:nvSpPr>
        <p:spPr>
          <a:xfrm>
            <a:off x="576072" y="1856232"/>
            <a:ext cx="8046720" cy="685800"/>
          </a:xfrm>
          <a:prstGeom prst="roundRect">
            <a:avLst>
              <a:gd name="adj" fmla="val 6667"/>
            </a:avLst>
          </a:prstGeom>
          <a:solidFill>
            <a:srgbClr val="D5D0C4"/>
          </a:solidFill>
          <a:ln/>
        </p:spPr>
      </p:sp>
      <p:sp>
        <p:nvSpPr>
          <p:cNvPr id="11" name="Shape 9"/>
          <p:cNvSpPr/>
          <p:nvPr/>
        </p:nvSpPr>
        <p:spPr>
          <a:xfrm>
            <a:off x="548640" y="1828800"/>
            <a:ext cx="8046720" cy="685800"/>
          </a:xfrm>
          <a:prstGeom prst="roundRect">
            <a:avLst>
              <a:gd name="adj" fmla="val 6667"/>
            </a:avLst>
          </a:prstGeom>
          <a:solidFill>
            <a:srgbClr val="FFFFFF"/>
          </a:solidFill>
          <a:ln/>
        </p:spPr>
      </p:sp>
      <p:sp>
        <p:nvSpPr>
          <p:cNvPr id="12" name="Shape 10"/>
          <p:cNvSpPr/>
          <p:nvPr/>
        </p:nvSpPr>
        <p:spPr>
          <a:xfrm>
            <a:off x="548640" y="1828800"/>
            <a:ext cx="73152" cy="685800"/>
          </a:xfrm>
          <a:prstGeom prst="rect">
            <a:avLst/>
          </a:prstGeom>
          <a:solidFill>
            <a:srgbClr val="2C5F2D"/>
          </a:solidFill>
          <a:ln/>
        </p:spPr>
      </p:sp>
      <p:sp>
        <p:nvSpPr>
          <p:cNvPr id="13" name="Shape 11"/>
          <p:cNvSpPr/>
          <p:nvPr/>
        </p:nvSpPr>
        <p:spPr>
          <a:xfrm>
            <a:off x="685800" y="1988820"/>
            <a:ext cx="365760" cy="365760"/>
          </a:xfrm>
          <a:prstGeom prst="ellipse">
            <a:avLst/>
          </a:prstGeom>
          <a:solidFill>
            <a:srgbClr val="2C5F2D"/>
          </a:solidFill>
          <a:ln/>
        </p:spPr>
      </p:sp>
      <p:sp>
        <p:nvSpPr>
          <p:cNvPr id="14" name="Text 12"/>
          <p:cNvSpPr/>
          <p:nvPr/>
        </p:nvSpPr>
        <p:spPr>
          <a:xfrm>
            <a:off x="685800" y="198882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1280160" y="190195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第二代后代：浅灰色</a:t>
            </a:r>
            <a:endParaRPr lang="en-US" sz="1400" dirty="0"/>
          </a:p>
        </p:txBody>
      </p:sp>
      <p:sp>
        <p:nvSpPr>
          <p:cNvPr id="16" name="Shape 14"/>
          <p:cNvSpPr/>
          <p:nvPr/>
        </p:nvSpPr>
        <p:spPr>
          <a:xfrm>
            <a:off x="576072" y="2679192"/>
            <a:ext cx="8046720" cy="685800"/>
          </a:xfrm>
          <a:prstGeom prst="roundRect">
            <a:avLst>
              <a:gd name="adj" fmla="val 6667"/>
            </a:avLst>
          </a:prstGeom>
          <a:solidFill>
            <a:srgbClr val="D5D0C4"/>
          </a:solidFill>
          <a:ln/>
        </p:spPr>
      </p:sp>
      <p:sp>
        <p:nvSpPr>
          <p:cNvPr id="17" name="Shape 15"/>
          <p:cNvSpPr/>
          <p:nvPr/>
        </p:nvSpPr>
        <p:spPr>
          <a:xfrm>
            <a:off x="548640" y="2651760"/>
            <a:ext cx="8046720" cy="685800"/>
          </a:xfrm>
          <a:prstGeom prst="roundRect">
            <a:avLst>
              <a:gd name="adj" fmla="val 6667"/>
            </a:avLst>
          </a:prstGeom>
          <a:solidFill>
            <a:srgbClr val="FFFFFF"/>
          </a:solidFill>
          <a:ln/>
        </p:spPr>
      </p:sp>
      <p:sp>
        <p:nvSpPr>
          <p:cNvPr id="18" name="Shape 16"/>
          <p:cNvSpPr/>
          <p:nvPr/>
        </p:nvSpPr>
        <p:spPr>
          <a:xfrm>
            <a:off x="548640" y="2651760"/>
            <a:ext cx="73152" cy="685800"/>
          </a:xfrm>
          <a:prstGeom prst="rect">
            <a:avLst/>
          </a:prstGeom>
          <a:solidFill>
            <a:srgbClr val="2C5F2D"/>
          </a:solidFill>
          <a:ln/>
        </p:spPr>
      </p:sp>
      <p:sp>
        <p:nvSpPr>
          <p:cNvPr id="19" name="Shape 17"/>
          <p:cNvSpPr/>
          <p:nvPr/>
        </p:nvSpPr>
        <p:spPr>
          <a:xfrm>
            <a:off x="685800" y="2811780"/>
            <a:ext cx="365760" cy="365760"/>
          </a:xfrm>
          <a:prstGeom prst="ellipse">
            <a:avLst/>
          </a:prstGeom>
          <a:solidFill>
            <a:srgbClr val="2C5F2D"/>
          </a:solidFill>
          <a:ln/>
        </p:spPr>
      </p:sp>
      <p:sp>
        <p:nvSpPr>
          <p:cNvPr id="20" name="Text 18"/>
          <p:cNvSpPr/>
          <p:nvPr/>
        </p:nvSpPr>
        <p:spPr>
          <a:xfrm>
            <a:off x="685800" y="281178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1280160" y="272491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第三代后代：几乎白色</a:t>
            </a:r>
            <a:endParaRPr lang="en-US" sz="1400" dirty="0"/>
          </a:p>
        </p:txBody>
      </p:sp>
      <p:sp>
        <p:nvSpPr>
          <p:cNvPr id="22" name="Shape 20"/>
          <p:cNvSpPr/>
          <p:nvPr/>
        </p:nvSpPr>
        <p:spPr>
          <a:xfrm>
            <a:off x="576072" y="3502152"/>
            <a:ext cx="8046720" cy="685800"/>
          </a:xfrm>
          <a:prstGeom prst="roundRect">
            <a:avLst>
              <a:gd name="adj" fmla="val 6667"/>
            </a:avLst>
          </a:prstGeom>
          <a:solidFill>
            <a:srgbClr val="D5D0C4"/>
          </a:solidFill>
          <a:ln/>
        </p:spPr>
      </p:sp>
      <p:sp>
        <p:nvSpPr>
          <p:cNvPr id="23" name="Shape 21"/>
          <p:cNvSpPr/>
          <p:nvPr/>
        </p:nvSpPr>
        <p:spPr>
          <a:xfrm>
            <a:off x="548640" y="3474720"/>
            <a:ext cx="8046720" cy="685800"/>
          </a:xfrm>
          <a:prstGeom prst="roundRect">
            <a:avLst>
              <a:gd name="adj" fmla="val 6667"/>
            </a:avLst>
          </a:prstGeom>
          <a:solidFill>
            <a:srgbClr val="FFFFFF"/>
          </a:solidFill>
          <a:ln/>
        </p:spPr>
      </p:sp>
      <p:sp>
        <p:nvSpPr>
          <p:cNvPr id="24" name="Shape 22"/>
          <p:cNvSpPr/>
          <p:nvPr/>
        </p:nvSpPr>
        <p:spPr>
          <a:xfrm>
            <a:off x="548640" y="3474720"/>
            <a:ext cx="73152" cy="685800"/>
          </a:xfrm>
          <a:prstGeom prst="rect">
            <a:avLst/>
          </a:prstGeom>
          <a:solidFill>
            <a:srgbClr val="2C5F2D"/>
          </a:solidFill>
          <a:ln/>
        </p:spPr>
      </p:sp>
      <p:sp>
        <p:nvSpPr>
          <p:cNvPr id="25" name="Shape 23"/>
          <p:cNvSpPr/>
          <p:nvPr/>
        </p:nvSpPr>
        <p:spPr>
          <a:xfrm>
            <a:off x="685800" y="3634740"/>
            <a:ext cx="365760" cy="365760"/>
          </a:xfrm>
          <a:prstGeom prst="ellipse">
            <a:avLst/>
          </a:prstGeom>
          <a:solidFill>
            <a:srgbClr val="2C5F2D"/>
          </a:solidFill>
          <a:ln/>
        </p:spPr>
      </p:sp>
      <p:sp>
        <p:nvSpPr>
          <p:cNvPr id="26" name="Text 24"/>
          <p:cNvSpPr/>
          <p:nvPr/>
        </p:nvSpPr>
        <p:spPr>
          <a:xfrm>
            <a:off x="685800" y="3634740"/>
            <a:ext cx="36576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1280160" y="3547872"/>
            <a:ext cx="7132320" cy="539496"/>
          </a:xfrm>
          <a:prstGeom prst="rect">
            <a:avLst/>
          </a:prstGeom>
          <a:noFill/>
          <a:ln/>
        </p:spPr>
        <p:txBody>
          <a:bodyPr wrap="square" rtlCol="0" anchor="ctr"/>
          <a:lstStyle/>
          <a:p>
            <a:pPr indent="0" marL="0">
              <a:buNone/>
            </a:pPr>
            <a:r>
              <a:rPr lang="en-US" sz="1400" dirty="0">
                <a:solidFill>
                  <a:srgbClr val="333333"/>
                </a:solidFill>
                <a:latin typeface="Calibri" pitchFamily="34" charset="0"/>
                <a:ea typeface="Calibri" pitchFamily="34" charset="-122"/>
                <a:cs typeface="Calibri" pitchFamily="34" charset="-120"/>
              </a:rPr>
              <a:t>融合遗传就像把所有牌放在一起洗匀——你永远无法再分离出纯红或纯黑。</a:t>
            </a:r>
            <a:endParaRPr lang="en-US" sz="1400" dirty="0"/>
          </a:p>
        </p:txBody>
      </p:sp>
      <p:sp>
        <p:nvSpPr>
          <p:cNvPr id="28" name="Shape 26"/>
          <p:cNvSpPr/>
          <p:nvPr/>
        </p:nvSpPr>
        <p:spPr>
          <a:xfrm>
            <a:off x="548640" y="4297680"/>
            <a:ext cx="8046720" cy="640080"/>
          </a:xfrm>
          <a:prstGeom prst="roundRect">
            <a:avLst>
              <a:gd name="adj" fmla="val 7143"/>
            </a:avLst>
          </a:prstGeom>
          <a:solidFill>
            <a:srgbClr val="2C5F2D"/>
          </a:solidFill>
          <a:ln/>
        </p:spPr>
      </p:sp>
      <p:sp>
        <p:nvSpPr>
          <p:cNvPr id="29" name="Text 27"/>
          <p:cNvSpPr/>
          <p:nvPr/>
        </p:nvSpPr>
        <p:spPr>
          <a:xfrm>
            <a:off x="822960" y="434340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现代反转：实际上，北极熊的毛色遗传并非简单的融合遗传。北极熊的白色毛发的颜色是由毛发的透明中空结构和皮肤下黑色皮肤的组合效应决定的。如果真的出现了"黑色北极熊"的突变（比如控制毛发结构的基因发生了改变），在颗粒遗传的框架下，这个突变是可以被自然选择保存和扩散的。</a:t>
            </a:r>
            <a:endParaRPr lang="en-US" sz="1300" dirty="0"/>
          </a:p>
        </p:txBody>
      </p:sp>
      <p:sp>
        <p:nvSpPr>
          <p:cNvPr id="30" name="Shape 28"/>
          <p:cNvSpPr/>
          <p:nvPr/>
        </p:nvSpPr>
        <p:spPr>
          <a:xfrm>
            <a:off x="548640" y="5074920"/>
            <a:ext cx="8046720" cy="640080"/>
          </a:xfrm>
          <a:prstGeom prst="roundRect">
            <a:avLst>
              <a:gd name="adj" fmla="val 7143"/>
            </a:avLst>
          </a:prstGeom>
          <a:solidFill>
            <a:srgbClr val="2C5F2D"/>
          </a:solidFill>
          <a:ln/>
        </p:spPr>
      </p:sp>
      <p:sp>
        <p:nvSpPr>
          <p:cNvPr id="31" name="Text 29"/>
          <p:cNvSpPr/>
          <p:nvPr/>
        </p:nvSpPr>
        <p:spPr>
          <a:xfrm>
            <a:off x="822960" y="512064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费舍尔后来成为了20世纪最伟大的统计学家之一，他发明了方差分析（ANOVA）、最大似然估计、F分布等众多统计方法和概念。他的1918年论文不仅解决了融合遗传与颗粒遗传的争论，还奠定了现代统计遗传学的数学基础。</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思考题</a:t>
            </a:r>
            <a:endParaRPr lang="en-US" sz="2600" dirty="0"/>
          </a:p>
        </p:txBody>
      </p:sp>
      <p:sp>
        <p:nvSpPr>
          <p:cNvPr id="3" name="Shape 1"/>
          <p:cNvSpPr/>
          <p:nvPr/>
        </p:nvSpPr>
        <p:spPr>
          <a:xfrm>
            <a:off x="457200" y="804672"/>
            <a:ext cx="1371600" cy="27432"/>
          </a:xfrm>
          <a:prstGeom prst="rect">
            <a:avLst/>
          </a:prstGeom>
          <a:solidFill>
            <a:srgbClr val="D4A84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关键术语表</a:t>
            </a:r>
            <a:endParaRPr lang="en-US" sz="2600" dirty="0"/>
          </a:p>
        </p:txBody>
      </p:sp>
      <p:sp>
        <p:nvSpPr>
          <p:cNvPr id="3" name="Shape 1"/>
          <p:cNvSpPr/>
          <p:nvPr/>
        </p:nvSpPr>
        <p:spPr>
          <a:xfrm>
            <a:off x="457200" y="804672"/>
            <a:ext cx="1371600" cy="27432"/>
          </a:xfrm>
          <a:prstGeom prst="rect">
            <a:avLst/>
          </a:prstGeom>
          <a:solidFill>
            <a:srgbClr val="D4A843"/>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2C5F2D"/>
                </a:solidFill>
                <a:latin typeface="Georgia" pitchFamily="34" charset="0"/>
                <a:ea typeface="Georgia" pitchFamily="34" charset="-122"/>
                <a:cs typeface="Georgia" pitchFamily="34" charset="-120"/>
              </a:rPr>
              <a:t>🔜 下节预告</a:t>
            </a:r>
            <a:endParaRPr lang="en-US" sz="2600" dirty="0"/>
          </a:p>
        </p:txBody>
      </p:sp>
      <p:sp>
        <p:nvSpPr>
          <p:cNvPr id="3" name="Shape 1"/>
          <p:cNvSpPr/>
          <p:nvPr/>
        </p:nvSpPr>
        <p:spPr>
          <a:xfrm>
            <a:off x="457200" y="804672"/>
            <a:ext cx="1371600" cy="27432"/>
          </a:xfrm>
          <a:prstGeom prst="rect">
            <a:avLst/>
          </a:prstGeom>
          <a:solidFill>
            <a:srgbClr val="D4A843"/>
          </a:solidFill>
          <a:ln/>
        </p:spPr>
      </p:sp>
      <p:sp>
        <p:nvSpPr>
          <p:cNvPr id="4" name="Shape 2"/>
          <p:cNvSpPr/>
          <p:nvPr/>
        </p:nvSpPr>
        <p:spPr>
          <a:xfrm>
            <a:off x="548640" y="1005840"/>
            <a:ext cx="8046720" cy="640080"/>
          </a:xfrm>
          <a:prstGeom prst="roundRect">
            <a:avLst>
              <a:gd name="adj" fmla="val 7143"/>
            </a:avLst>
          </a:prstGeom>
          <a:solidFill>
            <a:srgbClr val="2C5F2D"/>
          </a:solidFill>
          <a:ln/>
        </p:spPr>
      </p:sp>
      <p:sp>
        <p:nvSpPr>
          <p:cNvPr id="5" name="Text 3"/>
          <p:cNvSpPr/>
          <p:nvPr/>
        </p:nvSpPr>
        <p:spPr>
          <a:xfrm>
            <a:off x="822960" y="105156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 本节参考文献：</a:t>
            </a:r>
            <a:endParaRPr lang="en-US" sz="1300" dirty="0"/>
          </a:p>
        </p:txBody>
      </p:sp>
      <p:sp>
        <p:nvSpPr>
          <p:cNvPr id="6" name="Shape 4"/>
          <p:cNvSpPr/>
          <p:nvPr/>
        </p:nvSpPr>
        <p:spPr>
          <a:xfrm>
            <a:off x="548640" y="1783080"/>
            <a:ext cx="8046720" cy="640080"/>
          </a:xfrm>
          <a:prstGeom prst="roundRect">
            <a:avLst>
              <a:gd name="adj" fmla="val 7143"/>
            </a:avLst>
          </a:prstGeom>
          <a:solidFill>
            <a:srgbClr val="2C5F2D"/>
          </a:solidFill>
          <a:ln/>
        </p:spPr>
      </p:sp>
      <p:sp>
        <p:nvSpPr>
          <p:cNvPr id="7" name="Text 5"/>
          <p:cNvSpPr/>
          <p:nvPr/>
        </p:nvSpPr>
        <p:spPr>
          <a:xfrm>
            <a:off x="822960" y="1828800"/>
            <a:ext cx="7498080" cy="54864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1. Jenkin, F. "Review of Darwin's *Origin of Species*." *The North British Review*, 46: 277-318, 1867.</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2743200" y="2606040"/>
            <a:ext cx="3657600" cy="36576"/>
          </a:xfrm>
          <a:prstGeom prst="rect">
            <a:avLst/>
          </a:prstGeom>
          <a:solidFill>
            <a:srgbClr val="D4A843"/>
          </a:solidFill>
          <a:ln/>
        </p:spPr>
      </p:sp>
      <p:sp>
        <p:nvSpPr>
          <p:cNvPr id="3" name="Text 1"/>
          <p:cNvSpPr/>
          <p:nvPr/>
        </p:nvSpPr>
        <p:spPr>
          <a:xfrm>
            <a:off x="457200" y="1828800"/>
            <a:ext cx="8229600" cy="91440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感谢观看</a:t>
            </a:r>
            <a:endParaRPr lang="en-US" sz="4800" dirty="0"/>
          </a:p>
        </p:txBody>
      </p:sp>
      <p:sp>
        <p:nvSpPr>
          <p:cNvPr id="4" name="Text 2"/>
          <p:cNvSpPr/>
          <p:nvPr/>
        </p:nvSpPr>
        <p:spPr>
          <a:xfrm>
            <a:off x="457200" y="2834640"/>
            <a:ext cx="8229600" cy="457200"/>
          </a:xfrm>
          <a:prstGeom prst="rect">
            <a:avLst/>
          </a:prstGeom>
          <a:noFill/>
          <a:ln/>
        </p:spPr>
        <p:txBody>
          <a:bodyPr wrap="square" rtlCol="0" anchor="ctr"/>
          <a:lstStyle/>
          <a:p>
            <a:pPr algn="ctr" indent="0" marL="0">
              <a:buNone/>
            </a:pPr>
            <a:r>
              <a:rPr lang="en-US" sz="2000" dirty="0">
                <a:solidFill>
                  <a:srgbClr val="97BC62"/>
                </a:solidFill>
                <a:latin typeface="Calibri" pitchFamily="34" charset="0"/>
                <a:ea typeface="Calibri" pitchFamily="34" charset="-122"/>
                <a:cs typeface="Calibri" pitchFamily="34" charset="-120"/>
              </a:rPr>
              <a:t>100天遗传学系统学习</a:t>
            </a:r>
            <a:endParaRPr lang="en-US" sz="2000" dirty="0"/>
          </a:p>
        </p:txBody>
      </p:sp>
      <p:sp>
        <p:nvSpPr>
          <p:cNvPr id="5" name="Text 3"/>
          <p:cNvSpPr/>
          <p:nvPr/>
        </p:nvSpPr>
        <p:spPr>
          <a:xfrm>
            <a:off x="457200" y="3931920"/>
            <a:ext cx="8229600" cy="2743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GitHub: lijianguoa/genetics-learning-100-days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2026-05-15T07:20:23Z</dcterms:created>
  <dcterms:modified xsi:type="dcterms:W3CDTF">2026-05-15T07:20:23Z</dcterms:modified>
</cp:coreProperties>
</file>