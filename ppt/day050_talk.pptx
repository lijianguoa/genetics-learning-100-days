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48495" cy="27432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188720"/>
            <a:ext cx="2651760" cy="64008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DAY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400" b="1">
                <a:solidFill>
                  <a:srgbClr val="FFFFFF"/>
                </a:solidFill>
                <a:latin typeface="Microsoft YaHei"/>
              </a:defRPr>
              <a:lnSpc>
                <a:spcPct val="130000"/>
              </a:lnSpc>
            </a:pPr>
            <a:r>
              <a:t>群体遗传学的诞生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The Birth of Population Genetics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555555"/>
                </a:solidFill>
                <a:latin typeface="Microsoft YaHei"/>
              </a:defRPr>
              <a:lnSpc>
                <a:spcPct val="150000"/>
              </a:lnSpc>
            </a:pPr>
            <a:r>
              <a:t>遗传学100天学习计划  |  2026.07.03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943600"/>
            <a:ext cx="8534095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94360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Talk Mode  |  16 Slides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 / 16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引言：一场持续40年的争论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Introduction: A 40-Year Debate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1900年孟德尔重新发现后的科学分裂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Bateson vs Pearson：间断变异 vs 连续变异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孟德尔学派与生物统计学派的对立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核心问题：孟德尔 + 达尔文 = 矛盾？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融合遗传的致命问题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The Blinding Problem of Blending Inheritance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Jenkin的反达尔文论证：变异会在几代内消失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融合遗传无法维持自然选择所需的变异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达尔文理论的"阿喀琉斯之踵"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需要粒子遗传 (Particulate Inheritance) 来拯救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846320"/>
            <a:ext cx="7315200" cy="82296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892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"粒子遗传是解决融合遗传困境的唯一出路"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1908：哈迪-温伯格的数学突破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1908: The Hardy-Weinberg Mathematical Breakthrough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Hardy（数学家）+ Weinberg（医生）= 同一结论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p² + 2pq + q² = 1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粒子遗传保持变异不变——数学证明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"太简单了"却改变了整个学科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657600" cy="1645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Hardy-Weinberg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377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Cambria Math"/>
              </a:defRPr>
              <a:lnSpc>
                <a:spcPct val="150000"/>
              </a:lnSpc>
            </a:pPr>
            <a:r>
              <a:t>p² + 2pq + q² =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1918：Fisher的统一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1918: Fisher's Unification of Mendelian &amp; Biometric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连续变异 = 多基因累积效应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ANOVA统计工具的诞生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Mendelians + Biometricians → 统一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为群体遗传学奠定数学基础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011680"/>
            <a:ext cx="347472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1900 孟德尔重发现 → 1908 H-W → 1918 Fisher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1920s-30s：三巨头时代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The Three Giants Era (1920s-1930s)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6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3200400" cy="34747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R.A. Fisher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77440"/>
            <a:ext cx="100584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6517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统计选择理论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Natural Selection Theory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3200400" cy="3474720"/>
          </a:xfrm>
          <a:prstGeom prst="roundRect">
            <a:avLst/>
          </a:prstGeom>
          <a:solidFill>
            <a:srgbClr val="3A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J.B.S. Haldane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377440"/>
            <a:ext cx="100584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517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进化代价理论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Cost of Natural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200400" cy="3474720"/>
          </a:xfrm>
          <a:prstGeom prst="roundRect">
            <a:avLst/>
          </a:prstGeom>
          <a:solidFill>
            <a:srgbClr val="4E9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Sewall Wright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377440"/>
            <a:ext cx="100584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6517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漂变与景观理论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  <a:lnSpc>
                <a:spcPct val="180000"/>
              </a:lnSpc>
            </a:pPr>
            <a:r>
              <a:t>Drift &amp; Adaptive Landscape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555555"/>
                </a:solidFill>
                <a:latin typeface="Microsoft YaHei"/>
              </a:defRPr>
              <a:lnSpc>
                <a:spcPct val="150000"/>
              </a:lnSpc>
            </a:pPr>
            <a:r>
              <a:t>现代进化综合 (Modern Evolutionary Synthesis) 的三大理论支柱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Fisher: 选择的基本定理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Fisher's Fundamental Theorem of Natural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适应度变化率 = 遗传方差 × 选择强度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自然选择最有效的数学表达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1930《自然选择的遗传学理论》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选择是进化的主导力量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84048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Fisher's Fundamental Theorem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231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Cambria Math"/>
              </a:defRPr>
              <a:lnSpc>
                <a:spcPct val="140000"/>
              </a:lnSpc>
            </a:pPr>
            <a:r>
              <a:t>dW/dt</a:t>
            </a:r>
            <a:br/>
            <a:r>
              <a:t>= V_a × 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74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V_a = additive genetic variance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Haldane: 进化的代价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Haldane's Dilemma: The Cost of Natural Selection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8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同时固定多个有利等位基因的"代价"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每个基因座需要一定的淘汰量 (substitution load)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速度极限：进化不是无限快的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"为两个兄弟或八个表亲献出生命"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846320"/>
            <a:ext cx="7315200" cy="82296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892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"I would lay down my life for two brothers or eight cousins" — J.B.S. Haldane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Wright: 漂变的力量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Wright: The Power of Genetic 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遗传漂变：小群体中基因频率随机变化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Fst：衡量群体间遗传分化的关键指标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适应度景观：基因型空间中的适应度地形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移动平衡理论：漂变 + 选择 + 迁移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200400" cy="2286000"/>
          </a:xfrm>
          <a:prstGeom prst="roundRect">
            <a:avLst/>
          </a:prstGeom>
          <a:solidFill>
            <a:srgbClr val="3A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Shifting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  <a:lnSpc>
                <a:spcPct val="140000"/>
              </a:lnSpc>
            </a:pPr>
            <a:r>
              <a:t>Drift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  <a:lnSpc>
                <a:spcPct val="140000"/>
              </a:lnSpc>
            </a:pPr>
            <a:r>
              <a:t>↓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  <a:lnSpc>
                <a:spcPct val="140000"/>
              </a:lnSpc>
            </a:pPr>
            <a:r>
              <a:t>Selection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  <a:lnSpc>
                <a:spcPct val="140000"/>
              </a:lnSpc>
            </a:pPr>
            <a:r>
              <a:t>↓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FFFFFF"/>
                </a:solidFill>
                <a:latin typeface="Calibri"/>
              </a:defRPr>
              <a:lnSpc>
                <a:spcPct val="140000"/>
              </a:lnSpc>
            </a:pPr>
            <a:r>
              <a:t>Migration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群体遗传学核心框架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Core Framework of Population Genetics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10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基因频率：p + q = 1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基因型频率：p² + 2pq + q² = 1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五大进化力量：选择、突变、漂变、迁移、非随机交配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D2D2D"/>
                </a:solidFill>
                <a:latin typeface="Microsoft YaHei"/>
              </a:defRPr>
              <a:lnSpc>
                <a:spcPct val="200000"/>
              </a:lnSpc>
            </a:pPr>
            <a:r>
              <a:t>哈迪-温伯格平衡 = 进化的零假设 (null hypothesis)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029200"/>
            <a:ext cx="1737360" cy="10972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40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选择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5029200"/>
            <a:ext cx="1737360" cy="10972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Mutation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5440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突变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5029200"/>
            <a:ext cx="1737360" cy="10972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440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漂变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5029200"/>
            <a:ext cx="1737360" cy="10972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Migration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440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迁移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5029200"/>
            <a:ext cx="1737360" cy="10972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5074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0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Non-random</a:t>
            </a:r>
            <a:br/>
            <a:r>
              <a:t>mating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4406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非随机交配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Fisher vs Wright: 选择与漂变之争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Fisher vs Wright: Selection vs Drift Debate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11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4572000" cy="32004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R.A. Fisher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240280"/>
            <a:ext cx="182880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选择至上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Selection is paramount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大规模群体为主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漂变可忽略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Selectionist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645920"/>
            <a:ext cx="4572000" cy="3200400"/>
          </a:xfrm>
          <a:prstGeom prst="roundRect">
            <a:avLst/>
          </a:prstGeom>
          <a:solidFill>
            <a:srgbClr val="3A7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Sewall Wright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40280"/>
            <a:ext cx="1828800" cy="254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4688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漂变是创造性力量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Drift as creative force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小群体+亚群体结构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移动平衡理论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FFFFFF"/>
                </a:solidFill>
                <a:latin typeface="Microsoft YaHei"/>
              </a:defRPr>
              <a:lnSpc>
                <a:spcPct val="170000"/>
              </a:lnSpc>
            </a:pPr>
            <a:r>
              <a:t>Balance view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560320"/>
            <a:ext cx="1371600" cy="13716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788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555555"/>
                </a:solidFill>
                <a:latin typeface="Microsoft YaHei"/>
              </a:defRPr>
              <a:lnSpc>
                <a:spcPct val="150000"/>
              </a:lnSpc>
            </a:pPr>
            <a:r>
              <a:t>生物学史上最著名的学术争论之一 — 争论推动了整个领域的发展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经典实验与验证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Classic Experiments &amp;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12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16459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1908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Hardy的数学证明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57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Mathematical proof of H-W equilibrium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17520"/>
            <a:ext cx="16459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1918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Fisher的连续变异模型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429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Continuous variation = polygenic effects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16459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1920s-50s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Wright的果蝇群体实验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800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Drosophila experimental populations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C5F2D"/>
                </a:solidFill>
                <a:latin typeface="Microsoft YaHei"/>
              </a:defRPr>
              <a:lnSpc>
                <a:spcPct val="150000"/>
              </a:lnSpc>
            </a:pPr>
            <a:r>
              <a:t>三种互补的方法论：数学推导 + 统计模型 + 实验验证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现代影响与遗产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Modern Impact &amp; Legacy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13 / 16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现代进化综合的基础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Foundation of Modern Evolutionary Synthesis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7889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分子群体遗传学的前身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Precursor to Molecular Population Genetics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88620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保护遗传学的理论支柱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Theoretical Pillar of Conservation Genetics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人类医学遗传学应用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Applications in Human Medical Genetics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关键文献回顾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Key Literature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63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Title /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463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828800"/>
            <a:ext cx="10789920" cy="1905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1965960"/>
            <a:ext cx="10789920" cy="685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Hardy (1908)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D2D2D"/>
                </a:solidFill>
                <a:latin typeface="Calibri"/>
              </a:defRPr>
              <a:lnSpc>
                <a:spcPct val="150000"/>
              </a:lnSpc>
            </a:pPr>
            <a:r>
              <a:t>Mendelian proportions in a population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029968"/>
            <a:ext cx="1645920" cy="320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029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H-W定律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10789920" cy="685800"/>
          </a:xfrm>
          <a:prstGeom prst="rect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Fisher (1918)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D2D2D"/>
                </a:solidFill>
                <a:latin typeface="Calibri"/>
              </a:defRPr>
              <a:lnSpc>
                <a:spcPct val="150000"/>
              </a:lnSpc>
            </a:pPr>
            <a:r>
              <a:t>The correlation between relatives on Mendelian inheritance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807208"/>
            <a:ext cx="1645920" cy="320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807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统一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520440"/>
            <a:ext cx="10789920" cy="685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Fisher (1930)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566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D2D2D"/>
                </a:solidFill>
                <a:latin typeface="Calibri"/>
              </a:defRPr>
              <a:lnSpc>
                <a:spcPct val="150000"/>
              </a:lnSpc>
            </a:pPr>
            <a:r>
              <a:t>The Genetical Theory of Natural Selection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3584448"/>
            <a:ext cx="1645920" cy="320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3584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基本定理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97680"/>
            <a:ext cx="10789920" cy="685800"/>
          </a:xfrm>
          <a:prstGeom prst="rect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Haldane (1932)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343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D2D2D"/>
                </a:solidFill>
                <a:latin typeface="Calibri"/>
              </a:defRPr>
              <a:lnSpc>
                <a:spcPct val="150000"/>
              </a:lnSpc>
            </a:pPr>
            <a:r>
              <a:t>The Causes of Evolution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4361688"/>
            <a:ext cx="1645920" cy="320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0" y="4361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进化代价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74920"/>
            <a:ext cx="10789920" cy="6858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C5F2D"/>
                </a:solidFill>
                <a:latin typeface="Calibri"/>
              </a:defRPr>
              <a:lnSpc>
                <a:spcPct val="150000"/>
              </a:lnSpc>
            </a:pPr>
            <a:r>
              <a:t>Wright (1931)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20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D2D2D"/>
                </a:solidFill>
                <a:latin typeface="Calibri"/>
              </a:defRPr>
              <a:lnSpc>
                <a:spcPct val="150000"/>
              </a:lnSpc>
            </a:pPr>
            <a:r>
              <a:t>Evolution in Mendelian Populations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5138928"/>
            <a:ext cx="1645920" cy="3200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20" y="51389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漂变理论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思考与讨论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Questions for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15 /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7315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为什么H-W平衡的偏离意味着进化？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48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Why does deviation from H-W equilibrium imply evolution?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60"/>
            <a:ext cx="7315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Fisher和Wright的争论在现代有定论了吗？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Is there a final verdict on the Fisher-Wright debate?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731520" cy="73152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50000"/>
              </a:lnSpc>
            </a:pPr>
            <a: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617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2D2D2D"/>
                </a:solidFill>
                <a:latin typeface="Microsoft YaHei"/>
              </a:defRPr>
              <a:lnSpc>
                <a:spcPct val="150000"/>
              </a:lnSpc>
            </a:pPr>
            <a:r>
              <a:t>群体遗传学在基因组学时代的新角色？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What is the new role of population genetics in the genomic era?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54864"/>
            <a:ext cx="12070080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总结与预告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6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Summary &amp; Next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60704"/>
            <a:ext cx="2286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0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16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Today's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D2D2D"/>
                </a:solidFill>
                <a:latin typeface="Microsoft YaHei"/>
              </a:defRPr>
              <a:lnSpc>
                <a:spcPct val="180000"/>
              </a:lnSpc>
            </a:pPr>
            <a:r>
              <a:t>Day 50: Fisher, Haldane, Wright 三巨头奠定群体遗传学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D2D2D"/>
                </a:solidFill>
                <a:latin typeface="Microsoft YaHei"/>
              </a:defRPr>
              <a:lnSpc>
                <a:spcPct val="180000"/>
              </a:lnSpc>
            </a:pPr>
            <a:r>
              <a:t>Mendel + Darwin → 现代进化综合的理论桥梁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0515600" cy="12700"/>
          </a:xfrm>
          <a:prstGeom prst="rect">
            <a:avLst/>
          </a:prstGeom>
          <a:solidFill>
            <a:srgbClr val="D0C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Coming 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515600" cy="9144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FFFFFF"/>
                </a:solidFill>
                <a:latin typeface="Microsoft YaHei"/>
              </a:defRPr>
              <a:lnSpc>
                <a:spcPct val="150000"/>
              </a:lnSpc>
            </a:pPr>
            <a:r>
              <a:t>Day 51: 哈迪-温伯格定律深度解析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97BC62"/>
                </a:solidFill>
                <a:latin typeface="Calibri"/>
              </a:defRPr>
              <a:lnSpc>
                <a:spcPct val="150000"/>
              </a:lnSpc>
            </a:pPr>
            <a:r>
              <a:t>Deep Dive into Hardy-Weinberg Equilibrium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555555"/>
                </a:solidFill>
                <a:latin typeface="Calibri"/>
              </a:defRPr>
              <a:lnSpc>
                <a:spcPct val="150000"/>
              </a:lnSpc>
            </a:pPr>
            <a:r>
              <a:t>Resources:  Wikipedia  |  NCBI  |  YouTube  |  Bilibili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04320" y="1371600"/>
            <a:ext cx="109728" cy="4572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