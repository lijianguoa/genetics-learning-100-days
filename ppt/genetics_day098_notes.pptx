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7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5F5DC"/>
                </a:solidFill>
                <a:latin typeface="Noto Serif CJK SC"/>
              </a:defRPr>
            </a:pPr>
            <a:r>
              <a:t>遗传学的伦理问题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8D4A8"/>
                </a:solidFill>
                <a:latin typeface="Noto Sans CJK SC"/>
              </a:defRPr>
            </a:pPr>
            <a:r>
              <a:t>遗传学100天学习计划 | Day 98 | 笔记版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历史背景：从优生学到现代伦理框架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核心概念：知情同意、基因隐私、基因编辑伦理、基因公平、回归权利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科学家故事：维克多·麦克库西克与医学遗传学伦理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重要文献：遗传学伦理的学术基石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经典实验：塔斯基吉梅毒实验的教训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小故事：彼得·布克斯顿的七年坚持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思考题与术语表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历史背景（一）：优生学的黑暗遗产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1907年：美国印第安纳州通过世界首部强制绝育法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20世纪上半叶：美国超过30个州实施强制绝育，约6万人受害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纳粹德国：以'种族卫生'为名，1933-1945年间约40万人被强制绝育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优生学运动将遗传学理论扭曲为种族歧视和阶级压迫的工具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历史教训：科学理论一旦脱离伦理约束，可能酿成巨大灾难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历史背景（二）：现代伦理框架的建立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1947年：纽伦堡守则确立人体实验的伦理基准——知情同意原则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1964年：赫尔辛基宣言进一步规范医学研究的伦理要求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1990年：人类基因组计划将ELSI研究列为专项，预算占比3%-5%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2012年：CRISPR-Cas9技术的出现改变了遗传学伦理的格局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2018年：贺建奎基因编辑婴儿事件引发全球科学界强烈谴责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核心概念一：知情同意（Informed Consent）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知情同意是遗传学研究的绝对基石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参与者必须在充分了解目的、风险和收益的基础上自愿同意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遗传学的特殊挑战：基因信息具有家族共享性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一个人的检测结果可能揭示亲属的遗传风险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如何在保护个人自主与保护家族健康之间取得平衡？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核心概念二：基因隐私（Genetic Privacy）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基因隐私涉及基因信息的收集、存储、使用和披露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2008年美国《遗传信息非歧视法》（GINA）禁止雇主和医疗保险公司基于基因信息歧视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但GINA不适用于人寿保险、残疾保险和长期护理保险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直接面向消费者的基因检测（DTC）公司如何保护用户数据？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基因数据泄露可能造成不可逆的终身影响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核心概念三：基因编辑伦理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9E6E"/>
                </a:solidFill>
                <a:latin typeface="Noto Sans CJK SC"/>
              </a:defRPr>
            </a:pPr>
            <a:r>
              <a:t>体细胞编辑（Somatic Editing）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只影响个体本人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不改变生殖细胞或胚胎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疗效可预期且可控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伦理争议相对较小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已获临床批准用于治疗血液病等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7A9E6E"/>
                </a:solidFill>
                <a:latin typeface="Noto Sans CJK SC"/>
              </a:defRPr>
            </a:pPr>
            <a:r>
              <a:t>生殖系编辑（Germline Editing）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会遗传给所有后代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改变人类基因池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脱靶效应风险未知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可能产生不可逆后果</a:t>
            </a:r>
          </a:p>
          <a:p>
            <a:pPr>
              <a:spcAft>
                <a:spcPts val="1000"/>
              </a:spcAft>
              <a:defRPr sz="1600">
                <a:solidFill>
                  <a:srgbClr val="4A3C31"/>
                </a:solidFill>
                <a:latin typeface="Noto Sans CJK SC"/>
              </a:defRPr>
            </a:pPr>
            <a:r>
              <a:t>• 2018年贺建奎事件后，全球科学界呼吁暂停临床应用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核心概念四：基因公平（Genetic Justice）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基因技术的高昂成本可能导致'基因鸿沟'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富裕阶层可能独享基因增强的好处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加剧现有的社会不平等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基因公平要求确保遗传学进步的收益能够公平分配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国际社会需要建立公平的基因技术获取机制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核心概念五：回归权利（Right Not to Know）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个人有权选择不获知自己的遗传风险信息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这一权利与医疗人员的告知义务之间存在张力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不同文化背景对'知情权'与'不知权'有不同理解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必须在尊重个人自主与保护健康之间寻求平衡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遗传咨询在此过程中发挥关键的桥梁作用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科学家故事：维克多·麦克库西克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医学遗传学之父（1921-2008），创办OMIM数据库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20世纪60年代在约翰霍普金斯大学建立美国首个医学遗传学系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坚持每位患者在基因检测前必须接受遗传咨询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人类基因组计划ELSI项目的早期倡导者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名言：'遗传信息是一把双刃剑，它既能救人，也能伤人。'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他的工作为遗传学伦理框架的建立奠定了重要基础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重要文献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Berg et al. (1974). 'Potential biohazards of recombinant DNA molecules.' Science — 科学家自我监管的典范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Nature Editorial (2015). 'Germline editing needs debate.' — 呼吁全球公共讨论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National Academies (2017). Human Genome Editing: Science, Ethics, and Governance — 全面评估与原则框架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WHO (2021). Human Genome Editing: A Framework for Governance — 全球治理框架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Nuffield Council (2018). Genome Editing and Human Reproduction — 生殖系编辑的伦理边界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经典实验：塔斯基吉梅毒实验（上）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1932-1972年，美国公共卫生局对约400名非裔美国男性进行梅毒观察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参与者被告知接受的是'坏血病治疗'，被欺骗参与研究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即使青霉素在1947年已成为标准疗法，研究人员仍故意不提供治疗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研究目的是观察疾病的自然进程，完全以弱势群体为实验对象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这一实验是医学伦理史上最黑暗的一页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经典实验：塔斯基吉梅毒实验（下）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1972年：实验曝光，引发全国愤慨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1974年：《国家研究法》通过，建立机构审查委员会（IRB）制度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1997年：克林顿总统正式向幸存者道歉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教训一：科学研究绝不能以牺牲弱势群体为代价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教训二：知情同意必须是真实、完整、可撤销的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教训三：需要独立的伦理审查机制来监督研究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>
                <a:solidFill>
                  <a:srgbClr val="7A9E6E"/>
                </a:solidFill>
                <a:latin typeface="Noto Serif CJK SC"/>
              </a:defRPr>
            </a:pPr>
            <a:r>
              <a:t>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5F5DC"/>
                </a:solidFill>
                <a:latin typeface="Noto Serif CJK SC"/>
              </a:defRPr>
            </a:pPr>
            <a:r>
              <a:t>科学家必须记住，他们首先是人，然后才是研究者。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B8D4A8"/>
                </a:solidFill>
                <a:latin typeface="Noto Sans CJK SC"/>
              </a:defRPr>
            </a:pPr>
            <a:r>
              <a:t>— 彼得·布克斯顿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小故事：彼得·布克斯顿的七年坚持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1973年，布克斯顿在旧金山餐馆向记者揭露塔斯基吉实验真相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但早在1966年，他就写信给CDC质疑实验的伦理合法性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CDC回应：研究应继续，直到所有参与者死亡并解剖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他没有放弃，花了七年时间不断写信、上访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他的坚持证明了一个人的良知可以对抗整个体制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后来成为律师，专门处理医疗事故案件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思考题（一）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如果你的基因检测结果表明你有50%的概率在40岁前患上阿尔茨海默病，你是否愿意知道？你会告诉家人吗？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假设基因编辑技术可以安全提高婴儿的智力或体能，父母是否应该有权使用这项技术？社会应该如何监管？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保险公司要求投保人提供基因检测报告以降低保费，这是否构成基因歧视？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思考题（二）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在资源有限的情况下，基因治疗应该优先用于罕见遗传病患者，还是用于常见病的预防？如何做出公平的资源分配决策？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回顾优生学运动的历史，现代遗传学应该如何避免重蹈覆辙？科学家、政策制定者和公众各自承担什么责任？</a:t>
            </a:r>
          </a:p>
          <a:p>
            <a:pPr>
              <a:spcAft>
                <a:spcPts val="1400"/>
              </a:spcAft>
              <a:defRPr sz="2000">
                <a:solidFill>
                  <a:srgbClr val="4A3C31"/>
                </a:solidFill>
                <a:latin typeface="Noto Sans CJK SC"/>
              </a:defRPr>
            </a:pPr>
            <a:r>
              <a:t>• 当技术使我们能够'设计'生命时，人类将走向何方？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术语表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知情同意（Informed Consent）：在充分知情基础上自愿做出的同意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基因隐私（Genetic Privacy）：基因信息的保护与控制权利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生殖系编辑（Germline Editing）：可遗传给后代的基因修改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体细胞编辑（Somatic Editing）：仅影响个体本人的基因修改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基因歧视（Genetic Discrimination）：基于基因信息的不公平对待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ELSI：伦理、法律和社会影响研究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IRB：机构审查委员会</a:t>
            </a:r>
          </a:p>
          <a:p>
            <a:pPr>
              <a:spcAft>
                <a:spcPts val="1400"/>
              </a:spcAft>
              <a:defRPr sz="1800">
                <a:solidFill>
                  <a:srgbClr val="4A3C31"/>
                </a:solidFill>
                <a:latin typeface="Noto Sans CJK SC"/>
              </a:defRPr>
            </a:pPr>
            <a:r>
              <a:t>• 基因公平（Genetic Justice）：确保基因技术收益公平分配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5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5A3E"/>
                </a:solidFill>
                <a:latin typeface="Noto Serif CJK SC"/>
              </a:defRPr>
            </a:pPr>
            <a:r>
              <a:t>本节总结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遗传学伦理源于优生学等历史悲剧的深刻反思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知情同意、基因隐私、基因编辑伦理、基因公平、回归权利是五大核心原则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塔斯基吉实验提醒我们：科学必须受伦理约束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CRISPR等新技术使遗传学伦理从理论进入现实考验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科学家、政策制定者和公众需要共同参与伦理治理</a:t>
            </a:r>
          </a:p>
          <a:p>
            <a:pPr>
              <a:spcAft>
                <a:spcPts val="1400"/>
              </a:spcAft>
              <a:defRPr sz="2200">
                <a:solidFill>
                  <a:srgbClr val="4A3C31"/>
                </a:solidFill>
                <a:latin typeface="Noto Sans CJK SC"/>
              </a:defRPr>
            </a:pPr>
            <a:r>
              <a:t>• 明天的学习：遗传学的未来趋势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A9E6E"/>
                </a:solidFill>
                <a:latin typeface="Noto Sans CJK SC"/>
              </a:defRPr>
            </a:pPr>
            <a:r>
              <a:t>遗传学100天学习计划 | Day 98 | 遗传学的伦理问题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A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7A9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5F5DC"/>
                </a:solidFill>
                <a:latin typeface="Noto Serif CJK SC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B8D4A8"/>
                </a:solidFill>
                <a:latin typeface="Noto Sans CJK SC"/>
              </a:defRPr>
            </a:pPr>
            <a:r>
              <a:t>遗传学100天学习计划 | Day 98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