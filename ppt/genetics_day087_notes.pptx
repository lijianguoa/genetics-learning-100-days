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146304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· 第七部分 现代遗传学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表观遗传机制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237744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751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DNA序列之外的遗传密码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Epigenetic Mechanisms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Hereditary Code Beyond the DNA Sequence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" y="3090672"/>
            <a:ext cx="4005072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核心问题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在不改变DNA序列的前提下，细胞如何精确调控基因的开与关？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表观遗传机制正是这一问题的核心答案——从DNA甲基化到组蛋白修饰，构成生命活动的第二层信息系统。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640080"/>
            <a:ext cx="4069080" cy="2286000"/>
          </a:xfrm>
          <a:prstGeom prst="roundRect">
            <a:avLst>
              <a:gd name="adj" fmla="val 3200"/>
            </a:avLst>
          </a:prstGeom>
          <a:solidFill>
            <a:srgbClr val="E8F0E8"/>
          </a:solidFill>
          <a:ln w="9525">
            <a:solidFill>
              <a:srgbClr val="97BC62"/>
            </a:solidFill>
            <a:prstDash val="solid"/>
          </a:ln>
        </p:spPr>
      </p:sp>
      <p:pic>
        <p:nvPicPr>
          <p:cNvPr id="14" name="Image 0" descr="/workspace/genetics_learning/genetics_day087_img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731520"/>
            <a:ext cx="3886200" cy="21031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92040" y="29718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图1：Waddington 表观遗传景观示意图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4617720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|  Day 87/100  |  2026-08-09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笔记版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· 内容概览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15568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从亚里士多德到Waddington 1942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DNA甲基化 · 组蛋白修饰 · 染色质重塑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Waddington · Bird · Yamanaka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5篇经典论文与综述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蜜蜂 · Agouti小鼠 · 组蛋白乙酰化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荷兰饥饿冬天 · 双胞胎 · 组蛋白密码争论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611880"/>
          </a:xfrm>
          <a:prstGeom prst="roundRect">
            <a:avLst>
              <a:gd name="adj" fmla="val 1772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15568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6个维度的深度思考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20个核心术语解析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Day 88 基因编辑技术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参考资源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学术文献与视频资源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endParaRPr lang="en-US" sz="120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结尾</a:t>
            </a:r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感谢与回顾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2651760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历史背景（1）从古希腊到Waddington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(1): From Aristotle to Waddington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古典哲学争论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亚里士多德（Aristotle）：“表观发生说”（Epigenesis）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认为个体从未分化物质逐步发育而成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与“预成论”（Preformationism）形成对立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预成论认为成体已预先存在于胚胎中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743200"/>
            <a:ext cx="1645920" cy="320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834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这场争论持续两千年</a:t>
            </a:r>
            <a:endParaRPr lang="en-US" sz="9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直到19世纪细胞学兴起，表观发生说才逐渐占据主流，为表观遗传学的诞生奠定了哲学基础。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1942年：术语的诞生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Conrad Hal Waddington（1905-1975）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英国发育生物学家，爱丁堡大学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首次提出“表观遗传学”（Epigenetics）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定义：研究基因及其产物之间因果相互作用、产生表型的生物学分支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82312" y="2743200"/>
            <a:ext cx="164592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28346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1957年：表观遗传景观</a:t>
            </a:r>
            <a:endParaRPr lang="en-US" sz="9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用弹珠滚下山坡的比喻描绘细胞分化过程，山谷形状由下方“拉线”（基因调控网络）决定，在DNA双螺旋发现前就预见了基因调控网络的存在。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历史背景（2）关键时间线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(2): Key Timeline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24128"/>
            <a:ext cx="1143000" cy="749808"/>
          </a:xfrm>
          <a:prstGeom prst="roundRect">
            <a:avLst>
              <a:gd name="adj" fmla="val 9756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024128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27632" y="1344168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1024128"/>
            <a:ext cx="6858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93392" y="1097280"/>
            <a:ext cx="6528816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甲基化假说</a:t>
            </a:r>
            <a:endParaRPr lang="en-US" sz="10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Riggs 和 Holliday 各自独立提出 DNA 甲基化可能参与基因调控的假说，开启度化研究新纪元。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83664"/>
            <a:ext cx="1143000" cy="749808"/>
          </a:xfrm>
          <a:prstGeom prst="roundRect">
            <a:avLst>
              <a:gd name="adj" fmla="val 9756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83664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27632" y="2203704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1883664"/>
            <a:ext cx="6858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93392" y="1956816"/>
            <a:ext cx="6528816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HAT发现</a:t>
            </a:r>
            <a:endParaRPr lang="en-US" sz="10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Allis 实验室从四膜虫中纯化出具有组蛋白乙酰化酶活性的 p55，揭示了修饰与转录的直接联系。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1143000" cy="749808"/>
          </a:xfrm>
          <a:prstGeom prst="roundRect">
            <a:avLst>
              <a:gd name="adj" fmla="val 9756"/>
            </a:avLst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4320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627632" y="3063240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2743200"/>
            <a:ext cx="6858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93392" y="2816352"/>
            <a:ext cx="6528816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序列不足以解释一切</a:t>
            </a:r>
            <a:endParaRPr lang="en-US" sz="10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人类基因组计划完成序列草图，科学界意识到仅靠 DNA 序列无法解释所有生物学现象。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1143000" cy="749808"/>
          </a:xfrm>
          <a:prstGeom prst="roundRect">
            <a:avLst>
              <a:gd name="adj" fmla="val 9756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02736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627632" y="392277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0" y="3602736"/>
            <a:ext cx="68580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93392" y="3675888"/>
            <a:ext cx="6528816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Bird重新定义</a:t>
            </a:r>
            <a:endParaRPr lang="en-US" sz="10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Bird 在《Nature》发表“Perceptions of epigenetics”，重新定义为不涉及 DNA 序列变化的可遗传染色体变化。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核心概念：DNA甲基化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DNA Methylation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关键酶系</a:t>
            </a:r>
            <a:endParaRPr lang="en-US" sz="10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DNMT1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维持性甲基转移酶：DNA复制后将甲基模式复制到新链</a:t>
            </a:r>
            <a:endParaRPr lang="en-US" sz="10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DNMT3A / DNMT3B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从头甲基转移酶：发育过程中建立新的甲基化模式</a:t>
            </a:r>
            <a:endParaRPr lang="en-US" sz="10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TET蛋白家族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去甲基化酶：将5mC氧化为5hmC，参与主动去甲基化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生物学功能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基因沉默：启动子高甲基化抑制表达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基因组印记：父源/母源等位基因差异化表达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X染色体失活：雌性一条X染色体转录沉默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转座子抑制：防止基因组跳跃元件异常活跃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2148840"/>
          </a:xfrm>
          <a:prstGeom prst="roundRect">
            <a:avLst>
              <a:gd name="adj" fmla="val 2979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pic>
        <p:nvPicPr>
          <p:cNvPr id="13" name="Image 0" descr="/workspace/genetics_learning/genetics_day087_img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7448" y="1097280"/>
            <a:ext cx="3849624" cy="1965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27448" y="3200400"/>
            <a:ext cx="38496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图2：表观遗传三大分子机制示意图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17720" y="3474720"/>
            <a:ext cx="40690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82312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CpG二核苷酸酸位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哺乳动物中 DNA 甲基化主要发生在 CpG 位点胞嘿啶 5' 位碳原子上，形成 5-甲基胞嘿啶（5mC）。启动子附近的 CpG 岛通常保持非甲基化状态。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核心概念：组蛋白修饰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Histone Modifications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主要修饰类型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乙酰化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H3K9ac, H3K27ac → 染色质松散，基因激活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甲基化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H3K4me3, H3K27me3 → 激活或抑制（取决于位点）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磷酸化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H3S10ph → 有丝分裂、转录调控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泛素化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H2AK119ub → 基因沉默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SUMO化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H4K12su → 转录抑制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组蛋白密码假说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2001年 Jenuwein &amp; Allis 提出：组蛋白修饰的不同组合构成一种可解码的“语言”，决定基因表达状态。但这一概念仍存争议。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关键酶系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HAT（组蛋白乙酰转移酶）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添加乙酰基，中和组蛋白正电荷，松散染色质，激活转录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HDAC（组蛋白去乙酰化酶）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移除乙酰基，压缩染色质，抑制转录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HMT（组蛋白甲基转移酶）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HDM（去甲基化酶）动态调控甲基化状态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核小体结构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核小体 = H2A×2 + H2B×2 + H3×2 + H4×2 八聚体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DNA 绕核小体盘旋约1.65圈，约146 bp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组蛋白 N 端尾部突出，是修饰位点的主要区域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核心概念：染色质重塑 &amp; 非编码RNA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Chromatin Remodeling &amp; Non-coding RNA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染色质重塑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ATP 水解的能量，改变核小体的位置、间距和组成，调控 DNA 可及性。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四大家族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SWI/SNF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滑动核小体，开放染色质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ISWI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间距调节，维护染色质结构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CHD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染色质整理，含植物体结合域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INO80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核小体编辑与组蛋白交换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临床意义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SWI/SNF 复合物突变见于约20%的人类癌症，是重要的肿瘤抑制因子。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非编码RNA调控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不编码蛋白质的 RNA 分子，通过多种途径调控基因表达。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三大类型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miRNA（微小RNA）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20-22 nt，与 mRNA 3'UTR 结合导致翻译抑制或 mRNA 降解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lncRNA（长链非编码RNA）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&gt;200 nt，参与染色质修饰、转录调控和转录后加工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piRNA（PIWI相互作用RNA）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保护生殖细胞免受转座子侵害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经典案例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Xist lncRNA 覆盖 X 染色体并募集沉默复合物，是 X 染色体失活的核心调控者。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科学家故事：Conrad Waddington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Story: Conrad Waddington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预见未来的通才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1905年生于印度，剑桥大学求学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发育生物学家 · 哲学家 · 画家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系统论的先驱者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1940年代爱丁堡大学工作期间提出核心思想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表观遗传景观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弹珠从山顶滚下，山谷与分叉代表细胞分化路径。弹珠一旦进入某个山谷，就很难再翻越——这就是“渠化”（Canalization）概念。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伟大之处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在DNA双螺旋尚未发现的时代，他就预见了基因调控网络的存在。景观下方的“拉线”正是今天基因调控网络的直观表达。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2514600"/>
          </a:xfrm>
          <a:prstGeom prst="roundRect">
            <a:avLst>
              <a:gd name="adj" fmla="val 254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pic>
        <p:nvPicPr>
          <p:cNvPr id="13" name="Image 0" descr="/workspace/genetics_learning/genetics_day087_img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7448" y="1097280"/>
            <a:ext cx="3849624" cy="2331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27448" y="3566160"/>
            <a:ext cx="384962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表观遗传景观：弹珠滚下山坡，象征细胞分化命运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17720" y="3840480"/>
            <a:ext cx="40690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82312" y="3913632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渠化（Canalization）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发育过程对环境扰动具有缓冲能力，保证表型稳定性。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科学家故事：Bird &amp; Yamanaka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Story: Adrian Bird &amp; Shinya Yamanaka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Adrian Bird</a:t>
            </a:r>
            <a:endParaRPr lang="en-US" sz="11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英国爱丁堡大学 · 分子遗传学家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核心贡献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发现 CpG 岛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基因组中富含 CpG 的非甲基化区域，常位于启动子附近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MECP2 与 Rett 综合征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1999年发现 MECP2 突变是雷特综合征的原因，首次将表观遗传与人类疾病直接联系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2007年重新定义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《Nature》发表“Perceptions of epigenetics”，成为该领域引用最多的文献之一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Shinya Yamanaka 山中伸弥</a:t>
            </a:r>
            <a:endParaRPr lang="en-US" sz="110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日本科学家 · 2012诺贝尔奖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核心贡献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OSKM 四因子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2006年发现 Oct4, Sox2, Klf4, c-Myc 可将分化细胞重编程为多能干细胞（iPSC）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逆转表观遗传时钟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本质上是让已经滚入山谷的弹珠重新回到山顶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应用前景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个性化再生医学、疾病建模与药物筛选，避免了胚胎干细胞的伦理争议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重要文献：经典论文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Literature: Key Papers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文献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期刊 · 年份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核心贡献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Waddington C.H.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Endeavour 1:18-20 (1942)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首次提出“表观遗传学”术语的开创性论文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 A.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447:396-398 (2007)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重新定义表观遗传学的里程碑式综述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Jenuwein &amp; Allis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 293:1074-1080 (2001)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提出“组蛋白密码”假说，阐述修饰组合逻辑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Takahashi &amp; Yamanaka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126:663-676 (2006)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 细胞重编程的开创性工作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Lister R.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462:315-322 (2009)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首个人类全基因组甲基化图谱，基础分辨率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4224528"/>
            <a:ext cx="790041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综述补充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Allis &amp; Jenuwein (2016) 《Nature Genetics》 “The molecular hallmarks of epigenetic regulation” 系统总结了表观遗传调控的分子标志。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经典实验1：蜜蜂表观遗传决定命运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Epigenetic Fate in Bees (2010)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实验背景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研究者：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Lyko, F. et al.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期刊：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(2010), 327(5968), 348-350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核心发现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蜂王和工蜂基因组完全相同，却表现截然不同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喂食蜂王浆的幼虫出现显著的 DNA 甲基化模式变化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甲基化沉默了与工蜂发育相关的基因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DNMT 抑制剂后，幼虫更倾向于发育为蜂王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实验意义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首次在整体动物水平上证明 DNA 甲基化可以决定个体发育命运，且这一过程可被环境因素（营养）调控。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启示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表观遗传是环境与基因的桥梁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营养环境可重塑甲基化图谱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“同样的基因，不同的命运”的典型证据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经典实验2：Agouti小鼠实验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Agouti Mouse (2003)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研究者：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Waterland, R.A. &amp; Jirtle, R.L.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期刊：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Mol. Cell. Biol. (2003), 23(15), 5293-5300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机制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Avy 小鼠毛色由 IAP 元件甲基化状态决定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低甲基化 → 黄色胖鼠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高甲基化 → 棕色瘦鼠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孕鼠补充甲基供体（叶酸、B12）后，后代中棕色瘦鼠比例增加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实验意义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证明了母亲饮食可以通过表观遗传机制直接影响后代的表型，是“表观遗传毒性”概念的奠基实验。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深层启示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环境因素可通过表观遗传传递给后代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饮食不仅是能量来源，更是表观遗传信号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为孕期营养干预提供了理论依据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经典实验3：组蛋白乙酰化与转录激活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3: Histone Acetylation &amp; Transcription (1996)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实验背景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研究者：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Brownell, J.E. et al. (Allis实验室)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期刊：</a:t>
            </a:r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(1996), 84(6), 843-851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从四膜虫中纯化出具有组蛋白乙酰化酶活性的蛋白 p55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发现 p55 与酵母转录共激活因子 GCN5 同源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首次将组蛋白修饰与转录调控机制直接联系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实验意义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打通了组蛋白修饰与基因表达调控之间的分子桥梁，开启了表观遗传机制研究的黄金时代。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影响深远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确立了 HAT 作为转录共激活因子的地位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为后续 HDAC 抑制剂药物开发奠定基础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表观遗传从现象描述走向分子机制解析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小故事：荷兰饥饿冬天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The Dutch Hunger Winter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1944-1945年冬天，纳粹封锁荷兰西部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导致大规模饥荒，数万人受影响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数十年后流行病学家发现惊人现象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跨代影响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饥荒期怀孕母亲的子女更易患肥胖、糖尿病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更易患精神分裂症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影响甚至延续到第三代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2018年表观基因组分析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莱顿大学研究团队对“饥饿冬天”幸存者后代的血液样本进行表观基因组分析，发现了几十种与代谢和生长相关的基因存在差异化的 DNA 甲基化标记。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深刻启示</a:t>
            </a:r>
            <a:endParaRPr lang="en-US" sz="105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“你祖父经历的饥荒，可能通过表观遗传标记刻在你的基因表达调控中”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我们不仅是基因的产物，也是环境和历史的产物。这是人类历史上首次大规模记录到的跨代表观遗传遗传现象。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小故事：双胞胎分岔 &amp; 组蛋白密码争论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Twin Divergence &amp; Histone Code Debate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133856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双胞胎的表观遗传分岔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同卵双胞胎拥有完全相同的DNA，但随年龄增长常出现显著差异。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2005年研究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西班牙与瑞典团队对80对同卵双胞胎的表观基因组比较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年轻双胞胎的标记几乎完全一致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年长双胞胞（&gt;50岁）甲基化与组蛋白修饰差异显著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差异越大，生活方式差异也越大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069080" cy="3566160"/>
          </a:xfrm>
          <a:prstGeom prst="roundRect">
            <a:avLst>
              <a:gd name="adj" fmla="val 179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2312" y="1133856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“组蛋白密码”的争论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2001年 Jenuwein &amp; Allis 提出“组蛋白密码”假说，认为修饰组合构成一种可解码的“语言”。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争论焦点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批评者：修饰更像“信号”而非“密码”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同一修饰在不同基因组环境下含义不同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“密码”是否真正存在，至今仍是领域内最引人入胜的争论之一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思考题：六个维度的深度思考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Questions: Six Dimensions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24128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155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1115568"/>
            <a:ext cx="3264408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概念辨析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表观遗传变化与基因突变有何本质区别？为什么表观遗传变化是“可逆的”，而基因突变通常不可逆？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24128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84648" y="1115568"/>
            <a:ext cx="3264408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机制整合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DNA甲基化和组蛋白修饰如何协同实现基因沉默？设计实验验证两者协同关系。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249424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3408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340864"/>
            <a:ext cx="3264408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医学应用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为什么表观遗传药物（HDAC/DNMT抑制剂）比传统化疗药物更有“选择性”？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249424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408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84648" y="2340864"/>
            <a:ext cx="3264408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跨代遗传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“荷兰饥饿冬天”与达尔文进化论和拉马克获得性遗传理论有何关联和区别？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566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3566160"/>
            <a:ext cx="3264408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技术前沿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CRISPR-dCas9 融合表观遗传酶实现精准表观基因组编辑，讨论其潜力与风险。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474720"/>
            <a:ext cx="3977640" cy="1115568"/>
          </a:xfrm>
          <a:prstGeom prst="roundRect">
            <a:avLst>
              <a:gd name="adj" fmla="val 5738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66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3566160"/>
            <a:ext cx="3264408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哲学思考</a:t>
            </a:r>
            <a:endParaRPr lang="en-US" sz="9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如果表观遗传标记深受环境影响，“自由意志”在多大程度上受制于表观遗传状态？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术语表（1）核心概念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(1): Core Concepts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5029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术语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英文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定义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表观遗传学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Epigenetics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研究不涉及DNA序列变化的可遗传基因表达调控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DNA甲基化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Methylation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胞嘿啶5'位添加甲基基团的共价修饰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CpG岛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CpG Island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富含CpG的非甲基化区域，常位于启动子附近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组蛋白修饰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Histone Modification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组蛋白尾部的共价化学修饰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Histone Acetyltransferase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催化组蛋白乙酰化，通常激活转录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Histone Deacetylase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移除乙酰基，通常抑制转录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染色质重塑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Chromatin Remodeling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ATP依赖的核小体位置与结构变化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非编码RNA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Non-coding RNA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不编码蛋白质的RNA分子，参与基因调控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基因组印记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Genomic Imprinting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父源/母源等位基因差异化表达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X染色体失活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X-inactivation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雌性一条X染色体的转录沉默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术语表（2）进阶概念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(2): Advanced Concepts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4663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术语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英文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定义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表观遗传景观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Epigenetic Landscape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Waddington提出的细胞分化可视化模型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渠化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Canalization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发育过程对环境扰动的缓冲能力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Induced Pluripotent Stem Cell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重编程获得的多能干细胞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5-methylcytosine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DNA甲基化的主要产物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5hmC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5-hydroxymethylcytosine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TET酶氧化5mC的产物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转座子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基因组中可移动的DNA序列元件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DNMT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Methyltransferase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催化DNA甲基化的酶家族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TET蛋白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 Protein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催化5mC氧化的去甲基化酶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组蛋白密码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Histone 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修饰组合决定表达状态的假说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跨代表观遗传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Transgenerational Epigenetics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标记跨多代传递的现象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194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19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4128" y="182880"/>
            <a:ext cx="76626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下节预告：Day 88 基因编辑技术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493776"/>
            <a:ext cx="7662672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88 Gene Editing Technologies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6460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· 表观遗传机制 Epigenetic Mechanisms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078992"/>
            <a:ext cx="79004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88：基因编辑技术 — 改写生命密码的手术刀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从ZFN到TALEN，再到革命性的CRISPR-Cas9系统，基因编辑技术在过去二十年里经历了爆发式发展。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1572768" cy="24688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1984248"/>
            <a:ext cx="1353312" cy="41148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8424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ZFN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496312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锌指核酸酶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第一代可编程基因编辑工具的设计原理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21408" y="1874520"/>
            <a:ext cx="1572768" cy="24688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31136" y="1984248"/>
            <a:ext cx="1353312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2231136" y="198424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31136" y="2496312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转录激活因子样效应物核酸酶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突破性的第二代编辑技术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85616" y="1874520"/>
            <a:ext cx="1572768" cy="24688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95344" y="1984248"/>
            <a:ext cx="1353312" cy="41148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95344" y="198424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95344" y="2496312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源自细菌免疫系统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基因组编辑革命的核心系统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9824" y="1874520"/>
            <a:ext cx="1572768" cy="24688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9552" y="1984248"/>
            <a:ext cx="1353312" cy="41148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5559552" y="198424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59552" y="2496312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引导编辑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不产生双链断裂的精准编辑新策略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14032" y="1874520"/>
            <a:ext cx="1572768" cy="24688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1984248"/>
            <a:ext cx="1353312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984248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伦理边界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0" y="2496312"/>
            <a:ext cx="1353312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从治疗到增强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基因编辑的伦理争议与监管思考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01168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66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 谢 观看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2377440"/>
            <a:ext cx="1828800" cy="3200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651760"/>
            <a:ext cx="6400800" cy="1234440"/>
          </a:xfrm>
          <a:prstGeom prst="roundRect">
            <a:avLst>
              <a:gd name="adj" fmla="val 5185"/>
            </a:avLst>
          </a:prstGeom>
          <a:solidFill>
            <a:srgbClr val="E8F0E8"/>
          </a:solidFill>
          <a:ln w="6350">
            <a:solidFill>
              <a:srgbClr val="DDE3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72768" y="2761488"/>
            <a:ext cx="5998464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本日回顾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87 探索了DNA序列之外的遗传密码——从DNA甲基化、组蛋白修饰到染色质重塑与非编码RNA，这些机制共同构成了生命活动的第二层信息系统。表观遗传揭示了一个深刻的真理：我们不仅是基因的产物，也是环境和历史的产物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16459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 |  Day 87/100  |  2026-08-09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下一站：Day 88 基因编辑技术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4023360"/>
            <a:ext cx="137160" cy="1371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4023360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87: Epigenetic Mechanisms (Notes)</dc:title>
  <dc:subject>PptxGenJS Presentation</dc:subject>
  <dc:creator>Genetics 100 Days</dc:creator>
  <cp:lastModifiedBy>Genetics 100 Days</cp:lastModifiedBy>
  <cp:revision>1</cp:revision>
  <dcterms:created xsi:type="dcterms:W3CDTF">2026-08-09T04:24:53Z</dcterms:created>
  <dcterms:modified xsi:type="dcterms:W3CDTF">2026-08-09T04:24:53Z</dcterms:modified>
</cp:coreProperties>
</file>