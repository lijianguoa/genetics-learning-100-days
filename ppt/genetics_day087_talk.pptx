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858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85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DAYS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12344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表观遗传机制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39312" y="199339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Epigenetic Mechanisms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657600" y="2542032"/>
            <a:ext cx="1645920" cy="411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DNA序列之外的遗传密码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30449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Hereditary Code Beyond the DNA Sequence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39312" y="41605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8F0E8"/>
          </a:solidFill>
          <a:ln/>
        </p:spPr>
      </p:sp>
      <p:sp>
        <p:nvSpPr>
          <p:cNvPr id="15" name="Text 13"/>
          <p:cNvSpPr/>
          <p:nvPr/>
        </p:nvSpPr>
        <p:spPr>
          <a:xfrm>
            <a:off x="3639312" y="416052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85232" y="41605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8F0E8"/>
          </a:solidFill>
          <a:ln/>
        </p:spPr>
      </p:sp>
      <p:sp>
        <p:nvSpPr>
          <p:cNvPr id="17" name="Text 15"/>
          <p:cNvSpPr/>
          <p:nvPr/>
        </p:nvSpPr>
        <p:spPr>
          <a:xfrm>
            <a:off x="5285232" y="416052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第七部分 · 现代遗传学</a:t>
            </a:r>
            <a:endParaRPr lang="en-US" sz="95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38862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82296" cy="932688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52704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600200" y="156362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191109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417320"/>
            <a:ext cx="38862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417320"/>
            <a:ext cx="82296" cy="932688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873752" y="152704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760720" y="156362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760720" y="191109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514600"/>
            <a:ext cx="38862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514600"/>
            <a:ext cx="82296" cy="932688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262432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600200" y="266090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300837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Stories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514600"/>
            <a:ext cx="38862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514600"/>
            <a:ext cx="82296" cy="932688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262432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760720" y="266090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760720" y="300837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Experiments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611880"/>
            <a:ext cx="38862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611880"/>
            <a:ext cx="82296" cy="932688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372160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1600200" y="375818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600200" y="410565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Questions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611880"/>
            <a:ext cx="38862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611880"/>
            <a:ext cx="82296" cy="932688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4873752" y="372160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5760720" y="375818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760720" y="410565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1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什么是表观遗传学?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Epigenetics?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8046720" cy="13716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572768"/>
            <a:ext cx="45720" cy="10607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48132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“研究不涉及DNA序列变化的、可遗传的基因表达调控”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212848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Conrad H. Waddington, 1942  /  Adrian Bird 重新定义, 2007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54203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1821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" y="3694176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不改序列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" y="395020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DNA Sequence Change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00984" y="3017520"/>
            <a:ext cx="254203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65576" y="31821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3465576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65576" y="3694176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可遗传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65576" y="395020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Heritable through Division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53328" y="3017520"/>
            <a:ext cx="254203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1821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3694176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可逆调控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17920" y="395020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Regulation</a:t>
            </a:r>
            <a:endParaRPr lang="en-US" sz="95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DNA甲基化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Methylation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33288" y="1298448"/>
            <a:ext cx="3118104" cy="2130552"/>
          </a:xfrm>
          <a:prstGeom prst="roundRect">
            <a:avLst>
              <a:gd name="adj" fmla="val 3863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workspace/genetics_learning/genetics_day087_img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371600"/>
            <a:ext cx="2971800" cy="16733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33288" y="3063240"/>
            <a:ext cx="311810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表观遗传三大分子机制示意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1371600"/>
            <a:ext cx="5074920" cy="886968"/>
          </a:xfrm>
          <a:prstGeom prst="roundRect">
            <a:avLst>
              <a:gd name="adj" fmla="val 9278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371600"/>
            <a:ext cx="82296" cy="886968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14630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CpG 位点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9808" y="1709928"/>
            <a:ext cx="4709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 Sites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9808" y="1901952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胞嘧啶 5' 位添加甲基 → 5mC；CpG岛常位于启动子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2359152"/>
            <a:ext cx="5074920" cy="886968"/>
          </a:xfrm>
          <a:prstGeom prst="roundRect">
            <a:avLst>
              <a:gd name="adj" fmla="val 9278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2359152"/>
            <a:ext cx="82296" cy="886968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245059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DNMT 酶系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9808" y="2697480"/>
            <a:ext cx="4709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DNMT Enzymes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9808" y="2889504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DNMT1 维持 · DNMT3A/3B 从头 · TET 主动去甲基化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3346704"/>
            <a:ext cx="5074920" cy="886968"/>
          </a:xfrm>
          <a:prstGeom prst="roundRect">
            <a:avLst>
              <a:gd name="adj" fmla="val 9278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" y="3346704"/>
            <a:ext cx="82296" cy="886968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343814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基因沉默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49808" y="3685032"/>
            <a:ext cx="47091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Silencing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49808" y="3877056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启动子高甲基化 → 转录抑制 · 印记 / X失活 / 转座子抑制</a:t>
            </a:r>
            <a:endParaRPr lang="en-US" sz="105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组蛋白修饰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Histone Modifications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2971800" cy="3063240"/>
          </a:xfrm>
          <a:prstGeom prst="roundRect">
            <a:avLst>
              <a:gd name="adj" fmla="val 276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组蛋白密码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Histone Code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2286000"/>
            <a:ext cx="109728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1460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组蛋白尾部共价修饰</a:t>
            </a:r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组合决定表达状态</a:t>
            </a:r>
            <a:pPr algn="l"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动态可逆的调控语言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03320" y="1371600"/>
          <a:ext cx="4892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修饰 / 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位点 / 作用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乙酰化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H3K9ac, H3K27ac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染色质松散，激活转录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甲基化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H3K4me3 / H3K27me3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激活或抑制(视位点)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添加乙酰基 → 松散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基因激活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移除乙酰基 → 压缩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基因沉默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3703320" y="41148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松散染色质激活转录  ·  HDAC 压缩染色质抑制转录</a:t>
            </a:r>
            <a:endParaRPr lang="en-US" sz="10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染色质重塑 &amp; 非编码RNA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Chromatin Remodeling &amp; Non-coding RNA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8404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371600"/>
            <a:ext cx="82296" cy="3063240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8132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染色质重塑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180136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Chromatin Remodeling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2139696"/>
            <a:ext cx="109728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286000"/>
            <a:ext cx="1554480" cy="384048"/>
          </a:xfrm>
          <a:prstGeom prst="roundRect">
            <a:avLst>
              <a:gd name="adj" fmla="val 16667"/>
            </a:avLst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2860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SWI/SNF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286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ISWI · CHD · INO80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" y="278892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依赖，移动核小体</a:t>
            </a:r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调控 DNA 可及性</a:t>
            </a:r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决定基因能否被转录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371600"/>
            <a:ext cx="40233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371600"/>
            <a:ext cx="82296" cy="3063240"/>
          </a:xfrm>
          <a:prstGeom prst="roundRect">
            <a:avLst>
              <a:gd name="adj" fmla="val 44444"/>
            </a:avLst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4813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非编码 RNA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18013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RNA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73168" y="2139696"/>
            <a:ext cx="109728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33172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E8F0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331720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miRNA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806440" y="233172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20-22 nt  ·  翻译抑制 / mRNA降解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90088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E8F0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9008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lncRNA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06440" y="2990088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&gt;200 nt  ·  染色质修饰与转录调控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48456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E8F0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648456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piRNA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06440" y="3648456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生殖细胞  ·  抑制转座子</a:t>
            </a:r>
            <a:endParaRPr lang="en-US" sz="105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Waddington表观遗传景观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Landscape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38328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371600"/>
            <a:ext cx="82296" cy="3154680"/>
          </a:xfrm>
          <a:prstGeom prst="roundRect">
            <a:avLst>
              <a:gd name="adj" fmla="val 44444"/>
            </a:avLst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8132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渠化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" y="18653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2194560"/>
            <a:ext cx="109728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395728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弹珠从山顶滚下</a:t>
            </a:r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山谷 = 细胞分化命运</a:t>
            </a:r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一旦入谷，难再翻越</a:t>
            </a:r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发育对环境扰动有缓冲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23360" y="1325880"/>
            <a:ext cx="4846320" cy="3191256"/>
          </a:xfrm>
          <a:prstGeom prst="roundRect">
            <a:avLst>
              <a:gd name="adj" fmla="val 2579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pic>
        <p:nvPicPr>
          <p:cNvPr id="16" name="Image 0" descr="/workspace/genetics_learning/genetics_day087_img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1417320"/>
            <a:ext cx="4663440" cy="262432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023360" y="4078224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弹珠沿山谷滚动  ·  象征干细胞走向不同细胞命运</a:t>
            </a:r>
            <a:endParaRPr lang="en-US" sz="10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关键科学家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Scientists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2615184" cy="306324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44752" y="1673352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1444752" y="16733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258775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Waddington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沃丁顿  ·  1905-1975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90472" y="3172968"/>
            <a:ext cx="73152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2644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提出表观遗传学 (1942)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4944" y="3666744"/>
            <a:ext cx="2322576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表观遗传景观与渠化概念，预见基因调控网络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55848" y="1417320"/>
            <a:ext cx="2615184" cy="306324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1673352"/>
            <a:ext cx="822960" cy="8229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6733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447288" y="258775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Adrian Bird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47288" y="2880360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阿德里安·伯德  ·  现当代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3172968"/>
            <a:ext cx="73152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3465576" y="32644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MECP2 → Rett综合征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02152" y="3666744"/>
            <a:ext cx="2322576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发现CpG岛；将表观遗传与人类疾病直接相连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1417320"/>
            <a:ext cx="2615184" cy="306324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59168" y="1673352"/>
            <a:ext cx="822960" cy="8229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7059168" y="16733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254496" y="258775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Yamanaka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54496" y="2880360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山中伸弥  ·  2012诺奖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04888" y="3172968"/>
            <a:ext cx="73152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1" name="Text 29"/>
          <p:cNvSpPr/>
          <p:nvPr/>
        </p:nvSpPr>
        <p:spPr>
          <a:xfrm>
            <a:off x="6272784" y="32644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iPS 细胞重编程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09360" y="3666744"/>
            <a:ext cx="2322576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OSKM四因子逆转表观遗传景观，2012年获诺奖</a:t>
            </a:r>
            <a:endParaRPr lang="en-US" sz="10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Experiments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2615184" cy="306324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60020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600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72768" y="1618488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· Science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72768" y="1874520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蜜蜂命运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514600"/>
            <a:ext cx="2249424" cy="32004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51760"/>
            <a:ext cx="2249424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蜂王浆改变DNA甲基化，幼虫发育为蜂王；DNMT抑制剂促蜂王化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55848" y="1417320"/>
            <a:ext cx="2615184" cy="306324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160020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1600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79976" y="1618488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· MCB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79976" y="1874520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Agouti小鼠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538728" y="2514600"/>
            <a:ext cx="2249424" cy="32004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22" name="Text 20"/>
          <p:cNvSpPr/>
          <p:nvPr/>
        </p:nvSpPr>
        <p:spPr>
          <a:xfrm>
            <a:off x="3538728" y="2651760"/>
            <a:ext cx="2249424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母鼠补叶酸/B12 → 后代高甲基化，棕色瘦鼠比例上升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3056" y="1417320"/>
            <a:ext cx="2615184" cy="306324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27648" y="160020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1600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87184" y="1618488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 · Cell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87184" y="1874520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组蛋白乙酰化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45936" y="2514600"/>
            <a:ext cx="2249424" cy="32004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29" name="Text 27"/>
          <p:cNvSpPr/>
          <p:nvPr/>
        </p:nvSpPr>
        <p:spPr>
          <a:xfrm>
            <a:off x="6345936" y="2651760"/>
            <a:ext cx="2249424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Allis纯化HAT(p55)=GCN5，打通组蛋白修饰与转录的桥梁</a:t>
            </a:r>
            <a:endParaRPr lang="en-US" sz="11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疾病与医学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&amp; Medicine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82296" cy="2468880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4592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Rett综合征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2359152"/>
            <a:ext cx="9144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1460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MECP2突变 → 甲基化DNA识别障碍 · 严重神经发育异常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55848" y="14630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55848" y="1463040"/>
            <a:ext cx="82296" cy="2468880"/>
          </a:xfrm>
          <a:prstGeom prst="roundRect">
            <a:avLst>
              <a:gd name="adj" fmla="val 44444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3538728" y="164592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癌症表观遗传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38728" y="201168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Epigenetics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57016" y="2359152"/>
            <a:ext cx="9144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3538728" y="251460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抑癌基因异常高甲基化沉默 · 癌基因低甲基化激活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63056" y="14630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463040"/>
            <a:ext cx="82296" cy="2468880"/>
          </a:xfrm>
          <a:prstGeom prst="roundRect">
            <a:avLst>
              <a:gd name="adj" fmla="val 44444"/>
            </a:avLst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6345936" y="164592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HDAC抑制剂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45936" y="201168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HDAC Inhibitors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4224" y="2359152"/>
            <a:ext cx="9144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6345936" y="251460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SAHA/伏立诺他、5-氮杂胞苷 → 已获批用于抗癌治疗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表观遗传药物比传统化疗更具“选择性” —— 可逆调控异常基因的表达</a:t>
            </a:r>
            <a:endParaRPr lang="en-US" sz="12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荷兰饥饿冬天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Hunger Winter  ·  1944–1945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8046720" cy="123444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35024" y="1691640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Shape 9"/>
          <p:cNvSpPr/>
          <p:nvPr/>
        </p:nvSpPr>
        <p:spPr>
          <a:xfrm>
            <a:off x="1499616" y="1755648"/>
            <a:ext cx="2532888" cy="36576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4813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1944-45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纳粹封锁荷兰西部，大规模饥荒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32504" y="1691640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Shape 13"/>
          <p:cNvSpPr/>
          <p:nvPr/>
        </p:nvSpPr>
        <p:spPr>
          <a:xfrm>
            <a:off x="4197096" y="1755648"/>
            <a:ext cx="2532888" cy="36576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4813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数十年后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子女更易患肥胖/糖尿病/精神分裂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9984" y="1691640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4813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后代血液检出差异化DNA甲基化标记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38862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788920"/>
            <a:ext cx="82296" cy="1691640"/>
          </a:xfrm>
          <a:prstGeom prst="roundRect">
            <a:avLst>
              <a:gd name="adj" fmla="val 44444"/>
            </a:avLst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9077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跨代表观遗传遗传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21868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Transgenerational Epigenetic Inheritance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6384" y="349300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影响甚至延续到第三代</a:t>
            </a:r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环境可“刻”入基因调控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2788920"/>
            <a:ext cx="3977640" cy="1691640"/>
          </a:xfrm>
          <a:prstGeom prst="roundRect">
            <a:avLst>
              <a:gd name="adj" fmla="val 4865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“我们不仅是基因的产物，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310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也是环境和历史的产物。”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18888" y="3749040"/>
            <a:ext cx="109728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表观遗传学的深刻启示</a:t>
            </a:r>
            <a:endParaRPr lang="en-US" sz="10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Questions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615184" cy="26974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69164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916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概念辨析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" y="2724912"/>
            <a:ext cx="9144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2249424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表观遗传变化与基因突变有何本质区别？为何表观遗传变化“可逆”？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55848" y="1463040"/>
            <a:ext cx="2615184" cy="26974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38728" y="169164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3538728" y="16916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38728" y="233172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机制整合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57016" y="2724912"/>
            <a:ext cx="9144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3538728" y="2834640"/>
            <a:ext cx="2249424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DNA甲基化与组蛋白修饰如何协同实现基因沉默？请设计验证实验。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63056" y="1463040"/>
            <a:ext cx="2615184" cy="26974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45936" y="169164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6345936" y="16916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45936" y="233172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医学应用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64224" y="2724912"/>
            <a:ext cx="9144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6345936" y="2834640"/>
            <a:ext cx="2249424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为何表观遗传药物(HDAC/DNMT抑制剂)比传统化疗更具“选择性”？</a:t>
            </a:r>
            <a:endParaRPr lang="en-US" sz="11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关键术语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19476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82296" cy="1417320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545336"/>
            <a:ext cx="1655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表观遗传学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1856232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130552"/>
            <a:ext cx="64008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203704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不改序列的可遗传调控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79192" y="1417320"/>
            <a:ext cx="19476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79192" y="1417320"/>
            <a:ext cx="82296" cy="1417320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2843784" y="1545336"/>
            <a:ext cx="1655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DNA甲基化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43784" y="1856232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Methylation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62072" y="2130552"/>
            <a:ext cx="64008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2843784" y="2203704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胞嘧啶5'位加甲基→5mC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9744" y="1417320"/>
            <a:ext cx="19476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9744" y="1417320"/>
            <a:ext cx="82296" cy="1417320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974336" y="1545336"/>
            <a:ext cx="1655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CpG岛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74336" y="1856232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 Island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92624" y="2130552"/>
            <a:ext cx="64008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4974336" y="2203704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启动子附近富CpG区域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0296" y="1417320"/>
            <a:ext cx="19476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0296" y="1417320"/>
            <a:ext cx="82296" cy="1417320"/>
          </a:xfrm>
          <a:prstGeom prst="roundRect">
            <a:avLst>
              <a:gd name="adj" fmla="val 44444"/>
            </a:avLst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7104888" y="1545336"/>
            <a:ext cx="1655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组蛋白密码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04888" y="1856232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Histone Code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23176" y="2130552"/>
            <a:ext cx="64008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7104888" y="2203704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修饰组合决定表达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2999232"/>
            <a:ext cx="19476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2999232"/>
            <a:ext cx="82296" cy="1417320"/>
          </a:xfrm>
          <a:prstGeom prst="roundRect">
            <a:avLst>
              <a:gd name="adj" fmla="val 44444"/>
            </a:avLst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3127248"/>
            <a:ext cx="1655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染色质重塑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13232" y="3438144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Chromatin Remodeling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1520" y="3712464"/>
            <a:ext cx="64008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3785616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ATP依赖移核小体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679192" y="2999232"/>
            <a:ext cx="19476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679192" y="2999232"/>
            <a:ext cx="82296" cy="1417320"/>
          </a:xfrm>
          <a:prstGeom prst="roundRect">
            <a:avLst>
              <a:gd name="adj" fmla="val 44444"/>
            </a:avLst>
          </a:prstGeom>
          <a:solidFill>
            <a:srgbClr val="97BC62"/>
          </a:solidFill>
          <a:ln/>
        </p:spPr>
      </p:sp>
      <p:sp>
        <p:nvSpPr>
          <p:cNvPr id="41" name="Text 39"/>
          <p:cNvSpPr/>
          <p:nvPr/>
        </p:nvSpPr>
        <p:spPr>
          <a:xfrm>
            <a:off x="2843784" y="3127248"/>
            <a:ext cx="1655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非编码RNA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2843784" y="3438144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RNA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862072" y="3712464"/>
            <a:ext cx="64008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4" name="Text 42"/>
          <p:cNvSpPr/>
          <p:nvPr/>
        </p:nvSpPr>
        <p:spPr>
          <a:xfrm>
            <a:off x="2843784" y="3785616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miRNA/lncRNA/piRNA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9744" y="2999232"/>
            <a:ext cx="19476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9744" y="2999232"/>
            <a:ext cx="82296" cy="1417320"/>
          </a:xfrm>
          <a:prstGeom prst="roundRect">
            <a:avLst>
              <a:gd name="adj" fmla="val 44444"/>
            </a:avLst>
          </a:prstGeom>
          <a:solidFill>
            <a:srgbClr val="97BC62"/>
          </a:solidFill>
          <a:ln/>
        </p:spPr>
      </p:sp>
      <p:sp>
        <p:nvSpPr>
          <p:cNvPr id="47" name="Text 45"/>
          <p:cNvSpPr/>
          <p:nvPr/>
        </p:nvSpPr>
        <p:spPr>
          <a:xfrm>
            <a:off x="4974336" y="3127248"/>
            <a:ext cx="1655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基因组印记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974336" y="3438144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Imprinting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92624" y="3712464"/>
            <a:ext cx="64008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0" name="Text 48"/>
          <p:cNvSpPr/>
          <p:nvPr/>
        </p:nvSpPr>
        <p:spPr>
          <a:xfrm>
            <a:off x="4974336" y="3785616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父母源等位差异表达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40296" y="2999232"/>
            <a:ext cx="19476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940296" y="2999232"/>
            <a:ext cx="82296" cy="1417320"/>
          </a:xfrm>
          <a:prstGeom prst="roundRect">
            <a:avLst>
              <a:gd name="adj" fmla="val 44444"/>
            </a:avLst>
          </a:prstGeom>
          <a:solidFill>
            <a:srgbClr val="97BC62"/>
          </a:solidFill>
          <a:ln/>
        </p:spPr>
      </p:sp>
      <p:sp>
        <p:nvSpPr>
          <p:cNvPr id="53" name="Text 51"/>
          <p:cNvSpPr/>
          <p:nvPr/>
        </p:nvSpPr>
        <p:spPr>
          <a:xfrm>
            <a:off x="7104888" y="3127248"/>
            <a:ext cx="1655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iPS细胞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7104888" y="3438144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iPSC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123176" y="3712464"/>
            <a:ext cx="64008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6" name="Text 54"/>
          <p:cNvSpPr/>
          <p:nvPr/>
        </p:nvSpPr>
        <p:spPr>
          <a:xfrm>
            <a:off x="7104888" y="3785616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逆转表观遗传景观</a:t>
            </a:r>
            <a:endParaRPr lang="en-US" sz="950" dirty="0"/>
          </a:p>
        </p:txBody>
      </p:sp>
      <p:sp>
        <p:nvSpPr>
          <p:cNvPr id="5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88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</a:t>
            </a:r>
            <a:endParaRPr lang="en-US" sz="11000" dirty="0"/>
          </a:p>
        </p:txBody>
      </p:sp>
      <p:sp>
        <p:nvSpPr>
          <p:cNvPr id="12" name="Shape 10"/>
          <p:cNvSpPr/>
          <p:nvPr/>
        </p:nvSpPr>
        <p:spPr>
          <a:xfrm>
            <a:off x="1188720" y="3429000"/>
            <a:ext cx="21031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基因编辑技术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Editing Technologies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0520" y="1371600"/>
            <a:ext cx="44348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371600"/>
            <a:ext cx="82296" cy="3108960"/>
          </a:xfrm>
          <a:prstGeom prst="roundRect">
            <a:avLst>
              <a:gd name="adj" fmla="val 44444"/>
            </a:avLst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5179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CRISPR-Cas9 · 改写生命密码的手术刀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61688" y="1901952"/>
            <a:ext cx="128016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2103120"/>
            <a:ext cx="4114800" cy="2240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锌指核酸酶 ZFN · 第一代可编程工具</a:t>
            </a:r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 · 转录激活因子样效应物核酸酶</a:t>
            </a:r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 · 源自细菌免疫的编辑革命</a:t>
            </a:r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碱基编辑 &amp; 引导编辑 · 精准无断裂策略</a:t>
            </a:r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基因编辑的伦理边界 · 治疗到增强</a:t>
            </a:r>
            <a:endParaRPr lang="en-US" sz="115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1645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 ·  Three Core Mechanisms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0698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4736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Mechanisms  ·  Day 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72184" y="1737360"/>
            <a:ext cx="768096" cy="7680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1472184" y="17373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DNA甲基化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Methylation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" y="3218688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CpG位点 · DNMT/TET · 基因沉默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14630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79392" y="1737360"/>
            <a:ext cx="768096" cy="7680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4279392" y="17373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447288" y="2606040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组蛋白修饰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47288" y="2926080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Histone Modification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02152" y="3218688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乙酰化/甲基化 · HAT vs HDAC · 组蛋白密码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63056" y="14630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86600" y="1737360"/>
            <a:ext cx="768096" cy="76809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7373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254496" y="2606040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染色质重塑 &amp; ncRNA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54496" y="2926080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Remodeling &amp; ncRNA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218688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SWI/SNF · miRNA/lncRNA/piRNA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第二层信息系统 —— 在DNA序列之外，动态、可逆、可遗传地调控生命</a:t>
            </a:r>
            <a:endParaRPr lang="en-US" sz="14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/ 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11880" y="13716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39312" y="21214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0" y="2670048"/>
            <a:ext cx="1645920" cy="411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28346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39312" y="31638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 100-Day Learning 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39312" y="4023360"/>
            <a:ext cx="1828800" cy="365760"/>
          </a:xfrm>
          <a:prstGeom prst="roundRect">
            <a:avLst>
              <a:gd name="adj" fmla="val 17500"/>
            </a:avLst>
          </a:prstGeom>
          <a:solidFill>
            <a:srgbClr val="E8F0E8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/ 100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4023360"/>
            <a:ext cx="2194560" cy="365760"/>
          </a:xfrm>
          <a:prstGeom prst="roundRect">
            <a:avLst>
              <a:gd name="adj" fmla="val 17500"/>
            </a:avLst>
          </a:prstGeom>
          <a:solidFill>
            <a:srgbClr val="E8F0E8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下期 · Day 88 基因编辑</a:t>
            </a:r>
            <a:endParaRPr lang="en-US" sz="105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87: Epigenetic Mechanisms (Talk)</dc:title>
  <dc:subject>PptxGenJS Presentation</dc:subject>
  <dc:creator>Genetics 100 Days</dc:creator>
  <cp:lastModifiedBy>Genetics 100 Days</cp:lastModifiedBy>
  <cp:revision>1</cp:revision>
  <dcterms:created xsi:type="dcterms:W3CDTF">2026-08-09T04:12:46Z</dcterms:created>
  <dcterms:modified xsi:type="dcterms:W3CDTF">2026-08-09T04:12:46Z</dcterms:modified>
</cp:coreProperties>
</file>