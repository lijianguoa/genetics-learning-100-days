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50 Cover Page</a:t>
            </a:r>
          </a:p>
          <a:p>
            <a:r>
              <a:t>Topic: The Birth of Population Genetics</a:t>
            </a:r>
          </a:p>
          <a:p>
            <a:r>
              <a:t>Part 5: Classic Genetics Development</a:t>
            </a:r>
          </a:p>
          <a:p>
            <a:r>
              <a:t>Date: July 3,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 for Day 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conflict between Mendelians and Biometricians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Blending inheritance problem posed by Fleeming Jenkin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Hardy and Weinberg independently discovered the equilibrium principle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Fisher 1918 paper: Correlation Between Relatives on the Supposition of Mendelian 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Population genetics emerged as a discipline in the 1920s-1930s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and scope of population genetics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R.A. Fisher's key contributions to population genetics and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J.B.S. Haldane's key contributions and famous quotes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Sewall Wright's key contributions including Fst, adaptive landscapes, and drift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Hardy's elegant proof of the Hardy-Weinberg principle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Fisher's model showing how Mendelian factors produce continuous variation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7BC62"/>
                </a:solidFill>
                <a:latin typeface="Microsoft YaHei"/>
              </a:defRPr>
            </a:pPr>
            <a:r>
              <a:t>遗传学100天学习计划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772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Day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群体遗传学的诞生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5F2D"/>
                </a:solidFill>
                <a:latin typeface="Calibri"/>
              </a:defRPr>
            </a:pPr>
            <a:r>
              <a:t>The Birth of Population Genetics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017520"/>
            <a:ext cx="393192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2026年7月3日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77777"/>
                </a:solidFill>
                <a:latin typeface="Microsoft YaHei"/>
              </a:defRPr>
            </a:pPr>
            <a:r>
              <a:t>第五部分：经典遗传学发展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7BC62"/>
                </a:solidFill>
                <a:latin typeface="Calibri"/>
              </a:defRPr>
            </a:pPr>
            <a:r>
              <a:t>Forest &amp; Moss  |  Notes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2/20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理解群体遗传学诞生的历史背景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掌握孟德尔主义者与生物统计学家的争论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了解Fisher、Haldane、Wright三大奠基人的贡献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掌握基因频率、基因型频率、哈迪-温伯格平衡等核心概念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目录导航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Navigation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3/20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887" y="2286000"/>
            <a:ext cx="1645920" cy="14630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5247" y="2468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2C5F2D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Historical Background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9687" y="2286000"/>
            <a:ext cx="1645920" cy="146304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4047" y="2468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97BC62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5407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5407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Core Concepts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8487" y="2286000"/>
            <a:ext cx="1645920" cy="1463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52847" y="2468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D4A843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4207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科学家故事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4207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Scientist Stories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2286000"/>
            <a:ext cx="1645920" cy="14630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81647" y="2468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2C5F2D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7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3007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Key Publications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6087" y="2286000"/>
            <a:ext cx="1645920" cy="146304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10447" y="2468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97BC62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1807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经典实验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1807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Classic Experiments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4887" y="2286000"/>
            <a:ext cx="1645920" cy="1463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39247" y="2468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D4A843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0607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思考与讨论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0607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本节课内容涵盖群体遗传学从诞生到学科形成的全过程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20世纪初的遗传学困境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The Dilemma at the Turn of the 20th Century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4/20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孟德尔主义者 vs 生物统计学家的激烈争论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Bateson（孟德尔派）：不连续变异驱动进化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Pearson（统计学派）：连续变异 + 达尔文渐进选择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核心矛盾：孟德尔遗传能否解释渐进进化？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融合遗传的困境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The Blending Inheritance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5/20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Fleeming Jenkin的反达尔文论点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融合遗传使变异在几代内消失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自然选择失去可操作的遗传变异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需要一种新的遗传理论来解决这个矛盾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Hardy-Weinberg的突破 (1908)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The Hardy-Weinberg Breakthrough (1908)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6/20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G.H. Hardy（英国数学家）和 W. Weinberg（德国医生）独立发现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随机交配下等位基因频率世代不变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粒子遗传 (Particulate Inheritance) 保持变异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从数学上驳斥了融合遗传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Fisher的统一理论 (1918)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Fisher's Unification Theory (1918)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7/20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论文：《孟德尔遗传假设下亲属间的相关性》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连续变异 = 大量孟德尔因子的累积效应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方差分析 (ANOVA) 的提出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统一了生物统计学与孟德尔遗传学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群体遗传学学科形成 (1920s-1930s)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Formation of Population Genetics (1920s-1930s)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8/20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Fisher, Haldane, Wright 三位大师的数学工作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自然选择从定性描述变为定量研究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现代进化综合 (Modern Synthesis) 的理论基础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群体遗传学成为进化论的理论核心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核心概念：群体遗传学定义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Core Concept: Definition of Population Genetics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9/20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研究生物群体遗传组成及其变化规律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关注等位基因频率和基因型频率的分布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突变、选择、漂变、迁移等进化力量的作用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参考链接: Wikipedia, Stanford Encyclopedia of Philosophy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核心概念：孟德尔式群体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Core Concept: Mendelian Population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10/20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基本研究单位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特征：随机交配、共享基因库、遵循孟德尔规律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474720"/>
            <a:ext cx="3840480" cy="914400"/>
          </a:xfrm>
          <a:prstGeom prst="roundRect">
            <a:avLst/>
          </a:prstGeom>
          <a:solidFill>
            <a:srgbClr val="D5E8D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C5F2D"/>
                </a:solidFill>
                <a:latin typeface="Microsoft YaHei"/>
              </a:defRPr>
            </a:pPr>
            <a:r>
              <a:t>基因频率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931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5F2D"/>
                </a:solidFill>
                <a:latin typeface="Calibri"/>
              </a:defRPr>
            </a:pPr>
            <a:r>
              <a:t>p + q 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74720"/>
            <a:ext cx="3840480" cy="914400"/>
          </a:xfrm>
          <a:prstGeom prst="roundRect">
            <a:avLst/>
          </a:prstGeom>
          <a:solidFill>
            <a:srgbClr val="F5EED6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4420"/>
                </a:solidFill>
                <a:latin typeface="Microsoft YaHei"/>
              </a:defRPr>
            </a:pPr>
            <a:r>
              <a:t>基因型频率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420"/>
                </a:solidFill>
                <a:latin typeface="Calibri"/>
              </a:defRPr>
            </a:pPr>
            <a:r>
              <a:t>p² + 2pq + q² =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核心概念：哈迪-温伯格平衡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Core Concept: Hardy-Weinberg Equilibrium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11/20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五大假设条件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916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随机交配 (Random mating)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无限群体 (Infinite population)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无突变 (No mutation)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无迁移 (No migration)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无选择 (No selection)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63040"/>
            <a:ext cx="5029200" cy="1097280"/>
          </a:xfrm>
          <a:prstGeom prst="roundRect">
            <a:avLst/>
          </a:prstGeom>
          <a:solidFill>
            <a:srgbClr val="D5E8D0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002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C5F2D"/>
                </a:solidFill>
                <a:latin typeface="Microsoft YaHei"/>
              </a:defRPr>
            </a:pPr>
            <a:r>
              <a:t>HWE 基因型频率公式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C5F2D"/>
                </a:solidFill>
                <a:latin typeface="Calibri"/>
              </a:defRPr>
            </a:pPr>
            <a:r>
              <a:t>p²(AA) + 2pq(Aa) + q²(aa)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10271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D4A843"/>
                </a:solidFill>
                <a:latin typeface="Microsoft YaHei"/>
              </a:defRPr>
            </a:pPr>
            <a:r>
              <a:t>▸ 基因频率世代不变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D4A843"/>
                </a:solidFill>
                <a:latin typeface="Microsoft YaHei"/>
              </a:defRPr>
            </a:pPr>
            <a:r>
              <a:t>▸ 偏离HWE即意味着进化在发生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核心概念：五大进化力量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Core Concept: Five Evolutionary Forces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12/20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447" y="1645920"/>
            <a:ext cx="2011680" cy="22860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887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自然选择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Calibri"/>
              </a:defRPr>
            </a:pPr>
            <a:r>
              <a:t>Natural Selection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3767" y="2514600"/>
            <a:ext cx="14630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607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定向的，增加有利等位基因频率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9727" y="1645920"/>
            <a:ext cx="2011680" cy="22860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1167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突变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1167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Calibri"/>
              </a:defRPr>
            </a:pPr>
            <a:r>
              <a:t>Mutation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24047" y="2514600"/>
            <a:ext cx="14630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6887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双向的，产生新变异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0007" y="1645920"/>
            <a:ext cx="2011680" cy="2286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447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遗传漂变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Calibri"/>
              </a:defRPr>
            </a:pPr>
            <a:r>
              <a:t>Genetic 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64327" y="2514600"/>
            <a:ext cx="14630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7167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随机的，小群体中基因频率波动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0287" y="1645920"/>
            <a:ext cx="2011680" cy="22860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1727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基因流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1727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Calibri"/>
              </a:defRPr>
            </a:pPr>
            <a:r>
              <a:t>Gene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04607" y="2514600"/>
            <a:ext cx="14630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7447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群体间基因频率趋同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70567" y="1645920"/>
            <a:ext cx="2011680" cy="22860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2007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非随机交配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2007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Calibri"/>
              </a:defRPr>
            </a:pPr>
            <a:r>
              <a:t>Non-random Mating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44887" y="2514600"/>
            <a:ext cx="14630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7727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改变基因型频率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Fisher生平与贡献 (1890-1962)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R.A. Fisher: Life and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13/20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统计学天才，剑桥大学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1918年统一连续变异与孟德尔遗传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1930年《自然选择的遗传学理论》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Fisher基本定理、方差分析(ANOVA)、极大似然估计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Haldane生平与贡献 (1892-1964)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J.B.S. Haldane: Life and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14/20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科学世家，勇敢的科学冒险家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选择代价概念 (Haldane's Dilemma)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突变率与选择强度的定量研究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“愿意为两个兄弟或八个表亲献出生命”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Wright生平与贡献 (1889-1988)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Sewall Wright: Life and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15/20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F统计量 (Fst)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适应度景观图 (Adaptive Landscape)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遗传漂变理论：建立者效应、瓶颈效应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移动平衡理论 (Shifting Balance Theory)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重要文献时间线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Key Publications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16/20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926080"/>
            <a:ext cx="94183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2834640"/>
            <a:ext cx="219456" cy="219456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5F2D"/>
                </a:solidFill>
                <a:latin typeface="Calibri"/>
              </a:defRPr>
            </a:pPr>
            <a:r>
              <a:t>1908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Hardy / Weinberg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H-W定律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2834640"/>
            <a:ext cx="219456" cy="219456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7BC62"/>
                </a:solidFill>
                <a:latin typeface="Calibri"/>
              </a:defRPr>
            </a:pPr>
            <a:r>
              <a:t>1918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Fisher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连续变异统一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0" y="2834640"/>
            <a:ext cx="219456" cy="219456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A843"/>
                </a:solidFill>
                <a:latin typeface="Calibri"/>
              </a:defRPr>
            </a:pPr>
            <a:r>
              <a:t>1930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Fisher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自然选择的遗传学理论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0" y="2834640"/>
            <a:ext cx="219456" cy="219456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5F2D"/>
                </a:solidFill>
                <a:latin typeface="Calibri"/>
              </a:defRPr>
            </a:pPr>
            <a:r>
              <a:t>1932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Haldane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进化的原因</a:t>
            </a:r>
          </a:p>
        </p:txBody>
      </p:sp>
      <p:sp>
        <p:nvSpPr>
          <p:cNvPr id="27" name="Oval 26"/>
          <p:cNvSpPr/>
          <p:nvPr/>
        </p:nvSpPr>
        <p:spPr>
          <a:xfrm>
            <a:off x="11704320" y="2834640"/>
            <a:ext cx="219456" cy="219456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7BC62"/>
                </a:solidFill>
                <a:latin typeface="Calibri"/>
              </a:defRPr>
            </a:pPr>
            <a:r>
              <a:t>1931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Wright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孟德尔群体中的进化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经典实验：Hardy的数学证明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Classic Experiment: Hardy's Mathematical 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17/20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反驳“显性:隐性=3:1”的错误认识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简单代数证明：p²+2pq+q²=1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只有 p=q=0.5 时比值才为3:1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“太简单了”却成为整个学科基石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经典实验：Fisher连续变异模型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Classic Experiment: Fisher's Continuous Variation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18/20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2714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连续性状 = 大量孟德尔因子累积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中心极限定理 → 正态分布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解释了生物统计学派的钟形曲线</a:t>
            </a:r>
          </a:p>
          <a:p>
            <a:pPr algn="l">
              <a:lnSpc>
                <a:spcPts val="256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▸ Mendelism与Darwinism的桥梁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科学争论与影响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Scientific Debate and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6576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19/20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554480"/>
            <a:ext cx="457200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Fisher 的观点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860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选择是主导力量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漂变只在极小群体有意义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广泛群体中漂变可忽略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4572000" cy="5486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Wright 的观点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漂变在所有群体中都重要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交互作用使适应度景观复杂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移动平衡是进化的关键机制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846320"/>
            <a:ext cx="6675120" cy="640080"/>
          </a:xfrm>
          <a:prstGeom prst="roundRect">
            <a:avLst/>
          </a:prstGeom>
          <a:solidFill>
            <a:srgbClr val="F5EED6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9377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4420"/>
                </a:solidFill>
                <a:latin typeface="Microsoft YaHei"/>
              </a:defRPr>
            </a:pPr>
            <a:r>
              <a:t>争论推动了学科发展，深化了对进化机制的理解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总结与下节预告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Summary &amp; Next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Day 50  |  20/20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63040"/>
            <a:ext cx="4846320" cy="2560320"/>
          </a:xfrm>
          <a:prstGeom prst="roundRect">
            <a:avLst/>
          </a:prstGeom>
          <a:solidFill>
            <a:srgbClr val="D5E8D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C5F2D"/>
                </a:solidFill>
                <a:latin typeface="Microsoft YaHei"/>
              </a:defRPr>
            </a:pPr>
            <a:r>
              <a:t>Day 50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群体遗传学三巨头奠定学科基础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孟德尔 + 达尔文 → 现代进化综合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哈迪-温伯格定律是学科基石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4846320" cy="2560320"/>
          </a:xfrm>
          <a:prstGeom prst="roundRect">
            <a:avLst/>
          </a:prstGeom>
          <a:solidFill>
            <a:srgbClr val="F5EED6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420"/>
                </a:solidFill>
                <a:latin typeface="Microsoft YaHei"/>
              </a:defRPr>
            </a:pPr>
            <a:r>
              <a:t>Day 51 预告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哈迪-温伯格定律详解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五大假设条件的深入分析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▸ 实际应用案例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5F2D"/>
                </a:solidFill>
                <a:latin typeface="Microsoft YaHei"/>
              </a:defRPr>
            </a:pPr>
            <a:r>
              <a:t>资源链接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• Wikipedia: Population Genetics  |  Stanford Encyclopedia of Philosophy  |  NCBI Bookshelf</a:t>
            </a:r>
          </a:p>
          <a:p>
            <a:pPr algn="l">
              <a:lnSpc>
                <a:spcPts val="1679"/>
              </a:lnSpc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• YouTube: Population Genetics Lectures  |  B站: 群体遗传学课程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